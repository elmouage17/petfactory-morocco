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3959352" cy="2926080"/>
          </a:xfrm>
          <a:prstGeom prst="rect">
            <a:avLst/>
          </a:prstGeom>
          <a:solidFill>
            <a:srgbClr val="E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2926080"/>
            <a:ext cx="2587752" cy="39319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PETFACTORY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MOROCCO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Progress Report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Update  |  August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303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T/H </a:t>
            </a:r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Extrusion Line   |   </a:t>
            </a:r>
            <a:pPr indent="0" marL="0">
              <a:buNone/>
            </a:pPr>
            <a:r>
              <a:rPr lang="en-US" sz="1300" b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FAMSUN </a:t>
            </a:r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  |   </a:t>
            </a:r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Sidi Bouathmane, Morocco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943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Petland Maroc  |  100% Ownership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Morocco is a greenfield premium pet food manufacturing platform, 100% owned by Petland Maroc. Engineered turnkey by FAMSUN with a 5 T/h dry extrusion line, the facility targets private-label and co-branded production for retailers across economy to super-premium tiers. Strategically located at Sidi Bouathmane near Casablanca port, with direct access to EU, US, Gulf and African markets.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T/H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Extrusion Capacity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74720" y="246888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74720" y="2606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Systems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246888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0" y="2606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Progress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246888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0" y="2606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Commissioning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Highlights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617720"/>
            <a:ext cx="228600" cy="2286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 with Normandie Pet Food (France)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4572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market access, backed by Bpifrance &amp; Credit Agricole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120640"/>
            <a:ext cx="228600" cy="2286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5074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US-Morocco Free Trade Agreement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Duty-free access, 7-12 day East Coast transit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623560"/>
            <a:ext cx="228600" cy="2286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5577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HACCP &amp; ISO 22000 in implementation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5577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registration planned; full batch traceability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6126480"/>
            <a:ext cx="228600" cy="2286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05840" y="6080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 transformer PO signed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1208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KVA — manufacturing starts July 2026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Position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303520" cy="4846320"/>
          </a:xfrm>
          <a:prstGeom prst="roundRect">
            <a:avLst>
              <a:gd name="adj" fmla="val 2830"/>
            </a:avLst>
          </a:prstGeom>
          <a:solidFill>
            <a:srgbClr val="E8EB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Advantage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19659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Sidi Bouathmane, Morocco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40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Casablanca deep-water port, direct container services to NY/NJ, Norfolk, Savannah, Montreal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788920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43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US-Morocco FTA (since 2006)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Duty-free on qualifying goods. 7-12 days to US East Coast vs. 30+ days from Asia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66160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71600" y="3520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Proximity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 with Normandie Pet Food targets EUR 300M revenue by 2030. Direct access to EU market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" y="4343400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 Currency Stability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5720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Pegged to EUR/USD basket — reliable for multi-year supply contracts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05840" y="5120640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71600" y="5074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&amp; Africa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pet ownership markets accessible from Casablanca hub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1188720"/>
            <a:ext cx="5303520" cy="4846320"/>
          </a:xfrm>
          <a:prstGeom prst="roundRect">
            <a:avLst>
              <a:gd name="adj" fmla="val 2830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751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Markets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75120" y="196596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253660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48840"/>
            <a:ext cx="365760" cy="365760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06640" y="2039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America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2313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anchor buyer partnerships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Duty-free FTA access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675120" y="292608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253660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0" y="3108960"/>
            <a:ext cx="365760" cy="3657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0664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 Union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273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Normandie Pet Food JV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Bpifrance / Credit Agricole backed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75120" y="388620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253660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406908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40664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States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06640" y="42336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pet food demand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middle class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75120" y="484632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253660"/>
          </a:solidFill>
          <a:ln/>
        </p:spPr>
      </p:sp>
      <p:sp>
        <p:nvSpPr>
          <p:cNvPr id="35" name="Shape 33"/>
          <p:cNvSpPr/>
          <p:nvPr/>
        </p:nvSpPr>
        <p:spPr>
          <a:xfrm>
            <a:off x="6858000" y="5029200"/>
            <a:ext cx="365760" cy="36576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06640" y="4919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5193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pet ownership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proximity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Incoterms: </a:t>
            </a:r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FOB Casablanca (CIF/DDP available)   |  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MOQ: </a:t>
            </a:r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container (20-ft / 40-ft per SKU)   |  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Transit: </a:t>
            </a:r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10-14 days port-to-port US East Coast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FAMSUN Turnkey  |  5 T/h Dry Extrusion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523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3667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3667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moisture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25°C input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rot="5400000">
            <a:off x="2135124" y="2194560"/>
            <a:ext cx="146304" cy="182880"/>
          </a:xfrm>
          <a:prstGeom prst="triangle">
            <a:avLst/>
          </a:prstGeom>
          <a:solidFill>
            <a:srgbClr val="6B7B8D"/>
          </a:solidFill>
          <a:ln/>
        </p:spPr>
      </p:sp>
      <p:sp>
        <p:nvSpPr>
          <p:cNvPr id="9" name="Shape 7"/>
          <p:cNvSpPr/>
          <p:nvPr/>
        </p:nvSpPr>
        <p:spPr>
          <a:xfrm>
            <a:off x="229971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A6B8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971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9115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9115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 350 kg/h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400 kg/h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 rot="5400000">
            <a:off x="3689604" y="2194560"/>
            <a:ext cx="146304" cy="182880"/>
          </a:xfrm>
          <a:prstGeom prst="triangle">
            <a:avLst/>
          </a:prstGeom>
          <a:solidFill>
            <a:srgbClr val="6B7B8D"/>
          </a:solidFill>
          <a:ln/>
        </p:spPr>
      </p:sp>
      <p:sp>
        <p:nvSpPr>
          <p:cNvPr id="14" name="Shape 12"/>
          <p:cNvSpPr/>
          <p:nvPr/>
        </p:nvSpPr>
        <p:spPr>
          <a:xfrm>
            <a:off x="385419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5419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94563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SJPS165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94563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kW motor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145°C barrel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 rot="5400000">
            <a:off x="5244084" y="2194560"/>
            <a:ext cx="146304" cy="182880"/>
          </a:xfrm>
          <a:prstGeom prst="triangle">
            <a:avLst/>
          </a:prstGeom>
          <a:solidFill>
            <a:srgbClr val="6B7B8D"/>
          </a:solidFill>
          <a:ln/>
        </p:spPr>
      </p:sp>
      <p:sp>
        <p:nvSpPr>
          <p:cNvPr id="19" name="Shape 17"/>
          <p:cNvSpPr/>
          <p:nvPr/>
        </p:nvSpPr>
        <p:spPr>
          <a:xfrm>
            <a:off x="540867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E89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0867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0011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GZDH2200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50011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140°C inlet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m² belt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rot="5400000">
            <a:off x="6798564" y="2194560"/>
            <a:ext cx="146304" cy="182880"/>
          </a:xfrm>
          <a:prstGeom prst="triangle">
            <a:avLst/>
          </a:prstGeom>
          <a:solidFill>
            <a:srgbClr val="6B7B8D"/>
          </a:solidFill>
          <a:ln/>
        </p:spPr>
      </p:sp>
      <p:sp>
        <p:nvSpPr>
          <p:cNvPr id="24" name="Shape 22"/>
          <p:cNvSpPr/>
          <p:nvPr/>
        </p:nvSpPr>
        <p:spPr>
          <a:xfrm>
            <a:off x="696315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5B9BD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6315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05459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5459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residence time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rot="5400000">
            <a:off x="8353044" y="2194560"/>
            <a:ext cx="146304" cy="182880"/>
          </a:xfrm>
          <a:prstGeom prst="triangle">
            <a:avLst/>
          </a:prstGeom>
          <a:solidFill>
            <a:srgbClr val="6B7B8D"/>
          </a:solidFill>
          <a:ln/>
        </p:spPr>
      </p:sp>
      <p:sp>
        <p:nvSpPr>
          <p:cNvPr id="29" name="Shape 27"/>
          <p:cNvSpPr/>
          <p:nvPr/>
        </p:nvSpPr>
        <p:spPr>
          <a:xfrm>
            <a:off x="851763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7C68A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1763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60907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Coater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60907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fat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palatant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rot="5400000">
            <a:off x="9907524" y="2194560"/>
            <a:ext cx="146304" cy="182880"/>
          </a:xfrm>
          <a:prstGeom prst="triangle">
            <a:avLst/>
          </a:prstGeom>
          <a:solidFill>
            <a:srgbClr val="6B7B8D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72116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27AE6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72116" y="1645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3556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3556" y="2423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20°C room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RH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080" y="35661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8EBF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05840" y="3749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Performance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00584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Dog food (8.0 mm kibble)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20624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5.0 T/h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05840" y="4590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food (4.0 mm kibble)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206240" y="45902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4.5 T/h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49743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density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206240" y="49743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350-450 g/L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5840" y="5358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Moisture target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206240" y="53583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9.0%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05840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activity limit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206240" y="5742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0.60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92240" y="356616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E8EBF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8580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Range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858000" y="4251960"/>
            <a:ext cx="164592" cy="164592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17804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dry kibble (dog &amp; cat)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58000" y="4636008"/>
            <a:ext cx="164592" cy="164592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178040" y="4590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formulations (shape, density, coating)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858000" y="5020056"/>
            <a:ext cx="164592" cy="164592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178040" y="49743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Grain-free &amp; single-protein formats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858000" y="5404104"/>
            <a:ext cx="164592" cy="164592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178040" y="5358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Prescription-style diets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858000" y="5788152"/>
            <a:ext cx="164592" cy="164592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178040" y="5742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Wet line (pate, chunks-in-gravy, treats)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Systems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Systems Tracked  |  128 Tasks  |  24.2% Overall Progress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Complete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3716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65176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057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6344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057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0" y="13716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4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75120" y="15087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1/7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057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Passed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61120" y="13716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E8EB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0" y="13898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24.2%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235440" y="1965960"/>
            <a:ext cx="2103120" cy="164592"/>
          </a:xfrm>
          <a:prstGeom prst="roundRect">
            <a:avLst>
              <a:gd name="adj" fmla="val 50000"/>
            </a:avLst>
          </a:prstGeom>
          <a:solidFill>
            <a:srgbClr val="D0D8E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35440" y="1965960"/>
            <a:ext cx="508955" cy="164592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2560320"/>
            <a:ext cx="10908792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560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560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5603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001000" y="25603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0080" y="2898648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2898648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 &amp; Transformer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063240" y="28986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KVA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9160" y="2980944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30" name="Shape 28"/>
          <p:cNvSpPr/>
          <p:nvPr/>
        </p:nvSpPr>
        <p:spPr>
          <a:xfrm>
            <a:off x="4709160" y="2980944"/>
            <a:ext cx="603504" cy="128016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898648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498080" y="2980944"/>
            <a:ext cx="128016" cy="12801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01000" y="2898648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signed. Mfg starts Jul 1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3163824"/>
            <a:ext cx="1090879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" y="3163824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Room &amp; MCC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063240" y="31638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3246120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709160" y="3246120"/>
            <a:ext cx="1517904" cy="128016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83680" y="3163824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498080" y="3246120"/>
            <a:ext cx="128016" cy="12801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01000" y="3163824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&amp; drawings approved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" y="3429000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85800" y="3429000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Exterior Concrete Works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063240" y="34290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Béton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09160" y="3511296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46" name="Shape 44"/>
          <p:cNvSpPr/>
          <p:nvPr/>
        </p:nvSpPr>
        <p:spPr>
          <a:xfrm>
            <a:off x="4709160" y="3511296"/>
            <a:ext cx="1517904" cy="128016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0" y="3429000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498080" y="3511296"/>
            <a:ext cx="128016" cy="12801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01000" y="3429000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finalization in progress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40080" y="3694176"/>
            <a:ext cx="1090879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85800" y="3694176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Cold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3063240" y="36941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separation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709160" y="377647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377647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0" y="3694176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498080" y="3776472"/>
            <a:ext cx="128016" cy="12801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001000" y="3694176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review complete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40080" y="3959352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85800" y="3959352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3063240" y="39593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/ MES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09160" y="4041648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62" name="Shape 60"/>
          <p:cNvSpPr/>
          <p:nvPr/>
        </p:nvSpPr>
        <p:spPr>
          <a:xfrm>
            <a:off x="4709160" y="4041648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583680" y="3959352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498080" y="4041648"/>
            <a:ext cx="128016" cy="12801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001000" y="3959352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in progress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40080" y="4224528"/>
            <a:ext cx="1090879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85800" y="4224528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Weighbridge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3063240" y="42245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709160" y="4306824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70" name="Shape 68"/>
          <p:cNvSpPr/>
          <p:nvPr/>
        </p:nvSpPr>
        <p:spPr>
          <a:xfrm>
            <a:off x="4709160" y="4306824"/>
            <a:ext cx="457200" cy="12801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0" y="4224528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7498080" y="4306824"/>
            <a:ext cx="128016" cy="12801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001000" y="4224528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selected, PO pending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40080" y="4489704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85800" y="4489704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System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3063240" y="44897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kg/h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709160" y="4572000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78" name="Shape 76"/>
          <p:cNvSpPr/>
          <p:nvPr/>
        </p:nvSpPr>
        <p:spPr>
          <a:xfrm>
            <a:off x="4709160" y="4572000"/>
            <a:ext cx="384048" cy="12801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583680" y="4489704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7498080" y="4572000"/>
            <a:ext cx="128016" cy="12801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001000" y="4489704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Pump/tank selection started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640080" y="4754880"/>
            <a:ext cx="1090879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85800" y="4754880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Installation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3063240" y="47548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m³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709160" y="4837176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86" name="Shape 84"/>
          <p:cNvSpPr/>
          <p:nvPr/>
        </p:nvSpPr>
        <p:spPr>
          <a:xfrm>
            <a:off x="4709160" y="4837176"/>
            <a:ext cx="384048" cy="12801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0" y="4754880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7498080" y="4837176"/>
            <a:ext cx="128016" cy="12801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001000" y="4754880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due Jul 21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40080" y="5020056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85800" y="5020056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 System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3063240" y="502005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 kg/h steam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4709160" y="510235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94" name="Shape 92"/>
          <p:cNvSpPr/>
          <p:nvPr/>
        </p:nvSpPr>
        <p:spPr>
          <a:xfrm>
            <a:off x="4709160" y="5102352"/>
            <a:ext cx="329184" cy="12801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0" y="5020056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7498080" y="5102352"/>
            <a:ext cx="128016" cy="12801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8001000" y="5020056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finalization Jul 11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640080" y="5285232"/>
            <a:ext cx="1090879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5800" y="5285232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Compressor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3063240" y="528523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kW x 2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4709160" y="5367528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709160" y="5367528"/>
            <a:ext cx="347472" cy="12801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6583680" y="5285232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7498080" y="5367528"/>
            <a:ext cx="128016" cy="12801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001000" y="5285232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done, vendor pending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640080" y="5550408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85800" y="5550408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3063240" y="555040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x 2 T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709160" y="5632704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09160" y="5632704"/>
            <a:ext cx="329184" cy="12801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6583680" y="5550408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7498080" y="5632704"/>
            <a:ext cx="128016" cy="128016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8001000" y="5550408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validated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640080" y="5815584"/>
            <a:ext cx="10908792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85800" y="5815584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Storage Tank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3063240" y="581558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x 20,000 L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709160" y="5897880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709160" y="5897880"/>
            <a:ext cx="73152" cy="128016"/>
          </a:xfrm>
          <a:prstGeom prst="roundRect">
            <a:avLst>
              <a:gd name="adj" fmla="val 87500"/>
            </a:avLst>
          </a:prstGeom>
          <a:solidFill>
            <a:srgbClr val="C0392B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583680" y="5815584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7498080" y="5897880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8001000" y="5815584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CRITICAL: +8 weeks delayed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640080" y="6080760"/>
            <a:ext cx="10908792" cy="265176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85800" y="6080760"/>
            <a:ext cx="2377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Electricity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3063240" y="608076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 KVA target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709160" y="6163056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D8DEE4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6583680" y="6080760"/>
            <a:ext cx="548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7498080" y="6163056"/>
            <a:ext cx="128016" cy="128016"/>
          </a:xfrm>
          <a:prstGeom prst="ellipse">
            <a:avLst/>
          </a:prstGeom>
          <a:solidFill>
            <a:srgbClr val="AABBCC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001000" y="6080760"/>
            <a:ext cx="3520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initiated</a:t>
            </a:r>
            <a:endParaRPr lang="en-US" sz="80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Systems Deep Dive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37160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6304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 System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fire-tube steam boilers (N+1 logic)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Three-pass wet-back design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demand: 2,600 kg/h saturated steam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size: 1,600-2,000 kg/h each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46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Design: 10 barg / Operating: 7-8 barg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Dual-fuel: LPG primary, NG ready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886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Efficiency: ≥94% NG / ≥93% LPG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Incl. feedwater, deaerator, softener, RO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Culinary steam train (316L SS, ≤2μm)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43400" y="118872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371600"/>
            <a:ext cx="411480" cy="4114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6636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Power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KVA transformer (PO signed)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61772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starts: July 1, 2026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12-week lead time to delivery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system with signed purchase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target: 480 KVA (30% of load)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3886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Framework: Moroccan Law 40-19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1772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Incentives: ECOTAQA / TATWIR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vendor: not yet initiated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46720" y="118872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CCCCC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321040" y="1371600"/>
            <a:ext cx="411480" cy="41148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&amp; Water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Air: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 x 37 kW compressors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demand: 363 m³/h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Product line: 258 m³/h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3246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Engineering complete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3886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System: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Design capacity: 10,000 kg/h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Actual flow: 2,760 kg/h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4846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Pump/tank selection in progress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D6EFF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05840" y="5349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Distribution Summary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05840" y="5669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Dryer: 1.40 T/h (DN100)   |   Preconditioner: 0.75 T/h (DN60)   |   Fat Tanks: 0.30 T/h (DN32)   |   Total: 2.45 T/h   |   Condensate return: 69.7% (target 80%+ with flash recovery)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Commissioning: November 24,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1828800"/>
            <a:ext cx="9966960" cy="36576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5" name="Shape 3"/>
          <p:cNvSpPr/>
          <p:nvPr/>
        </p:nvSpPr>
        <p:spPr>
          <a:xfrm>
            <a:off x="1133856" y="1746504"/>
            <a:ext cx="201168" cy="20116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31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FAMSUN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Review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830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96896" y="1746504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8600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Mfg Starts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77056" y="1746504"/>
            <a:ext cx="201168" cy="201168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Finalization x3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40096" y="1746504"/>
            <a:ext cx="201168" cy="201168"/>
          </a:xfrm>
          <a:prstGeom prst="ellipse">
            <a:avLst/>
          </a:prstGeom>
          <a:solidFill>
            <a:srgbClr val="445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18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746504"/>
            <a:ext cx="201168" cy="201168"/>
          </a:xfrm>
          <a:prstGeom prst="ellipse">
            <a:avLst/>
          </a:prstGeom>
          <a:solidFill>
            <a:srgbClr val="445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18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83296" y="1746504"/>
            <a:ext cx="201168" cy="201168"/>
          </a:xfrm>
          <a:prstGeom prst="ellipse">
            <a:avLst/>
          </a:prstGeom>
          <a:solidFill>
            <a:srgbClr val="445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454896" y="1746504"/>
            <a:ext cx="201168" cy="201168"/>
          </a:xfrm>
          <a:prstGeom prst="ellipse">
            <a:avLst/>
          </a:prstGeom>
          <a:solidFill>
            <a:srgbClr val="445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8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5256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799064" y="1719072"/>
            <a:ext cx="256032" cy="256032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515600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Ready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3200400"/>
            <a:ext cx="10927080" cy="2926080"/>
          </a:xfrm>
          <a:prstGeom prst="roundRect">
            <a:avLst>
              <a:gd name="adj" fmla="val 3750"/>
            </a:avLst>
          </a:prstGeom>
          <a:solidFill>
            <a:srgbClr val="1E2F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584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Items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005840" y="3904488"/>
            <a:ext cx="822960" cy="256032"/>
          </a:xfrm>
          <a:prstGeom prst="roundRect">
            <a:avLst>
              <a:gd name="adj" fmla="val 17857"/>
            </a:avLst>
          </a:prstGeom>
          <a:solidFill>
            <a:srgbClr val="C0392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05840" y="38862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201168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 works start for boiler, compressor, weighbridge, elevator, water trenching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8862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(was Jun 18)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" y="4288536"/>
            <a:ext cx="822960" cy="256032"/>
          </a:xfrm>
          <a:prstGeom prst="roundRect">
            <a:avLst>
              <a:gd name="adj" fmla="val 17857"/>
            </a:avLst>
          </a:prstGeom>
          <a:solidFill>
            <a:srgbClr val="E8963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05840" y="4270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WEEKS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2011680" y="42702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finalization: Boiler + Compressor + Elevator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4270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11, 2026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05840" y="4672584"/>
            <a:ext cx="822960" cy="256032"/>
          </a:xfrm>
          <a:prstGeom prst="roundRect">
            <a:avLst>
              <a:gd name="adj" fmla="val 17857"/>
            </a:avLst>
          </a:prstGeom>
          <a:solidFill>
            <a:srgbClr val="E89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05840" y="46542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WEEKS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2011680" y="46542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installation vendor finalization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0" y="465429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21, 2026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05840" y="5056632"/>
            <a:ext cx="822960" cy="256032"/>
          </a:xfrm>
          <a:prstGeom prst="roundRect">
            <a:avLst>
              <a:gd name="adj" fmla="val 17857"/>
            </a:avLst>
          </a:prstGeom>
          <a:solidFill>
            <a:srgbClr val="AABBC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5840" y="50383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WEEKS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011680" y="50383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manufacturing complete (boiler, elevator)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772400" y="50383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18, 2026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05840" y="5440680"/>
            <a:ext cx="822960" cy="256032"/>
          </a:xfrm>
          <a:prstGeom prst="roundRect">
            <a:avLst>
              <a:gd name="adj" fmla="val 17857"/>
            </a:avLst>
          </a:prstGeom>
          <a:solidFill>
            <a:srgbClr val="AABBC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05840" y="5422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WEEKS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2011680" y="5422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equipment shipping complete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772400" y="54223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18, 2026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05840" y="5824728"/>
            <a:ext cx="822960" cy="256032"/>
          </a:xfrm>
          <a:prstGeom prst="roundRect">
            <a:avLst>
              <a:gd name="adj" fmla="val 17857"/>
            </a:avLst>
          </a:prstGeom>
          <a:solidFill>
            <a:srgbClr val="AABBC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05840" y="58064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WEEKS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2011680" y="5806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 delivery on site (hard constraint from RFP)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772400" y="5806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19, 2026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DDDDDD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325880"/>
            <a:ext cx="685800" cy="22860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30759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2618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Storage Tank Delay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554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Annex D spec review blocked since April 21 (+8 weeks). Only RED system. Vendor not selected, PO not issued, foundation not started, oversized transport permit not initiated.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261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unblocking of spec review. Parallel-track vendor selection and permit application. Escalate to project leadership.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2267712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DDDDDD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404872"/>
            <a:ext cx="685800" cy="22860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38658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2340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Works Not Started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2633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foundation packages were due June 18 and are all unstarted (boiler, compressor, weighbridge, elevator shaft, water trenching).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3408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6334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Fast-track contractor mobilization. Prioritize boiler and compressor foundations on critical path. Weekly progress tracking.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40080" y="3346704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DDDDDD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483864"/>
            <a:ext cx="685800" cy="22860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4655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419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Deadline Compression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7124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Boiler, compressor, and elevator vendors must be finalized by July 11. Manufacturing must start July 18 to meet September shipping window.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419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7124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follow-up with shortlisted vendors. Pre-negotiate LOI terms. Prepare backup vendor options.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40080" y="4425696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DDDDDD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" y="4562856"/>
            <a:ext cx="685800" cy="22860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5445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44988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FAMSUN Silo Visibility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691640" y="47914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scope entirely dependent on FAMSUN Chinese team. No independent tracking. Last update: April 2026.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4498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47914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formal status update and delivery schedule from FAMSUN. Establish bi-weekly check-ins. Define acceptance criteria.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0080" y="5504688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DDDDDD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" y="5641848"/>
            <a:ext cx="685800" cy="228600"/>
          </a:xfrm>
          <a:prstGeom prst="roundRect">
            <a:avLst>
              <a:gd name="adj" fmla="val 20000"/>
            </a:avLst>
          </a:prstGeom>
          <a:solidFill>
            <a:srgbClr val="6B7B8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22960" y="562356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691640" y="5577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Generation (0% Progress)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691640" y="58704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tasks started for 480 KVA solar target. Not yet on critical path but represents cost savings and ESG positioning.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5577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58704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Initiate vendor RFP in Q4 2026. Leverage Moroccan Law 40-19 incentives. Can be commissioned post-startup.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Quality Assurance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303520" cy="3017520"/>
          </a:xfrm>
          <a:prstGeom prst="roundRect">
            <a:avLst>
              <a:gd name="adj" fmla="val 3636"/>
            </a:avLst>
          </a:prstGeom>
          <a:solidFill>
            <a:srgbClr val="E8EB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&amp; Standards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05840" y="1975104"/>
            <a:ext cx="182880" cy="182880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HACCP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Implementation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14016"/>
            <a:ext cx="182880" cy="182880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3591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22000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359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Implementation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2852928"/>
            <a:ext cx="182880" cy="182880"/>
          </a:xfrm>
          <a:prstGeom prst="ellipse">
            <a:avLst/>
          </a:prstGeom>
          <a:solidFill>
            <a:srgbClr val="6B7B8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71600" y="2798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Establishment Registration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7980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" y="3291840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3236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AAFCO-aligned Labeling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32369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Built In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05840" y="3730752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71600" y="3675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Batch Traceability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into FAMSUN 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0" y="1188720"/>
            <a:ext cx="5303520" cy="3017520"/>
          </a:xfrm>
          <a:prstGeom prst="roundRect">
            <a:avLst>
              <a:gd name="adj" fmla="val 3636"/>
            </a:avLst>
          </a:prstGeom>
          <a:solidFill>
            <a:srgbClr val="E8EBF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751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&amp; Building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75120" y="1975104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4088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NSI ERT fire safety dossier filed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2414016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0" y="2359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PCI plans approved (ground &amp; 1st floor)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75120" y="2852928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40880" y="27980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pressurization system designed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3291840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040880" y="32369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modification authorization obtained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75120" y="3730752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40880" y="36758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Soufiane Incendie as certified provider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480560"/>
            <a:ext cx="10927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100584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FAMSUN Performance Guarantees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" y="5120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Clause: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291840" y="51206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of contract price per 2% deviation below capacity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05840" y="53675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Penalty: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291840" y="5367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per product; 20% total of contract price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005840" y="56144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Dog Food Milling: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56144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Hammer mill 1.2mm sieve, D90 &lt; 800 μm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05840" y="58613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Food Milling: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58613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Hammer mill 1.0mm sieve, D90 &lt; 500 μm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&amp; Technology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simulation built before commissioning — de-risking production parameters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320040" cy="3200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70078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Process Model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 operations modeled: raw materials through packaging, with real FAMSUN equipment parameters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691640"/>
            <a:ext cx="320040" cy="3200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70078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Comparison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production scenarios side-by-side: throughput variations, recipe changes, seasonal adjustments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46304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691640"/>
            <a:ext cx="320040" cy="3200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70078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2396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Optimization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Steam, electricity, and water cost modeling at real Moroccan utility rates (MAD/kWh, MAD/m³)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4023360"/>
            <a:ext cx="320040" cy="3200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03250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023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526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monitoring dashboard with live engine simulation for operator training pre-commissioning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79476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4023360"/>
            <a:ext cx="320040" cy="3200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403250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4023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Prediction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17720" y="4526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Moisture, water activity, density tracking at each stage with target validation and alerts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38160" y="379476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CCCCCC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4023360"/>
            <a:ext cx="320040" cy="32004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66760" y="403250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823960" y="4023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Optimizer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526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optimization of process parameters for cost, quality, and throughput targets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5989320"/>
            <a:ext cx="10927080" cy="320040"/>
          </a:xfrm>
          <a:prstGeom prst="roundRect">
            <a:avLst>
              <a:gd name="adj" fmla="val 22857"/>
            </a:avLst>
          </a:prstGeom>
          <a:solidFill>
            <a:srgbClr val="D6EF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58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Rates Modeled:   </a:t>
            </a:r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Steam: 0.18 MAD/kg   |   Electricity: 1.20 MAD/kWh   |   Water: 8.50 MAD/m³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&amp; Team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27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DDDDDD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280160"/>
            <a:ext cx="640080" cy="64008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29844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207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FAMSUN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 Production Line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23444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SJPS165 twin-screw extruder, dryer, preconditioner, coater, cooler, packaging, silos. Full installation supervision and performance guarantees.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10927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DDDDDD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77440"/>
            <a:ext cx="640080" cy="640080"/>
          </a:xfrm>
          <a:prstGeom prst="ellipse">
            <a:avLst/>
          </a:prstGeom>
          <a:solidFill>
            <a:srgbClr val="E89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39572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Normandie Pet Food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Market JV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3317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French partner targeting EUR 300M revenue by 2030. Capitalized through Bpifrance and Credit Agricole. No equity lock-up, no capacity exclusivity.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291840"/>
            <a:ext cx="10927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DDDDDD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347472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49300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3401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Petland Maroc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Factory Owner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54880" y="342900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Aribi, Chef de Projet. Full ownership retained. Contractual JV structure preserves operational independence and strategic flexibility.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89120"/>
            <a:ext cx="109270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DDDDDD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" y="4572000"/>
            <a:ext cx="640080" cy="6400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1783080" y="4498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Soufiane Incendie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Safety Provider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754880" y="45262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NSI ERT dossier, PCI floor plans (ground &amp; 1st floor), pressurization system design, building modification authorizations.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927080" cy="594360"/>
          </a:xfrm>
          <a:prstGeom prst="roundRect">
            <a:avLst>
              <a:gd name="adj" fmla="val 15385"/>
            </a:avLst>
          </a:prstGeom>
          <a:solidFill>
            <a:srgbClr val="E8EBF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05840" y="5532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in Progress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576072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Manager (Responsable Technique) and Quality Manager (Responsable Qualité) — CVs received, interview finalization by July 11, 2026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Investor Update  |  August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1371600"/>
          </a:xfrm>
          <a:prstGeom prst="rect">
            <a:avLst/>
          </a:prstGeom>
          <a:solidFill>
            <a:srgbClr val="E8963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1E2F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(Jul 2026)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16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Unblock oil storage tank spec review (RED item)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237744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2860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Mobilize civil works contractors for 5 overdue foundations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265176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25603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boiler, compressor, and elevator vendors by Jul 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1E2F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(Aug - Sep 2026)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365760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35661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manufacturing and quality inspections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393192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71600" y="38404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gas installation vendor selection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420624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371600" y="4114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Initiate FAMSUN silo delivery schedule tracking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66344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1E2F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7280" y="4754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Pre-commissioning (Oct - Nov 2026)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97280" y="521208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371600" y="51206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equipment delivered and installed on site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97280" y="548640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371600" y="53949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testing and FAMSUN performance validation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97280" y="5760720"/>
            <a:ext cx="137160" cy="13716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371600" y="56692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Facility commissioned November 24, 2026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9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PetFactory Maroc  |  Petland Maroc  |  Sam Aribi, Chef de Projet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7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|  For Investor Discussion Only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PetFactory Morocco - Infrastructure Progress</dc:title>
  <dc:subject>Infrastructure Progress - Investor Update</dc:subject>
  <dc:creator>PetFactory Maroc</dc:creator>
  <cp:lastModifiedBy>PetFactory Maroc</cp:lastModifiedBy>
  <cp:revision>1</cp:revision>
  <dcterms:created xsi:type="dcterms:W3CDTF">2026-08-31T13:08:30Z</dcterms:created>
  <dcterms:modified xsi:type="dcterms:W3CDTF">2026-08-31T13:08:30Z</dcterms:modified>
</cp:coreProperties>
</file>