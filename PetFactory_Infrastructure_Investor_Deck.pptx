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3959352" cy="2926080"/>
          </a:xfrm>
          <a:prstGeom prst="rect">
            <a:avLst/>
          </a:prstGeom>
          <a:solidFill>
            <a:srgbClr val="E8963E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2926080"/>
            <a:ext cx="2587752" cy="39319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2801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PETFACTORY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E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MAROC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 d'avancement Infrastructure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à jour Investisseurs  |  Août 2026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303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9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T/H </a:t>
            </a:r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Ligne d'extrusion sèche   |   </a:t>
            </a:r>
            <a:pPr indent="0" marL="0">
              <a:buNone/>
            </a:pPr>
            <a:r>
              <a:rPr lang="en-US" sz="1300" b="1" dirty="0">
                <a:solidFill>
                  <a:srgbClr val="E89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FAMSUN </a:t>
            </a:r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Clé en main   |   </a:t>
            </a:r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Sidi Bouathmane, Maroc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943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Petland Maroc  |  Propriété 100%  |  Confidentiel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 Exécutif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PetFactory Maroc est une plateforme de fabrication d'aliments premium pour animaux, détenue à 100% par Petland Maroc. Conçue clé en main par FAMSUN avec une ligne d'extrusion sèche de 5 T/h, l'usine cible la production en marque blanche et co-marquée pour les distributeurs, de l'entrée de gamme au super-premium. Stratégiquement située à Sidi Bouathmane près du port de Casablanca, avec accès direct aux marchés UE, US, Golfe et Afrique.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CCCCCC">
                <a:alpha val="4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26060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T/H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54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Capacité d'extrusion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0" y="246888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CCCCCC">
                <a:alpha val="4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74720" y="26060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3154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Systèmes d'infrastructure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246888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CCCCCC">
                <a:alpha val="4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09360" y="26060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24,2%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3154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Avancement global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0" y="246888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CCCCCC">
                <a:alpha val="4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144000" y="26060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2026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3154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en service cible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023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clés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4617720"/>
            <a:ext cx="228600" cy="2286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05840" y="4572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Accord de libre-échange Maroc-USA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45720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Accès en franchise douanière, transit 7-12 jours côte Est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120640"/>
            <a:ext cx="228600" cy="2286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05840" y="5074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HACCP &amp; ISO 22000 en cours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212080" y="5074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Enregistrement FDA prévu ; traçabilité complète des lots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5623560"/>
            <a:ext cx="228600" cy="2286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05840" y="5577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Transformateur électrique — BC signé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212080" y="5577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1 600 KVA — fabrication démarrée juillet 2026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6126480"/>
            <a:ext cx="228600" cy="2286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05840" y="6080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Proximité ports UE, Golfe et Afrique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212080" y="6080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logistique Casablanca, accès multi-marchés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PetFactory Maroc  |  Mise à jour Investisseurs  |  Août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Stratégique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5303520" cy="4846320"/>
          </a:xfrm>
          <a:prstGeom prst="roundRect">
            <a:avLst>
              <a:gd name="adj" fmla="val 2830"/>
            </a:avLst>
          </a:prstGeom>
          <a:solidFill>
            <a:srgbClr val="E8EBF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 Géographique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05840" y="2011680"/>
            <a:ext cx="201168" cy="201168"/>
          </a:xfrm>
          <a:prstGeom prst="ellipse">
            <a:avLst/>
          </a:prstGeom>
          <a:solidFill>
            <a:srgbClr val="E8963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71600" y="19659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Sidi Bouathmane, Maroc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2402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Près du port en eau profonde de Casablanca, services conteneurs directs vers NY/NJ, Norfolk, Savannah, Montréal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05840" y="2788920"/>
            <a:ext cx="201168" cy="201168"/>
          </a:xfrm>
          <a:prstGeom prst="ellipse">
            <a:avLst/>
          </a:prstGeom>
          <a:solidFill>
            <a:srgbClr val="E896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71600" y="27432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 Maroc-USA (depuis 2006)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30175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Franchise douanière sur produits qualifiés. 7-12 jours vers la côte Est US vs. 30+ jours depuis l'Asie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05840" y="3566160"/>
            <a:ext cx="201168" cy="201168"/>
          </a:xfrm>
          <a:prstGeom prst="ellipse">
            <a:avLst/>
          </a:prstGeom>
          <a:solidFill>
            <a:srgbClr val="E8963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371600" y="3520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Proximité UE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794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Accès direct au marché européen. Objectif CA 300 M EUR d'ici 2030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05840" y="4343400"/>
            <a:ext cx="201168" cy="201168"/>
          </a:xfrm>
          <a:prstGeom prst="ellipse">
            <a:avLst/>
          </a:prstGeom>
          <a:solidFill>
            <a:srgbClr val="E8963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371600" y="42976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Stabilité du MAD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45720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Indexé sur panier EUR/USD — fiable pour contrats d'approvisionnement pluriannuels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05840" y="5120640"/>
            <a:ext cx="201168" cy="201168"/>
          </a:xfrm>
          <a:prstGeom prst="ellipse">
            <a:avLst/>
          </a:prstGeom>
          <a:solidFill>
            <a:srgbClr val="E8963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371600" y="50749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Golfe &amp; Afrique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5349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Marchés en croissance pour animaux de compagnie, accessibles depuis le hub de Casablanca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09360" y="1188720"/>
            <a:ext cx="5303520" cy="4846320"/>
          </a:xfrm>
          <a:prstGeom prst="roundRect">
            <a:avLst>
              <a:gd name="adj" fmla="val 2830"/>
            </a:avLst>
          </a:prstGeom>
          <a:solidFill>
            <a:srgbClr val="1B2A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7512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Marchés Cibles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675120" y="1965960"/>
            <a:ext cx="4572000" cy="777240"/>
          </a:xfrm>
          <a:prstGeom prst="roundRect">
            <a:avLst>
              <a:gd name="adj" fmla="val 9412"/>
            </a:avLst>
          </a:prstGeom>
          <a:solidFill>
            <a:srgbClr val="253660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0" y="2148840"/>
            <a:ext cx="365760" cy="365760"/>
          </a:xfrm>
          <a:prstGeom prst="ellipse">
            <a:avLst/>
          </a:prstGeom>
          <a:solidFill>
            <a:srgbClr val="E8963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406640" y="2039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Amérique du Nord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406640" y="23134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A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partenariats acheteurs clés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A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Accès en franchise (ALE)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75120" y="2926080"/>
            <a:ext cx="4572000" cy="777240"/>
          </a:xfrm>
          <a:prstGeom prst="roundRect">
            <a:avLst>
              <a:gd name="adj" fmla="val 9412"/>
            </a:avLst>
          </a:prstGeom>
          <a:solidFill>
            <a:srgbClr val="253660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0" y="3108960"/>
            <a:ext cx="365760" cy="36576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406640" y="2999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Union Européenne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406640" y="32735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A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Accès direct marché UE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A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Proximité géographique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75120" y="3886200"/>
            <a:ext cx="4572000" cy="777240"/>
          </a:xfrm>
          <a:prstGeom prst="roundRect">
            <a:avLst>
              <a:gd name="adj" fmla="val 9412"/>
            </a:avLst>
          </a:prstGeom>
          <a:solidFill>
            <a:srgbClr val="253660"/>
          </a:solidFill>
          <a:ln/>
        </p:spPr>
      </p:sp>
      <p:sp>
        <p:nvSpPr>
          <p:cNvPr id="31" name="Shape 29"/>
          <p:cNvSpPr/>
          <p:nvPr/>
        </p:nvSpPr>
        <p:spPr>
          <a:xfrm>
            <a:off x="6858000" y="4069080"/>
            <a:ext cx="365760" cy="36576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406640" y="3959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États du Golfe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406640" y="42336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A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 premium croissante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A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 moyenne en expansion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675120" y="4846320"/>
            <a:ext cx="4572000" cy="777240"/>
          </a:xfrm>
          <a:prstGeom prst="roundRect">
            <a:avLst>
              <a:gd name="adj" fmla="val 9412"/>
            </a:avLst>
          </a:prstGeom>
          <a:solidFill>
            <a:srgbClr val="253660"/>
          </a:solidFill>
          <a:ln/>
        </p:spPr>
      </p:sp>
      <p:sp>
        <p:nvSpPr>
          <p:cNvPr id="35" name="Shape 33"/>
          <p:cNvSpPr/>
          <p:nvPr/>
        </p:nvSpPr>
        <p:spPr>
          <a:xfrm>
            <a:off x="6858000" y="5029200"/>
            <a:ext cx="365760" cy="36576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406640" y="4919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Afrique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7406640" y="51937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A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Marché émergent animaux de compagnie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A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Proximité régionale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Incoterms : </a:t>
            </a:r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FOB Casablanca (CIF/DDP disponible)   |   </a:t>
            </a:r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QMC : </a:t>
            </a:r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Conteneur complet (20/40 pieds par SKU)   |   </a:t>
            </a:r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 : </a:t>
            </a:r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10-14 jours port-à-port côte Est US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PetFactory Maroc  |  Mise à jour Investisseurs  |  Août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 de Production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FAMSUN Clé en main  |  Extrusion sèche 5 T/h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" y="1554480"/>
            <a:ext cx="1371600" cy="155448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5236" y="1645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36676" y="18745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Matières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Premières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36676" y="24231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humidité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25°C entrée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 rot="5400000">
            <a:off x="2135124" y="2194560"/>
            <a:ext cx="146304" cy="182880"/>
          </a:xfrm>
          <a:prstGeom prst="triangle">
            <a:avLst/>
          </a:prstGeom>
          <a:solidFill>
            <a:srgbClr val="6B7B8D"/>
          </a:solidFill>
          <a:ln/>
        </p:spPr>
      </p:sp>
      <p:sp>
        <p:nvSpPr>
          <p:cNvPr id="9" name="Shape 7"/>
          <p:cNvSpPr/>
          <p:nvPr/>
        </p:nvSpPr>
        <p:spPr>
          <a:xfrm>
            <a:off x="2299716" y="1554480"/>
            <a:ext cx="1371600" cy="1554480"/>
          </a:xfrm>
          <a:prstGeom prst="roundRect">
            <a:avLst>
              <a:gd name="adj" fmla="val 6667"/>
            </a:avLst>
          </a:prstGeom>
          <a:solidFill>
            <a:srgbClr val="1A6B8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299716" y="1645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391156" y="18745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conditionneur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91156" y="24231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Vapeur 350 kg/h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Eau 400 kg/h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 rot="5400000">
            <a:off x="3689604" y="2194560"/>
            <a:ext cx="146304" cy="182880"/>
          </a:xfrm>
          <a:prstGeom prst="triangle">
            <a:avLst/>
          </a:prstGeom>
          <a:solidFill>
            <a:srgbClr val="6B7B8D"/>
          </a:solidFill>
          <a:ln/>
        </p:spPr>
      </p:sp>
      <p:sp>
        <p:nvSpPr>
          <p:cNvPr id="14" name="Shape 12"/>
          <p:cNvSpPr/>
          <p:nvPr/>
        </p:nvSpPr>
        <p:spPr>
          <a:xfrm>
            <a:off x="3854196" y="1554480"/>
            <a:ext cx="1371600" cy="1554480"/>
          </a:xfrm>
          <a:prstGeom prst="roundRect">
            <a:avLst>
              <a:gd name="adj" fmla="val 6667"/>
            </a:avLst>
          </a:prstGeom>
          <a:solidFill>
            <a:srgbClr val="2E86A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854196" y="1645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945636" y="18745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Extrudeuse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SJPS165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945636" y="24231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Moteur 203 kW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Fourreau 145°C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 rot="5400000">
            <a:off x="5244084" y="2194560"/>
            <a:ext cx="146304" cy="182880"/>
          </a:xfrm>
          <a:prstGeom prst="triangle">
            <a:avLst/>
          </a:prstGeom>
          <a:solidFill>
            <a:srgbClr val="6B7B8D"/>
          </a:solidFill>
          <a:ln/>
        </p:spPr>
      </p:sp>
      <p:sp>
        <p:nvSpPr>
          <p:cNvPr id="19" name="Shape 17"/>
          <p:cNvSpPr/>
          <p:nvPr/>
        </p:nvSpPr>
        <p:spPr>
          <a:xfrm>
            <a:off x="5408676" y="1554480"/>
            <a:ext cx="1371600" cy="1554480"/>
          </a:xfrm>
          <a:prstGeom prst="roundRect">
            <a:avLst>
              <a:gd name="adj" fmla="val 6667"/>
            </a:avLst>
          </a:prstGeom>
          <a:solidFill>
            <a:srgbClr val="E8963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08676" y="1645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500116" y="18745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Séchoir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GZDH2200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500116" y="24231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Entrée 140°C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Tapis 44 m²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 rot="5400000">
            <a:off x="6798564" y="2194560"/>
            <a:ext cx="146304" cy="182880"/>
          </a:xfrm>
          <a:prstGeom prst="triangle">
            <a:avLst/>
          </a:prstGeom>
          <a:solidFill>
            <a:srgbClr val="6B7B8D"/>
          </a:solidFill>
          <a:ln/>
        </p:spPr>
      </p:sp>
      <p:sp>
        <p:nvSpPr>
          <p:cNvPr id="24" name="Shape 22"/>
          <p:cNvSpPr/>
          <p:nvPr/>
        </p:nvSpPr>
        <p:spPr>
          <a:xfrm>
            <a:off x="6963156" y="1554480"/>
            <a:ext cx="1371600" cy="1554480"/>
          </a:xfrm>
          <a:prstGeom prst="roundRect">
            <a:avLst>
              <a:gd name="adj" fmla="val 6667"/>
            </a:avLst>
          </a:prstGeom>
          <a:solidFill>
            <a:srgbClr val="5B9BD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963156" y="1645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054596" y="18745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Refroidisseur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054596" y="24231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de séjour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 rot="5400000">
            <a:off x="8353044" y="2194560"/>
            <a:ext cx="146304" cy="182880"/>
          </a:xfrm>
          <a:prstGeom prst="triangle">
            <a:avLst/>
          </a:prstGeom>
          <a:solidFill>
            <a:srgbClr val="6B7B8D"/>
          </a:solidFill>
          <a:ln/>
        </p:spPr>
      </p:sp>
      <p:sp>
        <p:nvSpPr>
          <p:cNvPr id="29" name="Shape 27"/>
          <p:cNvSpPr/>
          <p:nvPr/>
        </p:nvSpPr>
        <p:spPr>
          <a:xfrm>
            <a:off x="8517636" y="1554480"/>
            <a:ext cx="1371600" cy="1554480"/>
          </a:xfrm>
          <a:prstGeom prst="roundRect">
            <a:avLst>
              <a:gd name="adj" fmla="val 6667"/>
            </a:avLst>
          </a:prstGeom>
          <a:solidFill>
            <a:srgbClr val="7C68A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517636" y="1645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609076" y="18745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Enrobeur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609076" y="24231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 matière grasse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 appétent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 rot="5400000">
            <a:off x="9907524" y="2194560"/>
            <a:ext cx="146304" cy="182880"/>
          </a:xfrm>
          <a:prstGeom prst="triangle">
            <a:avLst/>
          </a:prstGeom>
          <a:solidFill>
            <a:srgbClr val="6B7B8D"/>
          </a:solidFill>
          <a:ln/>
        </p:spPr>
      </p:sp>
      <p:sp>
        <p:nvSpPr>
          <p:cNvPr id="34" name="Shape 32"/>
          <p:cNvSpPr/>
          <p:nvPr/>
        </p:nvSpPr>
        <p:spPr>
          <a:xfrm>
            <a:off x="10072116" y="1554480"/>
            <a:ext cx="1371600" cy="1554480"/>
          </a:xfrm>
          <a:prstGeom prst="roundRect">
            <a:avLst>
              <a:gd name="adj" fmla="val 6667"/>
            </a:avLst>
          </a:prstGeom>
          <a:solidFill>
            <a:srgbClr val="27AE6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072116" y="1645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10163556" y="18745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Conditionnement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0163556" y="24231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Salle à 20°C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 HR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40080" y="3566160"/>
            <a:ext cx="5486400" cy="2743200"/>
          </a:xfrm>
          <a:prstGeom prst="roundRect">
            <a:avLst>
              <a:gd name="adj" fmla="val 4000"/>
            </a:avLst>
          </a:prstGeom>
          <a:solidFill>
            <a:srgbClr val="E8EBF0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1005840" y="37490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Performances Garanties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1005840" y="4206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Aliment chien (croquette 8,0 mm)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4206240" y="4206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5,0 T/h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1005840" y="45902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Aliment chat (croquette 4,0 mm)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4206240" y="45902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4,5 T/h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1005840" y="49743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Densité apparente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4206240" y="49743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350-450 g/L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1005840" y="53583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Humidité cible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4206240" y="53583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9,0%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1005840" y="5742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Activité de l'eau limite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4206240" y="57424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0,60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492240" y="3566160"/>
            <a:ext cx="5120640" cy="2743200"/>
          </a:xfrm>
          <a:prstGeom prst="roundRect">
            <a:avLst>
              <a:gd name="adj" fmla="val 4000"/>
            </a:avLst>
          </a:prstGeom>
          <a:solidFill>
            <a:srgbClr val="E8EBF0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858000" y="3749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Gamme de Produits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858000" y="4251960"/>
            <a:ext cx="164592" cy="16459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7178040" y="4206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Croquettes premium sèches (chien &amp; chat)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858000" y="4636008"/>
            <a:ext cx="164592" cy="16459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7178040" y="45902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Formulations sur mesure (forme, densité, enrobage)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858000" y="5020056"/>
            <a:ext cx="164592" cy="16459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7178040" y="497433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Formats sans céréales &amp; protéine unique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858000" y="5404104"/>
            <a:ext cx="164592" cy="16459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7178040" y="53583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Régimes de type vétérinaire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858000" y="5788152"/>
            <a:ext cx="164592" cy="164592"/>
          </a:xfrm>
          <a:prstGeom prst="ellipse">
            <a:avLst/>
          </a:prstGeom>
          <a:solidFill>
            <a:srgbClr val="E8963E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7178040" y="57424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9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: Ligne humide (pâté, morceaux en sauce, friandises)</a:t>
            </a:r>
            <a:endParaRPr lang="en-US" sz="1100" dirty="0"/>
          </a:p>
        </p:txBody>
      </p:sp>
      <p:sp>
        <p:nvSpPr>
          <p:cNvPr id="62" name="Text 60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PetFactory Maroc  |  Mise à jour Investisseurs  |  Août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Systèmes d'Infrastructure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systèmes suivis  |  128 tâches  |  24,2% d'avancement global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CCCCCC">
                <a:alpha val="4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5087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Tâches terminées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51760" y="137160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CCCCCC">
                <a:alpha val="4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651760" y="15087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2057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cours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CCCCCC">
                <a:alpha val="4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663440" y="15087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057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démarrées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0" y="137160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CCCCCC">
                <a:alpha val="4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675120" y="15087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1/7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2057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Jalons atteints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61120" y="137160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E8EBF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61120" y="13898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24,2%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235440" y="1965960"/>
            <a:ext cx="2103120" cy="164592"/>
          </a:xfrm>
          <a:prstGeom prst="roundRect">
            <a:avLst>
              <a:gd name="adj" fmla="val 50000"/>
            </a:avLst>
          </a:prstGeom>
          <a:solidFill>
            <a:srgbClr val="D0D8E0"/>
          </a:solidFill>
          <a:ln/>
        </p:spPr>
      </p:sp>
      <p:sp>
        <p:nvSpPr>
          <p:cNvPr id="19" name="Shape 17"/>
          <p:cNvSpPr/>
          <p:nvPr/>
        </p:nvSpPr>
        <p:spPr>
          <a:xfrm>
            <a:off x="9235440" y="1965960"/>
            <a:ext cx="508955" cy="164592"/>
          </a:xfrm>
          <a:prstGeom prst="roundRect">
            <a:avLst>
              <a:gd name="adj" fmla="val 50000"/>
            </a:avLst>
          </a:prstGeom>
          <a:solidFill>
            <a:srgbClr val="2E86A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2560320"/>
            <a:ext cx="10908792" cy="320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2560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Système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3063240" y="2560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Spécification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709160" y="2560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Avancement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7269480" y="25603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001000" y="25603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Remarque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0080" y="2898648"/>
            <a:ext cx="10908792" cy="26517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5800" y="2898648"/>
            <a:ext cx="2377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Électricité &amp; Transformateur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3063240" y="2898648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1 600 KVA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9160" y="2980944"/>
            <a:ext cx="1828800" cy="128016"/>
          </a:xfrm>
          <a:prstGeom prst="roundRect">
            <a:avLst>
              <a:gd name="adj" fmla="val 50000"/>
            </a:avLst>
          </a:prstGeom>
          <a:solidFill>
            <a:srgbClr val="D8DEE4"/>
          </a:solidFill>
          <a:ln/>
        </p:spPr>
      </p:sp>
      <p:sp>
        <p:nvSpPr>
          <p:cNvPr id="30" name="Shape 28"/>
          <p:cNvSpPr/>
          <p:nvPr/>
        </p:nvSpPr>
        <p:spPr>
          <a:xfrm>
            <a:off x="4709160" y="2980944"/>
            <a:ext cx="603504" cy="128016"/>
          </a:xfrm>
          <a:prstGeom prst="roundRect">
            <a:avLst>
              <a:gd name="adj" fmla="val 50000"/>
            </a:avLst>
          </a:prstGeom>
          <a:solidFill>
            <a:srgbClr val="27AE6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583680" y="2898648"/>
            <a:ext cx="548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498080" y="2980944"/>
            <a:ext cx="128016" cy="12801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001000" y="2898648"/>
            <a:ext cx="3520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 signé. Fabrication démarre 1er juil.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40080" y="3163824"/>
            <a:ext cx="10908792" cy="2651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85800" y="3163824"/>
            <a:ext cx="2377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Salle de contrôle &amp; TGBT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3063240" y="3163824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Séparation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09160" y="3246120"/>
            <a:ext cx="1828800" cy="128016"/>
          </a:xfrm>
          <a:prstGeom prst="roundRect">
            <a:avLst>
              <a:gd name="adj" fmla="val 50000"/>
            </a:avLst>
          </a:prstGeom>
          <a:solidFill>
            <a:srgbClr val="D8DEE4"/>
          </a:solidFill>
          <a:ln/>
        </p:spPr>
      </p:sp>
      <p:sp>
        <p:nvSpPr>
          <p:cNvPr id="38" name="Shape 36"/>
          <p:cNvSpPr/>
          <p:nvPr/>
        </p:nvSpPr>
        <p:spPr>
          <a:xfrm>
            <a:off x="4709160" y="3246120"/>
            <a:ext cx="1517904" cy="128016"/>
          </a:xfrm>
          <a:prstGeom prst="roundRect">
            <a:avLst>
              <a:gd name="adj" fmla="val 50000"/>
            </a:avLst>
          </a:prstGeom>
          <a:solidFill>
            <a:srgbClr val="27AE60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583680" y="3163824"/>
            <a:ext cx="548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498080" y="3246120"/>
            <a:ext cx="128016" cy="12801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001000" y="3163824"/>
            <a:ext cx="3520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Spécifications &amp; plans approuvés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40080" y="3429000"/>
            <a:ext cx="10908792" cy="26517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85800" y="3429000"/>
            <a:ext cx="2377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Travaux béton extérieurs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3063240" y="3429000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Béton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09160" y="3511296"/>
            <a:ext cx="1828800" cy="128016"/>
          </a:xfrm>
          <a:prstGeom prst="roundRect">
            <a:avLst>
              <a:gd name="adj" fmla="val 50000"/>
            </a:avLst>
          </a:prstGeom>
          <a:solidFill>
            <a:srgbClr val="D8DEE4"/>
          </a:solidFill>
          <a:ln/>
        </p:spPr>
      </p:sp>
      <p:sp>
        <p:nvSpPr>
          <p:cNvPr id="46" name="Shape 44"/>
          <p:cNvSpPr/>
          <p:nvPr/>
        </p:nvSpPr>
        <p:spPr>
          <a:xfrm>
            <a:off x="4709160" y="3511296"/>
            <a:ext cx="1517904" cy="128016"/>
          </a:xfrm>
          <a:prstGeom prst="roundRect">
            <a:avLst>
              <a:gd name="adj" fmla="val 50000"/>
            </a:avLst>
          </a:prstGeom>
          <a:solidFill>
            <a:srgbClr val="27AE60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583680" y="3429000"/>
            <a:ext cx="548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498080" y="3511296"/>
            <a:ext cx="128016" cy="12801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8001000" y="3429000"/>
            <a:ext cx="3520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Finalisation fournisseur en cours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40080" y="3694176"/>
            <a:ext cx="10908792" cy="2651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85800" y="3694176"/>
            <a:ext cx="2377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Froid industriel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3063240" y="3694176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Séparation sèche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709160" y="3776472"/>
            <a:ext cx="1828800" cy="128016"/>
          </a:xfrm>
          <a:prstGeom prst="roundRect">
            <a:avLst>
              <a:gd name="adj" fmla="val 50000"/>
            </a:avLst>
          </a:prstGeom>
          <a:solidFill>
            <a:srgbClr val="D8DEE4"/>
          </a:solidFill>
          <a:ln/>
        </p:spPr>
      </p:sp>
      <p:sp>
        <p:nvSpPr>
          <p:cNvPr id="54" name="Shape 52"/>
          <p:cNvSpPr/>
          <p:nvPr/>
        </p:nvSpPr>
        <p:spPr>
          <a:xfrm>
            <a:off x="4709160" y="3776472"/>
            <a:ext cx="1225296" cy="128016"/>
          </a:xfrm>
          <a:prstGeom prst="roundRect">
            <a:avLst>
              <a:gd name="adj" fmla="val 50000"/>
            </a:avLst>
          </a:prstGeom>
          <a:solidFill>
            <a:srgbClr val="27AE60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6583680" y="3694176"/>
            <a:ext cx="548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7498080" y="3776472"/>
            <a:ext cx="128016" cy="12801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8001000" y="3694176"/>
            <a:ext cx="3520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Revue des spécifications terminée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40080" y="3959352"/>
            <a:ext cx="10908792" cy="26517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685800" y="3959352"/>
            <a:ext cx="2377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Logiciels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3063240" y="3959352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/ MES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709160" y="4041648"/>
            <a:ext cx="1828800" cy="128016"/>
          </a:xfrm>
          <a:prstGeom prst="roundRect">
            <a:avLst>
              <a:gd name="adj" fmla="val 50000"/>
            </a:avLst>
          </a:prstGeom>
          <a:solidFill>
            <a:srgbClr val="D8DEE4"/>
          </a:solidFill>
          <a:ln/>
        </p:spPr>
      </p:sp>
      <p:sp>
        <p:nvSpPr>
          <p:cNvPr id="62" name="Shape 60"/>
          <p:cNvSpPr/>
          <p:nvPr/>
        </p:nvSpPr>
        <p:spPr>
          <a:xfrm>
            <a:off x="4709160" y="4041648"/>
            <a:ext cx="1225296" cy="128016"/>
          </a:xfrm>
          <a:prstGeom prst="roundRect">
            <a:avLst>
              <a:gd name="adj" fmla="val 50000"/>
            </a:avLst>
          </a:prstGeom>
          <a:solidFill>
            <a:srgbClr val="27AE60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6583680" y="3959352"/>
            <a:ext cx="548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7498080" y="4041648"/>
            <a:ext cx="128016" cy="12801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8001000" y="3959352"/>
            <a:ext cx="3520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Approbation en cours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40080" y="4224528"/>
            <a:ext cx="10908792" cy="2651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685800" y="4224528"/>
            <a:ext cx="2377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Pont-bascule</a:t>
            </a:r>
            <a:endParaRPr lang="en-US" sz="900" dirty="0"/>
          </a:p>
        </p:txBody>
      </p:sp>
      <p:sp>
        <p:nvSpPr>
          <p:cNvPr id="68" name="Text 66"/>
          <p:cNvSpPr txBox="1"/>
          <p:nvPr/>
        </p:nvSpPr>
        <p:spPr>
          <a:xfrm>
            <a:off x="3063240" y="4224528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T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709160" y="4306824"/>
            <a:ext cx="1828800" cy="128016"/>
          </a:xfrm>
          <a:prstGeom prst="roundRect">
            <a:avLst>
              <a:gd name="adj" fmla="val 50000"/>
            </a:avLst>
          </a:prstGeom>
          <a:solidFill>
            <a:srgbClr val="D8DEE4"/>
          </a:solidFill>
          <a:ln/>
        </p:spPr>
      </p:sp>
      <p:sp>
        <p:nvSpPr>
          <p:cNvPr id="70" name="Shape 68"/>
          <p:cNvSpPr/>
          <p:nvPr/>
        </p:nvSpPr>
        <p:spPr>
          <a:xfrm>
            <a:off x="4709160" y="4306824"/>
            <a:ext cx="457200" cy="128016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6583680" y="4224528"/>
            <a:ext cx="548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7498080" y="4306824"/>
            <a:ext cx="128016" cy="128016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8001000" y="4224528"/>
            <a:ext cx="3520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Fournisseur choisi, BC en attente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640080" y="4489704"/>
            <a:ext cx="10908792" cy="26517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685800" y="4489704"/>
            <a:ext cx="2377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Système d'eau</a:t>
            </a:r>
            <a:endParaRPr lang="en-US" sz="900" dirty="0"/>
          </a:p>
        </p:txBody>
      </p:sp>
      <p:sp>
        <p:nvSpPr>
          <p:cNvPr id="76" name="Text 74"/>
          <p:cNvSpPr txBox="1"/>
          <p:nvPr/>
        </p:nvSpPr>
        <p:spPr>
          <a:xfrm>
            <a:off x="3063240" y="4489704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10 000 kg/h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709160" y="4572000"/>
            <a:ext cx="1828800" cy="128016"/>
          </a:xfrm>
          <a:prstGeom prst="roundRect">
            <a:avLst>
              <a:gd name="adj" fmla="val 50000"/>
            </a:avLst>
          </a:prstGeom>
          <a:solidFill>
            <a:srgbClr val="D8DEE4"/>
          </a:solidFill>
          <a:ln/>
        </p:spPr>
      </p:sp>
      <p:sp>
        <p:nvSpPr>
          <p:cNvPr id="78" name="Shape 76"/>
          <p:cNvSpPr/>
          <p:nvPr/>
        </p:nvSpPr>
        <p:spPr>
          <a:xfrm>
            <a:off x="4709160" y="4572000"/>
            <a:ext cx="384048" cy="128016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6583680" y="4489704"/>
            <a:ext cx="548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7498080" y="4572000"/>
            <a:ext cx="128016" cy="128016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8001000" y="4489704"/>
            <a:ext cx="3520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Sélection pompe/réservoir démarrée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640080" y="4754880"/>
            <a:ext cx="10908792" cy="2651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685800" y="4754880"/>
            <a:ext cx="2377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 gaz</a:t>
            </a:r>
            <a:endParaRPr lang="en-US" sz="900" dirty="0"/>
          </a:p>
        </p:txBody>
      </p:sp>
      <p:sp>
        <p:nvSpPr>
          <p:cNvPr id="84" name="Text 82"/>
          <p:cNvSpPr txBox="1"/>
          <p:nvPr/>
        </p:nvSpPr>
        <p:spPr>
          <a:xfrm>
            <a:off x="3063240" y="4754880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m³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4709160" y="4837176"/>
            <a:ext cx="1828800" cy="128016"/>
          </a:xfrm>
          <a:prstGeom prst="roundRect">
            <a:avLst>
              <a:gd name="adj" fmla="val 50000"/>
            </a:avLst>
          </a:prstGeom>
          <a:solidFill>
            <a:srgbClr val="D8DEE4"/>
          </a:solidFill>
          <a:ln/>
        </p:spPr>
      </p:sp>
      <p:sp>
        <p:nvSpPr>
          <p:cNvPr id="86" name="Shape 84"/>
          <p:cNvSpPr/>
          <p:nvPr/>
        </p:nvSpPr>
        <p:spPr>
          <a:xfrm>
            <a:off x="4709160" y="4837176"/>
            <a:ext cx="384048" cy="128016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6583680" y="4754880"/>
            <a:ext cx="548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7498080" y="4837176"/>
            <a:ext cx="128016" cy="128016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8001000" y="4754880"/>
            <a:ext cx="3520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Fournisseur attendu le 21 juil.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640080" y="5020056"/>
            <a:ext cx="10908792" cy="26517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1" name="Text 89"/>
          <p:cNvSpPr txBox="1"/>
          <p:nvPr/>
        </p:nvSpPr>
        <p:spPr>
          <a:xfrm>
            <a:off x="685800" y="5020056"/>
            <a:ext cx="2377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Chaudière</a:t>
            </a:r>
            <a:endParaRPr lang="en-US" sz="900" dirty="0"/>
          </a:p>
        </p:txBody>
      </p:sp>
      <p:sp>
        <p:nvSpPr>
          <p:cNvPr id="92" name="Text 90"/>
          <p:cNvSpPr txBox="1"/>
          <p:nvPr/>
        </p:nvSpPr>
        <p:spPr>
          <a:xfrm>
            <a:off x="3063240" y="5020056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6 000 kg/h vapeur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4709160" y="5102352"/>
            <a:ext cx="1828800" cy="128016"/>
          </a:xfrm>
          <a:prstGeom prst="roundRect">
            <a:avLst>
              <a:gd name="adj" fmla="val 50000"/>
            </a:avLst>
          </a:prstGeom>
          <a:solidFill>
            <a:srgbClr val="D8DEE4"/>
          </a:solidFill>
          <a:ln/>
        </p:spPr>
      </p:sp>
      <p:sp>
        <p:nvSpPr>
          <p:cNvPr id="94" name="Shape 92"/>
          <p:cNvSpPr/>
          <p:nvPr/>
        </p:nvSpPr>
        <p:spPr>
          <a:xfrm>
            <a:off x="4709160" y="5102352"/>
            <a:ext cx="329184" cy="128016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</p:sp>
      <p:sp>
        <p:nvSpPr>
          <p:cNvPr id="95" name="Text 93"/>
          <p:cNvSpPr txBox="1"/>
          <p:nvPr/>
        </p:nvSpPr>
        <p:spPr>
          <a:xfrm>
            <a:off x="6583680" y="5020056"/>
            <a:ext cx="548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7498080" y="5102352"/>
            <a:ext cx="128016" cy="128016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97" name="Text 95"/>
          <p:cNvSpPr txBox="1"/>
          <p:nvPr/>
        </p:nvSpPr>
        <p:spPr>
          <a:xfrm>
            <a:off x="8001000" y="5020056"/>
            <a:ext cx="3520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Finalisation fournisseur le 11 juil.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640080" y="5285232"/>
            <a:ext cx="10908792" cy="2651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9" name="Text 97"/>
          <p:cNvSpPr txBox="1"/>
          <p:nvPr/>
        </p:nvSpPr>
        <p:spPr>
          <a:xfrm>
            <a:off x="685800" y="5285232"/>
            <a:ext cx="2377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Compresseur</a:t>
            </a:r>
            <a:endParaRPr lang="en-US" sz="900" dirty="0"/>
          </a:p>
        </p:txBody>
      </p:sp>
      <p:sp>
        <p:nvSpPr>
          <p:cNvPr id="100" name="Text 98"/>
          <p:cNvSpPr txBox="1"/>
          <p:nvPr/>
        </p:nvSpPr>
        <p:spPr>
          <a:xfrm>
            <a:off x="3063240" y="5285232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kW x 2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4709160" y="5367528"/>
            <a:ext cx="1828800" cy="128016"/>
          </a:xfrm>
          <a:prstGeom prst="roundRect">
            <a:avLst>
              <a:gd name="adj" fmla="val 50000"/>
            </a:avLst>
          </a:prstGeom>
          <a:solidFill>
            <a:srgbClr val="D8DEE4"/>
          </a:solidFill>
          <a:ln/>
        </p:spPr>
      </p:sp>
      <p:sp>
        <p:nvSpPr>
          <p:cNvPr id="102" name="Shape 100"/>
          <p:cNvSpPr/>
          <p:nvPr/>
        </p:nvSpPr>
        <p:spPr>
          <a:xfrm>
            <a:off x="4709160" y="5367528"/>
            <a:ext cx="347472" cy="128016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</p:sp>
      <p:sp>
        <p:nvSpPr>
          <p:cNvPr id="103" name="Text 101"/>
          <p:cNvSpPr txBox="1"/>
          <p:nvPr/>
        </p:nvSpPr>
        <p:spPr>
          <a:xfrm>
            <a:off x="6583680" y="5285232"/>
            <a:ext cx="548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7498080" y="5367528"/>
            <a:ext cx="128016" cy="128016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05" name="Text 103"/>
          <p:cNvSpPr txBox="1"/>
          <p:nvPr/>
        </p:nvSpPr>
        <p:spPr>
          <a:xfrm>
            <a:off x="8001000" y="5285232"/>
            <a:ext cx="3520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Ingénierie faite, fournisseur en attente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640080" y="5550408"/>
            <a:ext cx="10908792" cy="26517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7" name="Text 105"/>
          <p:cNvSpPr txBox="1"/>
          <p:nvPr/>
        </p:nvSpPr>
        <p:spPr>
          <a:xfrm>
            <a:off x="685800" y="5550408"/>
            <a:ext cx="2377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Ascenseur</a:t>
            </a:r>
            <a:endParaRPr lang="en-US" sz="900" dirty="0"/>
          </a:p>
        </p:txBody>
      </p:sp>
      <p:sp>
        <p:nvSpPr>
          <p:cNvPr id="108" name="Text 106"/>
          <p:cNvSpPr txBox="1"/>
          <p:nvPr/>
        </p:nvSpPr>
        <p:spPr>
          <a:xfrm>
            <a:off x="3063240" y="5550408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x 2 T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4709160" y="5632704"/>
            <a:ext cx="1828800" cy="128016"/>
          </a:xfrm>
          <a:prstGeom prst="roundRect">
            <a:avLst>
              <a:gd name="adj" fmla="val 50000"/>
            </a:avLst>
          </a:prstGeom>
          <a:solidFill>
            <a:srgbClr val="D8DEE4"/>
          </a:solidFill>
          <a:ln/>
        </p:spPr>
      </p:sp>
      <p:sp>
        <p:nvSpPr>
          <p:cNvPr id="110" name="Shape 108"/>
          <p:cNvSpPr/>
          <p:nvPr/>
        </p:nvSpPr>
        <p:spPr>
          <a:xfrm>
            <a:off x="4709160" y="5632704"/>
            <a:ext cx="329184" cy="128016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</p:sp>
      <p:sp>
        <p:nvSpPr>
          <p:cNvPr id="111" name="Text 109"/>
          <p:cNvSpPr txBox="1"/>
          <p:nvPr/>
        </p:nvSpPr>
        <p:spPr>
          <a:xfrm>
            <a:off x="6583680" y="5550408"/>
            <a:ext cx="548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7498080" y="5632704"/>
            <a:ext cx="128016" cy="128016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13" name="Text 111"/>
          <p:cNvSpPr txBox="1"/>
          <p:nvPr/>
        </p:nvSpPr>
        <p:spPr>
          <a:xfrm>
            <a:off x="8001000" y="5550408"/>
            <a:ext cx="3520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 validée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640080" y="5815584"/>
            <a:ext cx="10908792" cy="2651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5" name="Text 113"/>
          <p:cNvSpPr txBox="1"/>
          <p:nvPr/>
        </p:nvSpPr>
        <p:spPr>
          <a:xfrm>
            <a:off x="685800" y="5815584"/>
            <a:ext cx="2377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Cuve de stockage huile</a:t>
            </a:r>
            <a:endParaRPr lang="en-US" sz="900" dirty="0"/>
          </a:p>
        </p:txBody>
      </p:sp>
      <p:sp>
        <p:nvSpPr>
          <p:cNvPr id="116" name="Text 114"/>
          <p:cNvSpPr txBox="1"/>
          <p:nvPr/>
        </p:nvSpPr>
        <p:spPr>
          <a:xfrm>
            <a:off x="3063240" y="5815584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x 20 000 L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4709160" y="5897880"/>
            <a:ext cx="1828800" cy="128016"/>
          </a:xfrm>
          <a:prstGeom prst="roundRect">
            <a:avLst>
              <a:gd name="adj" fmla="val 50000"/>
            </a:avLst>
          </a:prstGeom>
          <a:solidFill>
            <a:srgbClr val="D8DEE4"/>
          </a:solidFill>
          <a:ln/>
        </p:spPr>
      </p:sp>
      <p:sp>
        <p:nvSpPr>
          <p:cNvPr id="118" name="Shape 116"/>
          <p:cNvSpPr/>
          <p:nvPr/>
        </p:nvSpPr>
        <p:spPr>
          <a:xfrm>
            <a:off x="4709160" y="5897880"/>
            <a:ext cx="73152" cy="128016"/>
          </a:xfrm>
          <a:prstGeom prst="roundRect">
            <a:avLst>
              <a:gd name="adj" fmla="val 87500"/>
            </a:avLst>
          </a:prstGeom>
          <a:solidFill>
            <a:srgbClr val="C0392B"/>
          </a:solidFill>
          <a:ln/>
        </p:spPr>
      </p:sp>
      <p:sp>
        <p:nvSpPr>
          <p:cNvPr id="119" name="Text 117"/>
          <p:cNvSpPr txBox="1"/>
          <p:nvPr/>
        </p:nvSpPr>
        <p:spPr>
          <a:xfrm>
            <a:off x="6583680" y="5815584"/>
            <a:ext cx="548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7498080" y="5897880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1" name="Text 119"/>
          <p:cNvSpPr txBox="1"/>
          <p:nvPr/>
        </p:nvSpPr>
        <p:spPr>
          <a:xfrm>
            <a:off x="8001000" y="5815584"/>
            <a:ext cx="3520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CRITIQUE : +8 sem. de retard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640080" y="6080760"/>
            <a:ext cx="10908792" cy="26517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3" name="Text 121"/>
          <p:cNvSpPr txBox="1"/>
          <p:nvPr/>
        </p:nvSpPr>
        <p:spPr>
          <a:xfrm>
            <a:off x="685800" y="6080760"/>
            <a:ext cx="2377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Solaire</a:t>
            </a:r>
            <a:endParaRPr lang="en-US" sz="900" dirty="0"/>
          </a:p>
        </p:txBody>
      </p:sp>
      <p:sp>
        <p:nvSpPr>
          <p:cNvPr id="124" name="Text 122"/>
          <p:cNvSpPr txBox="1"/>
          <p:nvPr/>
        </p:nvSpPr>
        <p:spPr>
          <a:xfrm>
            <a:off x="3063240" y="6080760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480 KVA cible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4709160" y="6163056"/>
            <a:ext cx="1828800" cy="128016"/>
          </a:xfrm>
          <a:prstGeom prst="roundRect">
            <a:avLst>
              <a:gd name="adj" fmla="val 50000"/>
            </a:avLst>
          </a:prstGeom>
          <a:solidFill>
            <a:srgbClr val="D8DEE4"/>
          </a:solidFill>
          <a:ln/>
        </p:spPr>
      </p:sp>
      <p:sp>
        <p:nvSpPr>
          <p:cNvPr id="126" name="Text 124"/>
          <p:cNvSpPr txBox="1"/>
          <p:nvPr/>
        </p:nvSpPr>
        <p:spPr>
          <a:xfrm>
            <a:off x="6583680" y="6080760"/>
            <a:ext cx="548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800" dirty="0"/>
          </a:p>
        </p:txBody>
      </p:sp>
      <p:sp>
        <p:nvSpPr>
          <p:cNvPr id="127" name="Shape 125"/>
          <p:cNvSpPr/>
          <p:nvPr/>
        </p:nvSpPr>
        <p:spPr>
          <a:xfrm>
            <a:off x="7498080" y="6163056"/>
            <a:ext cx="128016" cy="128016"/>
          </a:xfrm>
          <a:prstGeom prst="ellipse">
            <a:avLst/>
          </a:prstGeom>
          <a:solidFill>
            <a:srgbClr val="AABBCC"/>
          </a:solidFill>
          <a:ln/>
        </p:spPr>
      </p:sp>
      <p:sp>
        <p:nvSpPr>
          <p:cNvPr id="128" name="Text 126"/>
          <p:cNvSpPr txBox="1"/>
          <p:nvPr/>
        </p:nvSpPr>
        <p:spPr>
          <a:xfrm>
            <a:off x="8001000" y="6080760"/>
            <a:ext cx="3520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encore lancé</a:t>
            </a:r>
            <a:endParaRPr lang="en-US" sz="800" dirty="0"/>
          </a:p>
        </p:txBody>
      </p:sp>
      <p:sp>
        <p:nvSpPr>
          <p:cNvPr id="129" name="Text 127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PetFactory Maroc  |  Mise à jour Investisseurs  |  Août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Systèmes Clés en Détail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CCCCCC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371600"/>
            <a:ext cx="411480" cy="411480"/>
          </a:xfrm>
          <a:prstGeom prst="ellipse">
            <a:avLst/>
          </a:prstGeom>
          <a:solidFill>
            <a:srgbClr val="E896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63040" y="1417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Chaudière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965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chaudières vapeur à tubes de fumée (N+1)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286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 trois passes à fond humide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606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 pic : 2 600 kg/h vapeur saturée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926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Capacité unitaire : 1 600-2 000 kg/h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246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 : 10 barg / Exploitation : 7-8 barg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566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Bicombustible : GPL principal, GN prêt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886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: ≥94% GN / ≥93% GPL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206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Incl. alimentation eau, dégazeur, adoucisseur, OI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526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vapeur culinaire (316L SS, ≤2μm)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343400" y="118872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CCCCCC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371600"/>
            <a:ext cx="411480" cy="4114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166360" y="1417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Électricité &amp; Énergie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1965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Transformateur 1 600 KVA (BC signé)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617720" y="2286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Fabrication démarre : 1er juillet 2026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617720" y="2606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Délai de livraison : 12 semaines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4617720" y="2926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Seul système avec bon de commande signé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617720" y="3566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9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Cible solaire : 480 KVA (30% de la charge)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617720" y="3886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9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Cadre : Loi marocaine 40-19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617720" y="4206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9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Incentives : ECOTAQA / TATWIR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617720" y="4526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9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Fournisseur solaire : non encore lancé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046720" y="118872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CCCCCC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321040" y="1371600"/>
            <a:ext cx="411480" cy="4114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869680" y="1417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&amp; Eau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321040" y="1965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 comprimé :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8321040" y="2286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2 x 37 kW compresseurs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8321040" y="2606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Demande totale : 363 m³/h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8321040" y="2926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Ligne produit : 258 m³/h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3246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Ingénierie terminée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3886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Système d'eau :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8321040" y="4206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Capacité de conception : 10 000 kg/h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8321040" y="4526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Débit réel : 2 760 kg/h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8321040" y="4846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Sélection pompe/réservoir en cours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40080" y="5257800"/>
            <a:ext cx="10927080" cy="914400"/>
          </a:xfrm>
          <a:prstGeom prst="roundRect">
            <a:avLst>
              <a:gd name="adj" fmla="val 10000"/>
            </a:avLst>
          </a:prstGeom>
          <a:solidFill>
            <a:srgbClr val="D6EFF8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1005840" y="5349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Distribution Vapeur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1005840" y="56692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Séchoir : 1,40 T/h (DN100)   |   Préconditionneur : 0,75 T/h (DN60)   |   Cuves graisse : 0,30 T/h (DN32)   |   Total : 2,45 T/h   |   Retour condensats : 69,7% (cible 80%+ avec récupération flash)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PetFactory Maroc  |  Mise à jour Investisseurs  |  Août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 du Projet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9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en service cible : 24 novembre 2026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9966960" cy="365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5" name="Shape 3"/>
          <p:cNvSpPr/>
          <p:nvPr/>
        </p:nvSpPr>
        <p:spPr>
          <a:xfrm>
            <a:off x="1133856" y="1746504"/>
            <a:ext cx="201168" cy="20116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325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mai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488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Revue plans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FAMSUN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783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96896" y="1746504"/>
            <a:ext cx="201168" cy="201168"/>
          </a:xfrm>
          <a:prstGeom prst="ellipse">
            <a:avLst/>
          </a:prstGeom>
          <a:solidFill>
            <a:srgbClr val="E8963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286000" y="1325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1er juil.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194560" y="21488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Début fab.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Transformateur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77056" y="1746504"/>
            <a:ext cx="201168" cy="201168"/>
          </a:xfrm>
          <a:prstGeom prst="ellipse">
            <a:avLst/>
          </a:prstGeom>
          <a:solidFill>
            <a:srgbClr val="E896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66160" y="1325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juil.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1488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Finalisation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Fournisseurs x3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40096" y="1746504"/>
            <a:ext cx="201168" cy="201168"/>
          </a:xfrm>
          <a:prstGeom prst="ellipse">
            <a:avLst/>
          </a:prstGeom>
          <a:solidFill>
            <a:srgbClr val="44556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29200" y="1325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août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21488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Équipements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11696" y="1746504"/>
            <a:ext cx="201168" cy="201168"/>
          </a:xfrm>
          <a:prstGeom prst="ellipse">
            <a:avLst/>
          </a:prstGeom>
          <a:solidFill>
            <a:srgbClr val="44556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0" y="1325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sept.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21488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Expédition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Équipements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083296" y="1746504"/>
            <a:ext cx="201168" cy="201168"/>
          </a:xfrm>
          <a:prstGeom prst="ellipse">
            <a:avLst/>
          </a:prstGeom>
          <a:solidFill>
            <a:srgbClr val="44556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0" y="1325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oct.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0" y="21488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Livraisons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site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454896" y="1746504"/>
            <a:ext cx="201168" cy="201168"/>
          </a:xfrm>
          <a:prstGeom prst="ellipse">
            <a:avLst/>
          </a:prstGeom>
          <a:solidFill>
            <a:srgbClr val="44556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4000" y="1325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nov.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9052560" y="21488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Terminée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799064" y="1719072"/>
            <a:ext cx="256032" cy="25603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515600" y="1325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nov.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0424160" y="21488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0080" y="3200400"/>
            <a:ext cx="10927080" cy="2926080"/>
          </a:xfrm>
          <a:prstGeom prst="roundRect">
            <a:avLst>
              <a:gd name="adj" fmla="val 3750"/>
            </a:avLst>
          </a:prstGeom>
          <a:solidFill>
            <a:srgbClr val="1E2F5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05840" y="3383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Chemin Critique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05840" y="3904488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005840" y="38862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MAINTENANT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2011680" y="3886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Travaux de génie civil pour chaudière, compresseur, pont-bascule, ascenseur, tranchées d'eau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7772400" y="38862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RETARD (était 18 juin)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05840" y="4288536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E8963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005840" y="42702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SEMAINES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2011680" y="42702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Finalisation fournisseurs : Chaudière + Compresseur + Ascenseur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772400" y="42702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9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juil. 2026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05840" y="4672584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E8963E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1005840" y="465429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SEMAINES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2011680" y="465429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Finalisation fournisseur installation gaz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7772400" y="465429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9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juil. 2026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005840" y="5056632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AABBCC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1005840" y="503834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SEMAINES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2011680" y="503834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Fabrication équipements terminée (chaudière, ascenseur)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7772400" y="503834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août 2026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005840" y="5440680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AABBCC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1005840" y="54223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SEMAINES</a:t>
            </a:r>
            <a:endParaRPr lang="en-US" sz="800" dirty="0"/>
          </a:p>
        </p:txBody>
      </p:sp>
      <p:sp>
        <p:nvSpPr>
          <p:cNvPr id="50" name="Text 48"/>
          <p:cNvSpPr txBox="1"/>
          <p:nvPr/>
        </p:nvSpPr>
        <p:spPr>
          <a:xfrm>
            <a:off x="2011680" y="5422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Expédition équipements majeurs terminée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7772400" y="54223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sept. 2026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005840" y="5824728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AABBCC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1005840" y="58064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SEMAINES</a:t>
            </a:r>
            <a:endParaRPr lang="en-US" sz="800" dirty="0"/>
          </a:p>
        </p:txBody>
      </p:sp>
      <p:sp>
        <p:nvSpPr>
          <p:cNvPr id="54" name="Text 52"/>
          <p:cNvSpPr txBox="1"/>
          <p:nvPr/>
        </p:nvSpPr>
        <p:spPr>
          <a:xfrm>
            <a:off x="2011680" y="58064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Livraison chaudière sur site (contrainte ferme du cahier des charges)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7772400" y="58064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oct. 2026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PetFactory Maroc  |  Mise à jour Investisseurs  |  Août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&amp; Atténuation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27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DDDDDD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325880"/>
            <a:ext cx="685800" cy="22860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30759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ÉLEVÉ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2618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Retard Cuve de Stockage Huile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554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Revue spécification Annexe D bloquée depuis le 21 avril (+8 sem.). Seul système ROUGE. Fournisseur non sélectionné, BC non émis, fondation non démarrée, permis transport hors gabarit non initié.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2618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Atténuation :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1554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Déblocage immédiat de la revue. Sélection fournisseur et demande de permis en parallèle. Escalade à la direction du projet.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40080" y="2267712"/>
            <a:ext cx="10927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DDDDDD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2404872"/>
            <a:ext cx="685800" cy="22860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238658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ÉLEVÉ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23408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Travaux de Génie Civil Non Démarrés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263347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lots de fondations étaient prévus le 18 juin et sont tous non démarrés (chaudière, compresseur, pont-bascule, cage ascenseur, tranchées d'eau).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3408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Atténuation :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63347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Mobilisation accélérée des entrepreneurs. Prioriser les fondations chaudière et compresseur sur le chemin critique. Suivi hebdomadaire.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40080" y="3346704"/>
            <a:ext cx="10927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DDDDDD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3483864"/>
            <a:ext cx="685800" cy="228600"/>
          </a:xfrm>
          <a:prstGeom prst="roundRect">
            <a:avLst>
              <a:gd name="adj" fmla="val 20000"/>
            </a:avLst>
          </a:prstGeom>
          <a:solidFill>
            <a:srgbClr val="E67E2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346557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MOYEN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1691640" y="34198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des Délais Fournisseurs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691640" y="371246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fournisseurs chaudière, compresseur et ascenseur doivent être finalisés d'ici le 11 juillet. La fabrication doit démarrer le 18 juillet pour respecter la fenêtre d'expédition de septembre.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34198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Atténuation :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371246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quotidien avec fournisseurs présélectionnés. Pré-négocier les conditions LOI. Préparer des fournisseurs de secours.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40080" y="4425696"/>
            <a:ext cx="10927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DDDDDD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4562856"/>
            <a:ext cx="685800" cy="228600"/>
          </a:xfrm>
          <a:prstGeom prst="roundRect">
            <a:avLst>
              <a:gd name="adj" fmla="val 20000"/>
            </a:avLst>
          </a:prstGeom>
          <a:solidFill>
            <a:srgbClr val="E67E2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960" y="45445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MOYEN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1691640" y="44988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Visibilité Silos FAMSUN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691640" y="479145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périmètre silos dépend entièrement de l'équipe FAMSUN en Chine. Aucun suivi indépendant. Dernière mise à jour : avril 2026.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0" y="44988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Atténuation :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0" y="479145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Demander une mise à jour formelle et un calendrier de livraison à FAMSUN. Points bimensuels. Définir les critères de réception.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40080" y="5504688"/>
            <a:ext cx="10927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DDDDDD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22960" y="5641848"/>
            <a:ext cx="685800" cy="228600"/>
          </a:xfrm>
          <a:prstGeom prst="roundRect">
            <a:avLst>
              <a:gd name="adj" fmla="val 20000"/>
            </a:avLst>
          </a:prstGeom>
          <a:solidFill>
            <a:srgbClr val="6B7B8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22960" y="562356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FAIBLE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1691640" y="5577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Solaire (0% d'avancement)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691640" y="587044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tâche démarrée pour la cible solaire de 480 KVA. Pas encore sur le chemin critique mais représente des économies et un positionnement ESG.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6400800" y="5577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Atténuation :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0" y="58704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Lancer l'appel d'offres fournisseurs au T4 2026. Tirer parti des incitations de la Loi 40-19. Mise en service possible post-démarrage.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PetFactory Maroc  |  Mise à jour Investisseurs  |  Août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&amp; Assurance Qualité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5303520" cy="3017520"/>
          </a:xfrm>
          <a:prstGeom prst="roundRect">
            <a:avLst>
              <a:gd name="adj" fmla="val 3636"/>
            </a:avLst>
          </a:prstGeom>
          <a:solidFill>
            <a:srgbClr val="E8EBF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&amp; Normes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05840" y="1975104"/>
            <a:ext cx="182880" cy="182880"/>
          </a:xfrm>
          <a:prstGeom prst="ellipse">
            <a:avLst/>
          </a:prstGeom>
          <a:solidFill>
            <a:srgbClr val="E8963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71600" y="1920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HACCP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9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cours de mise en place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05840" y="2414016"/>
            <a:ext cx="182880" cy="182880"/>
          </a:xfrm>
          <a:prstGeom prst="ellipse">
            <a:avLst/>
          </a:prstGeom>
          <a:solidFill>
            <a:srgbClr val="E896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71600" y="2359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22000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2359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9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cours de mise en place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05840" y="2852928"/>
            <a:ext cx="182880" cy="182880"/>
          </a:xfrm>
          <a:prstGeom prst="ellipse">
            <a:avLst/>
          </a:prstGeom>
          <a:solidFill>
            <a:srgbClr val="6B7B8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371600" y="27980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Enregistrement FDA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2798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Prévu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05840" y="3291840"/>
            <a:ext cx="182880" cy="1828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371600" y="32369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Étiquetage conforme AAFCO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32369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Intégré nativement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05840" y="3730752"/>
            <a:ext cx="182880" cy="1828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371600" y="3675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Traçabilité complète des lots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931920" y="3675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Intégrée ligne FAMSUN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09360" y="1188720"/>
            <a:ext cx="5303520" cy="3017520"/>
          </a:xfrm>
          <a:prstGeom prst="roundRect">
            <a:avLst>
              <a:gd name="adj" fmla="val 3636"/>
            </a:avLst>
          </a:prstGeom>
          <a:solidFill>
            <a:srgbClr val="E8EBF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7512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Incendie &amp; Bâtiment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675120" y="1975104"/>
            <a:ext cx="182880" cy="1828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040880" y="19202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Dossier complet sécurité incendie NSI ERT déposé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75120" y="2414016"/>
            <a:ext cx="182880" cy="1828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040880" y="23591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 PCI approuvés (RDC &amp; 1er étage)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75120" y="2852928"/>
            <a:ext cx="182880" cy="1828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040880" y="279806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Système de pressurisation incendie conçu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75120" y="3291840"/>
            <a:ext cx="182880" cy="1828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040880" y="323697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Autorisation de modification du bâtiment obtenue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675120" y="3730752"/>
            <a:ext cx="182880" cy="1828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040880" y="36758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Soufiane Incendie comme prestataire certifié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4480560"/>
            <a:ext cx="1092708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CCCCCC">
                <a:alpha val="30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1005840" y="4663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Garanties de Performance FAMSUN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1005840" y="5120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 de pénalité :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3291840" y="51206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 du prix contrat par 2% d'écart sous la capacité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005840" y="53675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Pénalité maximale :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3291840" y="53675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par produit ; 20% du prix total du contrat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005840" y="561441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Broyage aliment chien :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3291840" y="56144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Broyeur à marteaux tamis 1,2 mm, D90 &lt; 800 μm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1005840" y="586130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Broyage aliment chat :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3291840" y="586130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Broyeur à marteaux tamis 1,0 mm, D90 &lt; 500 μm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PetFactory Maroc  |  Mise à jour Investisseurs  |  Août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Jumeau Numérique &amp; Technologie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de procédé construite avant mise en service — réduction des risques de production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CCCCCC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691640"/>
            <a:ext cx="320040" cy="32004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0078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Complet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1945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opérations unitaires modélisées : matières premières jusqu'au conditionnement, avec paramètres réels FAMSUN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14630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CCCCCC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691640"/>
            <a:ext cx="320040" cy="32004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170078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074920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de Scénarios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1945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Comparaison côte à côte : variations de débit, changements de recettes, ajustements saisonniers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38160" y="14630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CCCCCC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1691640"/>
            <a:ext cx="320040" cy="32004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66760" y="170078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823960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Énergétique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1945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Modélisation coûts vapeur, électricité et eau aux tarifs réels marocains (MAD/kWh, MAD/m³)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79476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CCCCCC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023360"/>
            <a:ext cx="320040" cy="32004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403250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023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en Direct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5262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 de bord temps réel avec simulation moteur pour formation opérateurs avant mise en service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89120" y="379476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CCCCCC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4023360"/>
            <a:ext cx="320040" cy="32004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17720" y="403250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074920" y="4023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Qualité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617720" y="45262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humidité, activité de l'eau, densité à chaque étape avec validation cibles et alertes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38160" y="379476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CCCCCC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66760" y="4023360"/>
            <a:ext cx="320040" cy="32004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66760" y="403250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823960" y="4023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Optimiseur de Recettes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45262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Optimisation automatisée des paramètres procédé pour coût, qualité et objectifs de débit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" y="5989320"/>
            <a:ext cx="10927080" cy="320040"/>
          </a:xfrm>
          <a:prstGeom prst="roundRect">
            <a:avLst>
              <a:gd name="adj" fmla="val 22857"/>
            </a:avLst>
          </a:prstGeom>
          <a:solidFill>
            <a:srgbClr val="D6EFF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05840" y="5989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Tarifs modélisés :   </a:t>
            </a:r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Vapeur : 0,18 MAD/kg   |   Électricité : 1,20 MAD/kWh   |   Eau : 8,50 MAD/m³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PetFactory Maroc  |  Mise à jour Investisseurs  |  Août 2026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Partenaires &amp; Équipe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10927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DDDDDD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325880"/>
            <a:ext cx="640080" cy="6400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34416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FAMSUN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1554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Ligne de production clé en main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2344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Extrudeuse bi-vis SJPS165, séchoir, préconditionneur, enrobeur, refroidisseur, conditionnement, silos. Supervision complète de l'installation et garanties de performance.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377440"/>
            <a:ext cx="10927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DDDDDD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60604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262432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1783080" y="2514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Petland Maroc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783080" y="2834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Propriétaire 100% de l'usine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5146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Aribi, Chef de Projet. Propriété intégrale conservée. Indépendance opérationnelle et flexibilité stratégique totales.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657600"/>
            <a:ext cx="10927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DDDDDD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3886200"/>
            <a:ext cx="640080" cy="6400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390448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1783080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Soufiane Incendie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783080" y="4114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Prestataire Sécurité Incendie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754880" y="379476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Dossier complet NSI ERT, plans PCI (RDC &amp; 1er étage), conception système de pressurisation, autorisations de modification du bâtiment.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5212080"/>
            <a:ext cx="10927080" cy="685800"/>
          </a:xfrm>
          <a:prstGeom prst="roundRect">
            <a:avLst>
              <a:gd name="adj" fmla="val 13333"/>
            </a:avLst>
          </a:prstGeom>
          <a:solidFill>
            <a:srgbClr val="E8EBF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05840" y="5257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Recrutement en Cours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553212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Responsable Technique et Responsable Qualité — CV reçus, finalisation des entretiens prévue le 11 juillet 2026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PetFactory Maroc  |  Mise à jour Investisseurs  |  Août 2026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1371600"/>
          </a:xfrm>
          <a:prstGeom prst="rect">
            <a:avLst/>
          </a:prstGeom>
          <a:solidFill>
            <a:srgbClr val="E8963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10698480" cy="1371600"/>
          </a:xfrm>
          <a:prstGeom prst="roundRect">
            <a:avLst>
              <a:gd name="adj" fmla="val 6667"/>
            </a:avLst>
          </a:prstGeom>
          <a:solidFill>
            <a:srgbClr val="1E2F5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728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Immédiat (Juil. 2026)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103120"/>
            <a:ext cx="137160" cy="13716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0116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Débloquer la revue spécification cuve huile (élément ROUGE)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97280" y="2377440"/>
            <a:ext cx="137160" cy="13716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71600" y="22860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Mobiliser les entrepreneurs génie civil pour les 5 fondations en retard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97280" y="2651760"/>
            <a:ext cx="137160" cy="13716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71600" y="25603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Finaliser les fournisseurs chaudière, compresseur et ascenseur d'ici le 11 juil.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108960"/>
            <a:ext cx="10698480" cy="1371600"/>
          </a:xfrm>
          <a:prstGeom prst="roundRect">
            <a:avLst>
              <a:gd name="adj" fmla="val 6667"/>
            </a:avLst>
          </a:prstGeom>
          <a:solidFill>
            <a:srgbClr val="1E2F5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terme (Août - Sept. 2026)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97280" y="3657600"/>
            <a:ext cx="137160" cy="13716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371600" y="35661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Fabrication des équipements et inspections qualité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97280" y="3931920"/>
            <a:ext cx="137160" cy="13716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371600" y="3840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Finaliser la sélection du fournisseur gaz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97280" y="4206240"/>
            <a:ext cx="137160" cy="13716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371600" y="4114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Lancer le suivi du calendrier de livraison des silos FAMSUN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663440"/>
            <a:ext cx="10698480" cy="1371600"/>
          </a:xfrm>
          <a:prstGeom prst="roundRect">
            <a:avLst>
              <a:gd name="adj" fmla="val 6667"/>
            </a:avLst>
          </a:prstGeom>
          <a:solidFill>
            <a:srgbClr val="1E2F5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97280" y="4754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Pré-mise en service (Oct. - Nov. 2026)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97280" y="5212080"/>
            <a:ext cx="137160" cy="13716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371600" y="51206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Tous les équipements livrés et installés sur site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97280" y="5486400"/>
            <a:ext cx="137160" cy="13716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371600" y="53949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systèmes et validation des performances FAMSUN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97280" y="5760720"/>
            <a:ext cx="137160" cy="13716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371600" y="56692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 : Usine mise en service le 24 novembre 2026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59436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9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PetFactory Maroc  |  Petland Maroc  |  Sam Aribi, Chef de Projet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Confidentiel  |  Réservé aux discussions avec les investisseurs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PetFactory Maroc - Avancement Infrastructure</dc:title>
  <dc:subject>Avancement Infrastructure - Mise à jour Investisseurs</dc:subject>
  <dc:creator>PetFactory Maroc</dc:creator>
  <cp:lastModifiedBy>PetFactory Maroc</cp:lastModifiedBy>
  <cp:revision>1</cp:revision>
  <dcterms:created xsi:type="dcterms:W3CDTF">2026-08-31T13:21:50Z</dcterms:created>
  <dcterms:modified xsi:type="dcterms:W3CDTF">2026-08-31T13:21:50Z</dcterms:modified>
</cp:coreProperties>
</file>