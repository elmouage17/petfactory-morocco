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A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5C54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5720" y="-91440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548640" y="-91440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51560" y="-91440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554480" y="-91440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2057400" y="-91440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560320" y="-91440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063240" y="-91440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5720" y="292608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548640" y="292608"/>
            <a:ext cx="256032" cy="256032"/>
          </a:xfrm>
          <a:prstGeom prst="rect">
            <a:avLst/>
          </a:prstGeom>
          <a:solidFill>
            <a:srgbClr val="C0622B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051560" y="292608"/>
            <a:ext cx="256032" cy="256032"/>
          </a:xfrm>
          <a:prstGeom prst="rect">
            <a:avLst/>
          </a:prstGeom>
          <a:solidFill>
            <a:srgbClr val="E8D5A3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554480" y="292608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2057400" y="292608"/>
            <a:ext cx="256032" cy="256032"/>
          </a:xfrm>
          <a:prstGeom prst="rect">
            <a:avLst/>
          </a:prstGeom>
          <a:solidFill>
            <a:srgbClr val="1B9A8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2560320" y="292608"/>
            <a:ext cx="256032" cy="256032"/>
          </a:xfrm>
          <a:prstGeom prst="rect">
            <a:avLst/>
          </a:prstGeom>
          <a:solidFill>
            <a:srgbClr val="C0622B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3063240" y="292608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45720" y="676656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548640" y="676656"/>
            <a:ext cx="256032" cy="256032"/>
          </a:xfrm>
          <a:prstGeom prst="rect">
            <a:avLst/>
          </a:prstGeom>
          <a:solidFill>
            <a:srgbClr val="E8D5A3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051560" y="676656"/>
            <a:ext cx="256032" cy="256032"/>
          </a:xfrm>
          <a:prstGeom prst="rect">
            <a:avLst/>
          </a:prstGeom>
          <a:solidFill>
            <a:srgbClr val="D4951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554480" y="676656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057400" y="676656"/>
            <a:ext cx="256032" cy="256032"/>
          </a:xfrm>
          <a:prstGeom prst="rect">
            <a:avLst/>
          </a:prstGeom>
          <a:solidFill>
            <a:srgbClr val="C0622B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2560320" y="676656"/>
            <a:ext cx="256032" cy="256032"/>
          </a:xfrm>
          <a:prstGeom prst="rect">
            <a:avLst/>
          </a:prstGeom>
          <a:solidFill>
            <a:srgbClr val="E8D5A3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3063240" y="676656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45720" y="1060704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548640" y="1060704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1051560" y="1060704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1554480" y="1060704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2057400" y="1060704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2560320" y="1060704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3063240" y="1060704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45720" y="1444752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548640" y="1444752"/>
            <a:ext cx="256032" cy="256032"/>
          </a:xfrm>
          <a:prstGeom prst="rect">
            <a:avLst/>
          </a:prstGeom>
          <a:solidFill>
            <a:srgbClr val="1B9A8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1051560" y="1444752"/>
            <a:ext cx="256032" cy="256032"/>
          </a:xfrm>
          <a:prstGeom prst="rect">
            <a:avLst/>
          </a:prstGeom>
          <a:solidFill>
            <a:srgbClr val="C0622B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1554480" y="1444752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2057400" y="1444752"/>
            <a:ext cx="256032" cy="256032"/>
          </a:xfrm>
          <a:prstGeom prst="rect">
            <a:avLst/>
          </a:prstGeom>
          <a:solidFill>
            <a:srgbClr val="D4951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2560320" y="1444752"/>
            <a:ext cx="256032" cy="256032"/>
          </a:xfrm>
          <a:prstGeom prst="rect">
            <a:avLst/>
          </a:prstGeom>
          <a:solidFill>
            <a:srgbClr val="1B9A8A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3063240" y="1444752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45720" y="1828800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548640" y="1828800"/>
            <a:ext cx="256032" cy="256032"/>
          </a:xfrm>
          <a:prstGeom prst="rect">
            <a:avLst/>
          </a:prstGeom>
          <a:solidFill>
            <a:srgbClr val="C0622B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1051560" y="1828800"/>
            <a:ext cx="256032" cy="256032"/>
          </a:xfrm>
          <a:prstGeom prst="rect">
            <a:avLst/>
          </a:prstGeom>
          <a:solidFill>
            <a:srgbClr val="E8D5A3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1554480" y="1828800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2057400" y="1828800"/>
            <a:ext cx="256032" cy="256032"/>
          </a:xfrm>
          <a:prstGeom prst="rect">
            <a:avLst/>
          </a:prstGeom>
          <a:solidFill>
            <a:srgbClr val="1B9A8A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2560320" y="1828800"/>
            <a:ext cx="256032" cy="256032"/>
          </a:xfrm>
          <a:prstGeom prst="rect">
            <a:avLst/>
          </a:prstGeom>
          <a:solidFill>
            <a:srgbClr val="C0622B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3063240" y="1828800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45720" y="2212848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548640" y="2212848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1051560" y="2212848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1554480" y="2212848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2057400" y="2212848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2560320" y="2212848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3063240" y="2212848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45720" y="2596896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548640" y="2596896"/>
            <a:ext cx="256032" cy="256032"/>
          </a:xfrm>
          <a:prstGeom prst="rect">
            <a:avLst/>
          </a:prstGeom>
          <a:solidFill>
            <a:srgbClr val="D4951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1051560" y="2596896"/>
            <a:ext cx="256032" cy="256032"/>
          </a:xfrm>
          <a:prstGeom prst="rect">
            <a:avLst/>
          </a:prstGeom>
          <a:solidFill>
            <a:srgbClr val="1B9A8A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1554480" y="2596896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2057400" y="2596896"/>
            <a:ext cx="256032" cy="256032"/>
          </a:xfrm>
          <a:prstGeom prst="rect">
            <a:avLst/>
          </a:prstGeom>
          <a:solidFill>
            <a:srgbClr val="E8D5A3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2560320" y="2596896"/>
            <a:ext cx="256032" cy="256032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3063240" y="2596896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45720" y="2980944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548640" y="2980944"/>
            <a:ext cx="256032" cy="256032"/>
          </a:xfrm>
          <a:prstGeom prst="rect">
            <a:avLst/>
          </a:prstGeom>
          <a:solidFill>
            <a:srgbClr val="1B9A8A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1051560" y="2980944"/>
            <a:ext cx="256032" cy="256032"/>
          </a:xfrm>
          <a:prstGeom prst="rect">
            <a:avLst/>
          </a:prstGeom>
          <a:solidFill>
            <a:srgbClr val="C0622B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1554480" y="2980944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2057400" y="2980944"/>
            <a:ext cx="256032" cy="256032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2560320" y="2980944"/>
            <a:ext cx="256032" cy="256032"/>
          </a:xfrm>
          <a:prstGeom prst="rect">
            <a:avLst/>
          </a:prstGeom>
          <a:solidFill>
            <a:srgbClr val="1B9A8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3063240" y="2980944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45720" y="3364992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548640" y="3364992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1051560" y="3364992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1554480" y="3364992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2057400" y="3364992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2560320" y="3364992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3063240" y="3364992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45720" y="3749040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548640" y="3749040"/>
            <a:ext cx="256032" cy="256032"/>
          </a:xfrm>
          <a:prstGeom prst="rect">
            <a:avLst/>
          </a:prstGeom>
          <a:solidFill>
            <a:srgbClr val="E8D5A3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1051560" y="3749040"/>
            <a:ext cx="256032" cy="256032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1554480" y="3749040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2700000">
            <a:off x="2057400" y="3749040"/>
            <a:ext cx="256032" cy="256032"/>
          </a:xfrm>
          <a:prstGeom prst="rect">
            <a:avLst/>
          </a:prstGeom>
          <a:solidFill>
            <a:srgbClr val="C0622B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2700000">
            <a:off x="2560320" y="3749040"/>
            <a:ext cx="256032" cy="256032"/>
          </a:xfrm>
          <a:prstGeom prst="rect">
            <a:avLst/>
          </a:prstGeom>
          <a:solidFill>
            <a:srgbClr val="E8D5A3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2700000">
            <a:off x="3063240" y="3749040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2700000">
            <a:off x="45720" y="4133088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548640" y="4133088"/>
            <a:ext cx="256032" cy="256032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1051560" y="4133088"/>
            <a:ext cx="256032" cy="256032"/>
          </a:xfrm>
          <a:prstGeom prst="rect">
            <a:avLst/>
          </a:prstGeom>
          <a:solidFill>
            <a:srgbClr val="1B9A8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1554480" y="4133088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2700000">
            <a:off x="2057400" y="4133088"/>
            <a:ext cx="256032" cy="256032"/>
          </a:xfrm>
          <a:prstGeom prst="rect">
            <a:avLst/>
          </a:prstGeom>
          <a:solidFill>
            <a:srgbClr val="E8D5A3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2700000">
            <a:off x="2560320" y="4133088"/>
            <a:ext cx="256032" cy="256032"/>
          </a:xfrm>
          <a:prstGeom prst="rect">
            <a:avLst/>
          </a:prstGeom>
          <a:solidFill>
            <a:srgbClr val="D4951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2700000">
            <a:off x="3063240" y="4133088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2700000">
            <a:off x="45720" y="4517136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2700000">
            <a:off x="548640" y="4517136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2700000">
            <a:off x="1051560" y="4517136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2700000">
            <a:off x="1554480" y="4517136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2700000">
            <a:off x="2057400" y="4517136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2700000">
            <a:off x="2560320" y="4517136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2700000">
            <a:off x="3063240" y="4517136"/>
            <a:ext cx="256032" cy="256032"/>
          </a:xfrm>
          <a:prstGeom prst="rect">
            <a:avLst/>
          </a:prstGeom>
          <a:solidFill>
            <a:srgbClr val="C0622B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2700000">
            <a:off x="45720" y="4901184"/>
            <a:ext cx="256032" cy="256032"/>
          </a:xfrm>
          <a:prstGeom prst="rect">
            <a:avLst/>
          </a:prstGeom>
          <a:solidFill>
            <a:srgbClr val="1B9A8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2700000">
            <a:off x="548640" y="4901184"/>
            <a:ext cx="256032" cy="256032"/>
          </a:xfrm>
          <a:prstGeom prst="rect">
            <a:avLst/>
          </a:prstGeom>
          <a:solidFill>
            <a:srgbClr val="C0622B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2700000">
            <a:off x="1051560" y="4901184"/>
            <a:ext cx="256032" cy="256032"/>
          </a:xfrm>
          <a:prstGeom prst="rect">
            <a:avLst/>
          </a:prstGeom>
          <a:solidFill>
            <a:srgbClr val="E8D5A3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2700000">
            <a:off x="1554480" y="4901184"/>
            <a:ext cx="256032" cy="256032"/>
          </a:xfrm>
          <a:prstGeom prst="rect">
            <a:avLst/>
          </a:prstGeom>
          <a:solidFill>
            <a:srgbClr val="D4951A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2700000">
            <a:off x="2057400" y="4901184"/>
            <a:ext cx="256032" cy="256032"/>
          </a:xfrm>
          <a:prstGeom prst="rect">
            <a:avLst/>
          </a:prstGeom>
          <a:solidFill>
            <a:srgbClr val="1B9A8A">
              <a:alpha val="3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2700000">
            <a:off x="2560320" y="4901184"/>
            <a:ext cx="256032" cy="256032"/>
          </a:xfrm>
          <a:prstGeom prst="rect">
            <a:avLst/>
          </a:prstGeom>
          <a:solidFill>
            <a:srgbClr val="C0622B">
              <a:alpha val="2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2700000">
            <a:off x="3063240" y="4901184"/>
            <a:ext cx="256032" cy="256032"/>
          </a:xfrm>
          <a:prstGeom prst="rect">
            <a:avLst/>
          </a:prstGeom>
          <a:solidFill>
            <a:srgbClr val="E8D5A3">
              <a:alpha val="45000"/>
            </a:srgbClr>
          </a:solidFill>
          <a:ln w="12700">
            <a:solidFill>
              <a:srgbClr val="0D5C5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749040" y="5486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BOILER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5200" dirty="0"/>
          </a:p>
        </p:txBody>
      </p:sp>
      <p:sp>
        <p:nvSpPr>
          <p:cNvPr id="102" name="Shape 100"/>
          <p:cNvSpPr/>
          <p:nvPr/>
        </p:nvSpPr>
        <p:spPr>
          <a:xfrm>
            <a:off x="3749040" y="2834640"/>
            <a:ext cx="4937760" cy="36576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03" name="Text 101"/>
          <p:cNvSpPr/>
          <p:nvPr/>
        </p:nvSpPr>
        <p:spPr>
          <a:xfrm>
            <a:off x="3749040" y="29443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for Dry Pet Food Production</a:t>
            </a:r>
            <a:endParaRPr lang="en-US" sz="1500" dirty="0"/>
          </a:p>
        </p:txBody>
      </p:sp>
      <p:sp>
        <p:nvSpPr>
          <p:cNvPr id="104" name="Shape 102"/>
          <p:cNvSpPr/>
          <p:nvPr/>
        </p:nvSpPr>
        <p:spPr>
          <a:xfrm>
            <a:off x="3749040" y="3547872"/>
            <a:ext cx="2926080" cy="658368"/>
          </a:xfrm>
          <a:prstGeom prst="rect">
            <a:avLst/>
          </a:prstGeom>
          <a:solidFill>
            <a:srgbClr val="D4951A"/>
          </a:solidFill>
          <a:ln/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 rot="2700000">
            <a:off x="6492240" y="3630168"/>
            <a:ext cx="91440" cy="91440"/>
          </a:xfrm>
          <a:prstGeom prst="rect">
            <a:avLst/>
          </a:prstGeom>
          <a:solidFill>
            <a:srgbClr val="110A04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2700000">
            <a:off x="6665976" y="3630168"/>
            <a:ext cx="91440" cy="91440"/>
          </a:xfrm>
          <a:prstGeom prst="rect">
            <a:avLst/>
          </a:prstGeom>
          <a:solidFill>
            <a:srgbClr val="110A04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2700000">
            <a:off x="6839712" y="3630168"/>
            <a:ext cx="91440" cy="91440"/>
          </a:xfrm>
          <a:prstGeom prst="rect">
            <a:avLst/>
          </a:prstGeom>
          <a:solidFill>
            <a:srgbClr val="110A04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749040" y="35478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2,123 Kg/H  ·  Rated Steam Output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0" y="4617720"/>
            <a:ext cx="3474720" cy="525780"/>
          </a:xfrm>
          <a:prstGeom prst="rect">
            <a:avLst/>
          </a:prstGeom>
          <a:solidFill>
            <a:srgbClr val="091F1C"/>
          </a:solidFill>
          <a:ln/>
        </p:spPr>
      </p:sp>
      <p:sp>
        <p:nvSpPr>
          <p:cNvPr id="110" name="Text 108"/>
          <p:cNvSpPr/>
          <p:nvPr/>
        </p:nvSpPr>
        <p:spPr>
          <a:xfrm>
            <a:off x="91440" y="46451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FACTORY MAROC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0A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70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37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371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606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3840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5074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6309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543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778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0012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1247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2481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3716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14950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6184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7419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8653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9888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21122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2357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23591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4825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26060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27294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8529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9763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30998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32232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33467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34701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35935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37170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8404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9639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0873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42108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43342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4577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45811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7045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8280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9514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50749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51983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53218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54452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55686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56921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8155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9390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60624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61859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63093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64328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65562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66796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8031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9265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70500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71734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72969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74203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5438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76672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7906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9141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80375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81610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82844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84079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85313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86547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7782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9016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90251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78" name="Shape 76"/>
          <p:cNvSpPr/>
          <p:nvPr/>
        </p:nvSpPr>
        <p:spPr>
          <a:xfrm>
            <a:off x="91440" y="0"/>
            <a:ext cx="27432" cy="86868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" y="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IN THE PRODUCTION LINE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 rot="2700000">
            <a:off x="868680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54964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841248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827532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1480" y="9326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boiler is the first utility to commission — no steam means no conditioning, no extrusion, no production.</a:t>
            </a:r>
            <a:endParaRPr lang="en-US" sz="1250" dirty="0"/>
          </a:p>
        </p:txBody>
      </p:sp>
      <p:sp>
        <p:nvSpPr>
          <p:cNvPr id="85" name="Shape 83"/>
          <p:cNvSpPr/>
          <p:nvPr/>
        </p:nvSpPr>
        <p:spPr>
          <a:xfrm>
            <a:off x="274320" y="1389888"/>
            <a:ext cx="1069848" cy="713232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74320" y="1389888"/>
            <a:ext cx="1069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344168" y="1746504"/>
            <a:ext cx="118872" cy="0"/>
          </a:xfrm>
          <a:prstGeom prst="line">
            <a:avLst/>
          </a:prstGeom>
          <a:noFill/>
          <a:ln w="12700">
            <a:solidFill>
              <a:srgbClr val="8A705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63040" y="1389888"/>
            <a:ext cx="1069848" cy="713232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1463040" y="1389888"/>
            <a:ext cx="1069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532888" y="1746504"/>
            <a:ext cx="118872" cy="0"/>
          </a:xfrm>
          <a:prstGeom prst="line">
            <a:avLst/>
          </a:prstGeom>
          <a:noFill/>
          <a:ln w="12700">
            <a:solidFill>
              <a:srgbClr val="8A705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651760" y="1389888"/>
            <a:ext cx="1069848" cy="713232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2651760" y="1389888"/>
            <a:ext cx="1069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Mixing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721608" y="1746504"/>
            <a:ext cx="118872" cy="0"/>
          </a:xfrm>
          <a:prstGeom prst="line">
            <a:avLst/>
          </a:prstGeom>
          <a:noFill/>
          <a:ln w="12700">
            <a:solidFill>
              <a:srgbClr val="8A70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840480" y="1389888"/>
            <a:ext cx="1069848" cy="713232"/>
          </a:xfrm>
          <a:prstGeom prst="rect">
            <a:avLst/>
          </a:prstGeom>
          <a:solidFill>
            <a:srgbClr val="D4951A"/>
          </a:solidFill>
          <a:ln w="12700">
            <a:solidFill>
              <a:srgbClr val="D495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 rot="2700000">
            <a:off x="4329684" y="1325880"/>
            <a:ext cx="91440" cy="91440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40480" y="1389888"/>
            <a:ext cx="1069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Extrude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910328" y="1746504"/>
            <a:ext cx="118872" cy="0"/>
          </a:xfrm>
          <a:prstGeom prst="line">
            <a:avLst/>
          </a:prstGeom>
          <a:noFill/>
          <a:ln w="12700">
            <a:solidFill>
              <a:srgbClr val="8A705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29200" y="1389888"/>
            <a:ext cx="1069848" cy="713232"/>
          </a:xfrm>
          <a:prstGeom prst="rect">
            <a:avLst/>
          </a:prstGeom>
          <a:solidFill>
            <a:srgbClr val="D4951A"/>
          </a:solidFill>
          <a:ln w="12700">
            <a:solidFill>
              <a:srgbClr val="D495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 rot="2700000">
            <a:off x="5518404" y="1325880"/>
            <a:ext cx="91440" cy="91440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29200" y="1389888"/>
            <a:ext cx="1069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099048" y="1746504"/>
            <a:ext cx="118872" cy="0"/>
          </a:xfrm>
          <a:prstGeom prst="line">
            <a:avLst/>
          </a:prstGeom>
          <a:noFill/>
          <a:ln w="12700">
            <a:solidFill>
              <a:srgbClr val="8A705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17920" y="1389888"/>
            <a:ext cx="1069848" cy="713232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6217920" y="1389888"/>
            <a:ext cx="1069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7287768" y="1746504"/>
            <a:ext cx="118872" cy="0"/>
          </a:xfrm>
          <a:prstGeom prst="line">
            <a:avLst/>
          </a:prstGeom>
          <a:noFill/>
          <a:ln w="12700">
            <a:solidFill>
              <a:srgbClr val="8A705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06640" y="1389888"/>
            <a:ext cx="1069848" cy="713232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7406640" y="1389888"/>
            <a:ext cx="1069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283464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951A"/>
                </a:solidFill>
              </a:rPr>
              <a:t>◆ STEAM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74320" y="2578608"/>
            <a:ext cx="2788920" cy="2029968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274320" y="2578608"/>
            <a:ext cx="2788920" cy="4572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10" name="Text 108"/>
          <p:cNvSpPr/>
          <p:nvPr/>
        </p:nvSpPr>
        <p:spPr>
          <a:xfrm>
            <a:off x="402336" y="26791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Conditioner Steam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402336" y="3044952"/>
            <a:ext cx="26060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ahead of the extruder. Raises mix to 80–90°C. Pre-gelatinizes starch, denatures pathogens. Critical for consistent extrudate quality.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3200400" y="2578608"/>
            <a:ext cx="2788920" cy="2029968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3200400" y="2578608"/>
            <a:ext cx="2788920" cy="4572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114" name="Text 112"/>
          <p:cNvSpPr/>
          <p:nvPr/>
        </p:nvSpPr>
        <p:spPr>
          <a:xfrm>
            <a:off x="3328416" y="26791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6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Extruder Barrel Heating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3328416" y="3044952"/>
            <a:ext cx="26060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steam for barrel zone temperatures (80→160°C). Controls expansion ratio, bulk density, and starch gelatinization percentage.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6126480" y="2578608"/>
            <a:ext cx="2788920" cy="2029968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6126480" y="2578608"/>
            <a:ext cx="2788920" cy="45720"/>
          </a:xfrm>
          <a:prstGeom prst="rect">
            <a:avLst/>
          </a:prstGeom>
          <a:solidFill>
            <a:srgbClr val="1B9A8A"/>
          </a:solidFill>
          <a:ln/>
        </p:spPr>
      </p:sp>
      <p:sp>
        <p:nvSpPr>
          <p:cNvPr id="118" name="Text 116"/>
          <p:cNvSpPr/>
          <p:nvPr/>
        </p:nvSpPr>
        <p:spPr>
          <a:xfrm>
            <a:off x="6254496" y="26791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Dryer &amp; Utility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6254496" y="3044952"/>
            <a:ext cx="26060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water and steam for dryer air circuit, oil tank trace heating, CIP cleaning, and general facility services.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 rot="2700000">
            <a:off x="137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2700000">
            <a:off x="1371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2700000">
            <a:off x="2606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2700000">
            <a:off x="3840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2700000">
            <a:off x="5074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2700000">
            <a:off x="6309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2700000">
            <a:off x="7543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2700000">
            <a:off x="8778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2700000">
            <a:off x="10012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2700000">
            <a:off x="11247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2700000">
            <a:off x="12481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2700000">
            <a:off x="13716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2700000">
            <a:off x="14950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2700000">
            <a:off x="16184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2700000">
            <a:off x="17419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2700000">
            <a:off x="18653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2700000">
            <a:off x="19888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2700000">
            <a:off x="21122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2700000">
            <a:off x="22357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2700000">
            <a:off x="23591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2700000">
            <a:off x="24825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2700000">
            <a:off x="26060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2700000">
            <a:off x="27294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2700000">
            <a:off x="28529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700000">
            <a:off x="29763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700000">
            <a:off x="30998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700000">
            <a:off x="32232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2700000">
            <a:off x="33467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2700000">
            <a:off x="34701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2700000">
            <a:off x="35935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2700000">
            <a:off x="37170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2700000">
            <a:off x="38404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2700000">
            <a:off x="39639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2700000">
            <a:off x="40873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2700000">
            <a:off x="42108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2700000">
            <a:off x="43342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2700000">
            <a:off x="44577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2700000">
            <a:off x="45811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2700000">
            <a:off x="47045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2700000">
            <a:off x="48280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2700000">
            <a:off x="49514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2700000">
            <a:off x="50749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2700000">
            <a:off x="51983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2700000">
            <a:off x="53218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2700000">
            <a:off x="54452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2700000">
            <a:off x="55686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2700000">
            <a:off x="56921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2700000">
            <a:off x="58155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2700000">
            <a:off x="59390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2700000">
            <a:off x="60624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2700000">
            <a:off x="61859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2700000">
            <a:off x="63093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2700000">
            <a:off x="64328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2700000">
            <a:off x="65562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2700000">
            <a:off x="66796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2700000">
            <a:off x="68031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2700000">
            <a:off x="69265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2700000">
            <a:off x="70500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2700000">
            <a:off x="71734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2700000">
            <a:off x="72969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2700000">
            <a:off x="74203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2700000">
            <a:off x="75438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2700000">
            <a:off x="76672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2700000">
            <a:off x="77906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2700000">
            <a:off x="79141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2700000">
            <a:off x="80375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2700000">
            <a:off x="81610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2700000">
            <a:off x="82844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2700000">
            <a:off x="84079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2700000">
            <a:off x="85313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2700000">
            <a:off x="86547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2700000">
            <a:off x="87782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2700000">
            <a:off x="89016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2700000">
            <a:off x="90251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FACTORY MAROC  ·  BOILER SYSTEM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A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70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37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371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606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3840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5074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6309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543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778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0012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1247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2481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3716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14950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6184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7419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8653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9888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21122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2357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23591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4825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26060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27294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8529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9763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30998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32232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33467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34701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35935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37170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8404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9639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0873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42108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43342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4577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45811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7045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8280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9514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50749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51983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53218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54452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55686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56921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8155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9390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60624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61859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63093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64328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65562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66796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8031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9265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70500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71734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72969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74203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5438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76672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7906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9141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80375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81610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82844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84079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85313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86547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7782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9016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90251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78" name="Shape 76"/>
          <p:cNvSpPr/>
          <p:nvPr/>
        </p:nvSpPr>
        <p:spPr>
          <a:xfrm>
            <a:off x="91440" y="0"/>
            <a:ext cx="27432" cy="86868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" y="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SPECIFICATIONS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 rot="2700000">
            <a:off x="868680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54964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841248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827532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" y="896112"/>
            <a:ext cx="2011680" cy="1261872"/>
          </a:xfrm>
          <a:prstGeom prst="rect">
            <a:avLst/>
          </a:prstGeom>
          <a:solidFill>
            <a:srgbClr val="1E1208"/>
          </a:solidFill>
          <a:ln w="12700">
            <a:solidFill>
              <a:srgbClr val="D495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56032" y="896112"/>
            <a:ext cx="2011680" cy="4572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86" name="Text 84"/>
          <p:cNvSpPr/>
          <p:nvPr/>
        </p:nvSpPr>
        <p:spPr>
          <a:xfrm>
            <a:off x="256032" y="941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2,123</a:t>
            </a:r>
            <a:endParaRPr lang="en-US" sz="2600" dirty="0"/>
          </a:p>
        </p:txBody>
      </p:sp>
      <p:sp>
        <p:nvSpPr>
          <p:cNvPr id="87" name="Text 85"/>
          <p:cNvSpPr/>
          <p:nvPr/>
        </p:nvSpPr>
        <p:spPr>
          <a:xfrm>
            <a:off x="256032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256032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Output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423160" y="896112"/>
            <a:ext cx="2011680" cy="1261872"/>
          </a:xfrm>
          <a:prstGeom prst="rect">
            <a:avLst/>
          </a:prstGeom>
          <a:solidFill>
            <a:srgbClr val="1E1208"/>
          </a:solidFill>
          <a:ln w="12700">
            <a:solidFill>
              <a:srgbClr val="C0622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2423160" y="896112"/>
            <a:ext cx="2011680" cy="4572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91" name="Text 89"/>
          <p:cNvSpPr/>
          <p:nvPr/>
        </p:nvSpPr>
        <p:spPr>
          <a:xfrm>
            <a:off x="2423160" y="941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6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</a:t>
            </a:r>
            <a:endParaRPr lang="en-US" sz="2600" dirty="0"/>
          </a:p>
        </p:txBody>
      </p:sp>
      <p:sp>
        <p:nvSpPr>
          <p:cNvPr id="92" name="Text 90"/>
          <p:cNvSpPr/>
          <p:nvPr/>
        </p:nvSpPr>
        <p:spPr>
          <a:xfrm>
            <a:off x="2423160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bar(g)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242316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Pressure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590288" y="896112"/>
            <a:ext cx="2011680" cy="1261872"/>
          </a:xfrm>
          <a:prstGeom prst="rect">
            <a:avLst/>
          </a:prstGeom>
          <a:solidFill>
            <a:srgbClr val="1E1208"/>
          </a:solidFill>
          <a:ln w="12700">
            <a:solidFill>
              <a:srgbClr val="1B9A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590288" y="896112"/>
            <a:ext cx="2011680" cy="45720"/>
          </a:xfrm>
          <a:prstGeom prst="rect">
            <a:avLst/>
          </a:prstGeom>
          <a:solidFill>
            <a:srgbClr val="1B9A8A"/>
          </a:solidFill>
          <a:ln/>
        </p:spPr>
      </p:sp>
      <p:sp>
        <p:nvSpPr>
          <p:cNvPr id="96" name="Text 94"/>
          <p:cNvSpPr/>
          <p:nvPr/>
        </p:nvSpPr>
        <p:spPr>
          <a:xfrm>
            <a:off x="4590288" y="941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9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Saturated</a:t>
            </a:r>
            <a:endParaRPr lang="en-US" sz="2600" dirty="0"/>
          </a:p>
        </p:txBody>
      </p:sp>
      <p:sp>
        <p:nvSpPr>
          <p:cNvPr id="97" name="Text 95"/>
          <p:cNvSpPr/>
          <p:nvPr/>
        </p:nvSpPr>
        <p:spPr>
          <a:xfrm>
            <a:off x="4590288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Type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4590288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Superheat Needed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757416" y="896112"/>
            <a:ext cx="2011680" cy="1261872"/>
          </a:xfrm>
          <a:prstGeom prst="rect">
            <a:avLst/>
          </a:prstGeom>
          <a:solidFill>
            <a:srgbClr val="1E1208"/>
          </a:solidFill>
          <a:ln w="12700">
            <a:solidFill>
              <a:srgbClr val="8B225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6757416" y="896112"/>
            <a:ext cx="2011680" cy="45720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101" name="Text 99"/>
          <p:cNvSpPr/>
          <p:nvPr/>
        </p:nvSpPr>
        <p:spPr>
          <a:xfrm>
            <a:off x="6757416" y="941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2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</a:t>
            </a:r>
            <a:endParaRPr lang="en-US" sz="2600" dirty="0"/>
          </a:p>
        </p:txBody>
      </p:sp>
      <p:sp>
        <p:nvSpPr>
          <p:cNvPr id="102" name="Text 100"/>
          <p:cNvSpPr/>
          <p:nvPr/>
        </p:nvSpPr>
        <p:spPr>
          <a:xfrm>
            <a:off x="6757416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6757416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Vessel Inspection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231136"/>
          <a:ext cx="863193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69417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0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0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0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5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Rated steam 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2,123 Kg/H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one 5 T/H pet food 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Steam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Saturated steam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Superheated not needed for conditioning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pressure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– 3.0 bar(g)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with FAMSUN conditioner spec sheet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gas (preferred)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LPG backup — Morocco gas availability TBC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water quality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Softened + deaerated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Hardness &lt;50 ppm, O₂ &lt;0.02 ppm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Blowdown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manual + weekly auto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Conductivity-controlled auto blowdown preferred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valve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at 110% MAWP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— sized to pass full boiler 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inspection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vessel certification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Moroccan regulatory authority — legally mandatory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</a:tr>
            </a:tbl>
          </a:graphicData>
        </a:graphic>
      </p:graphicFrame>
      <p:sp>
        <p:nvSpPr>
          <p:cNvPr id="105" name="Shape 102"/>
          <p:cNvSpPr/>
          <p:nvPr/>
        </p:nvSpPr>
        <p:spPr>
          <a:xfrm rot="2700000">
            <a:off x="137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 rot="2700000">
            <a:off x="1371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rot="2700000">
            <a:off x="2606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rot="2700000">
            <a:off x="3840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 rot="2700000">
            <a:off x="5074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 rot="2700000">
            <a:off x="6309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rot="2700000">
            <a:off x="7543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 rot="2700000">
            <a:off x="8778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rot="2700000">
            <a:off x="10012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 rot="2700000">
            <a:off x="11247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 rot="2700000">
            <a:off x="12481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 rot="2700000">
            <a:off x="13716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 rot="2700000">
            <a:off x="14950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 rot="2700000">
            <a:off x="16184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rot="2700000">
            <a:off x="17419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rot="2700000">
            <a:off x="18653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 rot="2700000">
            <a:off x="19888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 rot="2700000">
            <a:off x="21122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rot="2700000">
            <a:off x="22357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 rot="2700000">
            <a:off x="23591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 rot="2700000">
            <a:off x="24825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 rot="2700000">
            <a:off x="26060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 rot="2700000">
            <a:off x="27294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 rot="2700000">
            <a:off x="28529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 rot="2700000">
            <a:off x="29763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 rot="2700000">
            <a:off x="30998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rot="2700000">
            <a:off x="32232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rot="2700000">
            <a:off x="33467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 rot="2700000">
            <a:off x="34701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 rot="2700000">
            <a:off x="35935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rot="2700000">
            <a:off x="37170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 rot="2700000">
            <a:off x="38404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 rot="2700000">
            <a:off x="39639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 rot="2700000">
            <a:off x="40873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 rot="2700000">
            <a:off x="42108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 rot="2700000">
            <a:off x="43342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 rot="2700000">
            <a:off x="44577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 rot="2700000">
            <a:off x="45811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rot="2700000">
            <a:off x="47045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rot="2700000">
            <a:off x="48280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 rot="2700000">
            <a:off x="49514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 rot="2700000">
            <a:off x="50749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rot="2700000">
            <a:off x="51983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 rot="2700000">
            <a:off x="53218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 rot="2700000">
            <a:off x="54452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 rot="2700000">
            <a:off x="55686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 rot="2700000">
            <a:off x="56921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 rot="2700000">
            <a:off x="58155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 rot="2700000">
            <a:off x="59390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 rot="2700000">
            <a:off x="60624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 rot="2700000">
            <a:off x="61859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 rot="2700000">
            <a:off x="63093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 rot="2700000">
            <a:off x="64328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 rot="2700000">
            <a:off x="65562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 rot="2700000">
            <a:off x="66796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 rot="2700000">
            <a:off x="68031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 rot="2700000">
            <a:off x="69265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 rot="2700000">
            <a:off x="70500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 rot="2700000">
            <a:off x="71734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 rot="2700000">
            <a:off x="72969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 rot="2700000">
            <a:off x="74203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 rot="2700000">
            <a:off x="75438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 rot="2700000">
            <a:off x="76672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 rot="2700000">
            <a:off x="77906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 rot="2700000">
            <a:off x="79141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 rot="2700000">
            <a:off x="80375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 rot="2700000">
            <a:off x="81610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 rot="2700000">
            <a:off x="82844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 rot="2700000">
            <a:off x="84079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 rot="2700000">
            <a:off x="85313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 rot="2700000">
            <a:off x="86547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 rot="2700000">
            <a:off x="87782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 rot="2700000">
            <a:off x="89016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 rot="2700000">
            <a:off x="90251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FACTORY MAROC  ·  BOILER SYSTEM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0A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70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37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371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606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3840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5074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6309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543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778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0012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1247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2481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3716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14950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6184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7419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8653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9888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21122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2357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23591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4825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26060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27294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8529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9763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30998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32232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33467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34701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35935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37170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8404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9639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0873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42108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43342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4577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45811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7045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8280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9514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50749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51983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53218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54452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55686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56921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8155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9390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60624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61859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63093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64328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65562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66796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8031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9265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70500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71734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72969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74203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5438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76672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7906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9141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80375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81610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82844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84079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85313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86547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7782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9016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90251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78" name="Shape 76"/>
          <p:cNvSpPr/>
          <p:nvPr/>
        </p:nvSpPr>
        <p:spPr>
          <a:xfrm>
            <a:off x="91440" y="0"/>
            <a:ext cx="27432" cy="86868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" y="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 REQUIREMENTS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 rot="2700000">
            <a:off x="868680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54964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841248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827532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" y="896112"/>
            <a:ext cx="2834640" cy="3986784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56032" y="896112"/>
            <a:ext cx="2834640" cy="4572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86" name="Shape 84"/>
          <p:cNvSpPr/>
          <p:nvPr/>
        </p:nvSpPr>
        <p:spPr>
          <a:xfrm rot="2700000">
            <a:off x="1536192" y="850392"/>
            <a:ext cx="91440" cy="91440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4048" y="9509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 &amp; Structural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 rot="2700000">
            <a:off x="13716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2700000">
            <a:off x="137160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2700000">
            <a:off x="260604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2700000">
            <a:off x="384048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2700000">
            <a:off x="507492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2700000">
            <a:off x="630936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2700000">
            <a:off x="754380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2700000">
            <a:off x="877824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2700000">
            <a:off x="1001268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2700000">
            <a:off x="1124712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2700000">
            <a:off x="1248156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2700000">
            <a:off x="1371600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2700000">
            <a:off x="1495044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2700000">
            <a:off x="1618488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2700000">
            <a:off x="1741932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2700000">
            <a:off x="1865376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2700000">
            <a:off x="1988820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2700000">
            <a:off x="2112264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2700000">
            <a:off x="2235708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2700000">
            <a:off x="2359152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2700000">
            <a:off x="2482596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2700000">
            <a:off x="2606040" y="1371600"/>
            <a:ext cx="82296" cy="82296"/>
          </a:xfrm>
          <a:prstGeom prst="rect">
            <a:avLst/>
          </a:prstGeom>
          <a:solidFill>
            <a:srgbClr val="D4951A">
              <a:alpha val="3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84048" y="1444752"/>
            <a:ext cx="260604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boiler room — fire-rated walls (2hr min)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plinth for boiler weight + water load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containment bund for condensate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1.0m clearance on all sides for maintenance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ventilation / explosion relief panels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gas detection system (Class 1 Div 2)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3200400" y="896112"/>
            <a:ext cx="2834640" cy="3986784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3200400" y="896112"/>
            <a:ext cx="2834640" cy="4572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113" name="Shape 111"/>
          <p:cNvSpPr/>
          <p:nvPr/>
        </p:nvSpPr>
        <p:spPr>
          <a:xfrm rot="2700000">
            <a:off x="4480560" y="850392"/>
            <a:ext cx="91440" cy="91440"/>
          </a:xfrm>
          <a:prstGeom prst="rect">
            <a:avLst/>
          </a:prstGeom>
          <a:solidFill>
            <a:srgbClr val="C0622B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328416" y="9509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Utilities Connections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 rot="2700000">
            <a:off x="13716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2700000">
            <a:off x="137160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2700000">
            <a:off x="260604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2700000">
            <a:off x="384048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2700000">
            <a:off x="507492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2700000">
            <a:off x="630936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2700000">
            <a:off x="754380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2700000">
            <a:off x="877824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2700000">
            <a:off x="1001268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2700000">
            <a:off x="1124712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2700000">
            <a:off x="1248156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2700000">
            <a:off x="1371600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2700000">
            <a:off x="1495044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2700000">
            <a:off x="1618488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2700000">
            <a:off x="1741932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2700000">
            <a:off x="1865376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2700000">
            <a:off x="1988820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2700000">
            <a:off x="2112264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2700000">
            <a:off x="2235708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2700000">
            <a:off x="2359152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2700000">
            <a:off x="2482596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2700000">
            <a:off x="2606040" y="1371600"/>
            <a:ext cx="82296" cy="82296"/>
          </a:xfrm>
          <a:prstGeom prst="rect">
            <a:avLst/>
          </a:prstGeom>
          <a:solidFill>
            <a:srgbClr val="C0622B">
              <a:alpha val="30000"/>
            </a:srgbClr>
          </a:solidFill>
          <a:ln w="12700">
            <a:solidFill>
              <a:srgbClr val="C0622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328416" y="1444752"/>
            <a:ext cx="260604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 supply line — sized for boiler BTU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water makeup — softened, pressure-regulated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Blowdown drain to neutralization pit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main header to conditioner &amp; barrel zones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 return line (energy recovery)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electrical — boiler controls &amp; BMS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6144768" y="896112"/>
            <a:ext cx="2834640" cy="3986784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6144768" y="896112"/>
            <a:ext cx="2834640" cy="45720"/>
          </a:xfrm>
          <a:prstGeom prst="rect">
            <a:avLst/>
          </a:prstGeom>
          <a:solidFill>
            <a:srgbClr val="1B9A8A"/>
          </a:solidFill>
          <a:ln/>
        </p:spPr>
      </p:sp>
      <p:sp>
        <p:nvSpPr>
          <p:cNvPr id="140" name="Shape 138"/>
          <p:cNvSpPr/>
          <p:nvPr/>
        </p:nvSpPr>
        <p:spPr>
          <a:xfrm rot="2700000">
            <a:off x="7424928" y="850392"/>
            <a:ext cx="91440" cy="91440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272784" y="9509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Treatment System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 rot="2700000">
            <a:off x="13716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2700000">
            <a:off x="137160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700000">
            <a:off x="260604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700000">
            <a:off x="384048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700000">
            <a:off x="507492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2700000">
            <a:off x="630936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2700000">
            <a:off x="754380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2700000">
            <a:off x="877824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2700000">
            <a:off x="1001268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2700000">
            <a:off x="1124712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2700000">
            <a:off x="1248156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2700000">
            <a:off x="1371600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2700000">
            <a:off x="1495044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2700000">
            <a:off x="1618488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2700000">
            <a:off x="1741932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2700000">
            <a:off x="1865376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2700000">
            <a:off x="1988820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2700000">
            <a:off x="2112264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2700000">
            <a:off x="2235708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2700000">
            <a:off x="2359152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2700000">
            <a:off x="2482596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2700000">
            <a:off x="2606040" y="1371600"/>
            <a:ext cx="82296" cy="82296"/>
          </a:xfrm>
          <a:prstGeom prst="rect">
            <a:avLst/>
          </a:prstGeom>
          <a:solidFill>
            <a:srgbClr val="1B9A8A">
              <a:alpha val="30000"/>
            </a:srgbClr>
          </a:solidFill>
          <a:ln w="12700">
            <a:solidFill>
              <a:srgbClr val="1B9A8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272784" y="1444752"/>
            <a:ext cx="260604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Softener (ion exchange) — mandatory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Deaerator or chemical O₂ scavenging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 meter on feed water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dosing: anti-scale, anti-corrosion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points: feed, boiler water, steam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water quality log — regulatory requirement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 rot="2700000">
            <a:off x="137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2700000">
            <a:off x="1371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2700000">
            <a:off x="2606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2700000">
            <a:off x="3840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2700000">
            <a:off x="5074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2700000">
            <a:off x="6309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2700000">
            <a:off x="7543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2700000">
            <a:off x="8778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2700000">
            <a:off x="10012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2700000">
            <a:off x="11247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2700000">
            <a:off x="12481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2700000">
            <a:off x="13716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2700000">
            <a:off x="14950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2700000">
            <a:off x="16184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2700000">
            <a:off x="17419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2700000">
            <a:off x="18653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2700000">
            <a:off x="19888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2700000">
            <a:off x="21122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2700000">
            <a:off x="22357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2700000">
            <a:off x="23591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2700000">
            <a:off x="24825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2700000">
            <a:off x="26060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2700000">
            <a:off x="27294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2700000">
            <a:off x="28529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2700000">
            <a:off x="29763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2700000">
            <a:off x="30998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2700000">
            <a:off x="32232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2700000">
            <a:off x="33467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2700000">
            <a:off x="34701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2700000">
            <a:off x="35935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2700000">
            <a:off x="37170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2700000">
            <a:off x="38404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2700000">
            <a:off x="39639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2700000">
            <a:off x="40873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2700000">
            <a:off x="42108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2700000">
            <a:off x="43342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2700000">
            <a:off x="44577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2700000">
            <a:off x="45811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2700000">
            <a:off x="47045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2700000">
            <a:off x="48280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2700000">
            <a:off x="49514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2700000">
            <a:off x="50749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2700000">
            <a:off x="51983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2700000">
            <a:off x="53218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2700000">
            <a:off x="54452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2700000">
            <a:off x="55686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2700000">
            <a:off x="56921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2700000">
            <a:off x="58155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2700000">
            <a:off x="59390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2700000">
            <a:off x="60624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2700000">
            <a:off x="61859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2700000">
            <a:off x="63093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2700000">
            <a:off x="64328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2700000">
            <a:off x="65562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2700000">
            <a:off x="66796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2700000">
            <a:off x="68031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2700000">
            <a:off x="69265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2700000">
            <a:off x="70500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2700000">
            <a:off x="71734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2700000">
            <a:off x="72969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2700000">
            <a:off x="74203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2700000">
            <a:off x="75438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2700000">
            <a:off x="76672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2700000">
            <a:off x="77906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2700000">
            <a:off x="79141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2700000">
            <a:off x="80375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2700000">
            <a:off x="81610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2700000">
            <a:off x="82844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2700000">
            <a:off x="84079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2700000">
            <a:off x="85313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2700000">
            <a:off x="86547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2700000">
            <a:off x="87782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2700000">
            <a:off x="89016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2700000">
            <a:off x="90251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FACTORY MAROC  ·  BOILER SYSTEM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0A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70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37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371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606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3840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5074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6309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543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778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0012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1247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2481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3716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14950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6184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7419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8653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9888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21122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2357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23591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4825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26060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27294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8529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9763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30998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32232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33467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34701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35935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37170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8404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9639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0873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42108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43342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4577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45811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7045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8280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9514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50749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51983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53218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54452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55686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56921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8155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9390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60624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61859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63093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64328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65562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66796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8031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9265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70500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71734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72969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74203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5438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76672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7906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9141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80375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81610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82844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84079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85313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86547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7782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9016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90251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78" name="Shape 76"/>
          <p:cNvSpPr/>
          <p:nvPr/>
        </p:nvSpPr>
        <p:spPr>
          <a:xfrm>
            <a:off x="91440" y="0"/>
            <a:ext cx="27432" cy="86868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" y="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COMMISSIONING SEQUENCE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 rot="2700000">
            <a:off x="868680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54964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841248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827532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" y="896112"/>
            <a:ext cx="4297680" cy="1984248"/>
          </a:xfrm>
          <a:prstGeom prst="rect">
            <a:avLst/>
          </a:prstGeom>
          <a:solidFill>
            <a:srgbClr val="1E1208"/>
          </a:solidFill>
          <a:ln w="12700">
            <a:solidFill>
              <a:srgbClr val="8A70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56032" y="896112"/>
            <a:ext cx="566928" cy="1984248"/>
          </a:xfrm>
          <a:prstGeom prst="rect">
            <a:avLst/>
          </a:prstGeom>
          <a:solidFill>
            <a:srgbClr val="8A7055"/>
          </a:solidFill>
          <a:ln/>
        </p:spPr>
      </p:sp>
      <p:sp>
        <p:nvSpPr>
          <p:cNvPr id="86" name="Shape 84"/>
          <p:cNvSpPr/>
          <p:nvPr/>
        </p:nvSpPr>
        <p:spPr>
          <a:xfrm rot="2700000">
            <a:off x="475488" y="1810512"/>
            <a:ext cx="128016" cy="128016"/>
          </a:xfrm>
          <a:prstGeom prst="rect">
            <a:avLst/>
          </a:prstGeom>
          <a:solidFill>
            <a:srgbClr val="110A04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6032" y="896112"/>
            <a:ext cx="566928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0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8" name="Text 86"/>
          <p:cNvSpPr/>
          <p:nvPr/>
        </p:nvSpPr>
        <p:spPr>
          <a:xfrm>
            <a:off x="914400" y="9509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Pre-Commissioning Checks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914400" y="1316736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Pipework pressure-tested (1.5× MAWP)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valves bench-tested &amp; certified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water system flushed &amp; sampled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test on all joints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wiring verified &amp; loop-tested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709160" y="896112"/>
            <a:ext cx="4297680" cy="1984248"/>
          </a:xfrm>
          <a:prstGeom prst="rect">
            <a:avLst/>
          </a:prstGeom>
          <a:solidFill>
            <a:srgbClr val="1E1208"/>
          </a:solidFill>
          <a:ln w="12700">
            <a:solidFill>
              <a:srgbClr val="C0622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4709160" y="896112"/>
            <a:ext cx="566928" cy="1984248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92" name="Shape 90"/>
          <p:cNvSpPr/>
          <p:nvPr/>
        </p:nvSpPr>
        <p:spPr>
          <a:xfrm rot="2700000">
            <a:off x="4928616" y="1810512"/>
            <a:ext cx="128016" cy="128016"/>
          </a:xfrm>
          <a:prstGeom prst="rect">
            <a:avLst/>
          </a:prstGeom>
          <a:solidFill>
            <a:srgbClr val="110A04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09160" y="896112"/>
            <a:ext cx="566928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0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4" name="Text 92"/>
          <p:cNvSpPr/>
          <p:nvPr/>
        </p:nvSpPr>
        <p:spPr>
          <a:xfrm>
            <a:off x="5367528" y="9509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6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Commissioning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5367528" y="1316736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boiler with treated feed water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instrumentation — P, T, level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auto blowdown sequence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low-water level cutout (mandatory safety)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interlocks and alarms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56032" y="2980944"/>
            <a:ext cx="4297680" cy="1984248"/>
          </a:xfrm>
          <a:prstGeom prst="rect">
            <a:avLst/>
          </a:prstGeom>
          <a:solidFill>
            <a:srgbClr val="1E1208"/>
          </a:solidFill>
          <a:ln w="12700">
            <a:solidFill>
              <a:srgbClr val="D495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56032" y="2980944"/>
            <a:ext cx="566928" cy="1984248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98" name="Shape 96"/>
          <p:cNvSpPr/>
          <p:nvPr/>
        </p:nvSpPr>
        <p:spPr>
          <a:xfrm rot="2700000">
            <a:off x="475488" y="3895344"/>
            <a:ext cx="128016" cy="128016"/>
          </a:xfrm>
          <a:prstGeom prst="rect">
            <a:avLst/>
          </a:prstGeom>
          <a:solidFill>
            <a:srgbClr val="110A04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56032" y="2980944"/>
            <a:ext cx="566928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0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00" name="Text 98"/>
          <p:cNvSpPr/>
          <p:nvPr/>
        </p:nvSpPr>
        <p:spPr>
          <a:xfrm>
            <a:off x="914400" y="3035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&amp; Steam Raise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914400" y="3401568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heat-up rate &lt;55°C/hour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gas line before ignition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burner test then main burner light-off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leaks during pressurization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to working pressure gradually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709160" y="2980944"/>
            <a:ext cx="4297680" cy="1984248"/>
          </a:xfrm>
          <a:prstGeom prst="rect">
            <a:avLst/>
          </a:prstGeom>
          <a:solidFill>
            <a:srgbClr val="1E1208"/>
          </a:solidFill>
          <a:ln w="12700">
            <a:solidFill>
              <a:srgbClr val="1B9A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709160" y="2980944"/>
            <a:ext cx="566928" cy="1984248"/>
          </a:xfrm>
          <a:prstGeom prst="rect">
            <a:avLst/>
          </a:prstGeom>
          <a:solidFill>
            <a:srgbClr val="1B9A8A"/>
          </a:solidFill>
          <a:ln/>
        </p:spPr>
      </p:sp>
      <p:sp>
        <p:nvSpPr>
          <p:cNvPr id="104" name="Shape 102"/>
          <p:cNvSpPr/>
          <p:nvPr/>
        </p:nvSpPr>
        <p:spPr>
          <a:xfrm rot="2700000">
            <a:off x="4928616" y="3895344"/>
            <a:ext cx="128016" cy="128016"/>
          </a:xfrm>
          <a:prstGeom prst="rect">
            <a:avLst/>
          </a:prstGeom>
          <a:solidFill>
            <a:srgbClr val="110A04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2980944"/>
            <a:ext cx="566928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0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06" name="Text 104"/>
          <p:cNvSpPr/>
          <p:nvPr/>
        </p:nvSpPr>
        <p:spPr>
          <a:xfrm>
            <a:off x="5367528" y="3035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Verification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5367528" y="3401568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2,123 Kg/H at working pressure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steam dryness fraction &gt;0.95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fuel consumption vs. output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condensate return flow &amp; temp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settings — operations baseline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 rot="2700000">
            <a:off x="137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2700000">
            <a:off x="1371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2700000">
            <a:off x="2606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2700000">
            <a:off x="3840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2700000">
            <a:off x="5074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2700000">
            <a:off x="6309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2700000">
            <a:off x="7543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2700000">
            <a:off x="8778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2700000">
            <a:off x="10012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2700000">
            <a:off x="11247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2700000">
            <a:off x="12481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2700000">
            <a:off x="13716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2700000">
            <a:off x="14950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2700000">
            <a:off x="16184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2700000">
            <a:off x="17419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2700000">
            <a:off x="18653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2700000">
            <a:off x="19888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2700000">
            <a:off x="21122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2700000">
            <a:off x="22357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2700000">
            <a:off x="23591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2700000">
            <a:off x="24825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2700000">
            <a:off x="26060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2700000">
            <a:off x="27294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2700000">
            <a:off x="28529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2700000">
            <a:off x="29763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2700000">
            <a:off x="30998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2700000">
            <a:off x="32232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2700000">
            <a:off x="33467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2700000">
            <a:off x="34701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2700000">
            <a:off x="35935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2700000">
            <a:off x="37170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2700000">
            <a:off x="38404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2700000">
            <a:off x="39639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2700000">
            <a:off x="40873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2700000">
            <a:off x="42108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2700000">
            <a:off x="43342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700000">
            <a:off x="44577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700000">
            <a:off x="45811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700000">
            <a:off x="47045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2700000">
            <a:off x="48280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2700000">
            <a:off x="49514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2700000">
            <a:off x="50749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2700000">
            <a:off x="51983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2700000">
            <a:off x="53218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2700000">
            <a:off x="54452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2700000">
            <a:off x="55686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2700000">
            <a:off x="56921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2700000">
            <a:off x="58155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2700000">
            <a:off x="59390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2700000">
            <a:off x="60624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2700000">
            <a:off x="61859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2700000">
            <a:off x="63093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2700000">
            <a:off x="64328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2700000">
            <a:off x="65562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2700000">
            <a:off x="66796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2700000">
            <a:off x="68031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2700000">
            <a:off x="69265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2700000">
            <a:off x="70500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2700000">
            <a:off x="71734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2700000">
            <a:off x="72969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2700000">
            <a:off x="74203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2700000">
            <a:off x="75438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2700000">
            <a:off x="76672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2700000">
            <a:off x="77906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2700000">
            <a:off x="79141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2700000">
            <a:off x="80375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2700000">
            <a:off x="81610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2700000">
            <a:off x="82844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2700000">
            <a:off x="84079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2700000">
            <a:off x="85313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2700000">
            <a:off x="86547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2700000">
            <a:off x="87782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2700000">
            <a:off x="89016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2700000">
            <a:off x="90251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FACTORY MAROC  ·  BOILER SYSTEM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0A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70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37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371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606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3840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5074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6309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543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778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0012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1247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2481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3716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14950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6184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7419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8653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9888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21122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2357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23591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4825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26060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27294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8529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9763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30998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32232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33467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34701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35935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37170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8404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9639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0873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42108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43342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4577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45811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7045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8280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9514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50749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51983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53218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54452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55686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56921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8155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9390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60624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61859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63093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64328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65562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66796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8031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9265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70500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71734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72969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74203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5438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76672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7906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9141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80375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81610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82844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84079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85313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86547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7782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9016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90251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78" name="Shape 76"/>
          <p:cNvSpPr/>
          <p:nvPr/>
        </p:nvSpPr>
        <p:spPr>
          <a:xfrm>
            <a:off x="91440" y="0"/>
            <a:ext cx="27432" cy="86868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" y="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&amp; SAFETY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 rot="2700000">
            <a:off x="868680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54964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841248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827532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" y="896112"/>
            <a:ext cx="4206240" cy="3986784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56032" y="896112"/>
            <a:ext cx="4206240" cy="4572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86" name="Text 84"/>
          <p:cNvSpPr/>
          <p:nvPr/>
        </p:nvSpPr>
        <p:spPr>
          <a:xfrm>
            <a:off x="384048" y="9509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PREVENTIVE MAINTENANCE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 rot="2700000">
            <a:off x="13716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2700000">
            <a:off x="137160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2700000">
            <a:off x="260604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2700000">
            <a:off x="384048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2700000">
            <a:off x="507492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2700000">
            <a:off x="630936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2700000">
            <a:off x="754380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2700000">
            <a:off x="877824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2700000">
            <a:off x="1001268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2700000">
            <a:off x="1124712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2700000">
            <a:off x="1248156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2700000">
            <a:off x="1371600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2700000">
            <a:off x="1495044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2700000">
            <a:off x="1618488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2700000">
            <a:off x="1741932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2700000">
            <a:off x="1865376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2700000">
            <a:off x="1988820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2700000">
            <a:off x="2112264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2700000">
            <a:off x="2235708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2700000">
            <a:off x="2359152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2700000">
            <a:off x="2482596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2700000">
            <a:off x="2606040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2700000">
            <a:off x="2729484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2700000">
            <a:off x="2852928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2700000">
            <a:off x="2976372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2700000">
            <a:off x="3099816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2700000">
            <a:off x="3223260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2700000">
            <a:off x="3346704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2700000">
            <a:off x="3470148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2700000">
            <a:off x="3593592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2700000">
            <a:off x="3717036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2700000">
            <a:off x="3840480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2700000">
            <a:off x="3963924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2700000">
            <a:off x="4087368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2700000">
            <a:off x="4210812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2700000">
            <a:off x="4334256" y="133502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47472" y="1426464"/>
            <a:ext cx="960120" cy="493776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24" name="Text 122"/>
          <p:cNvSpPr/>
          <p:nvPr/>
        </p:nvSpPr>
        <p:spPr>
          <a:xfrm>
            <a:off x="347472" y="1426464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1389888" y="1426464"/>
            <a:ext cx="29809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Blowdown · Feed water chemistry · Burner flame check · Log P &amp; T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347472" y="2084832"/>
            <a:ext cx="960120" cy="493776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27" name="Text 125"/>
          <p:cNvSpPr/>
          <p:nvPr/>
        </p:nvSpPr>
        <p:spPr>
          <a:xfrm>
            <a:off x="347472" y="2084832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1389888" y="2084832"/>
            <a:ext cx="29809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blowdown · Safety valve check · Gas train inspection · Water sample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347472" y="2743200"/>
            <a:ext cx="960120" cy="493776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30" name="Text 128"/>
          <p:cNvSpPr/>
          <p:nvPr/>
        </p:nvSpPr>
        <p:spPr>
          <a:xfrm>
            <a:off x="347472" y="2743200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1389888" y="2743200"/>
            <a:ext cx="29809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valve pop test · Combustion analysis · Heat exchanger tubes · BMS alarms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47472" y="3401568"/>
            <a:ext cx="960120" cy="493776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33" name="Text 131"/>
          <p:cNvSpPr/>
          <p:nvPr/>
        </p:nvSpPr>
        <p:spPr>
          <a:xfrm>
            <a:off x="347472" y="3401568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1389888" y="3401568"/>
            <a:ext cx="29809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inspection (cooled) · Clean waterside scale · Refractory lining check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347472" y="4059936"/>
            <a:ext cx="960120" cy="493776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36" name="Text 134"/>
          <p:cNvSpPr/>
          <p:nvPr/>
        </p:nvSpPr>
        <p:spPr>
          <a:xfrm>
            <a:off x="347472" y="4059936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1389888" y="4059936"/>
            <a:ext cx="29809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vessel inspection — certified authority (mandatory) · Full retubing assessment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4681728" y="896112"/>
            <a:ext cx="4206240" cy="3986784"/>
          </a:xfrm>
          <a:prstGeom prst="rect">
            <a:avLst/>
          </a:prstGeom>
          <a:solidFill>
            <a:srgbClr val="1E1208"/>
          </a:solidFill>
          <a:ln w="12700">
            <a:solidFill>
              <a:srgbClr val="D9404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4681728" y="896112"/>
            <a:ext cx="4206240" cy="4572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40" name="Text 138"/>
          <p:cNvSpPr/>
          <p:nvPr/>
        </p:nvSpPr>
        <p:spPr>
          <a:xfrm>
            <a:off x="4809744" y="9509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SAFETY CRITICAL ITEMS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 rot="2700000">
            <a:off x="13716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2700000">
            <a:off x="137160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2700000">
            <a:off x="260604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700000">
            <a:off x="384048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700000">
            <a:off x="507492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700000">
            <a:off x="630936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2700000">
            <a:off x="754380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2700000">
            <a:off x="877824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2700000">
            <a:off x="1001268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2700000">
            <a:off x="1124712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2700000">
            <a:off x="1248156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2700000">
            <a:off x="1371600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2700000">
            <a:off x="1495044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2700000">
            <a:off x="1618488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2700000">
            <a:off x="1741932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2700000">
            <a:off x="1865376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2700000">
            <a:off x="1988820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2700000">
            <a:off x="2112264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2700000">
            <a:off x="2235708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2700000">
            <a:off x="2359152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2700000">
            <a:off x="2482596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2700000">
            <a:off x="2606040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2700000">
            <a:off x="2729484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2700000">
            <a:off x="2852928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2700000">
            <a:off x="2976372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2700000">
            <a:off x="3099816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2700000">
            <a:off x="3223260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2700000">
            <a:off x="3346704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2700000">
            <a:off x="3470148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2700000">
            <a:off x="3593592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2700000">
            <a:off x="3717036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2700000">
            <a:off x="3840480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2700000">
            <a:off x="3963924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2700000">
            <a:off x="4087368" y="1335024"/>
            <a:ext cx="82296" cy="82296"/>
          </a:xfrm>
          <a:prstGeom prst="rect">
            <a:avLst/>
          </a:prstGeom>
          <a:solidFill>
            <a:srgbClr val="D94040">
              <a:alpha val="20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809744" y="14264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Water Level Cutout</a:t>
            </a:r>
            <a:endParaRPr lang="en-US" sz="950" dirty="0"/>
          </a:p>
        </p:txBody>
      </p:sp>
      <p:sp>
        <p:nvSpPr>
          <p:cNvPr id="176" name="Text 174"/>
          <p:cNvSpPr/>
          <p:nvPr/>
        </p:nvSpPr>
        <p:spPr>
          <a:xfrm>
            <a:off x="4809744" y="1645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trip burner before tubes are exposed. Test monthly. Failure = tube burnout / explosion risk.</a:t>
            </a:r>
            <a:endParaRPr lang="en-US" sz="900" dirty="0"/>
          </a:p>
        </p:txBody>
      </p:sp>
      <p:sp>
        <p:nvSpPr>
          <p:cNvPr id="177" name="Text 175"/>
          <p:cNvSpPr/>
          <p:nvPr/>
        </p:nvSpPr>
        <p:spPr>
          <a:xfrm>
            <a:off x="4809744" y="20848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Relief Valve</a:t>
            </a:r>
            <a:endParaRPr lang="en-US" sz="950" dirty="0"/>
          </a:p>
        </p:txBody>
      </p:sp>
      <p:sp>
        <p:nvSpPr>
          <p:cNvPr id="178" name="Text 176"/>
          <p:cNvSpPr/>
          <p:nvPr/>
        </p:nvSpPr>
        <p:spPr>
          <a:xfrm>
            <a:off x="4809744" y="23042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pass full output. Must open before MAWP. Cannot be isolated or bypassed under any circumstances.</a:t>
            </a:r>
            <a:endParaRPr lang="en-US" sz="900" dirty="0"/>
          </a:p>
        </p:txBody>
      </p:sp>
      <p:sp>
        <p:nvSpPr>
          <p:cNvPr id="179" name="Text 177"/>
          <p:cNvSpPr/>
          <p:nvPr/>
        </p:nvSpPr>
        <p:spPr>
          <a:xfrm>
            <a:off x="4809744" y="27432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Flue Gas Purge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4809744" y="29626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4× furnace volume purge before every ignition. Prevents unburned gas explosion.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4809744" y="34015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Train Standards</a:t>
            </a:r>
            <a:endParaRPr lang="en-US" sz="950" dirty="0"/>
          </a:p>
        </p:txBody>
      </p:sp>
      <p:sp>
        <p:nvSpPr>
          <p:cNvPr id="182" name="Text 180"/>
          <p:cNvSpPr/>
          <p:nvPr/>
        </p:nvSpPr>
        <p:spPr>
          <a:xfrm>
            <a:off x="4809744" y="36210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Dual-block isolation valves, pressure regulators per EN 746-2. Leak-test on each startup.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4809744" y="40599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Vessel Certification</a:t>
            </a:r>
            <a:endParaRPr lang="en-US" sz="950" dirty="0"/>
          </a:p>
        </p:txBody>
      </p:sp>
      <p:sp>
        <p:nvSpPr>
          <p:cNvPr id="184" name="Text 182"/>
          <p:cNvSpPr/>
          <p:nvPr/>
        </p:nvSpPr>
        <p:spPr>
          <a:xfrm>
            <a:off x="4809744" y="42793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law requires annual inspection. Operating without cert = illegal and uninsured.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 rot="2700000">
            <a:off x="137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2700000">
            <a:off x="1371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2700000">
            <a:off x="2606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2700000">
            <a:off x="3840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2700000">
            <a:off x="5074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2700000">
            <a:off x="6309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2700000">
            <a:off x="7543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2700000">
            <a:off x="8778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2700000">
            <a:off x="10012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2700000">
            <a:off x="11247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2700000">
            <a:off x="12481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2700000">
            <a:off x="13716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2700000">
            <a:off x="14950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2700000">
            <a:off x="16184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2700000">
            <a:off x="17419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2700000">
            <a:off x="18653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2700000">
            <a:off x="19888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2700000">
            <a:off x="21122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2700000">
            <a:off x="22357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2700000">
            <a:off x="23591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2700000">
            <a:off x="24825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2700000">
            <a:off x="26060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2700000">
            <a:off x="27294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2700000">
            <a:off x="28529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2700000">
            <a:off x="29763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2700000">
            <a:off x="30998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2700000">
            <a:off x="32232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2700000">
            <a:off x="33467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2700000">
            <a:off x="34701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2700000">
            <a:off x="35935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2700000">
            <a:off x="37170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2700000">
            <a:off x="38404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2700000">
            <a:off x="39639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2700000">
            <a:off x="40873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2700000">
            <a:off x="42108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2700000">
            <a:off x="43342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2700000">
            <a:off x="44577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2700000">
            <a:off x="45811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2700000">
            <a:off x="47045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2700000">
            <a:off x="48280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2700000">
            <a:off x="49514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2700000">
            <a:off x="50749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2700000">
            <a:off x="51983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2700000">
            <a:off x="53218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2700000">
            <a:off x="54452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2700000">
            <a:off x="55686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2700000">
            <a:off x="56921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2700000">
            <a:off x="58155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2700000">
            <a:off x="59390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2700000">
            <a:off x="60624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2700000">
            <a:off x="61859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2700000">
            <a:off x="63093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2700000">
            <a:off x="64328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2700000">
            <a:off x="65562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rot="2700000">
            <a:off x="66796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rot="2700000">
            <a:off x="68031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rot="2700000">
            <a:off x="69265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rot="2700000">
            <a:off x="70500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rot="2700000">
            <a:off x="71734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rot="2700000">
            <a:off x="72969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rot="2700000">
            <a:off x="74203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2700000">
            <a:off x="75438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rot="2700000">
            <a:off x="76672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2700000">
            <a:off x="77906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rot="2700000">
            <a:off x="79141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2700000">
            <a:off x="80375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rot="2700000">
            <a:off x="81610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2700000">
            <a:off x="82844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2700000">
            <a:off x="84079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rot="2700000">
            <a:off x="85313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rot="2700000">
            <a:off x="86547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rot="2700000">
            <a:off x="87782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rot="2700000">
            <a:off x="89016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rot="2700000">
            <a:off x="90251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FACTORY MAROC  ·  BOILER SYSTEM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0A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70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37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371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606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3840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5074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6309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543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778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0012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1247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2481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3716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14950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6184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7419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8653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9888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21122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2357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23591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4825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26060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27294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8529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9763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30998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32232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33467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34701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35935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37170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8404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9639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0873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42108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43342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4577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45811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7045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8280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9514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50749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51983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53218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54452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55686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56921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8155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9390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60624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61859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63093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64328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65562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66796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8031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9265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70500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71734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72969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74203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5438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76672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7906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9141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80375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81610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82844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84079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85313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86547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7782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9016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90251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78" name="Shape 76"/>
          <p:cNvSpPr/>
          <p:nvPr/>
        </p:nvSpPr>
        <p:spPr>
          <a:xfrm>
            <a:off x="91440" y="0"/>
            <a:ext cx="27432" cy="86868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" y="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REGISTER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 rot="2700000">
            <a:off x="868680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54964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841248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827532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96112"/>
          <a:ext cx="8631936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40080"/>
                <a:gridCol w="548640"/>
                <a:gridCol w="48828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0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0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0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0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5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gas supply not confirmed at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6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ONEE gas line availability. Size LPG backup tank as interim solution.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 delivery delay (China lead time ~14 wks)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6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 on critical path — extruder cannot run without steam. Order immediately, track weekly.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water hardness causes scale buildup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6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softener + deaerator before commissioning. Daily water quality log is mandatory.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vessel cert not obtained before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A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 certified Moroccan inspection authority before FAT. No cert = cannot operate legally.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 oversized for actual steam 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6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6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conditioner + barrel heating loads vs. 2,123 Kg/H spec before final order.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0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Condensate not recovered — energy waste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A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E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condensate return system. Recover &gt;80% to cut fuel cost and feed water demand.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5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808"/>
                    </a:solidFill>
                  </a:tcPr>
                </a:tc>
              </a:tr>
            </a:tbl>
          </a:graphicData>
        </a:graphic>
      </p:graphicFrame>
      <p:sp>
        <p:nvSpPr>
          <p:cNvPr id="85" name="Shape 82"/>
          <p:cNvSpPr/>
          <p:nvPr/>
        </p:nvSpPr>
        <p:spPr>
          <a:xfrm rot="2700000">
            <a:off x="137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 rot="2700000">
            <a:off x="1371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 rot="2700000">
            <a:off x="2606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 rot="2700000">
            <a:off x="3840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rot="2700000">
            <a:off x="5074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 rot="2700000">
            <a:off x="6309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 rot="2700000">
            <a:off x="7543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rot="2700000">
            <a:off x="8778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 rot="2700000">
            <a:off x="10012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 rot="2700000">
            <a:off x="11247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 rot="2700000">
            <a:off x="12481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 rot="2700000">
            <a:off x="13716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 rot="2700000">
            <a:off x="14950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rot="2700000">
            <a:off x="16184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 rot="2700000">
            <a:off x="17419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 rot="2700000">
            <a:off x="18653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 rot="2700000">
            <a:off x="19888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 rot="2700000">
            <a:off x="21122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 rot="2700000">
            <a:off x="22357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 rot="2700000">
            <a:off x="23591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 rot="2700000">
            <a:off x="24825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 rot="2700000">
            <a:off x="26060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rot="2700000">
            <a:off x="27294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rot="2700000">
            <a:off x="28529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 rot="2700000">
            <a:off x="29763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 rot="2700000">
            <a:off x="30998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rot="2700000">
            <a:off x="32232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 rot="2700000">
            <a:off x="33467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rot="2700000">
            <a:off x="34701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 rot="2700000">
            <a:off x="35935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 rot="2700000">
            <a:off x="37170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 rot="2700000">
            <a:off x="38404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 rot="2700000">
            <a:off x="39639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 rot="2700000">
            <a:off x="40873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rot="2700000">
            <a:off x="42108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rot="2700000">
            <a:off x="43342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 rot="2700000">
            <a:off x="44577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 rot="2700000">
            <a:off x="45811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rot="2700000">
            <a:off x="47045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 rot="2700000">
            <a:off x="48280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 rot="2700000">
            <a:off x="49514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 rot="2700000">
            <a:off x="50749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 rot="2700000">
            <a:off x="51983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 rot="2700000">
            <a:off x="53218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 rot="2700000">
            <a:off x="54452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 rot="2700000">
            <a:off x="55686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rot="2700000">
            <a:off x="56921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rot="2700000">
            <a:off x="58155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 rot="2700000">
            <a:off x="59390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 rot="2700000">
            <a:off x="606247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rot="2700000">
            <a:off x="618591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 rot="2700000">
            <a:off x="630936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 rot="2700000">
            <a:off x="643280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 rot="2700000">
            <a:off x="655624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 rot="2700000">
            <a:off x="667969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 rot="2700000">
            <a:off x="680313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 rot="2700000">
            <a:off x="692658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 rot="2700000">
            <a:off x="705002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rot="2700000">
            <a:off x="717346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rot="2700000">
            <a:off x="729691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 rot="2700000">
            <a:off x="742035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 rot="2700000">
            <a:off x="754380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rot="2700000">
            <a:off x="766724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 rot="2700000">
            <a:off x="779068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 rot="2700000">
            <a:off x="791413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 rot="2700000">
            <a:off x="803757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 rot="2700000">
            <a:off x="816102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 rot="2700000">
            <a:off x="828446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 rot="2700000">
            <a:off x="840790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 rot="2700000">
            <a:off x="8531352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 rot="2700000">
            <a:off x="8654796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 rot="2700000">
            <a:off x="8778240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 rot="2700000">
            <a:off x="8901684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 rot="2700000">
            <a:off x="9025128" y="4846320"/>
            <a:ext cx="82296" cy="82296"/>
          </a:xfrm>
          <a:prstGeom prst="rect">
            <a:avLst/>
          </a:prstGeom>
          <a:solidFill>
            <a:srgbClr val="D4951A">
              <a:alpha val="18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FACTORY MAROC  ·  BOILER SYSTEM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0A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70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37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371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606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3840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5074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6309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7543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8778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0012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1247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2481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3716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14950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6184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7419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8653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9888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21122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2357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23591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4825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26060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27294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8529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9763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30998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32232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33467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34701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35935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37170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8404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9639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0873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42108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43342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4577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45811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7045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8280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9514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50749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51983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53218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54452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55686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56921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8155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9390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606247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618591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630936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643280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655624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667969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80313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92658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705002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717346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729691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742035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54380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766724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79068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91413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803757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816102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828446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840790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8531352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8654796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778240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901684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9025128" y="749808"/>
            <a:ext cx="82296" cy="82296"/>
          </a:xfrm>
          <a:prstGeom prst="rect">
            <a:avLst/>
          </a:prstGeom>
          <a:solidFill>
            <a:srgbClr val="D4951A">
              <a:alpha val="60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78" name="Shape 76"/>
          <p:cNvSpPr/>
          <p:nvPr/>
        </p:nvSpPr>
        <p:spPr>
          <a:xfrm>
            <a:off x="91440" y="0"/>
            <a:ext cx="27432" cy="86868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79" name="Text 77"/>
          <p:cNvSpPr/>
          <p:nvPr/>
        </p:nvSpPr>
        <p:spPr>
          <a:xfrm>
            <a:off x="228600" y="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9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DECISIONS &amp; NEXT STEPS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 rot="2700000">
            <a:off x="868680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54964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8412480" y="182880"/>
            <a:ext cx="73152" cy="73152"/>
          </a:xfrm>
          <a:prstGeom prst="rect">
            <a:avLst/>
          </a:prstGeom>
          <a:solidFill>
            <a:srgbClr val="D4951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8275320" y="182880"/>
            <a:ext cx="73152" cy="73152"/>
          </a:xfrm>
          <a:prstGeom prst="rect">
            <a:avLst/>
          </a:prstGeom>
          <a:solidFill>
            <a:srgbClr val="1B9A8A"/>
          </a:solidFill>
          <a:ln w="12700">
            <a:solidFill>
              <a:srgbClr val="110A0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" y="896112"/>
            <a:ext cx="8631936" cy="493776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6032" y="896112"/>
            <a:ext cx="777240" cy="493776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86" name="Text 84"/>
          <p:cNvSpPr/>
          <p:nvPr/>
        </p:nvSpPr>
        <p:spPr>
          <a:xfrm>
            <a:off x="256032" y="896112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115568" y="896112"/>
            <a:ext cx="1143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2331720" y="896112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exact steam demand from FAMSUN conditioner + extruder spec sheets vs. 2,123 Kg/H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56032" y="1453896"/>
            <a:ext cx="8631936" cy="493776"/>
          </a:xfrm>
          <a:prstGeom prst="rect">
            <a:avLst/>
          </a:prstGeom>
          <a:solidFill>
            <a:srgbClr val="271808"/>
          </a:solidFill>
          <a:ln w="12700">
            <a:solidFill>
              <a:srgbClr val="3A251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6032" y="1453896"/>
            <a:ext cx="777240" cy="493776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91" name="Text 89"/>
          <p:cNvSpPr/>
          <p:nvPr/>
        </p:nvSpPr>
        <p:spPr>
          <a:xfrm>
            <a:off x="256032" y="1453896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115568" y="1453896"/>
            <a:ext cx="1143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2331720" y="1453896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natural gas availability at site — if unavailable, order LPG interim tanks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56032" y="2011680"/>
            <a:ext cx="8631936" cy="493776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56032" y="2011680"/>
            <a:ext cx="777240" cy="493776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96" name="Text 94"/>
          <p:cNvSpPr/>
          <p:nvPr/>
        </p:nvSpPr>
        <p:spPr>
          <a:xfrm>
            <a:off x="256032" y="2011680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115568" y="2011680"/>
            <a:ext cx="1143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331720" y="2011680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boiler PO — lead time is on the commissioning critical path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56032" y="2569464"/>
            <a:ext cx="8631936" cy="493776"/>
          </a:xfrm>
          <a:prstGeom prst="rect">
            <a:avLst/>
          </a:prstGeom>
          <a:solidFill>
            <a:srgbClr val="271808"/>
          </a:solidFill>
          <a:ln w="12700">
            <a:solidFill>
              <a:srgbClr val="3A251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6032" y="2569464"/>
            <a:ext cx="777240" cy="493776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01" name="Text 99"/>
          <p:cNvSpPr/>
          <p:nvPr/>
        </p:nvSpPr>
        <p:spPr>
          <a:xfrm>
            <a:off x="256032" y="2569464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1115568" y="2569464"/>
            <a:ext cx="1143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9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2331720" y="2569464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boiler room design — fire-rated walls, ventilation, bund, gas detection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56032" y="3127248"/>
            <a:ext cx="8631936" cy="493776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56032" y="3127248"/>
            <a:ext cx="777240" cy="493776"/>
          </a:xfrm>
          <a:prstGeom prst="rect">
            <a:avLst/>
          </a:prstGeom>
          <a:solidFill>
            <a:srgbClr val="D4951A"/>
          </a:solidFill>
          <a:ln/>
        </p:spPr>
      </p:sp>
      <p:sp>
        <p:nvSpPr>
          <p:cNvPr id="106" name="Text 104"/>
          <p:cNvSpPr/>
          <p:nvPr/>
        </p:nvSpPr>
        <p:spPr>
          <a:xfrm>
            <a:off x="256032" y="3127248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1115568" y="3127248"/>
            <a:ext cx="1143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9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2331720" y="3127248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order water treatment system (softener + deaerator + chemical dosing)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256032" y="3685032"/>
            <a:ext cx="8631936" cy="493776"/>
          </a:xfrm>
          <a:prstGeom prst="rect">
            <a:avLst/>
          </a:prstGeom>
          <a:solidFill>
            <a:srgbClr val="271808"/>
          </a:solidFill>
          <a:ln w="12700">
            <a:solidFill>
              <a:srgbClr val="3A251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56032" y="3685032"/>
            <a:ext cx="777240" cy="493776"/>
          </a:xfrm>
          <a:prstGeom prst="rect">
            <a:avLst/>
          </a:prstGeom>
          <a:solidFill>
            <a:srgbClr val="1B9A8A"/>
          </a:solidFill>
          <a:ln/>
        </p:spPr>
      </p:sp>
      <p:sp>
        <p:nvSpPr>
          <p:cNvPr id="111" name="Text 109"/>
          <p:cNvSpPr/>
          <p:nvPr/>
        </p:nvSpPr>
        <p:spPr>
          <a:xfrm>
            <a:off x="256032" y="3685032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1115568" y="3685032"/>
            <a:ext cx="1143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2331720" y="3685032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Moroccan pressure vessel inspection authority — engage before FAT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256032" y="4242816"/>
            <a:ext cx="8631936" cy="493776"/>
          </a:xfrm>
          <a:prstGeom prst="rect">
            <a:avLst/>
          </a:prstGeom>
          <a:solidFill>
            <a:srgbClr val="1E1208"/>
          </a:solidFill>
          <a:ln w="12700">
            <a:solidFill>
              <a:srgbClr val="3A251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56032" y="4242816"/>
            <a:ext cx="777240" cy="493776"/>
          </a:xfrm>
          <a:prstGeom prst="rect">
            <a:avLst/>
          </a:prstGeom>
          <a:solidFill>
            <a:srgbClr val="1B9A8A"/>
          </a:solidFill>
          <a:ln/>
        </p:spPr>
      </p:sp>
      <p:sp>
        <p:nvSpPr>
          <p:cNvPr id="116" name="Text 114"/>
          <p:cNvSpPr/>
          <p:nvPr/>
        </p:nvSpPr>
        <p:spPr>
          <a:xfrm>
            <a:off x="256032" y="4242816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0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1115568" y="4242816"/>
            <a:ext cx="1143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2331720" y="4242816"/>
            <a:ext cx="6492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steam distribution P&amp;ID — header + branch lines to conditioner and barrel zones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 rot="2700000">
            <a:off x="1371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2700000">
            <a:off x="13716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2700000">
            <a:off x="26060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2700000">
            <a:off x="38404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2700000">
            <a:off x="50749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2700000">
            <a:off x="63093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2700000">
            <a:off x="75438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2700000">
            <a:off x="87782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2700000">
            <a:off x="100126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2700000">
            <a:off x="112471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2700000">
            <a:off x="124815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2700000">
            <a:off x="137160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2700000">
            <a:off x="149504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2700000">
            <a:off x="161848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2700000">
            <a:off x="174193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2700000">
            <a:off x="186537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2700000">
            <a:off x="198882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2700000">
            <a:off x="211226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2700000">
            <a:off x="223570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2700000">
            <a:off x="235915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2700000">
            <a:off x="248259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2700000">
            <a:off x="260604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2700000">
            <a:off x="272948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2700000">
            <a:off x="285292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2700000">
            <a:off x="297637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700000">
            <a:off x="309981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700000">
            <a:off x="322326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700000">
            <a:off x="334670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2700000">
            <a:off x="347014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2700000">
            <a:off x="359359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2700000">
            <a:off x="371703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2700000">
            <a:off x="384048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2700000">
            <a:off x="396392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2700000">
            <a:off x="408736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2700000">
            <a:off x="421081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2700000">
            <a:off x="433425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2700000">
            <a:off x="445770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2700000">
            <a:off x="458114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2700000">
            <a:off x="470458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2700000">
            <a:off x="482803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2700000">
            <a:off x="495147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2700000">
            <a:off x="507492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2700000">
            <a:off x="519836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2700000">
            <a:off x="532180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2700000">
            <a:off x="544525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2700000">
            <a:off x="556869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2700000">
            <a:off x="569214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2700000">
            <a:off x="581558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2700000">
            <a:off x="593902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2700000">
            <a:off x="606247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2700000">
            <a:off x="618591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2700000">
            <a:off x="630936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2700000">
            <a:off x="643280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2700000">
            <a:off x="655624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2700000">
            <a:off x="667969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2700000">
            <a:off x="680313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2700000">
            <a:off x="692658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2700000">
            <a:off x="705002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2700000">
            <a:off x="717346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2700000">
            <a:off x="729691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2700000">
            <a:off x="742035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2700000">
            <a:off x="754380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2700000">
            <a:off x="766724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2700000">
            <a:off x="779068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2700000">
            <a:off x="791413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2700000">
            <a:off x="803757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2700000">
            <a:off x="816102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2700000">
            <a:off x="828446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2700000">
            <a:off x="840790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2700000">
            <a:off x="8531352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2700000">
            <a:off x="8654796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2700000">
            <a:off x="8778240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2700000">
            <a:off x="8901684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2700000">
            <a:off x="9025128" y="4809744"/>
            <a:ext cx="82296" cy="82296"/>
          </a:xfrm>
          <a:prstGeom prst="rect">
            <a:avLst/>
          </a:prstGeom>
          <a:solidFill>
            <a:srgbClr val="D4951A">
              <a:alpha val="25000"/>
            </a:srgbClr>
          </a:solidFill>
          <a:ln w="12700">
            <a:solidFill>
              <a:srgbClr val="D4951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FACTORY MAROC  ·  BOILER SYSTEM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Boiler System — Pet Factory Maroc</dc:title>
  <dc:subject>PptxGenJS Presentation</dc:subject>
  <dc:creator>PptxGenJS</dc:creator>
  <cp:lastModifiedBy>PptxGenJS</cp:lastModifiedBy>
  <cp:revision>1</cp:revision>
  <dcterms:created xsi:type="dcterms:W3CDTF">2026-04-20T12:18:22Z</dcterms:created>
  <dcterms:modified xsi:type="dcterms:W3CDTF">2026-04-20T12:18:22Z</dcterms:modified>
</cp:coreProperties>
</file>