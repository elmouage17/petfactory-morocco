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0E0A04"/>
          </a:solidFill>
          <a:ln/>
        </p:spPr>
      </p:sp>
      <p:sp>
        <p:nvSpPr>
          <p:cNvPr id="3" name="Shape 1"/>
          <p:cNvSpPr/>
          <p:nvPr/>
        </p:nvSpPr>
        <p:spPr>
          <a:xfrm rot="2700000">
            <a:off x="9144" y="-36576"/>
            <a:ext cx="219456" cy="219456"/>
          </a:xfrm>
          <a:prstGeom prst="rect">
            <a:avLst/>
          </a:prstGeom>
          <a:solidFill>
            <a:srgbClr val="D4951A">
              <a:alpha val="58000"/>
            </a:srgbClr>
          </a:solidFill>
          <a:ln w="12700">
            <a:solidFill>
              <a:srgbClr val="0E0A04"/>
            </a:solidFill>
            <a:prstDash val="solid"/>
          </a:ln>
        </p:spPr>
      </p:sp>
      <p:sp>
        <p:nvSpPr>
          <p:cNvPr id="4" name="Shape 2"/>
          <p:cNvSpPr/>
          <p:nvPr/>
        </p:nvSpPr>
        <p:spPr>
          <a:xfrm rot="2700000">
            <a:off x="429768" y="-36576"/>
            <a:ext cx="109728" cy="109728"/>
          </a:xfrm>
          <a:prstGeom prst="rect">
            <a:avLst/>
          </a:prstGeom>
          <a:solidFill>
            <a:srgbClr val="C0622B">
              <a:alpha val="58000"/>
            </a:srgbClr>
          </a:solidFill>
          <a:ln w="12700">
            <a:solidFill>
              <a:srgbClr val="0E0A04"/>
            </a:solidFill>
            <a:prstDash val="solid"/>
          </a:ln>
        </p:spPr>
      </p:sp>
      <p:sp>
        <p:nvSpPr>
          <p:cNvPr id="5" name="Shape 3"/>
          <p:cNvSpPr/>
          <p:nvPr/>
        </p:nvSpPr>
        <p:spPr>
          <a:xfrm rot="2700000">
            <a:off x="850392" y="-36576"/>
            <a:ext cx="109728" cy="109728"/>
          </a:xfrm>
          <a:prstGeom prst="rect">
            <a:avLst/>
          </a:prstGeom>
          <a:solidFill>
            <a:srgbClr val="1B9A8A">
              <a:alpha val="58000"/>
            </a:srgbClr>
          </a:solidFill>
          <a:ln w="12700">
            <a:solidFill>
              <a:srgbClr val="0E0A04"/>
            </a:solidFill>
            <a:prstDash val="solid"/>
          </a:ln>
        </p:spPr>
      </p:sp>
      <p:sp>
        <p:nvSpPr>
          <p:cNvPr id="6" name="Shape 4"/>
          <p:cNvSpPr/>
          <p:nvPr/>
        </p:nvSpPr>
        <p:spPr>
          <a:xfrm rot="2700000">
            <a:off x="1271016" y="-36576"/>
            <a:ext cx="155448" cy="155448"/>
          </a:xfrm>
          <a:prstGeom prst="rect">
            <a:avLst/>
          </a:prstGeom>
          <a:solidFill>
            <a:srgbClr val="D8C9A8">
              <a:alpha val="58000"/>
            </a:srgbClr>
          </a:solidFill>
          <a:ln w="12700">
            <a:solidFill>
              <a:srgbClr val="0E0A04"/>
            </a:solidFill>
            <a:prstDash val="solid"/>
          </a:ln>
        </p:spPr>
      </p:sp>
      <p:sp>
        <p:nvSpPr>
          <p:cNvPr id="7" name="Shape 5"/>
          <p:cNvSpPr/>
          <p:nvPr/>
        </p:nvSpPr>
        <p:spPr>
          <a:xfrm rot="2700000">
            <a:off x="1691640" y="-36576"/>
            <a:ext cx="109728" cy="109728"/>
          </a:xfrm>
          <a:prstGeom prst="rect">
            <a:avLst/>
          </a:prstGeom>
          <a:solidFill>
            <a:srgbClr val="8B2252">
              <a:alpha val="58000"/>
            </a:srgbClr>
          </a:solidFill>
          <a:ln w="12700">
            <a:solidFill>
              <a:srgbClr val="0E0A04"/>
            </a:solidFill>
            <a:prstDash val="solid"/>
          </a:ln>
        </p:spPr>
      </p:sp>
      <p:sp>
        <p:nvSpPr>
          <p:cNvPr id="8" name="Shape 6"/>
          <p:cNvSpPr/>
          <p:nvPr/>
        </p:nvSpPr>
        <p:spPr>
          <a:xfrm rot="2700000">
            <a:off x="2112264" y="-36576"/>
            <a:ext cx="219456" cy="219456"/>
          </a:xfrm>
          <a:prstGeom prst="rect">
            <a:avLst/>
          </a:prstGeom>
          <a:solidFill>
            <a:srgbClr val="6B4C20">
              <a:alpha val="58000"/>
            </a:srgbClr>
          </a:solidFill>
          <a:ln w="12700">
            <a:solidFill>
              <a:srgbClr val="0E0A04"/>
            </a:solidFill>
            <a:prstDash val="solid"/>
          </a:ln>
        </p:spPr>
      </p:sp>
      <p:sp>
        <p:nvSpPr>
          <p:cNvPr id="9" name="Shape 7"/>
          <p:cNvSpPr/>
          <p:nvPr/>
        </p:nvSpPr>
        <p:spPr>
          <a:xfrm rot="2700000">
            <a:off x="2532888" y="-36576"/>
            <a:ext cx="155448" cy="155448"/>
          </a:xfrm>
          <a:prstGeom prst="rect">
            <a:avLst/>
          </a:prstGeom>
          <a:solidFill>
            <a:srgbClr val="3D2208">
              <a:alpha val="58000"/>
            </a:srgbClr>
          </a:solidFill>
          <a:ln w="12700">
            <a:solidFill>
              <a:srgbClr val="0E0A04"/>
            </a:solidFill>
            <a:prstDash val="solid"/>
          </a:ln>
        </p:spPr>
      </p:sp>
      <p:sp>
        <p:nvSpPr>
          <p:cNvPr id="10" name="Shape 8"/>
          <p:cNvSpPr/>
          <p:nvPr/>
        </p:nvSpPr>
        <p:spPr>
          <a:xfrm rot="2700000">
            <a:off x="2953512" y="-36576"/>
            <a:ext cx="109728" cy="109728"/>
          </a:xfrm>
          <a:prstGeom prst="rect">
            <a:avLst/>
          </a:prstGeom>
          <a:solidFill>
            <a:srgbClr val="D4951A">
              <a:alpha val="58000"/>
            </a:srgbClr>
          </a:solidFill>
          <a:ln w="12700">
            <a:solidFill>
              <a:srgbClr val="0E0A04"/>
            </a:solidFill>
            <a:prstDash val="solid"/>
          </a:ln>
        </p:spPr>
      </p:sp>
      <p:sp>
        <p:nvSpPr>
          <p:cNvPr id="11" name="Shape 9"/>
          <p:cNvSpPr/>
          <p:nvPr/>
        </p:nvSpPr>
        <p:spPr>
          <a:xfrm rot="2700000">
            <a:off x="3374136" y="-36576"/>
            <a:ext cx="109728" cy="109728"/>
          </a:xfrm>
          <a:prstGeom prst="rect">
            <a:avLst/>
          </a:prstGeom>
          <a:solidFill>
            <a:srgbClr val="C0622B">
              <a:alpha val="58000"/>
            </a:srgbClr>
          </a:solidFill>
          <a:ln w="12700">
            <a:solidFill>
              <a:srgbClr val="0E0A04"/>
            </a:solidFill>
            <a:prstDash val="solid"/>
          </a:ln>
        </p:spPr>
      </p:sp>
      <p:sp>
        <p:nvSpPr>
          <p:cNvPr id="12" name="Shape 10"/>
          <p:cNvSpPr/>
          <p:nvPr/>
        </p:nvSpPr>
        <p:spPr>
          <a:xfrm rot="2700000">
            <a:off x="9144" y="237744"/>
            <a:ext cx="109728" cy="109728"/>
          </a:xfrm>
          <a:prstGeom prst="rect">
            <a:avLst/>
          </a:prstGeom>
          <a:solidFill>
            <a:srgbClr val="D8C9A8">
              <a:alpha val="49000"/>
            </a:srgbClr>
          </a:solidFill>
          <a:ln w="12700">
            <a:solidFill>
              <a:srgbClr val="0E0A04"/>
            </a:solidFill>
            <a:prstDash val="solid"/>
          </a:ln>
        </p:spPr>
      </p:sp>
      <p:sp>
        <p:nvSpPr>
          <p:cNvPr id="13" name="Shape 11"/>
          <p:cNvSpPr/>
          <p:nvPr/>
        </p:nvSpPr>
        <p:spPr>
          <a:xfrm rot="2700000">
            <a:off x="429768" y="237744"/>
            <a:ext cx="109728" cy="109728"/>
          </a:xfrm>
          <a:prstGeom prst="rect">
            <a:avLst/>
          </a:prstGeom>
          <a:solidFill>
            <a:srgbClr val="8B2252">
              <a:alpha val="49000"/>
            </a:srgbClr>
          </a:solidFill>
          <a:ln w="12700">
            <a:solidFill>
              <a:srgbClr val="0E0A04"/>
            </a:solidFill>
            <a:prstDash val="solid"/>
          </a:ln>
        </p:spPr>
      </p:sp>
      <p:sp>
        <p:nvSpPr>
          <p:cNvPr id="14" name="Shape 12"/>
          <p:cNvSpPr/>
          <p:nvPr/>
        </p:nvSpPr>
        <p:spPr>
          <a:xfrm rot="2700000">
            <a:off x="850392" y="237744"/>
            <a:ext cx="155448" cy="155448"/>
          </a:xfrm>
          <a:prstGeom prst="rect">
            <a:avLst/>
          </a:prstGeom>
          <a:solidFill>
            <a:srgbClr val="6B4C20">
              <a:alpha val="49000"/>
            </a:srgbClr>
          </a:solidFill>
          <a:ln w="12700">
            <a:solidFill>
              <a:srgbClr val="0E0A04"/>
            </a:solidFill>
            <a:prstDash val="solid"/>
          </a:ln>
        </p:spPr>
      </p:sp>
      <p:sp>
        <p:nvSpPr>
          <p:cNvPr id="15" name="Shape 13"/>
          <p:cNvSpPr/>
          <p:nvPr/>
        </p:nvSpPr>
        <p:spPr>
          <a:xfrm rot="2700000">
            <a:off x="1271016" y="237744"/>
            <a:ext cx="109728" cy="109728"/>
          </a:xfrm>
          <a:prstGeom prst="rect">
            <a:avLst/>
          </a:prstGeom>
          <a:solidFill>
            <a:srgbClr val="3D2208">
              <a:alpha val="49000"/>
            </a:srgbClr>
          </a:solidFill>
          <a:ln w="12700">
            <a:solidFill>
              <a:srgbClr val="0E0A04"/>
            </a:solidFill>
            <a:prstDash val="solid"/>
          </a:ln>
        </p:spPr>
      </p:sp>
      <p:sp>
        <p:nvSpPr>
          <p:cNvPr id="16" name="Shape 14"/>
          <p:cNvSpPr/>
          <p:nvPr/>
        </p:nvSpPr>
        <p:spPr>
          <a:xfrm rot="2700000">
            <a:off x="1691640" y="237744"/>
            <a:ext cx="219456" cy="219456"/>
          </a:xfrm>
          <a:prstGeom prst="rect">
            <a:avLst/>
          </a:prstGeom>
          <a:solidFill>
            <a:srgbClr val="D4951A">
              <a:alpha val="49000"/>
            </a:srgbClr>
          </a:solidFill>
          <a:ln w="12700">
            <a:solidFill>
              <a:srgbClr val="0E0A04"/>
            </a:solidFill>
            <a:prstDash val="solid"/>
          </a:ln>
        </p:spPr>
      </p:sp>
      <p:sp>
        <p:nvSpPr>
          <p:cNvPr id="17" name="Shape 15"/>
          <p:cNvSpPr/>
          <p:nvPr/>
        </p:nvSpPr>
        <p:spPr>
          <a:xfrm rot="2700000">
            <a:off x="2112264" y="237744"/>
            <a:ext cx="155448" cy="155448"/>
          </a:xfrm>
          <a:prstGeom prst="rect">
            <a:avLst/>
          </a:prstGeom>
          <a:solidFill>
            <a:srgbClr val="C0622B">
              <a:alpha val="49000"/>
            </a:srgbClr>
          </a:solidFill>
          <a:ln w="12700">
            <a:solidFill>
              <a:srgbClr val="0E0A04"/>
            </a:solidFill>
            <a:prstDash val="solid"/>
          </a:ln>
        </p:spPr>
      </p:sp>
      <p:sp>
        <p:nvSpPr>
          <p:cNvPr id="18" name="Shape 16"/>
          <p:cNvSpPr/>
          <p:nvPr/>
        </p:nvSpPr>
        <p:spPr>
          <a:xfrm rot="2700000">
            <a:off x="2532888" y="237744"/>
            <a:ext cx="109728" cy="109728"/>
          </a:xfrm>
          <a:prstGeom prst="rect">
            <a:avLst/>
          </a:prstGeom>
          <a:solidFill>
            <a:srgbClr val="1B9A8A">
              <a:alpha val="49000"/>
            </a:srgbClr>
          </a:solidFill>
          <a:ln w="12700">
            <a:solidFill>
              <a:srgbClr val="0E0A04"/>
            </a:solidFill>
            <a:prstDash val="solid"/>
          </a:ln>
        </p:spPr>
      </p:sp>
      <p:sp>
        <p:nvSpPr>
          <p:cNvPr id="19" name="Shape 17"/>
          <p:cNvSpPr/>
          <p:nvPr/>
        </p:nvSpPr>
        <p:spPr>
          <a:xfrm rot="2700000">
            <a:off x="2953512" y="237744"/>
            <a:ext cx="109728" cy="109728"/>
          </a:xfrm>
          <a:prstGeom prst="rect">
            <a:avLst/>
          </a:prstGeom>
          <a:solidFill>
            <a:srgbClr val="D8C9A8">
              <a:alpha val="49000"/>
            </a:srgbClr>
          </a:solidFill>
          <a:ln w="12700">
            <a:solidFill>
              <a:srgbClr val="0E0A04"/>
            </a:solidFill>
            <a:prstDash val="solid"/>
          </a:ln>
        </p:spPr>
      </p:sp>
      <p:sp>
        <p:nvSpPr>
          <p:cNvPr id="20" name="Shape 18"/>
          <p:cNvSpPr/>
          <p:nvPr/>
        </p:nvSpPr>
        <p:spPr>
          <a:xfrm rot="2700000">
            <a:off x="3374136" y="237744"/>
            <a:ext cx="155448" cy="155448"/>
          </a:xfrm>
          <a:prstGeom prst="rect">
            <a:avLst/>
          </a:prstGeom>
          <a:solidFill>
            <a:srgbClr val="8B2252">
              <a:alpha val="49000"/>
            </a:srgbClr>
          </a:solidFill>
          <a:ln w="12700">
            <a:solidFill>
              <a:srgbClr val="0E0A04"/>
            </a:solidFill>
            <a:prstDash val="solid"/>
          </a:ln>
        </p:spPr>
      </p:sp>
      <p:sp>
        <p:nvSpPr>
          <p:cNvPr id="21" name="Shape 19"/>
          <p:cNvSpPr/>
          <p:nvPr/>
        </p:nvSpPr>
        <p:spPr>
          <a:xfrm rot="2700000">
            <a:off x="9144" y="512064"/>
            <a:ext cx="109728" cy="109728"/>
          </a:xfrm>
          <a:prstGeom prst="rect">
            <a:avLst/>
          </a:prstGeom>
          <a:solidFill>
            <a:srgbClr val="3D2208">
              <a:alpha val="40000"/>
            </a:srgbClr>
          </a:solidFill>
          <a:ln w="12700">
            <a:solidFill>
              <a:srgbClr val="0E0A04"/>
            </a:solidFill>
            <a:prstDash val="solid"/>
          </a:ln>
        </p:spPr>
      </p:sp>
      <p:sp>
        <p:nvSpPr>
          <p:cNvPr id="22" name="Shape 20"/>
          <p:cNvSpPr/>
          <p:nvPr/>
        </p:nvSpPr>
        <p:spPr>
          <a:xfrm rot="2700000">
            <a:off x="429768" y="512064"/>
            <a:ext cx="155448" cy="155448"/>
          </a:xfrm>
          <a:prstGeom prst="rect">
            <a:avLst/>
          </a:prstGeom>
          <a:solidFill>
            <a:srgbClr val="D4951A">
              <a:alpha val="40000"/>
            </a:srgbClr>
          </a:solidFill>
          <a:ln w="12700">
            <a:solidFill>
              <a:srgbClr val="0E0A04"/>
            </a:solidFill>
            <a:prstDash val="solid"/>
          </a:ln>
        </p:spPr>
      </p:sp>
      <p:sp>
        <p:nvSpPr>
          <p:cNvPr id="23" name="Shape 21"/>
          <p:cNvSpPr/>
          <p:nvPr/>
        </p:nvSpPr>
        <p:spPr>
          <a:xfrm rot="2700000">
            <a:off x="850392" y="512064"/>
            <a:ext cx="109728" cy="109728"/>
          </a:xfrm>
          <a:prstGeom prst="rect">
            <a:avLst/>
          </a:prstGeom>
          <a:solidFill>
            <a:srgbClr val="C0622B">
              <a:alpha val="40000"/>
            </a:srgbClr>
          </a:solidFill>
          <a:ln w="12700">
            <a:solidFill>
              <a:srgbClr val="0E0A04"/>
            </a:solidFill>
            <a:prstDash val="solid"/>
          </a:ln>
        </p:spPr>
      </p:sp>
      <p:sp>
        <p:nvSpPr>
          <p:cNvPr id="24" name="Shape 22"/>
          <p:cNvSpPr/>
          <p:nvPr/>
        </p:nvSpPr>
        <p:spPr>
          <a:xfrm rot="2700000">
            <a:off x="1271016" y="512064"/>
            <a:ext cx="219456" cy="219456"/>
          </a:xfrm>
          <a:prstGeom prst="rect">
            <a:avLst/>
          </a:prstGeom>
          <a:solidFill>
            <a:srgbClr val="1B9A8A">
              <a:alpha val="40000"/>
            </a:srgbClr>
          </a:solidFill>
          <a:ln w="12700">
            <a:solidFill>
              <a:srgbClr val="0E0A04"/>
            </a:solidFill>
            <a:prstDash val="solid"/>
          </a:ln>
        </p:spPr>
      </p:sp>
      <p:sp>
        <p:nvSpPr>
          <p:cNvPr id="25" name="Shape 23"/>
          <p:cNvSpPr/>
          <p:nvPr/>
        </p:nvSpPr>
        <p:spPr>
          <a:xfrm rot="2700000">
            <a:off x="1691640" y="512064"/>
            <a:ext cx="155448" cy="155448"/>
          </a:xfrm>
          <a:prstGeom prst="rect">
            <a:avLst/>
          </a:prstGeom>
          <a:solidFill>
            <a:srgbClr val="D8C9A8">
              <a:alpha val="40000"/>
            </a:srgbClr>
          </a:solidFill>
          <a:ln w="12700">
            <a:solidFill>
              <a:srgbClr val="0E0A04"/>
            </a:solidFill>
            <a:prstDash val="solid"/>
          </a:ln>
        </p:spPr>
      </p:sp>
      <p:sp>
        <p:nvSpPr>
          <p:cNvPr id="26" name="Shape 24"/>
          <p:cNvSpPr/>
          <p:nvPr/>
        </p:nvSpPr>
        <p:spPr>
          <a:xfrm rot="2700000">
            <a:off x="2112264" y="512064"/>
            <a:ext cx="109728" cy="109728"/>
          </a:xfrm>
          <a:prstGeom prst="rect">
            <a:avLst/>
          </a:prstGeom>
          <a:solidFill>
            <a:srgbClr val="8B2252">
              <a:alpha val="40000"/>
            </a:srgbClr>
          </a:solidFill>
          <a:ln w="12700">
            <a:solidFill>
              <a:srgbClr val="0E0A04"/>
            </a:solidFill>
            <a:prstDash val="solid"/>
          </a:ln>
        </p:spPr>
      </p:sp>
      <p:sp>
        <p:nvSpPr>
          <p:cNvPr id="27" name="Shape 25"/>
          <p:cNvSpPr/>
          <p:nvPr/>
        </p:nvSpPr>
        <p:spPr>
          <a:xfrm rot="2700000">
            <a:off x="2532888" y="512064"/>
            <a:ext cx="109728" cy="109728"/>
          </a:xfrm>
          <a:prstGeom prst="rect">
            <a:avLst/>
          </a:prstGeom>
          <a:solidFill>
            <a:srgbClr val="6B4C20">
              <a:alpha val="40000"/>
            </a:srgbClr>
          </a:solidFill>
          <a:ln w="12700">
            <a:solidFill>
              <a:srgbClr val="0E0A04"/>
            </a:solidFill>
            <a:prstDash val="solid"/>
          </a:ln>
        </p:spPr>
      </p:sp>
      <p:sp>
        <p:nvSpPr>
          <p:cNvPr id="28" name="Shape 26"/>
          <p:cNvSpPr/>
          <p:nvPr/>
        </p:nvSpPr>
        <p:spPr>
          <a:xfrm rot="2700000">
            <a:off x="2953512" y="512064"/>
            <a:ext cx="155448" cy="155448"/>
          </a:xfrm>
          <a:prstGeom prst="rect">
            <a:avLst/>
          </a:prstGeom>
          <a:solidFill>
            <a:srgbClr val="3D2208">
              <a:alpha val="40000"/>
            </a:srgbClr>
          </a:solidFill>
          <a:ln w="12700">
            <a:solidFill>
              <a:srgbClr val="0E0A04"/>
            </a:solidFill>
            <a:prstDash val="solid"/>
          </a:ln>
        </p:spPr>
      </p:sp>
      <p:sp>
        <p:nvSpPr>
          <p:cNvPr id="29" name="Shape 27"/>
          <p:cNvSpPr/>
          <p:nvPr/>
        </p:nvSpPr>
        <p:spPr>
          <a:xfrm rot="2700000">
            <a:off x="3374136" y="512064"/>
            <a:ext cx="219456" cy="219456"/>
          </a:xfrm>
          <a:prstGeom prst="rect">
            <a:avLst/>
          </a:prstGeom>
          <a:solidFill>
            <a:srgbClr val="D4951A">
              <a:alpha val="40000"/>
            </a:srgbClr>
          </a:solidFill>
          <a:ln w="12700">
            <a:solidFill>
              <a:srgbClr val="0E0A04"/>
            </a:solidFill>
            <a:prstDash val="solid"/>
          </a:ln>
        </p:spPr>
      </p:sp>
      <p:sp>
        <p:nvSpPr>
          <p:cNvPr id="30" name="Shape 28"/>
          <p:cNvSpPr/>
          <p:nvPr/>
        </p:nvSpPr>
        <p:spPr>
          <a:xfrm rot="2700000">
            <a:off x="9144" y="786384"/>
            <a:ext cx="155448" cy="155448"/>
          </a:xfrm>
          <a:prstGeom prst="rect">
            <a:avLst/>
          </a:prstGeom>
          <a:solidFill>
            <a:srgbClr val="1B9A8A">
              <a:alpha val="31000"/>
            </a:srgbClr>
          </a:solidFill>
          <a:ln w="12700">
            <a:solidFill>
              <a:srgbClr val="0E0A04"/>
            </a:solidFill>
            <a:prstDash val="solid"/>
          </a:ln>
        </p:spPr>
      </p:sp>
      <p:sp>
        <p:nvSpPr>
          <p:cNvPr id="31" name="Shape 29"/>
          <p:cNvSpPr/>
          <p:nvPr/>
        </p:nvSpPr>
        <p:spPr>
          <a:xfrm rot="2700000">
            <a:off x="429768" y="786384"/>
            <a:ext cx="109728" cy="109728"/>
          </a:xfrm>
          <a:prstGeom prst="rect">
            <a:avLst/>
          </a:prstGeom>
          <a:solidFill>
            <a:srgbClr val="D8C9A8">
              <a:alpha val="31000"/>
            </a:srgbClr>
          </a:solidFill>
          <a:ln w="12700">
            <a:solidFill>
              <a:srgbClr val="0E0A04"/>
            </a:solidFill>
            <a:prstDash val="solid"/>
          </a:ln>
        </p:spPr>
      </p:sp>
      <p:sp>
        <p:nvSpPr>
          <p:cNvPr id="32" name="Shape 30"/>
          <p:cNvSpPr/>
          <p:nvPr/>
        </p:nvSpPr>
        <p:spPr>
          <a:xfrm rot="2700000">
            <a:off x="850392" y="786384"/>
            <a:ext cx="219456" cy="219456"/>
          </a:xfrm>
          <a:prstGeom prst="rect">
            <a:avLst/>
          </a:prstGeom>
          <a:solidFill>
            <a:srgbClr val="8B2252">
              <a:alpha val="31000"/>
            </a:srgbClr>
          </a:solidFill>
          <a:ln w="12700">
            <a:solidFill>
              <a:srgbClr val="0E0A04"/>
            </a:solidFill>
            <a:prstDash val="solid"/>
          </a:ln>
        </p:spPr>
      </p:sp>
      <p:sp>
        <p:nvSpPr>
          <p:cNvPr id="33" name="Shape 31"/>
          <p:cNvSpPr/>
          <p:nvPr/>
        </p:nvSpPr>
        <p:spPr>
          <a:xfrm rot="2700000">
            <a:off x="1271016" y="786384"/>
            <a:ext cx="155448" cy="155448"/>
          </a:xfrm>
          <a:prstGeom prst="rect">
            <a:avLst/>
          </a:prstGeom>
          <a:solidFill>
            <a:srgbClr val="6B4C20">
              <a:alpha val="31000"/>
            </a:srgbClr>
          </a:solidFill>
          <a:ln w="12700">
            <a:solidFill>
              <a:srgbClr val="0E0A04"/>
            </a:solidFill>
            <a:prstDash val="solid"/>
          </a:ln>
        </p:spPr>
      </p:sp>
      <p:sp>
        <p:nvSpPr>
          <p:cNvPr id="34" name="Shape 32"/>
          <p:cNvSpPr/>
          <p:nvPr/>
        </p:nvSpPr>
        <p:spPr>
          <a:xfrm rot="2700000">
            <a:off x="1691640" y="786384"/>
            <a:ext cx="109728" cy="109728"/>
          </a:xfrm>
          <a:prstGeom prst="rect">
            <a:avLst/>
          </a:prstGeom>
          <a:solidFill>
            <a:srgbClr val="3D2208">
              <a:alpha val="31000"/>
            </a:srgbClr>
          </a:solidFill>
          <a:ln w="12700">
            <a:solidFill>
              <a:srgbClr val="0E0A04"/>
            </a:solidFill>
            <a:prstDash val="solid"/>
          </a:ln>
        </p:spPr>
      </p:sp>
      <p:sp>
        <p:nvSpPr>
          <p:cNvPr id="35" name="Shape 33"/>
          <p:cNvSpPr/>
          <p:nvPr/>
        </p:nvSpPr>
        <p:spPr>
          <a:xfrm rot="2700000">
            <a:off x="2112264" y="786384"/>
            <a:ext cx="109728" cy="109728"/>
          </a:xfrm>
          <a:prstGeom prst="rect">
            <a:avLst/>
          </a:prstGeom>
          <a:solidFill>
            <a:srgbClr val="D4951A">
              <a:alpha val="31000"/>
            </a:srgbClr>
          </a:solidFill>
          <a:ln w="12700">
            <a:solidFill>
              <a:srgbClr val="0E0A04"/>
            </a:solidFill>
            <a:prstDash val="solid"/>
          </a:ln>
        </p:spPr>
      </p:sp>
      <p:sp>
        <p:nvSpPr>
          <p:cNvPr id="36" name="Shape 34"/>
          <p:cNvSpPr/>
          <p:nvPr/>
        </p:nvSpPr>
        <p:spPr>
          <a:xfrm rot="2700000">
            <a:off x="2532888" y="786384"/>
            <a:ext cx="155448" cy="155448"/>
          </a:xfrm>
          <a:prstGeom prst="rect">
            <a:avLst/>
          </a:prstGeom>
          <a:solidFill>
            <a:srgbClr val="C0622B">
              <a:alpha val="31000"/>
            </a:srgbClr>
          </a:solidFill>
          <a:ln w="12700">
            <a:solidFill>
              <a:srgbClr val="0E0A04"/>
            </a:solidFill>
            <a:prstDash val="solid"/>
          </a:ln>
        </p:spPr>
      </p:sp>
      <p:sp>
        <p:nvSpPr>
          <p:cNvPr id="37" name="Shape 35"/>
          <p:cNvSpPr/>
          <p:nvPr/>
        </p:nvSpPr>
        <p:spPr>
          <a:xfrm rot="2700000">
            <a:off x="2953512" y="786384"/>
            <a:ext cx="219456" cy="219456"/>
          </a:xfrm>
          <a:prstGeom prst="rect">
            <a:avLst/>
          </a:prstGeom>
          <a:solidFill>
            <a:srgbClr val="1B9A8A">
              <a:alpha val="31000"/>
            </a:srgbClr>
          </a:solidFill>
          <a:ln w="12700">
            <a:solidFill>
              <a:srgbClr val="0E0A04"/>
            </a:solidFill>
            <a:prstDash val="solid"/>
          </a:ln>
        </p:spPr>
      </p:sp>
      <p:sp>
        <p:nvSpPr>
          <p:cNvPr id="38" name="Shape 36"/>
          <p:cNvSpPr/>
          <p:nvPr/>
        </p:nvSpPr>
        <p:spPr>
          <a:xfrm rot="2700000">
            <a:off x="3374136" y="786384"/>
            <a:ext cx="109728" cy="109728"/>
          </a:xfrm>
          <a:prstGeom prst="rect">
            <a:avLst/>
          </a:prstGeom>
          <a:solidFill>
            <a:srgbClr val="D8C9A8">
              <a:alpha val="31000"/>
            </a:srgbClr>
          </a:solidFill>
          <a:ln w="12700">
            <a:solidFill>
              <a:srgbClr val="0E0A04"/>
            </a:solidFill>
            <a:prstDash val="solid"/>
          </a:ln>
        </p:spPr>
      </p:sp>
      <p:sp>
        <p:nvSpPr>
          <p:cNvPr id="39" name="Shape 37"/>
          <p:cNvSpPr/>
          <p:nvPr/>
        </p:nvSpPr>
        <p:spPr>
          <a:xfrm rot="2700000">
            <a:off x="9144" y="1060704"/>
            <a:ext cx="109728" cy="109728"/>
          </a:xfrm>
          <a:prstGeom prst="rect">
            <a:avLst/>
          </a:prstGeom>
          <a:solidFill>
            <a:srgbClr val="6B4C20">
              <a:alpha val="22000"/>
            </a:srgbClr>
          </a:solidFill>
          <a:ln w="12700">
            <a:solidFill>
              <a:srgbClr val="0E0A04"/>
            </a:solidFill>
            <a:prstDash val="solid"/>
          </a:ln>
        </p:spPr>
      </p:sp>
      <p:sp>
        <p:nvSpPr>
          <p:cNvPr id="40" name="Shape 38"/>
          <p:cNvSpPr/>
          <p:nvPr/>
        </p:nvSpPr>
        <p:spPr>
          <a:xfrm rot="2700000">
            <a:off x="429768" y="1060704"/>
            <a:ext cx="219456" cy="219456"/>
          </a:xfrm>
          <a:prstGeom prst="rect">
            <a:avLst/>
          </a:prstGeom>
          <a:solidFill>
            <a:srgbClr val="3D2208">
              <a:alpha val="22000"/>
            </a:srgbClr>
          </a:solidFill>
          <a:ln w="12700">
            <a:solidFill>
              <a:srgbClr val="0E0A04"/>
            </a:solidFill>
            <a:prstDash val="solid"/>
          </a:ln>
        </p:spPr>
      </p:sp>
      <p:sp>
        <p:nvSpPr>
          <p:cNvPr id="41" name="Shape 39"/>
          <p:cNvSpPr/>
          <p:nvPr/>
        </p:nvSpPr>
        <p:spPr>
          <a:xfrm rot="2700000">
            <a:off x="850392" y="1060704"/>
            <a:ext cx="155448" cy="155448"/>
          </a:xfrm>
          <a:prstGeom prst="rect">
            <a:avLst/>
          </a:prstGeom>
          <a:solidFill>
            <a:srgbClr val="D4951A">
              <a:alpha val="22000"/>
            </a:srgbClr>
          </a:solidFill>
          <a:ln w="12700">
            <a:solidFill>
              <a:srgbClr val="0E0A04"/>
            </a:solidFill>
            <a:prstDash val="solid"/>
          </a:ln>
        </p:spPr>
      </p:sp>
      <p:sp>
        <p:nvSpPr>
          <p:cNvPr id="42" name="Shape 40"/>
          <p:cNvSpPr/>
          <p:nvPr/>
        </p:nvSpPr>
        <p:spPr>
          <a:xfrm rot="2700000">
            <a:off x="1271016" y="1060704"/>
            <a:ext cx="109728" cy="109728"/>
          </a:xfrm>
          <a:prstGeom prst="rect">
            <a:avLst/>
          </a:prstGeom>
          <a:solidFill>
            <a:srgbClr val="C0622B">
              <a:alpha val="22000"/>
            </a:srgbClr>
          </a:solidFill>
          <a:ln w="12700">
            <a:solidFill>
              <a:srgbClr val="0E0A04"/>
            </a:solidFill>
            <a:prstDash val="solid"/>
          </a:ln>
        </p:spPr>
      </p:sp>
      <p:sp>
        <p:nvSpPr>
          <p:cNvPr id="43" name="Shape 41"/>
          <p:cNvSpPr/>
          <p:nvPr/>
        </p:nvSpPr>
        <p:spPr>
          <a:xfrm rot="2700000">
            <a:off x="1691640" y="1060704"/>
            <a:ext cx="109728" cy="109728"/>
          </a:xfrm>
          <a:prstGeom prst="rect">
            <a:avLst/>
          </a:prstGeom>
          <a:solidFill>
            <a:srgbClr val="1B9A8A">
              <a:alpha val="22000"/>
            </a:srgbClr>
          </a:solidFill>
          <a:ln w="12700">
            <a:solidFill>
              <a:srgbClr val="0E0A04"/>
            </a:solidFill>
            <a:prstDash val="solid"/>
          </a:ln>
        </p:spPr>
      </p:sp>
      <p:sp>
        <p:nvSpPr>
          <p:cNvPr id="44" name="Shape 42"/>
          <p:cNvSpPr/>
          <p:nvPr/>
        </p:nvSpPr>
        <p:spPr>
          <a:xfrm rot="2700000">
            <a:off x="2112264" y="1060704"/>
            <a:ext cx="155448" cy="155448"/>
          </a:xfrm>
          <a:prstGeom prst="rect">
            <a:avLst/>
          </a:prstGeom>
          <a:solidFill>
            <a:srgbClr val="D8C9A8">
              <a:alpha val="22000"/>
            </a:srgbClr>
          </a:solidFill>
          <a:ln w="12700">
            <a:solidFill>
              <a:srgbClr val="0E0A04"/>
            </a:solidFill>
            <a:prstDash val="solid"/>
          </a:ln>
        </p:spPr>
      </p:sp>
      <p:sp>
        <p:nvSpPr>
          <p:cNvPr id="45" name="Shape 43"/>
          <p:cNvSpPr/>
          <p:nvPr/>
        </p:nvSpPr>
        <p:spPr>
          <a:xfrm rot="2700000">
            <a:off x="2532888" y="1060704"/>
            <a:ext cx="219456" cy="219456"/>
          </a:xfrm>
          <a:prstGeom prst="rect">
            <a:avLst/>
          </a:prstGeom>
          <a:solidFill>
            <a:srgbClr val="8B2252">
              <a:alpha val="22000"/>
            </a:srgbClr>
          </a:solidFill>
          <a:ln w="12700">
            <a:solidFill>
              <a:srgbClr val="0E0A04"/>
            </a:solidFill>
            <a:prstDash val="solid"/>
          </a:ln>
        </p:spPr>
      </p:sp>
      <p:sp>
        <p:nvSpPr>
          <p:cNvPr id="46" name="Shape 44"/>
          <p:cNvSpPr/>
          <p:nvPr/>
        </p:nvSpPr>
        <p:spPr>
          <a:xfrm rot="2700000">
            <a:off x="2953512" y="1060704"/>
            <a:ext cx="109728" cy="109728"/>
          </a:xfrm>
          <a:prstGeom prst="rect">
            <a:avLst/>
          </a:prstGeom>
          <a:solidFill>
            <a:srgbClr val="6B4C20">
              <a:alpha val="22000"/>
            </a:srgbClr>
          </a:solidFill>
          <a:ln w="12700">
            <a:solidFill>
              <a:srgbClr val="0E0A04"/>
            </a:solidFill>
            <a:prstDash val="solid"/>
          </a:ln>
        </p:spPr>
      </p:sp>
      <p:sp>
        <p:nvSpPr>
          <p:cNvPr id="47" name="Shape 45"/>
          <p:cNvSpPr/>
          <p:nvPr/>
        </p:nvSpPr>
        <p:spPr>
          <a:xfrm rot="2700000">
            <a:off x="3374136" y="1060704"/>
            <a:ext cx="155448" cy="155448"/>
          </a:xfrm>
          <a:prstGeom prst="rect">
            <a:avLst/>
          </a:prstGeom>
          <a:solidFill>
            <a:srgbClr val="3D2208">
              <a:alpha val="22000"/>
            </a:srgbClr>
          </a:solidFill>
          <a:ln w="12700">
            <a:solidFill>
              <a:srgbClr val="0E0A04"/>
            </a:solidFill>
            <a:prstDash val="solid"/>
          </a:ln>
        </p:spPr>
      </p:sp>
      <p:sp>
        <p:nvSpPr>
          <p:cNvPr id="48" name="Shape 46"/>
          <p:cNvSpPr/>
          <p:nvPr/>
        </p:nvSpPr>
        <p:spPr>
          <a:xfrm rot="2700000">
            <a:off x="9144" y="1335024"/>
            <a:ext cx="219456" cy="219456"/>
          </a:xfrm>
          <a:prstGeom prst="rect">
            <a:avLst/>
          </a:prstGeom>
          <a:solidFill>
            <a:srgbClr val="C0622B">
              <a:alpha val="58000"/>
            </a:srgbClr>
          </a:solidFill>
          <a:ln w="12700">
            <a:solidFill>
              <a:srgbClr val="0E0A04"/>
            </a:solidFill>
            <a:prstDash val="solid"/>
          </a:ln>
        </p:spPr>
      </p:sp>
      <p:sp>
        <p:nvSpPr>
          <p:cNvPr id="49" name="Shape 47"/>
          <p:cNvSpPr/>
          <p:nvPr/>
        </p:nvSpPr>
        <p:spPr>
          <a:xfrm rot="2700000">
            <a:off x="429768" y="1335024"/>
            <a:ext cx="155448" cy="155448"/>
          </a:xfrm>
          <a:prstGeom prst="rect">
            <a:avLst/>
          </a:prstGeom>
          <a:solidFill>
            <a:srgbClr val="1B9A8A">
              <a:alpha val="58000"/>
            </a:srgbClr>
          </a:solidFill>
          <a:ln w="12700">
            <a:solidFill>
              <a:srgbClr val="0E0A04"/>
            </a:solidFill>
            <a:prstDash val="solid"/>
          </a:ln>
        </p:spPr>
      </p:sp>
      <p:sp>
        <p:nvSpPr>
          <p:cNvPr id="50" name="Shape 48"/>
          <p:cNvSpPr/>
          <p:nvPr/>
        </p:nvSpPr>
        <p:spPr>
          <a:xfrm rot="2700000">
            <a:off x="850392" y="1335024"/>
            <a:ext cx="109728" cy="109728"/>
          </a:xfrm>
          <a:prstGeom prst="rect">
            <a:avLst/>
          </a:prstGeom>
          <a:solidFill>
            <a:srgbClr val="D8C9A8">
              <a:alpha val="58000"/>
            </a:srgbClr>
          </a:solidFill>
          <a:ln w="12700">
            <a:solidFill>
              <a:srgbClr val="0E0A04"/>
            </a:solidFill>
            <a:prstDash val="solid"/>
          </a:ln>
        </p:spPr>
      </p:sp>
      <p:sp>
        <p:nvSpPr>
          <p:cNvPr id="51" name="Shape 49"/>
          <p:cNvSpPr/>
          <p:nvPr/>
        </p:nvSpPr>
        <p:spPr>
          <a:xfrm rot="2700000">
            <a:off x="1271016" y="1335024"/>
            <a:ext cx="109728" cy="109728"/>
          </a:xfrm>
          <a:prstGeom prst="rect">
            <a:avLst/>
          </a:prstGeom>
          <a:solidFill>
            <a:srgbClr val="8B2252">
              <a:alpha val="58000"/>
            </a:srgbClr>
          </a:solidFill>
          <a:ln w="12700">
            <a:solidFill>
              <a:srgbClr val="0E0A04"/>
            </a:solidFill>
            <a:prstDash val="solid"/>
          </a:ln>
        </p:spPr>
      </p:sp>
      <p:sp>
        <p:nvSpPr>
          <p:cNvPr id="52" name="Shape 50"/>
          <p:cNvSpPr/>
          <p:nvPr/>
        </p:nvSpPr>
        <p:spPr>
          <a:xfrm rot="2700000">
            <a:off x="1691640" y="1335024"/>
            <a:ext cx="155448" cy="155448"/>
          </a:xfrm>
          <a:prstGeom prst="rect">
            <a:avLst/>
          </a:prstGeom>
          <a:solidFill>
            <a:srgbClr val="6B4C20">
              <a:alpha val="58000"/>
            </a:srgbClr>
          </a:solidFill>
          <a:ln w="12700">
            <a:solidFill>
              <a:srgbClr val="0E0A04"/>
            </a:solidFill>
            <a:prstDash val="solid"/>
          </a:ln>
        </p:spPr>
      </p:sp>
      <p:sp>
        <p:nvSpPr>
          <p:cNvPr id="53" name="Shape 51"/>
          <p:cNvSpPr/>
          <p:nvPr/>
        </p:nvSpPr>
        <p:spPr>
          <a:xfrm rot="2700000">
            <a:off x="2112264" y="1335024"/>
            <a:ext cx="219456" cy="219456"/>
          </a:xfrm>
          <a:prstGeom prst="rect">
            <a:avLst/>
          </a:prstGeom>
          <a:solidFill>
            <a:srgbClr val="3D2208">
              <a:alpha val="58000"/>
            </a:srgbClr>
          </a:solidFill>
          <a:ln w="12700">
            <a:solidFill>
              <a:srgbClr val="0E0A04"/>
            </a:solidFill>
            <a:prstDash val="solid"/>
          </a:ln>
        </p:spPr>
      </p:sp>
      <p:sp>
        <p:nvSpPr>
          <p:cNvPr id="54" name="Shape 52"/>
          <p:cNvSpPr/>
          <p:nvPr/>
        </p:nvSpPr>
        <p:spPr>
          <a:xfrm rot="2700000">
            <a:off x="2532888" y="1335024"/>
            <a:ext cx="109728" cy="109728"/>
          </a:xfrm>
          <a:prstGeom prst="rect">
            <a:avLst/>
          </a:prstGeom>
          <a:solidFill>
            <a:srgbClr val="D4951A">
              <a:alpha val="58000"/>
            </a:srgbClr>
          </a:solidFill>
          <a:ln w="12700">
            <a:solidFill>
              <a:srgbClr val="0E0A04"/>
            </a:solidFill>
            <a:prstDash val="solid"/>
          </a:ln>
        </p:spPr>
      </p:sp>
      <p:sp>
        <p:nvSpPr>
          <p:cNvPr id="55" name="Shape 53"/>
          <p:cNvSpPr/>
          <p:nvPr/>
        </p:nvSpPr>
        <p:spPr>
          <a:xfrm rot="2700000">
            <a:off x="2953512" y="1335024"/>
            <a:ext cx="155448" cy="155448"/>
          </a:xfrm>
          <a:prstGeom prst="rect">
            <a:avLst/>
          </a:prstGeom>
          <a:solidFill>
            <a:srgbClr val="C0622B">
              <a:alpha val="58000"/>
            </a:srgbClr>
          </a:solidFill>
          <a:ln w="12700">
            <a:solidFill>
              <a:srgbClr val="0E0A04"/>
            </a:solidFill>
            <a:prstDash val="solid"/>
          </a:ln>
        </p:spPr>
      </p:sp>
      <p:sp>
        <p:nvSpPr>
          <p:cNvPr id="56" name="Shape 54"/>
          <p:cNvSpPr/>
          <p:nvPr/>
        </p:nvSpPr>
        <p:spPr>
          <a:xfrm rot="2700000">
            <a:off x="3374136" y="1335024"/>
            <a:ext cx="109728" cy="109728"/>
          </a:xfrm>
          <a:prstGeom prst="rect">
            <a:avLst/>
          </a:prstGeom>
          <a:solidFill>
            <a:srgbClr val="1B9A8A">
              <a:alpha val="58000"/>
            </a:srgbClr>
          </a:solidFill>
          <a:ln w="12700">
            <a:solidFill>
              <a:srgbClr val="0E0A04"/>
            </a:solidFill>
            <a:prstDash val="solid"/>
          </a:ln>
        </p:spPr>
      </p:sp>
      <p:sp>
        <p:nvSpPr>
          <p:cNvPr id="57" name="Shape 55"/>
          <p:cNvSpPr/>
          <p:nvPr/>
        </p:nvSpPr>
        <p:spPr>
          <a:xfrm rot="2700000">
            <a:off x="9144" y="1609344"/>
            <a:ext cx="155448" cy="155448"/>
          </a:xfrm>
          <a:prstGeom prst="rect">
            <a:avLst/>
          </a:prstGeom>
          <a:solidFill>
            <a:srgbClr val="8B2252">
              <a:alpha val="49000"/>
            </a:srgbClr>
          </a:solidFill>
          <a:ln w="12700">
            <a:solidFill>
              <a:srgbClr val="0E0A04"/>
            </a:solidFill>
            <a:prstDash val="solid"/>
          </a:ln>
        </p:spPr>
      </p:sp>
      <p:sp>
        <p:nvSpPr>
          <p:cNvPr id="58" name="Shape 56"/>
          <p:cNvSpPr/>
          <p:nvPr/>
        </p:nvSpPr>
        <p:spPr>
          <a:xfrm rot="2700000">
            <a:off x="429768" y="1609344"/>
            <a:ext cx="109728" cy="109728"/>
          </a:xfrm>
          <a:prstGeom prst="rect">
            <a:avLst/>
          </a:prstGeom>
          <a:solidFill>
            <a:srgbClr val="6B4C20">
              <a:alpha val="49000"/>
            </a:srgbClr>
          </a:solidFill>
          <a:ln w="12700">
            <a:solidFill>
              <a:srgbClr val="0E0A04"/>
            </a:solidFill>
            <a:prstDash val="solid"/>
          </a:ln>
        </p:spPr>
      </p:sp>
      <p:sp>
        <p:nvSpPr>
          <p:cNvPr id="59" name="Shape 57"/>
          <p:cNvSpPr/>
          <p:nvPr/>
        </p:nvSpPr>
        <p:spPr>
          <a:xfrm rot="2700000">
            <a:off x="850392" y="1609344"/>
            <a:ext cx="109728" cy="109728"/>
          </a:xfrm>
          <a:prstGeom prst="rect">
            <a:avLst/>
          </a:prstGeom>
          <a:solidFill>
            <a:srgbClr val="3D2208">
              <a:alpha val="49000"/>
            </a:srgbClr>
          </a:solidFill>
          <a:ln w="12700">
            <a:solidFill>
              <a:srgbClr val="0E0A04"/>
            </a:solidFill>
            <a:prstDash val="solid"/>
          </a:ln>
        </p:spPr>
      </p:sp>
      <p:sp>
        <p:nvSpPr>
          <p:cNvPr id="60" name="Shape 58"/>
          <p:cNvSpPr/>
          <p:nvPr/>
        </p:nvSpPr>
        <p:spPr>
          <a:xfrm rot="2700000">
            <a:off x="1271016" y="1609344"/>
            <a:ext cx="155448" cy="155448"/>
          </a:xfrm>
          <a:prstGeom prst="rect">
            <a:avLst/>
          </a:prstGeom>
          <a:solidFill>
            <a:srgbClr val="D4951A">
              <a:alpha val="49000"/>
            </a:srgbClr>
          </a:solidFill>
          <a:ln w="12700">
            <a:solidFill>
              <a:srgbClr val="0E0A04"/>
            </a:solidFill>
            <a:prstDash val="solid"/>
          </a:ln>
        </p:spPr>
      </p:sp>
      <p:sp>
        <p:nvSpPr>
          <p:cNvPr id="61" name="Shape 59"/>
          <p:cNvSpPr/>
          <p:nvPr/>
        </p:nvSpPr>
        <p:spPr>
          <a:xfrm rot="2700000">
            <a:off x="1691640" y="1609344"/>
            <a:ext cx="219456" cy="219456"/>
          </a:xfrm>
          <a:prstGeom prst="rect">
            <a:avLst/>
          </a:prstGeom>
          <a:solidFill>
            <a:srgbClr val="C0622B">
              <a:alpha val="49000"/>
            </a:srgbClr>
          </a:solidFill>
          <a:ln w="12700">
            <a:solidFill>
              <a:srgbClr val="0E0A04"/>
            </a:solidFill>
            <a:prstDash val="solid"/>
          </a:ln>
        </p:spPr>
      </p:sp>
      <p:sp>
        <p:nvSpPr>
          <p:cNvPr id="62" name="Shape 60"/>
          <p:cNvSpPr/>
          <p:nvPr/>
        </p:nvSpPr>
        <p:spPr>
          <a:xfrm rot="2700000">
            <a:off x="2112264" y="1609344"/>
            <a:ext cx="109728" cy="109728"/>
          </a:xfrm>
          <a:prstGeom prst="rect">
            <a:avLst/>
          </a:prstGeom>
          <a:solidFill>
            <a:srgbClr val="1B9A8A">
              <a:alpha val="49000"/>
            </a:srgbClr>
          </a:solidFill>
          <a:ln w="12700">
            <a:solidFill>
              <a:srgbClr val="0E0A04"/>
            </a:solidFill>
            <a:prstDash val="solid"/>
          </a:ln>
        </p:spPr>
      </p:sp>
      <p:sp>
        <p:nvSpPr>
          <p:cNvPr id="63" name="Shape 61"/>
          <p:cNvSpPr/>
          <p:nvPr/>
        </p:nvSpPr>
        <p:spPr>
          <a:xfrm rot="2700000">
            <a:off x="2532888" y="1609344"/>
            <a:ext cx="155448" cy="155448"/>
          </a:xfrm>
          <a:prstGeom prst="rect">
            <a:avLst/>
          </a:prstGeom>
          <a:solidFill>
            <a:srgbClr val="D8C9A8">
              <a:alpha val="49000"/>
            </a:srgbClr>
          </a:solidFill>
          <a:ln w="12700">
            <a:solidFill>
              <a:srgbClr val="0E0A04"/>
            </a:solidFill>
            <a:prstDash val="solid"/>
          </a:ln>
        </p:spPr>
      </p:sp>
      <p:sp>
        <p:nvSpPr>
          <p:cNvPr id="64" name="Shape 62"/>
          <p:cNvSpPr/>
          <p:nvPr/>
        </p:nvSpPr>
        <p:spPr>
          <a:xfrm rot="2700000">
            <a:off x="2953512" y="1609344"/>
            <a:ext cx="109728" cy="109728"/>
          </a:xfrm>
          <a:prstGeom prst="rect">
            <a:avLst/>
          </a:prstGeom>
          <a:solidFill>
            <a:srgbClr val="8B2252">
              <a:alpha val="49000"/>
            </a:srgbClr>
          </a:solidFill>
          <a:ln w="12700">
            <a:solidFill>
              <a:srgbClr val="0E0A04"/>
            </a:solidFill>
            <a:prstDash val="solid"/>
          </a:ln>
        </p:spPr>
      </p:sp>
      <p:sp>
        <p:nvSpPr>
          <p:cNvPr id="65" name="Shape 63"/>
          <p:cNvSpPr/>
          <p:nvPr/>
        </p:nvSpPr>
        <p:spPr>
          <a:xfrm rot="2700000">
            <a:off x="3374136" y="1609344"/>
            <a:ext cx="109728" cy="109728"/>
          </a:xfrm>
          <a:prstGeom prst="rect">
            <a:avLst/>
          </a:prstGeom>
          <a:solidFill>
            <a:srgbClr val="6B4C20">
              <a:alpha val="49000"/>
            </a:srgbClr>
          </a:solidFill>
          <a:ln w="12700">
            <a:solidFill>
              <a:srgbClr val="0E0A04"/>
            </a:solidFill>
            <a:prstDash val="solid"/>
          </a:ln>
        </p:spPr>
      </p:sp>
      <p:sp>
        <p:nvSpPr>
          <p:cNvPr id="66" name="Shape 64"/>
          <p:cNvSpPr/>
          <p:nvPr/>
        </p:nvSpPr>
        <p:spPr>
          <a:xfrm rot="2700000">
            <a:off x="9144" y="1883664"/>
            <a:ext cx="109728" cy="109728"/>
          </a:xfrm>
          <a:prstGeom prst="rect">
            <a:avLst/>
          </a:prstGeom>
          <a:solidFill>
            <a:srgbClr val="D4951A">
              <a:alpha val="40000"/>
            </a:srgbClr>
          </a:solidFill>
          <a:ln w="12700">
            <a:solidFill>
              <a:srgbClr val="0E0A04"/>
            </a:solidFill>
            <a:prstDash val="solid"/>
          </a:ln>
        </p:spPr>
      </p:sp>
      <p:sp>
        <p:nvSpPr>
          <p:cNvPr id="67" name="Shape 65"/>
          <p:cNvSpPr/>
          <p:nvPr/>
        </p:nvSpPr>
        <p:spPr>
          <a:xfrm rot="2700000">
            <a:off x="429768" y="1883664"/>
            <a:ext cx="109728" cy="109728"/>
          </a:xfrm>
          <a:prstGeom prst="rect">
            <a:avLst/>
          </a:prstGeom>
          <a:solidFill>
            <a:srgbClr val="C0622B">
              <a:alpha val="40000"/>
            </a:srgbClr>
          </a:solidFill>
          <a:ln w="12700">
            <a:solidFill>
              <a:srgbClr val="0E0A04"/>
            </a:solidFill>
            <a:prstDash val="solid"/>
          </a:ln>
        </p:spPr>
      </p:sp>
      <p:sp>
        <p:nvSpPr>
          <p:cNvPr id="68" name="Shape 66"/>
          <p:cNvSpPr/>
          <p:nvPr/>
        </p:nvSpPr>
        <p:spPr>
          <a:xfrm rot="2700000">
            <a:off x="850392" y="1883664"/>
            <a:ext cx="155448" cy="155448"/>
          </a:xfrm>
          <a:prstGeom prst="rect">
            <a:avLst/>
          </a:prstGeom>
          <a:solidFill>
            <a:srgbClr val="1B9A8A">
              <a:alpha val="40000"/>
            </a:srgbClr>
          </a:solidFill>
          <a:ln w="12700">
            <a:solidFill>
              <a:srgbClr val="0E0A04"/>
            </a:solidFill>
            <a:prstDash val="solid"/>
          </a:ln>
        </p:spPr>
      </p:sp>
      <p:sp>
        <p:nvSpPr>
          <p:cNvPr id="69" name="Shape 67"/>
          <p:cNvSpPr/>
          <p:nvPr/>
        </p:nvSpPr>
        <p:spPr>
          <a:xfrm rot="2700000">
            <a:off x="1271016" y="1883664"/>
            <a:ext cx="219456" cy="219456"/>
          </a:xfrm>
          <a:prstGeom prst="rect">
            <a:avLst/>
          </a:prstGeom>
          <a:solidFill>
            <a:srgbClr val="D8C9A8">
              <a:alpha val="40000"/>
            </a:srgbClr>
          </a:solidFill>
          <a:ln w="12700">
            <a:solidFill>
              <a:srgbClr val="0E0A04"/>
            </a:solidFill>
            <a:prstDash val="solid"/>
          </a:ln>
        </p:spPr>
      </p:sp>
      <p:sp>
        <p:nvSpPr>
          <p:cNvPr id="70" name="Shape 68"/>
          <p:cNvSpPr/>
          <p:nvPr/>
        </p:nvSpPr>
        <p:spPr>
          <a:xfrm rot="2700000">
            <a:off x="1691640" y="1883664"/>
            <a:ext cx="109728" cy="109728"/>
          </a:xfrm>
          <a:prstGeom prst="rect">
            <a:avLst/>
          </a:prstGeom>
          <a:solidFill>
            <a:srgbClr val="8B2252">
              <a:alpha val="40000"/>
            </a:srgbClr>
          </a:solidFill>
          <a:ln w="12700">
            <a:solidFill>
              <a:srgbClr val="0E0A04"/>
            </a:solidFill>
            <a:prstDash val="solid"/>
          </a:ln>
        </p:spPr>
      </p:sp>
      <p:sp>
        <p:nvSpPr>
          <p:cNvPr id="71" name="Shape 69"/>
          <p:cNvSpPr/>
          <p:nvPr/>
        </p:nvSpPr>
        <p:spPr>
          <a:xfrm rot="2700000">
            <a:off x="2112264" y="1883664"/>
            <a:ext cx="155448" cy="155448"/>
          </a:xfrm>
          <a:prstGeom prst="rect">
            <a:avLst/>
          </a:prstGeom>
          <a:solidFill>
            <a:srgbClr val="6B4C20">
              <a:alpha val="40000"/>
            </a:srgbClr>
          </a:solidFill>
          <a:ln w="12700">
            <a:solidFill>
              <a:srgbClr val="0E0A04"/>
            </a:solidFill>
            <a:prstDash val="solid"/>
          </a:ln>
        </p:spPr>
      </p:sp>
      <p:sp>
        <p:nvSpPr>
          <p:cNvPr id="72" name="Shape 70"/>
          <p:cNvSpPr/>
          <p:nvPr/>
        </p:nvSpPr>
        <p:spPr>
          <a:xfrm rot="2700000">
            <a:off x="2532888" y="1883664"/>
            <a:ext cx="109728" cy="109728"/>
          </a:xfrm>
          <a:prstGeom prst="rect">
            <a:avLst/>
          </a:prstGeom>
          <a:solidFill>
            <a:srgbClr val="3D2208">
              <a:alpha val="40000"/>
            </a:srgbClr>
          </a:solidFill>
          <a:ln w="12700">
            <a:solidFill>
              <a:srgbClr val="0E0A04"/>
            </a:solidFill>
            <a:prstDash val="solid"/>
          </a:ln>
        </p:spPr>
      </p:sp>
      <p:sp>
        <p:nvSpPr>
          <p:cNvPr id="73" name="Shape 71"/>
          <p:cNvSpPr/>
          <p:nvPr/>
        </p:nvSpPr>
        <p:spPr>
          <a:xfrm rot="2700000">
            <a:off x="2953512" y="1883664"/>
            <a:ext cx="109728" cy="109728"/>
          </a:xfrm>
          <a:prstGeom prst="rect">
            <a:avLst/>
          </a:prstGeom>
          <a:solidFill>
            <a:srgbClr val="D4951A">
              <a:alpha val="40000"/>
            </a:srgbClr>
          </a:solidFill>
          <a:ln w="12700">
            <a:solidFill>
              <a:srgbClr val="0E0A04"/>
            </a:solidFill>
            <a:prstDash val="solid"/>
          </a:ln>
        </p:spPr>
      </p:sp>
      <p:sp>
        <p:nvSpPr>
          <p:cNvPr id="74" name="Shape 72"/>
          <p:cNvSpPr/>
          <p:nvPr/>
        </p:nvSpPr>
        <p:spPr>
          <a:xfrm rot="2700000">
            <a:off x="3374136" y="1883664"/>
            <a:ext cx="219456" cy="219456"/>
          </a:xfrm>
          <a:prstGeom prst="rect">
            <a:avLst/>
          </a:prstGeom>
          <a:solidFill>
            <a:srgbClr val="C0622B">
              <a:alpha val="40000"/>
            </a:srgbClr>
          </a:solidFill>
          <a:ln w="12700">
            <a:solidFill>
              <a:srgbClr val="0E0A04"/>
            </a:solidFill>
            <a:prstDash val="solid"/>
          </a:ln>
        </p:spPr>
      </p:sp>
      <p:sp>
        <p:nvSpPr>
          <p:cNvPr id="75" name="Shape 73"/>
          <p:cNvSpPr/>
          <p:nvPr/>
        </p:nvSpPr>
        <p:spPr>
          <a:xfrm rot="2700000">
            <a:off x="9144" y="2157984"/>
            <a:ext cx="109728" cy="109728"/>
          </a:xfrm>
          <a:prstGeom prst="rect">
            <a:avLst/>
          </a:prstGeom>
          <a:solidFill>
            <a:srgbClr val="D8C9A8">
              <a:alpha val="31000"/>
            </a:srgbClr>
          </a:solidFill>
          <a:ln w="12700">
            <a:solidFill>
              <a:srgbClr val="0E0A04"/>
            </a:solidFill>
            <a:prstDash val="solid"/>
          </a:ln>
        </p:spPr>
      </p:sp>
      <p:sp>
        <p:nvSpPr>
          <p:cNvPr id="76" name="Shape 74"/>
          <p:cNvSpPr/>
          <p:nvPr/>
        </p:nvSpPr>
        <p:spPr>
          <a:xfrm rot="2700000">
            <a:off x="429768" y="2157984"/>
            <a:ext cx="155448" cy="155448"/>
          </a:xfrm>
          <a:prstGeom prst="rect">
            <a:avLst/>
          </a:prstGeom>
          <a:solidFill>
            <a:srgbClr val="8B2252">
              <a:alpha val="31000"/>
            </a:srgbClr>
          </a:solidFill>
          <a:ln w="12700">
            <a:solidFill>
              <a:srgbClr val="0E0A04"/>
            </a:solidFill>
            <a:prstDash val="solid"/>
          </a:ln>
        </p:spPr>
      </p:sp>
      <p:sp>
        <p:nvSpPr>
          <p:cNvPr id="77" name="Shape 75"/>
          <p:cNvSpPr/>
          <p:nvPr/>
        </p:nvSpPr>
        <p:spPr>
          <a:xfrm rot="2700000">
            <a:off x="850392" y="2157984"/>
            <a:ext cx="219456" cy="219456"/>
          </a:xfrm>
          <a:prstGeom prst="rect">
            <a:avLst/>
          </a:prstGeom>
          <a:solidFill>
            <a:srgbClr val="6B4C20">
              <a:alpha val="31000"/>
            </a:srgbClr>
          </a:solidFill>
          <a:ln w="12700">
            <a:solidFill>
              <a:srgbClr val="0E0A04"/>
            </a:solidFill>
            <a:prstDash val="solid"/>
          </a:ln>
        </p:spPr>
      </p:sp>
      <p:sp>
        <p:nvSpPr>
          <p:cNvPr id="78" name="Shape 76"/>
          <p:cNvSpPr/>
          <p:nvPr/>
        </p:nvSpPr>
        <p:spPr>
          <a:xfrm rot="2700000">
            <a:off x="1271016" y="2157984"/>
            <a:ext cx="109728" cy="109728"/>
          </a:xfrm>
          <a:prstGeom prst="rect">
            <a:avLst/>
          </a:prstGeom>
          <a:solidFill>
            <a:srgbClr val="3D2208">
              <a:alpha val="31000"/>
            </a:srgbClr>
          </a:solidFill>
          <a:ln w="12700">
            <a:solidFill>
              <a:srgbClr val="0E0A04"/>
            </a:solidFill>
            <a:prstDash val="solid"/>
          </a:ln>
        </p:spPr>
      </p:sp>
      <p:sp>
        <p:nvSpPr>
          <p:cNvPr id="79" name="Shape 77"/>
          <p:cNvSpPr/>
          <p:nvPr/>
        </p:nvSpPr>
        <p:spPr>
          <a:xfrm rot="2700000">
            <a:off x="1691640" y="2157984"/>
            <a:ext cx="155448" cy="155448"/>
          </a:xfrm>
          <a:prstGeom prst="rect">
            <a:avLst/>
          </a:prstGeom>
          <a:solidFill>
            <a:srgbClr val="D4951A">
              <a:alpha val="31000"/>
            </a:srgbClr>
          </a:solidFill>
          <a:ln w="12700">
            <a:solidFill>
              <a:srgbClr val="0E0A04"/>
            </a:solidFill>
            <a:prstDash val="solid"/>
          </a:ln>
        </p:spPr>
      </p:sp>
      <p:sp>
        <p:nvSpPr>
          <p:cNvPr id="80" name="Shape 78"/>
          <p:cNvSpPr/>
          <p:nvPr/>
        </p:nvSpPr>
        <p:spPr>
          <a:xfrm rot="2700000">
            <a:off x="2112264" y="2157984"/>
            <a:ext cx="109728" cy="109728"/>
          </a:xfrm>
          <a:prstGeom prst="rect">
            <a:avLst/>
          </a:prstGeom>
          <a:solidFill>
            <a:srgbClr val="C0622B">
              <a:alpha val="31000"/>
            </a:srgbClr>
          </a:solidFill>
          <a:ln w="12700">
            <a:solidFill>
              <a:srgbClr val="0E0A04"/>
            </a:solidFill>
            <a:prstDash val="solid"/>
          </a:ln>
        </p:spPr>
      </p:sp>
      <p:sp>
        <p:nvSpPr>
          <p:cNvPr id="81" name="Shape 79"/>
          <p:cNvSpPr/>
          <p:nvPr/>
        </p:nvSpPr>
        <p:spPr>
          <a:xfrm rot="2700000">
            <a:off x="2532888" y="2157984"/>
            <a:ext cx="109728" cy="109728"/>
          </a:xfrm>
          <a:prstGeom prst="rect">
            <a:avLst/>
          </a:prstGeom>
          <a:solidFill>
            <a:srgbClr val="1B9A8A">
              <a:alpha val="31000"/>
            </a:srgbClr>
          </a:solidFill>
          <a:ln w="12700">
            <a:solidFill>
              <a:srgbClr val="0E0A04"/>
            </a:solidFill>
            <a:prstDash val="solid"/>
          </a:ln>
        </p:spPr>
      </p:sp>
      <p:sp>
        <p:nvSpPr>
          <p:cNvPr id="82" name="Shape 80"/>
          <p:cNvSpPr/>
          <p:nvPr/>
        </p:nvSpPr>
        <p:spPr>
          <a:xfrm rot="2700000">
            <a:off x="2953512" y="2157984"/>
            <a:ext cx="219456" cy="219456"/>
          </a:xfrm>
          <a:prstGeom prst="rect">
            <a:avLst/>
          </a:prstGeom>
          <a:solidFill>
            <a:srgbClr val="D8C9A8">
              <a:alpha val="31000"/>
            </a:srgbClr>
          </a:solidFill>
          <a:ln w="12700">
            <a:solidFill>
              <a:srgbClr val="0E0A04"/>
            </a:solidFill>
            <a:prstDash val="solid"/>
          </a:ln>
        </p:spPr>
      </p:sp>
      <p:sp>
        <p:nvSpPr>
          <p:cNvPr id="83" name="Shape 81"/>
          <p:cNvSpPr/>
          <p:nvPr/>
        </p:nvSpPr>
        <p:spPr>
          <a:xfrm rot="2700000">
            <a:off x="3374136" y="2157984"/>
            <a:ext cx="109728" cy="109728"/>
          </a:xfrm>
          <a:prstGeom prst="rect">
            <a:avLst/>
          </a:prstGeom>
          <a:solidFill>
            <a:srgbClr val="8B2252">
              <a:alpha val="31000"/>
            </a:srgbClr>
          </a:solidFill>
          <a:ln w="12700">
            <a:solidFill>
              <a:srgbClr val="0E0A04"/>
            </a:solidFill>
            <a:prstDash val="solid"/>
          </a:ln>
        </p:spPr>
      </p:sp>
      <p:sp>
        <p:nvSpPr>
          <p:cNvPr id="84" name="Shape 82"/>
          <p:cNvSpPr/>
          <p:nvPr/>
        </p:nvSpPr>
        <p:spPr>
          <a:xfrm rot="2700000">
            <a:off x="9144" y="2432304"/>
            <a:ext cx="155448" cy="155448"/>
          </a:xfrm>
          <a:prstGeom prst="rect">
            <a:avLst/>
          </a:prstGeom>
          <a:solidFill>
            <a:srgbClr val="3D2208">
              <a:alpha val="22000"/>
            </a:srgbClr>
          </a:solidFill>
          <a:ln w="12700">
            <a:solidFill>
              <a:srgbClr val="0E0A04"/>
            </a:solidFill>
            <a:prstDash val="solid"/>
          </a:ln>
        </p:spPr>
      </p:sp>
      <p:sp>
        <p:nvSpPr>
          <p:cNvPr id="85" name="Shape 83"/>
          <p:cNvSpPr/>
          <p:nvPr/>
        </p:nvSpPr>
        <p:spPr>
          <a:xfrm rot="2700000">
            <a:off x="429768" y="2432304"/>
            <a:ext cx="219456" cy="219456"/>
          </a:xfrm>
          <a:prstGeom prst="rect">
            <a:avLst/>
          </a:prstGeom>
          <a:solidFill>
            <a:srgbClr val="D4951A">
              <a:alpha val="22000"/>
            </a:srgbClr>
          </a:solidFill>
          <a:ln w="12700">
            <a:solidFill>
              <a:srgbClr val="0E0A04"/>
            </a:solidFill>
            <a:prstDash val="solid"/>
          </a:ln>
        </p:spPr>
      </p:sp>
      <p:sp>
        <p:nvSpPr>
          <p:cNvPr id="86" name="Shape 84"/>
          <p:cNvSpPr/>
          <p:nvPr/>
        </p:nvSpPr>
        <p:spPr>
          <a:xfrm rot="2700000">
            <a:off x="850392" y="2432304"/>
            <a:ext cx="109728" cy="109728"/>
          </a:xfrm>
          <a:prstGeom prst="rect">
            <a:avLst/>
          </a:prstGeom>
          <a:solidFill>
            <a:srgbClr val="C0622B">
              <a:alpha val="22000"/>
            </a:srgbClr>
          </a:solidFill>
          <a:ln w="12700">
            <a:solidFill>
              <a:srgbClr val="0E0A04"/>
            </a:solidFill>
            <a:prstDash val="solid"/>
          </a:ln>
        </p:spPr>
      </p:sp>
      <p:sp>
        <p:nvSpPr>
          <p:cNvPr id="87" name="Shape 85"/>
          <p:cNvSpPr/>
          <p:nvPr/>
        </p:nvSpPr>
        <p:spPr>
          <a:xfrm rot="2700000">
            <a:off x="1271016" y="2432304"/>
            <a:ext cx="155448" cy="155448"/>
          </a:xfrm>
          <a:prstGeom prst="rect">
            <a:avLst/>
          </a:prstGeom>
          <a:solidFill>
            <a:srgbClr val="1B9A8A">
              <a:alpha val="22000"/>
            </a:srgbClr>
          </a:solidFill>
          <a:ln w="12700">
            <a:solidFill>
              <a:srgbClr val="0E0A04"/>
            </a:solidFill>
            <a:prstDash val="solid"/>
          </a:ln>
        </p:spPr>
      </p:sp>
      <p:sp>
        <p:nvSpPr>
          <p:cNvPr id="88" name="Shape 86"/>
          <p:cNvSpPr/>
          <p:nvPr/>
        </p:nvSpPr>
        <p:spPr>
          <a:xfrm rot="2700000">
            <a:off x="1691640" y="2432304"/>
            <a:ext cx="109728" cy="109728"/>
          </a:xfrm>
          <a:prstGeom prst="rect">
            <a:avLst/>
          </a:prstGeom>
          <a:solidFill>
            <a:srgbClr val="D8C9A8">
              <a:alpha val="22000"/>
            </a:srgbClr>
          </a:solidFill>
          <a:ln w="12700">
            <a:solidFill>
              <a:srgbClr val="0E0A04"/>
            </a:solidFill>
            <a:prstDash val="solid"/>
          </a:ln>
        </p:spPr>
      </p:sp>
      <p:sp>
        <p:nvSpPr>
          <p:cNvPr id="89" name="Shape 87"/>
          <p:cNvSpPr/>
          <p:nvPr/>
        </p:nvSpPr>
        <p:spPr>
          <a:xfrm rot="2700000">
            <a:off x="2112264" y="2432304"/>
            <a:ext cx="109728" cy="109728"/>
          </a:xfrm>
          <a:prstGeom prst="rect">
            <a:avLst/>
          </a:prstGeom>
          <a:solidFill>
            <a:srgbClr val="8B2252">
              <a:alpha val="22000"/>
            </a:srgbClr>
          </a:solidFill>
          <a:ln w="12700">
            <a:solidFill>
              <a:srgbClr val="0E0A04"/>
            </a:solidFill>
            <a:prstDash val="solid"/>
          </a:ln>
        </p:spPr>
      </p:sp>
      <p:sp>
        <p:nvSpPr>
          <p:cNvPr id="90" name="Shape 88"/>
          <p:cNvSpPr/>
          <p:nvPr/>
        </p:nvSpPr>
        <p:spPr>
          <a:xfrm rot="2700000">
            <a:off x="2532888" y="2432304"/>
            <a:ext cx="219456" cy="219456"/>
          </a:xfrm>
          <a:prstGeom prst="rect">
            <a:avLst/>
          </a:prstGeom>
          <a:solidFill>
            <a:srgbClr val="6B4C20">
              <a:alpha val="22000"/>
            </a:srgbClr>
          </a:solidFill>
          <a:ln w="12700">
            <a:solidFill>
              <a:srgbClr val="0E0A04"/>
            </a:solidFill>
            <a:prstDash val="solid"/>
          </a:ln>
        </p:spPr>
      </p:sp>
      <p:sp>
        <p:nvSpPr>
          <p:cNvPr id="91" name="Shape 89"/>
          <p:cNvSpPr/>
          <p:nvPr/>
        </p:nvSpPr>
        <p:spPr>
          <a:xfrm rot="2700000">
            <a:off x="2953512" y="2432304"/>
            <a:ext cx="109728" cy="109728"/>
          </a:xfrm>
          <a:prstGeom prst="rect">
            <a:avLst/>
          </a:prstGeom>
          <a:solidFill>
            <a:srgbClr val="3D2208">
              <a:alpha val="22000"/>
            </a:srgbClr>
          </a:solidFill>
          <a:ln w="12700">
            <a:solidFill>
              <a:srgbClr val="0E0A04"/>
            </a:solidFill>
            <a:prstDash val="solid"/>
          </a:ln>
        </p:spPr>
      </p:sp>
      <p:sp>
        <p:nvSpPr>
          <p:cNvPr id="92" name="Shape 90"/>
          <p:cNvSpPr/>
          <p:nvPr/>
        </p:nvSpPr>
        <p:spPr>
          <a:xfrm rot="2700000">
            <a:off x="3374136" y="2432304"/>
            <a:ext cx="109728" cy="109728"/>
          </a:xfrm>
          <a:prstGeom prst="rect">
            <a:avLst/>
          </a:prstGeom>
          <a:solidFill>
            <a:srgbClr val="D4951A">
              <a:alpha val="22000"/>
            </a:srgbClr>
          </a:solidFill>
          <a:ln w="12700">
            <a:solidFill>
              <a:srgbClr val="0E0A04"/>
            </a:solidFill>
            <a:prstDash val="solid"/>
          </a:ln>
        </p:spPr>
      </p:sp>
      <p:sp>
        <p:nvSpPr>
          <p:cNvPr id="93" name="Shape 91"/>
          <p:cNvSpPr/>
          <p:nvPr/>
        </p:nvSpPr>
        <p:spPr>
          <a:xfrm rot="2700000">
            <a:off x="9144" y="2706624"/>
            <a:ext cx="219456" cy="219456"/>
          </a:xfrm>
          <a:prstGeom prst="rect">
            <a:avLst/>
          </a:prstGeom>
          <a:solidFill>
            <a:srgbClr val="1B9A8A">
              <a:alpha val="58000"/>
            </a:srgbClr>
          </a:solidFill>
          <a:ln w="12700">
            <a:solidFill>
              <a:srgbClr val="0E0A04"/>
            </a:solidFill>
            <a:prstDash val="solid"/>
          </a:ln>
        </p:spPr>
      </p:sp>
      <p:sp>
        <p:nvSpPr>
          <p:cNvPr id="94" name="Shape 92"/>
          <p:cNvSpPr/>
          <p:nvPr/>
        </p:nvSpPr>
        <p:spPr>
          <a:xfrm rot="2700000">
            <a:off x="429768" y="2706624"/>
            <a:ext cx="109728" cy="109728"/>
          </a:xfrm>
          <a:prstGeom prst="rect">
            <a:avLst/>
          </a:prstGeom>
          <a:solidFill>
            <a:srgbClr val="D8C9A8">
              <a:alpha val="58000"/>
            </a:srgbClr>
          </a:solidFill>
          <a:ln w="12700">
            <a:solidFill>
              <a:srgbClr val="0E0A04"/>
            </a:solidFill>
            <a:prstDash val="solid"/>
          </a:ln>
        </p:spPr>
      </p:sp>
      <p:sp>
        <p:nvSpPr>
          <p:cNvPr id="95" name="Shape 93"/>
          <p:cNvSpPr/>
          <p:nvPr/>
        </p:nvSpPr>
        <p:spPr>
          <a:xfrm rot="2700000">
            <a:off x="850392" y="2706624"/>
            <a:ext cx="155448" cy="155448"/>
          </a:xfrm>
          <a:prstGeom prst="rect">
            <a:avLst/>
          </a:prstGeom>
          <a:solidFill>
            <a:srgbClr val="8B2252">
              <a:alpha val="58000"/>
            </a:srgbClr>
          </a:solidFill>
          <a:ln w="12700">
            <a:solidFill>
              <a:srgbClr val="0E0A04"/>
            </a:solidFill>
            <a:prstDash val="solid"/>
          </a:ln>
        </p:spPr>
      </p:sp>
      <p:sp>
        <p:nvSpPr>
          <p:cNvPr id="96" name="Shape 94"/>
          <p:cNvSpPr/>
          <p:nvPr/>
        </p:nvSpPr>
        <p:spPr>
          <a:xfrm rot="2700000">
            <a:off x="1271016" y="2706624"/>
            <a:ext cx="109728" cy="109728"/>
          </a:xfrm>
          <a:prstGeom prst="rect">
            <a:avLst/>
          </a:prstGeom>
          <a:solidFill>
            <a:srgbClr val="6B4C20">
              <a:alpha val="58000"/>
            </a:srgbClr>
          </a:solidFill>
          <a:ln w="12700">
            <a:solidFill>
              <a:srgbClr val="0E0A04"/>
            </a:solidFill>
            <a:prstDash val="solid"/>
          </a:ln>
        </p:spPr>
      </p:sp>
      <p:sp>
        <p:nvSpPr>
          <p:cNvPr id="97" name="Shape 95"/>
          <p:cNvSpPr/>
          <p:nvPr/>
        </p:nvSpPr>
        <p:spPr>
          <a:xfrm rot="2700000">
            <a:off x="1691640" y="2706624"/>
            <a:ext cx="109728" cy="109728"/>
          </a:xfrm>
          <a:prstGeom prst="rect">
            <a:avLst/>
          </a:prstGeom>
          <a:solidFill>
            <a:srgbClr val="3D2208">
              <a:alpha val="58000"/>
            </a:srgbClr>
          </a:solidFill>
          <a:ln w="12700">
            <a:solidFill>
              <a:srgbClr val="0E0A04"/>
            </a:solidFill>
            <a:prstDash val="solid"/>
          </a:ln>
        </p:spPr>
      </p:sp>
      <p:sp>
        <p:nvSpPr>
          <p:cNvPr id="98" name="Shape 96"/>
          <p:cNvSpPr/>
          <p:nvPr/>
        </p:nvSpPr>
        <p:spPr>
          <a:xfrm rot="2700000">
            <a:off x="2112264" y="2706624"/>
            <a:ext cx="219456" cy="219456"/>
          </a:xfrm>
          <a:prstGeom prst="rect">
            <a:avLst/>
          </a:prstGeom>
          <a:solidFill>
            <a:srgbClr val="D4951A">
              <a:alpha val="58000"/>
            </a:srgbClr>
          </a:solidFill>
          <a:ln w="12700">
            <a:solidFill>
              <a:srgbClr val="0E0A04"/>
            </a:solidFill>
            <a:prstDash val="solid"/>
          </a:ln>
        </p:spPr>
      </p:sp>
      <p:sp>
        <p:nvSpPr>
          <p:cNvPr id="99" name="Shape 97"/>
          <p:cNvSpPr/>
          <p:nvPr/>
        </p:nvSpPr>
        <p:spPr>
          <a:xfrm rot="2700000">
            <a:off x="2532888" y="2706624"/>
            <a:ext cx="109728" cy="109728"/>
          </a:xfrm>
          <a:prstGeom prst="rect">
            <a:avLst/>
          </a:prstGeom>
          <a:solidFill>
            <a:srgbClr val="C0622B">
              <a:alpha val="58000"/>
            </a:srgbClr>
          </a:solidFill>
          <a:ln w="12700">
            <a:solidFill>
              <a:srgbClr val="0E0A04"/>
            </a:solidFill>
            <a:prstDash val="solid"/>
          </a:ln>
        </p:spPr>
      </p:sp>
      <p:sp>
        <p:nvSpPr>
          <p:cNvPr id="100" name="Shape 98"/>
          <p:cNvSpPr/>
          <p:nvPr/>
        </p:nvSpPr>
        <p:spPr>
          <a:xfrm rot="2700000">
            <a:off x="2953512" y="2706624"/>
            <a:ext cx="109728" cy="109728"/>
          </a:xfrm>
          <a:prstGeom prst="rect">
            <a:avLst/>
          </a:prstGeom>
          <a:solidFill>
            <a:srgbClr val="1B9A8A">
              <a:alpha val="58000"/>
            </a:srgbClr>
          </a:solidFill>
          <a:ln w="12700">
            <a:solidFill>
              <a:srgbClr val="0E0A04"/>
            </a:solidFill>
            <a:prstDash val="solid"/>
          </a:ln>
        </p:spPr>
      </p:sp>
      <p:sp>
        <p:nvSpPr>
          <p:cNvPr id="101" name="Shape 99"/>
          <p:cNvSpPr/>
          <p:nvPr/>
        </p:nvSpPr>
        <p:spPr>
          <a:xfrm rot="2700000">
            <a:off x="3374136" y="2706624"/>
            <a:ext cx="155448" cy="155448"/>
          </a:xfrm>
          <a:prstGeom prst="rect">
            <a:avLst/>
          </a:prstGeom>
          <a:solidFill>
            <a:srgbClr val="D8C9A8">
              <a:alpha val="58000"/>
            </a:srgbClr>
          </a:solidFill>
          <a:ln w="12700">
            <a:solidFill>
              <a:srgbClr val="0E0A04"/>
            </a:solidFill>
            <a:prstDash val="solid"/>
          </a:ln>
        </p:spPr>
      </p:sp>
      <p:sp>
        <p:nvSpPr>
          <p:cNvPr id="102" name="Shape 100"/>
          <p:cNvSpPr/>
          <p:nvPr/>
        </p:nvSpPr>
        <p:spPr>
          <a:xfrm rot="2700000">
            <a:off x="9144" y="2980944"/>
            <a:ext cx="109728" cy="109728"/>
          </a:xfrm>
          <a:prstGeom prst="rect">
            <a:avLst/>
          </a:prstGeom>
          <a:solidFill>
            <a:srgbClr val="6B4C20">
              <a:alpha val="49000"/>
            </a:srgbClr>
          </a:solidFill>
          <a:ln w="12700">
            <a:solidFill>
              <a:srgbClr val="0E0A04"/>
            </a:solidFill>
            <a:prstDash val="solid"/>
          </a:ln>
        </p:spPr>
      </p:sp>
      <p:sp>
        <p:nvSpPr>
          <p:cNvPr id="103" name="Shape 101"/>
          <p:cNvSpPr/>
          <p:nvPr/>
        </p:nvSpPr>
        <p:spPr>
          <a:xfrm rot="2700000">
            <a:off x="429768" y="2980944"/>
            <a:ext cx="155448" cy="155448"/>
          </a:xfrm>
          <a:prstGeom prst="rect">
            <a:avLst/>
          </a:prstGeom>
          <a:solidFill>
            <a:srgbClr val="3D2208">
              <a:alpha val="49000"/>
            </a:srgbClr>
          </a:solidFill>
          <a:ln w="12700">
            <a:solidFill>
              <a:srgbClr val="0E0A04"/>
            </a:solidFill>
            <a:prstDash val="solid"/>
          </a:ln>
        </p:spPr>
      </p:sp>
      <p:sp>
        <p:nvSpPr>
          <p:cNvPr id="104" name="Shape 102"/>
          <p:cNvSpPr/>
          <p:nvPr/>
        </p:nvSpPr>
        <p:spPr>
          <a:xfrm rot="2700000">
            <a:off x="850392" y="2980944"/>
            <a:ext cx="109728" cy="109728"/>
          </a:xfrm>
          <a:prstGeom prst="rect">
            <a:avLst/>
          </a:prstGeom>
          <a:solidFill>
            <a:srgbClr val="D4951A">
              <a:alpha val="49000"/>
            </a:srgbClr>
          </a:solidFill>
          <a:ln w="12700">
            <a:solidFill>
              <a:srgbClr val="0E0A04"/>
            </a:solidFill>
            <a:prstDash val="solid"/>
          </a:ln>
        </p:spPr>
      </p:sp>
      <p:sp>
        <p:nvSpPr>
          <p:cNvPr id="105" name="Shape 103"/>
          <p:cNvSpPr/>
          <p:nvPr/>
        </p:nvSpPr>
        <p:spPr>
          <a:xfrm rot="2700000">
            <a:off x="1271016" y="2980944"/>
            <a:ext cx="109728" cy="109728"/>
          </a:xfrm>
          <a:prstGeom prst="rect">
            <a:avLst/>
          </a:prstGeom>
          <a:solidFill>
            <a:srgbClr val="C0622B">
              <a:alpha val="49000"/>
            </a:srgbClr>
          </a:solidFill>
          <a:ln w="12700">
            <a:solidFill>
              <a:srgbClr val="0E0A04"/>
            </a:solidFill>
            <a:prstDash val="solid"/>
          </a:ln>
        </p:spPr>
      </p:sp>
      <p:sp>
        <p:nvSpPr>
          <p:cNvPr id="106" name="Shape 104"/>
          <p:cNvSpPr/>
          <p:nvPr/>
        </p:nvSpPr>
        <p:spPr>
          <a:xfrm rot="2700000">
            <a:off x="1691640" y="2980944"/>
            <a:ext cx="219456" cy="219456"/>
          </a:xfrm>
          <a:prstGeom prst="rect">
            <a:avLst/>
          </a:prstGeom>
          <a:solidFill>
            <a:srgbClr val="1B9A8A">
              <a:alpha val="49000"/>
            </a:srgbClr>
          </a:solidFill>
          <a:ln w="12700">
            <a:solidFill>
              <a:srgbClr val="0E0A04"/>
            </a:solidFill>
            <a:prstDash val="solid"/>
          </a:ln>
        </p:spPr>
      </p:sp>
      <p:sp>
        <p:nvSpPr>
          <p:cNvPr id="107" name="Shape 105"/>
          <p:cNvSpPr/>
          <p:nvPr/>
        </p:nvSpPr>
        <p:spPr>
          <a:xfrm rot="2700000">
            <a:off x="2112264" y="2980944"/>
            <a:ext cx="109728" cy="109728"/>
          </a:xfrm>
          <a:prstGeom prst="rect">
            <a:avLst/>
          </a:prstGeom>
          <a:solidFill>
            <a:srgbClr val="D8C9A8">
              <a:alpha val="49000"/>
            </a:srgbClr>
          </a:solidFill>
          <a:ln w="12700">
            <a:solidFill>
              <a:srgbClr val="0E0A04"/>
            </a:solidFill>
            <a:prstDash val="solid"/>
          </a:ln>
        </p:spPr>
      </p:sp>
      <p:sp>
        <p:nvSpPr>
          <p:cNvPr id="108" name="Shape 106"/>
          <p:cNvSpPr/>
          <p:nvPr/>
        </p:nvSpPr>
        <p:spPr>
          <a:xfrm rot="2700000">
            <a:off x="2532888" y="2980944"/>
            <a:ext cx="109728" cy="109728"/>
          </a:xfrm>
          <a:prstGeom prst="rect">
            <a:avLst/>
          </a:prstGeom>
          <a:solidFill>
            <a:srgbClr val="8B2252">
              <a:alpha val="49000"/>
            </a:srgbClr>
          </a:solidFill>
          <a:ln w="12700">
            <a:solidFill>
              <a:srgbClr val="0E0A04"/>
            </a:solidFill>
            <a:prstDash val="solid"/>
          </a:ln>
        </p:spPr>
      </p:sp>
      <p:sp>
        <p:nvSpPr>
          <p:cNvPr id="109" name="Shape 107"/>
          <p:cNvSpPr/>
          <p:nvPr/>
        </p:nvSpPr>
        <p:spPr>
          <a:xfrm rot="2700000">
            <a:off x="2953512" y="2980944"/>
            <a:ext cx="155448" cy="155448"/>
          </a:xfrm>
          <a:prstGeom prst="rect">
            <a:avLst/>
          </a:prstGeom>
          <a:solidFill>
            <a:srgbClr val="6B4C20">
              <a:alpha val="49000"/>
            </a:srgbClr>
          </a:solidFill>
          <a:ln w="12700">
            <a:solidFill>
              <a:srgbClr val="0E0A04"/>
            </a:solidFill>
            <a:prstDash val="solid"/>
          </a:ln>
        </p:spPr>
      </p:sp>
      <p:sp>
        <p:nvSpPr>
          <p:cNvPr id="110" name="Shape 108"/>
          <p:cNvSpPr/>
          <p:nvPr/>
        </p:nvSpPr>
        <p:spPr>
          <a:xfrm rot="2700000">
            <a:off x="3374136" y="2980944"/>
            <a:ext cx="109728" cy="109728"/>
          </a:xfrm>
          <a:prstGeom prst="rect">
            <a:avLst/>
          </a:prstGeom>
          <a:solidFill>
            <a:srgbClr val="3D2208">
              <a:alpha val="49000"/>
            </a:srgbClr>
          </a:solidFill>
          <a:ln w="12700">
            <a:solidFill>
              <a:srgbClr val="0E0A04"/>
            </a:solidFill>
            <a:prstDash val="solid"/>
          </a:ln>
        </p:spPr>
      </p:sp>
      <p:sp>
        <p:nvSpPr>
          <p:cNvPr id="111" name="Shape 109"/>
          <p:cNvSpPr/>
          <p:nvPr/>
        </p:nvSpPr>
        <p:spPr>
          <a:xfrm rot="2700000">
            <a:off x="9144" y="3255264"/>
            <a:ext cx="155448" cy="155448"/>
          </a:xfrm>
          <a:prstGeom prst="rect">
            <a:avLst/>
          </a:prstGeom>
          <a:solidFill>
            <a:srgbClr val="C0622B">
              <a:alpha val="40000"/>
            </a:srgbClr>
          </a:solidFill>
          <a:ln w="12700">
            <a:solidFill>
              <a:srgbClr val="0E0A04"/>
            </a:solidFill>
            <a:prstDash val="solid"/>
          </a:ln>
        </p:spPr>
      </p:sp>
      <p:sp>
        <p:nvSpPr>
          <p:cNvPr id="112" name="Shape 110"/>
          <p:cNvSpPr/>
          <p:nvPr/>
        </p:nvSpPr>
        <p:spPr>
          <a:xfrm rot="2700000">
            <a:off x="429768" y="3255264"/>
            <a:ext cx="109728" cy="109728"/>
          </a:xfrm>
          <a:prstGeom prst="rect">
            <a:avLst/>
          </a:prstGeom>
          <a:solidFill>
            <a:srgbClr val="1B9A8A">
              <a:alpha val="40000"/>
            </a:srgbClr>
          </a:solidFill>
          <a:ln w="12700">
            <a:solidFill>
              <a:srgbClr val="0E0A04"/>
            </a:solidFill>
            <a:prstDash val="solid"/>
          </a:ln>
        </p:spPr>
      </p:sp>
      <p:sp>
        <p:nvSpPr>
          <p:cNvPr id="113" name="Shape 111"/>
          <p:cNvSpPr/>
          <p:nvPr/>
        </p:nvSpPr>
        <p:spPr>
          <a:xfrm rot="2700000">
            <a:off x="850392" y="3255264"/>
            <a:ext cx="109728" cy="109728"/>
          </a:xfrm>
          <a:prstGeom prst="rect">
            <a:avLst/>
          </a:prstGeom>
          <a:solidFill>
            <a:srgbClr val="D8C9A8">
              <a:alpha val="40000"/>
            </a:srgbClr>
          </a:solidFill>
          <a:ln w="12700">
            <a:solidFill>
              <a:srgbClr val="0E0A04"/>
            </a:solidFill>
            <a:prstDash val="solid"/>
          </a:ln>
        </p:spPr>
      </p:sp>
      <p:sp>
        <p:nvSpPr>
          <p:cNvPr id="114" name="Shape 112"/>
          <p:cNvSpPr/>
          <p:nvPr/>
        </p:nvSpPr>
        <p:spPr>
          <a:xfrm rot="2700000">
            <a:off x="1271016" y="3255264"/>
            <a:ext cx="219456" cy="219456"/>
          </a:xfrm>
          <a:prstGeom prst="rect">
            <a:avLst/>
          </a:prstGeom>
          <a:solidFill>
            <a:srgbClr val="8B2252">
              <a:alpha val="40000"/>
            </a:srgbClr>
          </a:solidFill>
          <a:ln w="12700">
            <a:solidFill>
              <a:srgbClr val="0E0A04"/>
            </a:solidFill>
            <a:prstDash val="solid"/>
          </a:ln>
        </p:spPr>
      </p:sp>
      <p:sp>
        <p:nvSpPr>
          <p:cNvPr id="115" name="Shape 113"/>
          <p:cNvSpPr/>
          <p:nvPr/>
        </p:nvSpPr>
        <p:spPr>
          <a:xfrm rot="2700000">
            <a:off x="1691640" y="3255264"/>
            <a:ext cx="109728" cy="109728"/>
          </a:xfrm>
          <a:prstGeom prst="rect">
            <a:avLst/>
          </a:prstGeom>
          <a:solidFill>
            <a:srgbClr val="6B4C20">
              <a:alpha val="40000"/>
            </a:srgbClr>
          </a:solidFill>
          <a:ln w="12700">
            <a:solidFill>
              <a:srgbClr val="0E0A04"/>
            </a:solidFill>
            <a:prstDash val="solid"/>
          </a:ln>
        </p:spPr>
      </p:sp>
      <p:sp>
        <p:nvSpPr>
          <p:cNvPr id="116" name="Shape 114"/>
          <p:cNvSpPr/>
          <p:nvPr/>
        </p:nvSpPr>
        <p:spPr>
          <a:xfrm rot="2700000">
            <a:off x="2112264" y="3255264"/>
            <a:ext cx="109728" cy="109728"/>
          </a:xfrm>
          <a:prstGeom prst="rect">
            <a:avLst/>
          </a:prstGeom>
          <a:solidFill>
            <a:srgbClr val="3D2208">
              <a:alpha val="40000"/>
            </a:srgbClr>
          </a:solidFill>
          <a:ln w="12700">
            <a:solidFill>
              <a:srgbClr val="0E0A04"/>
            </a:solidFill>
            <a:prstDash val="solid"/>
          </a:ln>
        </p:spPr>
      </p:sp>
      <p:sp>
        <p:nvSpPr>
          <p:cNvPr id="117" name="Shape 115"/>
          <p:cNvSpPr/>
          <p:nvPr/>
        </p:nvSpPr>
        <p:spPr>
          <a:xfrm rot="2700000">
            <a:off x="2532888" y="3255264"/>
            <a:ext cx="155448" cy="155448"/>
          </a:xfrm>
          <a:prstGeom prst="rect">
            <a:avLst/>
          </a:prstGeom>
          <a:solidFill>
            <a:srgbClr val="D4951A">
              <a:alpha val="40000"/>
            </a:srgbClr>
          </a:solidFill>
          <a:ln w="12700">
            <a:solidFill>
              <a:srgbClr val="0E0A04"/>
            </a:solidFill>
            <a:prstDash val="solid"/>
          </a:ln>
        </p:spPr>
      </p:sp>
      <p:sp>
        <p:nvSpPr>
          <p:cNvPr id="118" name="Shape 116"/>
          <p:cNvSpPr/>
          <p:nvPr/>
        </p:nvSpPr>
        <p:spPr>
          <a:xfrm rot="2700000">
            <a:off x="2953512" y="3255264"/>
            <a:ext cx="109728" cy="109728"/>
          </a:xfrm>
          <a:prstGeom prst="rect">
            <a:avLst/>
          </a:prstGeom>
          <a:solidFill>
            <a:srgbClr val="C0622B">
              <a:alpha val="40000"/>
            </a:srgbClr>
          </a:solidFill>
          <a:ln w="12700">
            <a:solidFill>
              <a:srgbClr val="0E0A04"/>
            </a:solidFill>
            <a:prstDash val="solid"/>
          </a:ln>
        </p:spPr>
      </p:sp>
      <p:sp>
        <p:nvSpPr>
          <p:cNvPr id="119" name="Shape 117"/>
          <p:cNvSpPr/>
          <p:nvPr/>
        </p:nvSpPr>
        <p:spPr>
          <a:xfrm rot="2700000">
            <a:off x="3374136" y="3255264"/>
            <a:ext cx="219456" cy="219456"/>
          </a:xfrm>
          <a:prstGeom prst="rect">
            <a:avLst/>
          </a:prstGeom>
          <a:solidFill>
            <a:srgbClr val="1B9A8A">
              <a:alpha val="40000"/>
            </a:srgbClr>
          </a:solidFill>
          <a:ln w="12700">
            <a:solidFill>
              <a:srgbClr val="0E0A04"/>
            </a:solidFill>
            <a:prstDash val="solid"/>
          </a:ln>
        </p:spPr>
      </p:sp>
      <p:sp>
        <p:nvSpPr>
          <p:cNvPr id="120" name="Shape 118"/>
          <p:cNvSpPr/>
          <p:nvPr/>
        </p:nvSpPr>
        <p:spPr>
          <a:xfrm rot="2700000">
            <a:off x="9144" y="3529584"/>
            <a:ext cx="109728" cy="109728"/>
          </a:xfrm>
          <a:prstGeom prst="rect">
            <a:avLst/>
          </a:prstGeom>
          <a:solidFill>
            <a:srgbClr val="8B2252">
              <a:alpha val="31000"/>
            </a:srgbClr>
          </a:solidFill>
          <a:ln w="12700">
            <a:solidFill>
              <a:srgbClr val="0E0A04"/>
            </a:solidFill>
            <a:prstDash val="solid"/>
          </a:ln>
        </p:spPr>
      </p:sp>
      <p:sp>
        <p:nvSpPr>
          <p:cNvPr id="121" name="Shape 119"/>
          <p:cNvSpPr/>
          <p:nvPr/>
        </p:nvSpPr>
        <p:spPr>
          <a:xfrm rot="2700000">
            <a:off x="429768" y="3529584"/>
            <a:ext cx="109728" cy="109728"/>
          </a:xfrm>
          <a:prstGeom prst="rect">
            <a:avLst/>
          </a:prstGeom>
          <a:solidFill>
            <a:srgbClr val="6B4C20">
              <a:alpha val="31000"/>
            </a:srgbClr>
          </a:solidFill>
          <a:ln w="12700">
            <a:solidFill>
              <a:srgbClr val="0E0A04"/>
            </a:solidFill>
            <a:prstDash val="solid"/>
          </a:ln>
        </p:spPr>
      </p:sp>
      <p:sp>
        <p:nvSpPr>
          <p:cNvPr id="122" name="Shape 120"/>
          <p:cNvSpPr/>
          <p:nvPr/>
        </p:nvSpPr>
        <p:spPr>
          <a:xfrm rot="2700000">
            <a:off x="850392" y="3529584"/>
            <a:ext cx="219456" cy="219456"/>
          </a:xfrm>
          <a:prstGeom prst="rect">
            <a:avLst/>
          </a:prstGeom>
          <a:solidFill>
            <a:srgbClr val="3D2208">
              <a:alpha val="31000"/>
            </a:srgbClr>
          </a:solidFill>
          <a:ln w="12700">
            <a:solidFill>
              <a:srgbClr val="0E0A04"/>
            </a:solidFill>
            <a:prstDash val="solid"/>
          </a:ln>
        </p:spPr>
      </p:sp>
      <p:sp>
        <p:nvSpPr>
          <p:cNvPr id="123" name="Shape 121"/>
          <p:cNvSpPr/>
          <p:nvPr/>
        </p:nvSpPr>
        <p:spPr>
          <a:xfrm rot="2700000">
            <a:off x="1271016" y="3529584"/>
            <a:ext cx="109728" cy="109728"/>
          </a:xfrm>
          <a:prstGeom prst="rect">
            <a:avLst/>
          </a:prstGeom>
          <a:solidFill>
            <a:srgbClr val="D4951A">
              <a:alpha val="31000"/>
            </a:srgbClr>
          </a:solidFill>
          <a:ln w="12700">
            <a:solidFill>
              <a:srgbClr val="0E0A04"/>
            </a:solidFill>
            <a:prstDash val="solid"/>
          </a:ln>
        </p:spPr>
      </p:sp>
      <p:sp>
        <p:nvSpPr>
          <p:cNvPr id="124" name="Shape 122"/>
          <p:cNvSpPr/>
          <p:nvPr/>
        </p:nvSpPr>
        <p:spPr>
          <a:xfrm rot="2700000">
            <a:off x="1691640" y="3529584"/>
            <a:ext cx="109728" cy="109728"/>
          </a:xfrm>
          <a:prstGeom prst="rect">
            <a:avLst/>
          </a:prstGeom>
          <a:solidFill>
            <a:srgbClr val="C0622B">
              <a:alpha val="31000"/>
            </a:srgbClr>
          </a:solidFill>
          <a:ln w="12700">
            <a:solidFill>
              <a:srgbClr val="0E0A04"/>
            </a:solidFill>
            <a:prstDash val="solid"/>
          </a:ln>
        </p:spPr>
      </p:sp>
      <p:sp>
        <p:nvSpPr>
          <p:cNvPr id="125" name="Shape 123"/>
          <p:cNvSpPr/>
          <p:nvPr/>
        </p:nvSpPr>
        <p:spPr>
          <a:xfrm rot="2700000">
            <a:off x="2112264" y="3529584"/>
            <a:ext cx="155448" cy="155448"/>
          </a:xfrm>
          <a:prstGeom prst="rect">
            <a:avLst/>
          </a:prstGeom>
          <a:solidFill>
            <a:srgbClr val="1B9A8A">
              <a:alpha val="31000"/>
            </a:srgbClr>
          </a:solidFill>
          <a:ln w="12700">
            <a:solidFill>
              <a:srgbClr val="0E0A04"/>
            </a:solidFill>
            <a:prstDash val="solid"/>
          </a:ln>
        </p:spPr>
      </p:sp>
      <p:sp>
        <p:nvSpPr>
          <p:cNvPr id="126" name="Shape 124"/>
          <p:cNvSpPr/>
          <p:nvPr/>
        </p:nvSpPr>
        <p:spPr>
          <a:xfrm rot="2700000">
            <a:off x="2532888" y="3529584"/>
            <a:ext cx="109728" cy="109728"/>
          </a:xfrm>
          <a:prstGeom prst="rect">
            <a:avLst/>
          </a:prstGeom>
          <a:solidFill>
            <a:srgbClr val="D8C9A8">
              <a:alpha val="31000"/>
            </a:srgbClr>
          </a:solidFill>
          <a:ln w="12700">
            <a:solidFill>
              <a:srgbClr val="0E0A04"/>
            </a:solidFill>
            <a:prstDash val="solid"/>
          </a:ln>
        </p:spPr>
      </p:sp>
      <p:sp>
        <p:nvSpPr>
          <p:cNvPr id="127" name="Shape 125"/>
          <p:cNvSpPr/>
          <p:nvPr/>
        </p:nvSpPr>
        <p:spPr>
          <a:xfrm rot="2700000">
            <a:off x="2953512" y="3529584"/>
            <a:ext cx="219456" cy="219456"/>
          </a:xfrm>
          <a:prstGeom prst="rect">
            <a:avLst/>
          </a:prstGeom>
          <a:solidFill>
            <a:srgbClr val="8B2252">
              <a:alpha val="31000"/>
            </a:srgbClr>
          </a:solidFill>
          <a:ln w="12700">
            <a:solidFill>
              <a:srgbClr val="0E0A04"/>
            </a:solidFill>
            <a:prstDash val="solid"/>
          </a:ln>
        </p:spPr>
      </p:sp>
      <p:sp>
        <p:nvSpPr>
          <p:cNvPr id="128" name="Shape 126"/>
          <p:cNvSpPr/>
          <p:nvPr/>
        </p:nvSpPr>
        <p:spPr>
          <a:xfrm rot="2700000">
            <a:off x="3374136" y="3529584"/>
            <a:ext cx="155448" cy="155448"/>
          </a:xfrm>
          <a:prstGeom prst="rect">
            <a:avLst/>
          </a:prstGeom>
          <a:solidFill>
            <a:srgbClr val="6B4C20">
              <a:alpha val="31000"/>
            </a:srgbClr>
          </a:solidFill>
          <a:ln w="12700">
            <a:solidFill>
              <a:srgbClr val="0E0A04"/>
            </a:solidFill>
            <a:prstDash val="solid"/>
          </a:ln>
        </p:spPr>
      </p:sp>
      <p:sp>
        <p:nvSpPr>
          <p:cNvPr id="129" name="Shape 127"/>
          <p:cNvSpPr/>
          <p:nvPr/>
        </p:nvSpPr>
        <p:spPr>
          <a:xfrm rot="2700000">
            <a:off x="9144" y="3803904"/>
            <a:ext cx="109728" cy="109728"/>
          </a:xfrm>
          <a:prstGeom prst="rect">
            <a:avLst/>
          </a:prstGeom>
          <a:solidFill>
            <a:srgbClr val="D4951A">
              <a:alpha val="22000"/>
            </a:srgbClr>
          </a:solidFill>
          <a:ln w="12700">
            <a:solidFill>
              <a:srgbClr val="0E0A04"/>
            </a:solidFill>
            <a:prstDash val="solid"/>
          </a:ln>
        </p:spPr>
      </p:sp>
      <p:sp>
        <p:nvSpPr>
          <p:cNvPr id="130" name="Shape 128"/>
          <p:cNvSpPr/>
          <p:nvPr/>
        </p:nvSpPr>
        <p:spPr>
          <a:xfrm rot="2700000">
            <a:off x="429768" y="3803904"/>
            <a:ext cx="219456" cy="219456"/>
          </a:xfrm>
          <a:prstGeom prst="rect">
            <a:avLst/>
          </a:prstGeom>
          <a:solidFill>
            <a:srgbClr val="C0622B">
              <a:alpha val="22000"/>
            </a:srgbClr>
          </a:solidFill>
          <a:ln w="12700">
            <a:solidFill>
              <a:srgbClr val="0E0A04"/>
            </a:solidFill>
            <a:prstDash val="solid"/>
          </a:ln>
        </p:spPr>
      </p:sp>
      <p:sp>
        <p:nvSpPr>
          <p:cNvPr id="131" name="Shape 129"/>
          <p:cNvSpPr/>
          <p:nvPr/>
        </p:nvSpPr>
        <p:spPr>
          <a:xfrm rot="2700000">
            <a:off x="850392" y="3803904"/>
            <a:ext cx="109728" cy="109728"/>
          </a:xfrm>
          <a:prstGeom prst="rect">
            <a:avLst/>
          </a:prstGeom>
          <a:solidFill>
            <a:srgbClr val="1B9A8A">
              <a:alpha val="22000"/>
            </a:srgbClr>
          </a:solidFill>
          <a:ln w="12700">
            <a:solidFill>
              <a:srgbClr val="0E0A04"/>
            </a:solidFill>
            <a:prstDash val="solid"/>
          </a:ln>
        </p:spPr>
      </p:sp>
      <p:sp>
        <p:nvSpPr>
          <p:cNvPr id="132" name="Shape 130"/>
          <p:cNvSpPr/>
          <p:nvPr/>
        </p:nvSpPr>
        <p:spPr>
          <a:xfrm rot="2700000">
            <a:off x="1271016" y="3803904"/>
            <a:ext cx="109728" cy="109728"/>
          </a:xfrm>
          <a:prstGeom prst="rect">
            <a:avLst/>
          </a:prstGeom>
          <a:solidFill>
            <a:srgbClr val="D8C9A8">
              <a:alpha val="22000"/>
            </a:srgbClr>
          </a:solidFill>
          <a:ln w="12700">
            <a:solidFill>
              <a:srgbClr val="0E0A04"/>
            </a:solidFill>
            <a:prstDash val="solid"/>
          </a:ln>
        </p:spPr>
      </p:sp>
      <p:sp>
        <p:nvSpPr>
          <p:cNvPr id="133" name="Shape 131"/>
          <p:cNvSpPr/>
          <p:nvPr/>
        </p:nvSpPr>
        <p:spPr>
          <a:xfrm rot="2700000">
            <a:off x="1691640" y="3803904"/>
            <a:ext cx="155448" cy="155448"/>
          </a:xfrm>
          <a:prstGeom prst="rect">
            <a:avLst/>
          </a:prstGeom>
          <a:solidFill>
            <a:srgbClr val="8B2252">
              <a:alpha val="22000"/>
            </a:srgbClr>
          </a:solidFill>
          <a:ln w="12700">
            <a:solidFill>
              <a:srgbClr val="0E0A04"/>
            </a:solidFill>
            <a:prstDash val="solid"/>
          </a:ln>
        </p:spPr>
      </p:sp>
      <p:sp>
        <p:nvSpPr>
          <p:cNvPr id="134" name="Shape 132"/>
          <p:cNvSpPr/>
          <p:nvPr/>
        </p:nvSpPr>
        <p:spPr>
          <a:xfrm rot="2700000">
            <a:off x="2112264" y="3803904"/>
            <a:ext cx="109728" cy="109728"/>
          </a:xfrm>
          <a:prstGeom prst="rect">
            <a:avLst/>
          </a:prstGeom>
          <a:solidFill>
            <a:srgbClr val="6B4C20">
              <a:alpha val="22000"/>
            </a:srgbClr>
          </a:solidFill>
          <a:ln w="12700">
            <a:solidFill>
              <a:srgbClr val="0E0A04"/>
            </a:solidFill>
            <a:prstDash val="solid"/>
          </a:ln>
        </p:spPr>
      </p:sp>
      <p:sp>
        <p:nvSpPr>
          <p:cNvPr id="135" name="Shape 133"/>
          <p:cNvSpPr/>
          <p:nvPr/>
        </p:nvSpPr>
        <p:spPr>
          <a:xfrm rot="2700000">
            <a:off x="2532888" y="3803904"/>
            <a:ext cx="219456" cy="219456"/>
          </a:xfrm>
          <a:prstGeom prst="rect">
            <a:avLst/>
          </a:prstGeom>
          <a:solidFill>
            <a:srgbClr val="3D2208">
              <a:alpha val="22000"/>
            </a:srgbClr>
          </a:solidFill>
          <a:ln w="12700">
            <a:solidFill>
              <a:srgbClr val="0E0A04"/>
            </a:solidFill>
            <a:prstDash val="solid"/>
          </a:ln>
        </p:spPr>
      </p:sp>
      <p:sp>
        <p:nvSpPr>
          <p:cNvPr id="136" name="Shape 134"/>
          <p:cNvSpPr/>
          <p:nvPr/>
        </p:nvSpPr>
        <p:spPr>
          <a:xfrm rot="2700000">
            <a:off x="2953512" y="3803904"/>
            <a:ext cx="155448" cy="155448"/>
          </a:xfrm>
          <a:prstGeom prst="rect">
            <a:avLst/>
          </a:prstGeom>
          <a:solidFill>
            <a:srgbClr val="D4951A">
              <a:alpha val="22000"/>
            </a:srgbClr>
          </a:solidFill>
          <a:ln w="12700">
            <a:solidFill>
              <a:srgbClr val="0E0A04"/>
            </a:solidFill>
            <a:prstDash val="solid"/>
          </a:ln>
        </p:spPr>
      </p:sp>
      <p:sp>
        <p:nvSpPr>
          <p:cNvPr id="137" name="Shape 135"/>
          <p:cNvSpPr/>
          <p:nvPr/>
        </p:nvSpPr>
        <p:spPr>
          <a:xfrm rot="2700000">
            <a:off x="3374136" y="3803904"/>
            <a:ext cx="109728" cy="109728"/>
          </a:xfrm>
          <a:prstGeom prst="rect">
            <a:avLst/>
          </a:prstGeom>
          <a:solidFill>
            <a:srgbClr val="C0622B">
              <a:alpha val="22000"/>
            </a:srgbClr>
          </a:solidFill>
          <a:ln w="12700">
            <a:solidFill>
              <a:srgbClr val="0E0A04"/>
            </a:solidFill>
            <a:prstDash val="solid"/>
          </a:ln>
        </p:spPr>
      </p:sp>
      <p:sp>
        <p:nvSpPr>
          <p:cNvPr id="138" name="Shape 136"/>
          <p:cNvSpPr/>
          <p:nvPr/>
        </p:nvSpPr>
        <p:spPr>
          <a:xfrm rot="2700000">
            <a:off x="9144" y="4078224"/>
            <a:ext cx="219456" cy="219456"/>
          </a:xfrm>
          <a:prstGeom prst="rect">
            <a:avLst/>
          </a:prstGeom>
          <a:solidFill>
            <a:srgbClr val="D8C9A8">
              <a:alpha val="58000"/>
            </a:srgbClr>
          </a:solidFill>
          <a:ln w="12700">
            <a:solidFill>
              <a:srgbClr val="0E0A04"/>
            </a:solidFill>
            <a:prstDash val="solid"/>
          </a:ln>
        </p:spPr>
      </p:sp>
      <p:sp>
        <p:nvSpPr>
          <p:cNvPr id="139" name="Shape 137"/>
          <p:cNvSpPr/>
          <p:nvPr/>
        </p:nvSpPr>
        <p:spPr>
          <a:xfrm rot="2700000">
            <a:off x="429768" y="4078224"/>
            <a:ext cx="109728" cy="109728"/>
          </a:xfrm>
          <a:prstGeom prst="rect">
            <a:avLst/>
          </a:prstGeom>
          <a:solidFill>
            <a:srgbClr val="8B2252">
              <a:alpha val="58000"/>
            </a:srgbClr>
          </a:solidFill>
          <a:ln w="12700">
            <a:solidFill>
              <a:srgbClr val="0E0A04"/>
            </a:solidFill>
            <a:prstDash val="solid"/>
          </a:ln>
        </p:spPr>
      </p:sp>
      <p:sp>
        <p:nvSpPr>
          <p:cNvPr id="140" name="Shape 138"/>
          <p:cNvSpPr/>
          <p:nvPr/>
        </p:nvSpPr>
        <p:spPr>
          <a:xfrm rot="2700000">
            <a:off x="850392" y="4078224"/>
            <a:ext cx="109728" cy="109728"/>
          </a:xfrm>
          <a:prstGeom prst="rect">
            <a:avLst/>
          </a:prstGeom>
          <a:solidFill>
            <a:srgbClr val="6B4C20">
              <a:alpha val="58000"/>
            </a:srgbClr>
          </a:solidFill>
          <a:ln w="12700">
            <a:solidFill>
              <a:srgbClr val="0E0A04"/>
            </a:solidFill>
            <a:prstDash val="solid"/>
          </a:ln>
        </p:spPr>
      </p:sp>
      <p:sp>
        <p:nvSpPr>
          <p:cNvPr id="141" name="Shape 139"/>
          <p:cNvSpPr/>
          <p:nvPr/>
        </p:nvSpPr>
        <p:spPr>
          <a:xfrm rot="2700000">
            <a:off x="1271016" y="4078224"/>
            <a:ext cx="155448" cy="155448"/>
          </a:xfrm>
          <a:prstGeom prst="rect">
            <a:avLst/>
          </a:prstGeom>
          <a:solidFill>
            <a:srgbClr val="3D2208">
              <a:alpha val="58000"/>
            </a:srgbClr>
          </a:solidFill>
          <a:ln w="12700">
            <a:solidFill>
              <a:srgbClr val="0E0A04"/>
            </a:solidFill>
            <a:prstDash val="solid"/>
          </a:ln>
        </p:spPr>
      </p:sp>
      <p:sp>
        <p:nvSpPr>
          <p:cNvPr id="142" name="Shape 140"/>
          <p:cNvSpPr/>
          <p:nvPr/>
        </p:nvSpPr>
        <p:spPr>
          <a:xfrm rot="2700000">
            <a:off x="1691640" y="4078224"/>
            <a:ext cx="109728" cy="109728"/>
          </a:xfrm>
          <a:prstGeom prst="rect">
            <a:avLst/>
          </a:prstGeom>
          <a:solidFill>
            <a:srgbClr val="D4951A">
              <a:alpha val="58000"/>
            </a:srgbClr>
          </a:solidFill>
          <a:ln w="12700">
            <a:solidFill>
              <a:srgbClr val="0E0A04"/>
            </a:solidFill>
            <a:prstDash val="solid"/>
          </a:ln>
        </p:spPr>
      </p:sp>
      <p:sp>
        <p:nvSpPr>
          <p:cNvPr id="143" name="Shape 141"/>
          <p:cNvSpPr/>
          <p:nvPr/>
        </p:nvSpPr>
        <p:spPr>
          <a:xfrm rot="2700000">
            <a:off x="2112264" y="4078224"/>
            <a:ext cx="219456" cy="219456"/>
          </a:xfrm>
          <a:prstGeom prst="rect">
            <a:avLst/>
          </a:prstGeom>
          <a:solidFill>
            <a:srgbClr val="C0622B">
              <a:alpha val="58000"/>
            </a:srgbClr>
          </a:solidFill>
          <a:ln w="12700">
            <a:solidFill>
              <a:srgbClr val="0E0A04"/>
            </a:solidFill>
            <a:prstDash val="solid"/>
          </a:ln>
        </p:spPr>
      </p:sp>
      <p:sp>
        <p:nvSpPr>
          <p:cNvPr id="144" name="Shape 142"/>
          <p:cNvSpPr/>
          <p:nvPr/>
        </p:nvSpPr>
        <p:spPr>
          <a:xfrm rot="2700000">
            <a:off x="2532888" y="4078224"/>
            <a:ext cx="155448" cy="155448"/>
          </a:xfrm>
          <a:prstGeom prst="rect">
            <a:avLst/>
          </a:prstGeom>
          <a:solidFill>
            <a:srgbClr val="1B9A8A">
              <a:alpha val="58000"/>
            </a:srgbClr>
          </a:solidFill>
          <a:ln w="12700">
            <a:solidFill>
              <a:srgbClr val="0E0A04"/>
            </a:solidFill>
            <a:prstDash val="solid"/>
          </a:ln>
        </p:spPr>
      </p:sp>
      <p:sp>
        <p:nvSpPr>
          <p:cNvPr id="145" name="Shape 143"/>
          <p:cNvSpPr/>
          <p:nvPr/>
        </p:nvSpPr>
        <p:spPr>
          <a:xfrm rot="2700000">
            <a:off x="2953512" y="4078224"/>
            <a:ext cx="109728" cy="109728"/>
          </a:xfrm>
          <a:prstGeom prst="rect">
            <a:avLst/>
          </a:prstGeom>
          <a:solidFill>
            <a:srgbClr val="D8C9A8">
              <a:alpha val="58000"/>
            </a:srgbClr>
          </a:solidFill>
          <a:ln w="12700">
            <a:solidFill>
              <a:srgbClr val="0E0A04"/>
            </a:solidFill>
            <a:prstDash val="solid"/>
          </a:ln>
        </p:spPr>
      </p:sp>
      <p:sp>
        <p:nvSpPr>
          <p:cNvPr id="146" name="Shape 144"/>
          <p:cNvSpPr/>
          <p:nvPr/>
        </p:nvSpPr>
        <p:spPr>
          <a:xfrm rot="2700000">
            <a:off x="3374136" y="4078224"/>
            <a:ext cx="109728" cy="109728"/>
          </a:xfrm>
          <a:prstGeom prst="rect">
            <a:avLst/>
          </a:prstGeom>
          <a:solidFill>
            <a:srgbClr val="8B2252">
              <a:alpha val="58000"/>
            </a:srgbClr>
          </a:solidFill>
          <a:ln w="12700">
            <a:solidFill>
              <a:srgbClr val="0E0A04"/>
            </a:solidFill>
            <a:prstDash val="solid"/>
          </a:ln>
        </p:spPr>
      </p:sp>
      <p:sp>
        <p:nvSpPr>
          <p:cNvPr id="147" name="Shape 145"/>
          <p:cNvSpPr/>
          <p:nvPr/>
        </p:nvSpPr>
        <p:spPr>
          <a:xfrm rot="2700000">
            <a:off x="9144" y="4352544"/>
            <a:ext cx="109728" cy="109728"/>
          </a:xfrm>
          <a:prstGeom prst="rect">
            <a:avLst/>
          </a:prstGeom>
          <a:solidFill>
            <a:srgbClr val="3D2208">
              <a:alpha val="49000"/>
            </a:srgbClr>
          </a:solidFill>
          <a:ln w="12700">
            <a:solidFill>
              <a:srgbClr val="0E0A04"/>
            </a:solidFill>
            <a:prstDash val="solid"/>
          </a:ln>
        </p:spPr>
      </p:sp>
      <p:sp>
        <p:nvSpPr>
          <p:cNvPr id="148" name="Shape 146"/>
          <p:cNvSpPr/>
          <p:nvPr/>
        </p:nvSpPr>
        <p:spPr>
          <a:xfrm rot="2700000">
            <a:off x="429768" y="4352544"/>
            <a:ext cx="109728" cy="109728"/>
          </a:xfrm>
          <a:prstGeom prst="rect">
            <a:avLst/>
          </a:prstGeom>
          <a:solidFill>
            <a:srgbClr val="D4951A">
              <a:alpha val="49000"/>
            </a:srgbClr>
          </a:solidFill>
          <a:ln w="12700">
            <a:solidFill>
              <a:srgbClr val="0E0A04"/>
            </a:solidFill>
            <a:prstDash val="solid"/>
          </a:ln>
        </p:spPr>
      </p:sp>
      <p:sp>
        <p:nvSpPr>
          <p:cNvPr id="149" name="Shape 147"/>
          <p:cNvSpPr/>
          <p:nvPr/>
        </p:nvSpPr>
        <p:spPr>
          <a:xfrm rot="2700000">
            <a:off x="850392" y="4352544"/>
            <a:ext cx="155448" cy="155448"/>
          </a:xfrm>
          <a:prstGeom prst="rect">
            <a:avLst/>
          </a:prstGeom>
          <a:solidFill>
            <a:srgbClr val="C0622B">
              <a:alpha val="49000"/>
            </a:srgbClr>
          </a:solidFill>
          <a:ln w="12700">
            <a:solidFill>
              <a:srgbClr val="0E0A04"/>
            </a:solidFill>
            <a:prstDash val="solid"/>
          </a:ln>
        </p:spPr>
      </p:sp>
      <p:sp>
        <p:nvSpPr>
          <p:cNvPr id="150" name="Shape 148"/>
          <p:cNvSpPr/>
          <p:nvPr/>
        </p:nvSpPr>
        <p:spPr>
          <a:xfrm rot="2700000">
            <a:off x="1271016" y="4352544"/>
            <a:ext cx="109728" cy="109728"/>
          </a:xfrm>
          <a:prstGeom prst="rect">
            <a:avLst/>
          </a:prstGeom>
          <a:solidFill>
            <a:srgbClr val="1B9A8A">
              <a:alpha val="49000"/>
            </a:srgbClr>
          </a:solidFill>
          <a:ln w="12700">
            <a:solidFill>
              <a:srgbClr val="0E0A04"/>
            </a:solidFill>
            <a:prstDash val="solid"/>
          </a:ln>
        </p:spPr>
      </p:sp>
      <p:sp>
        <p:nvSpPr>
          <p:cNvPr id="151" name="Shape 149"/>
          <p:cNvSpPr/>
          <p:nvPr/>
        </p:nvSpPr>
        <p:spPr>
          <a:xfrm rot="2700000">
            <a:off x="1691640" y="4352544"/>
            <a:ext cx="219456" cy="219456"/>
          </a:xfrm>
          <a:prstGeom prst="rect">
            <a:avLst/>
          </a:prstGeom>
          <a:solidFill>
            <a:srgbClr val="D8C9A8">
              <a:alpha val="49000"/>
            </a:srgbClr>
          </a:solidFill>
          <a:ln w="12700">
            <a:solidFill>
              <a:srgbClr val="0E0A04"/>
            </a:solidFill>
            <a:prstDash val="solid"/>
          </a:ln>
        </p:spPr>
      </p:sp>
      <p:sp>
        <p:nvSpPr>
          <p:cNvPr id="152" name="Shape 150"/>
          <p:cNvSpPr/>
          <p:nvPr/>
        </p:nvSpPr>
        <p:spPr>
          <a:xfrm rot="2700000">
            <a:off x="2112264" y="4352544"/>
            <a:ext cx="155448" cy="155448"/>
          </a:xfrm>
          <a:prstGeom prst="rect">
            <a:avLst/>
          </a:prstGeom>
          <a:solidFill>
            <a:srgbClr val="8B2252">
              <a:alpha val="49000"/>
            </a:srgbClr>
          </a:solidFill>
          <a:ln w="12700">
            <a:solidFill>
              <a:srgbClr val="0E0A04"/>
            </a:solidFill>
            <a:prstDash val="solid"/>
          </a:ln>
        </p:spPr>
      </p:sp>
      <p:sp>
        <p:nvSpPr>
          <p:cNvPr id="153" name="Shape 151"/>
          <p:cNvSpPr/>
          <p:nvPr/>
        </p:nvSpPr>
        <p:spPr>
          <a:xfrm rot="2700000">
            <a:off x="2532888" y="4352544"/>
            <a:ext cx="109728" cy="109728"/>
          </a:xfrm>
          <a:prstGeom prst="rect">
            <a:avLst/>
          </a:prstGeom>
          <a:solidFill>
            <a:srgbClr val="6B4C20">
              <a:alpha val="49000"/>
            </a:srgbClr>
          </a:solidFill>
          <a:ln w="12700">
            <a:solidFill>
              <a:srgbClr val="0E0A04"/>
            </a:solidFill>
            <a:prstDash val="solid"/>
          </a:ln>
        </p:spPr>
      </p:sp>
      <p:sp>
        <p:nvSpPr>
          <p:cNvPr id="154" name="Shape 152"/>
          <p:cNvSpPr/>
          <p:nvPr/>
        </p:nvSpPr>
        <p:spPr>
          <a:xfrm rot="2700000">
            <a:off x="2953512" y="4352544"/>
            <a:ext cx="109728" cy="109728"/>
          </a:xfrm>
          <a:prstGeom prst="rect">
            <a:avLst/>
          </a:prstGeom>
          <a:solidFill>
            <a:srgbClr val="3D2208">
              <a:alpha val="49000"/>
            </a:srgbClr>
          </a:solidFill>
          <a:ln w="12700">
            <a:solidFill>
              <a:srgbClr val="0E0A04"/>
            </a:solidFill>
            <a:prstDash val="solid"/>
          </a:ln>
        </p:spPr>
      </p:sp>
      <p:sp>
        <p:nvSpPr>
          <p:cNvPr id="155" name="Shape 153"/>
          <p:cNvSpPr/>
          <p:nvPr/>
        </p:nvSpPr>
        <p:spPr>
          <a:xfrm rot="2700000">
            <a:off x="3374136" y="4352544"/>
            <a:ext cx="155448" cy="155448"/>
          </a:xfrm>
          <a:prstGeom prst="rect">
            <a:avLst/>
          </a:prstGeom>
          <a:solidFill>
            <a:srgbClr val="D4951A">
              <a:alpha val="49000"/>
            </a:srgbClr>
          </a:solidFill>
          <a:ln w="12700">
            <a:solidFill>
              <a:srgbClr val="0E0A04"/>
            </a:solidFill>
            <a:prstDash val="solid"/>
          </a:ln>
        </p:spPr>
      </p:sp>
      <p:sp>
        <p:nvSpPr>
          <p:cNvPr id="156" name="Shape 154"/>
          <p:cNvSpPr/>
          <p:nvPr/>
        </p:nvSpPr>
        <p:spPr>
          <a:xfrm rot="2700000">
            <a:off x="9144" y="4626864"/>
            <a:ext cx="109728" cy="109728"/>
          </a:xfrm>
          <a:prstGeom prst="rect">
            <a:avLst/>
          </a:prstGeom>
          <a:solidFill>
            <a:srgbClr val="1B9A8A">
              <a:alpha val="40000"/>
            </a:srgbClr>
          </a:solidFill>
          <a:ln w="12700">
            <a:solidFill>
              <a:srgbClr val="0E0A04"/>
            </a:solidFill>
            <a:prstDash val="solid"/>
          </a:ln>
        </p:spPr>
      </p:sp>
      <p:sp>
        <p:nvSpPr>
          <p:cNvPr id="157" name="Shape 155"/>
          <p:cNvSpPr/>
          <p:nvPr/>
        </p:nvSpPr>
        <p:spPr>
          <a:xfrm rot="2700000">
            <a:off x="429768" y="4626864"/>
            <a:ext cx="155448" cy="155448"/>
          </a:xfrm>
          <a:prstGeom prst="rect">
            <a:avLst/>
          </a:prstGeom>
          <a:solidFill>
            <a:srgbClr val="D8C9A8">
              <a:alpha val="40000"/>
            </a:srgbClr>
          </a:solidFill>
          <a:ln w="12700">
            <a:solidFill>
              <a:srgbClr val="0E0A04"/>
            </a:solidFill>
            <a:prstDash val="solid"/>
          </a:ln>
        </p:spPr>
      </p:sp>
      <p:sp>
        <p:nvSpPr>
          <p:cNvPr id="158" name="Shape 156"/>
          <p:cNvSpPr/>
          <p:nvPr/>
        </p:nvSpPr>
        <p:spPr>
          <a:xfrm rot="2700000">
            <a:off x="850392" y="4626864"/>
            <a:ext cx="109728" cy="109728"/>
          </a:xfrm>
          <a:prstGeom prst="rect">
            <a:avLst/>
          </a:prstGeom>
          <a:solidFill>
            <a:srgbClr val="8B2252">
              <a:alpha val="40000"/>
            </a:srgbClr>
          </a:solidFill>
          <a:ln w="12700">
            <a:solidFill>
              <a:srgbClr val="0E0A04"/>
            </a:solidFill>
            <a:prstDash val="solid"/>
          </a:ln>
        </p:spPr>
      </p:sp>
      <p:sp>
        <p:nvSpPr>
          <p:cNvPr id="159" name="Shape 157"/>
          <p:cNvSpPr/>
          <p:nvPr/>
        </p:nvSpPr>
        <p:spPr>
          <a:xfrm rot="2700000">
            <a:off x="1271016" y="4626864"/>
            <a:ext cx="219456" cy="219456"/>
          </a:xfrm>
          <a:prstGeom prst="rect">
            <a:avLst/>
          </a:prstGeom>
          <a:solidFill>
            <a:srgbClr val="6B4C20">
              <a:alpha val="40000"/>
            </a:srgbClr>
          </a:solidFill>
          <a:ln w="12700">
            <a:solidFill>
              <a:srgbClr val="0E0A04"/>
            </a:solidFill>
            <a:prstDash val="solid"/>
          </a:ln>
        </p:spPr>
      </p:sp>
      <p:sp>
        <p:nvSpPr>
          <p:cNvPr id="160" name="Shape 158"/>
          <p:cNvSpPr/>
          <p:nvPr/>
        </p:nvSpPr>
        <p:spPr>
          <a:xfrm rot="2700000">
            <a:off x="1691640" y="4626864"/>
            <a:ext cx="155448" cy="155448"/>
          </a:xfrm>
          <a:prstGeom prst="rect">
            <a:avLst/>
          </a:prstGeom>
          <a:solidFill>
            <a:srgbClr val="3D2208">
              <a:alpha val="40000"/>
            </a:srgbClr>
          </a:solidFill>
          <a:ln w="12700">
            <a:solidFill>
              <a:srgbClr val="0E0A04"/>
            </a:solidFill>
            <a:prstDash val="solid"/>
          </a:ln>
        </p:spPr>
      </p:sp>
      <p:sp>
        <p:nvSpPr>
          <p:cNvPr id="161" name="Shape 159"/>
          <p:cNvSpPr/>
          <p:nvPr/>
        </p:nvSpPr>
        <p:spPr>
          <a:xfrm rot="2700000">
            <a:off x="2112264" y="4626864"/>
            <a:ext cx="109728" cy="109728"/>
          </a:xfrm>
          <a:prstGeom prst="rect">
            <a:avLst/>
          </a:prstGeom>
          <a:solidFill>
            <a:srgbClr val="D4951A">
              <a:alpha val="40000"/>
            </a:srgbClr>
          </a:solidFill>
          <a:ln w="12700">
            <a:solidFill>
              <a:srgbClr val="0E0A04"/>
            </a:solidFill>
            <a:prstDash val="solid"/>
          </a:ln>
        </p:spPr>
      </p:sp>
      <p:sp>
        <p:nvSpPr>
          <p:cNvPr id="162" name="Shape 160"/>
          <p:cNvSpPr/>
          <p:nvPr/>
        </p:nvSpPr>
        <p:spPr>
          <a:xfrm rot="2700000">
            <a:off x="2532888" y="4626864"/>
            <a:ext cx="109728" cy="109728"/>
          </a:xfrm>
          <a:prstGeom prst="rect">
            <a:avLst/>
          </a:prstGeom>
          <a:solidFill>
            <a:srgbClr val="C0622B">
              <a:alpha val="40000"/>
            </a:srgbClr>
          </a:solidFill>
          <a:ln w="12700">
            <a:solidFill>
              <a:srgbClr val="0E0A04"/>
            </a:solidFill>
            <a:prstDash val="solid"/>
          </a:ln>
        </p:spPr>
      </p:sp>
      <p:sp>
        <p:nvSpPr>
          <p:cNvPr id="163" name="Shape 161"/>
          <p:cNvSpPr/>
          <p:nvPr/>
        </p:nvSpPr>
        <p:spPr>
          <a:xfrm rot="2700000">
            <a:off x="2953512" y="4626864"/>
            <a:ext cx="155448" cy="155448"/>
          </a:xfrm>
          <a:prstGeom prst="rect">
            <a:avLst/>
          </a:prstGeom>
          <a:solidFill>
            <a:srgbClr val="1B9A8A">
              <a:alpha val="40000"/>
            </a:srgbClr>
          </a:solidFill>
          <a:ln w="12700">
            <a:solidFill>
              <a:srgbClr val="0E0A04"/>
            </a:solidFill>
            <a:prstDash val="solid"/>
          </a:ln>
        </p:spPr>
      </p:sp>
      <p:sp>
        <p:nvSpPr>
          <p:cNvPr id="164" name="Shape 162"/>
          <p:cNvSpPr/>
          <p:nvPr/>
        </p:nvSpPr>
        <p:spPr>
          <a:xfrm rot="2700000">
            <a:off x="3374136" y="4626864"/>
            <a:ext cx="219456" cy="219456"/>
          </a:xfrm>
          <a:prstGeom prst="rect">
            <a:avLst/>
          </a:prstGeom>
          <a:solidFill>
            <a:srgbClr val="D8C9A8">
              <a:alpha val="40000"/>
            </a:srgbClr>
          </a:solidFill>
          <a:ln w="12700">
            <a:solidFill>
              <a:srgbClr val="0E0A04"/>
            </a:solidFill>
            <a:prstDash val="solid"/>
          </a:ln>
        </p:spPr>
      </p:sp>
      <p:sp>
        <p:nvSpPr>
          <p:cNvPr id="165" name="Shape 163"/>
          <p:cNvSpPr/>
          <p:nvPr/>
        </p:nvSpPr>
        <p:spPr>
          <a:xfrm rot="2700000">
            <a:off x="9144" y="4901184"/>
            <a:ext cx="155448" cy="155448"/>
          </a:xfrm>
          <a:prstGeom prst="rect">
            <a:avLst/>
          </a:prstGeom>
          <a:solidFill>
            <a:srgbClr val="6B4C20">
              <a:alpha val="31000"/>
            </a:srgbClr>
          </a:solidFill>
          <a:ln w="12700">
            <a:solidFill>
              <a:srgbClr val="0E0A04"/>
            </a:solidFill>
            <a:prstDash val="solid"/>
          </a:ln>
        </p:spPr>
      </p:sp>
      <p:sp>
        <p:nvSpPr>
          <p:cNvPr id="166" name="Shape 164"/>
          <p:cNvSpPr/>
          <p:nvPr/>
        </p:nvSpPr>
        <p:spPr>
          <a:xfrm rot="2700000">
            <a:off x="429768" y="4901184"/>
            <a:ext cx="109728" cy="109728"/>
          </a:xfrm>
          <a:prstGeom prst="rect">
            <a:avLst/>
          </a:prstGeom>
          <a:solidFill>
            <a:srgbClr val="3D2208">
              <a:alpha val="31000"/>
            </a:srgbClr>
          </a:solidFill>
          <a:ln w="12700">
            <a:solidFill>
              <a:srgbClr val="0E0A04"/>
            </a:solidFill>
            <a:prstDash val="solid"/>
          </a:ln>
        </p:spPr>
      </p:sp>
      <p:sp>
        <p:nvSpPr>
          <p:cNvPr id="167" name="Shape 165"/>
          <p:cNvSpPr/>
          <p:nvPr/>
        </p:nvSpPr>
        <p:spPr>
          <a:xfrm rot="2700000">
            <a:off x="850392" y="4901184"/>
            <a:ext cx="219456" cy="219456"/>
          </a:xfrm>
          <a:prstGeom prst="rect">
            <a:avLst/>
          </a:prstGeom>
          <a:solidFill>
            <a:srgbClr val="D4951A">
              <a:alpha val="31000"/>
            </a:srgbClr>
          </a:solidFill>
          <a:ln w="12700">
            <a:solidFill>
              <a:srgbClr val="0E0A04"/>
            </a:solidFill>
            <a:prstDash val="solid"/>
          </a:ln>
        </p:spPr>
      </p:sp>
      <p:sp>
        <p:nvSpPr>
          <p:cNvPr id="168" name="Shape 166"/>
          <p:cNvSpPr/>
          <p:nvPr/>
        </p:nvSpPr>
        <p:spPr>
          <a:xfrm rot="2700000">
            <a:off x="1271016" y="4901184"/>
            <a:ext cx="155448" cy="155448"/>
          </a:xfrm>
          <a:prstGeom prst="rect">
            <a:avLst/>
          </a:prstGeom>
          <a:solidFill>
            <a:srgbClr val="C0622B">
              <a:alpha val="31000"/>
            </a:srgbClr>
          </a:solidFill>
          <a:ln w="12700">
            <a:solidFill>
              <a:srgbClr val="0E0A04"/>
            </a:solidFill>
            <a:prstDash val="solid"/>
          </a:ln>
        </p:spPr>
      </p:sp>
      <p:sp>
        <p:nvSpPr>
          <p:cNvPr id="169" name="Shape 167"/>
          <p:cNvSpPr/>
          <p:nvPr/>
        </p:nvSpPr>
        <p:spPr>
          <a:xfrm rot="2700000">
            <a:off x="1691640" y="4901184"/>
            <a:ext cx="109728" cy="109728"/>
          </a:xfrm>
          <a:prstGeom prst="rect">
            <a:avLst/>
          </a:prstGeom>
          <a:solidFill>
            <a:srgbClr val="1B9A8A">
              <a:alpha val="31000"/>
            </a:srgbClr>
          </a:solidFill>
          <a:ln w="12700">
            <a:solidFill>
              <a:srgbClr val="0E0A04"/>
            </a:solidFill>
            <a:prstDash val="solid"/>
          </a:ln>
        </p:spPr>
      </p:sp>
      <p:sp>
        <p:nvSpPr>
          <p:cNvPr id="170" name="Shape 168"/>
          <p:cNvSpPr/>
          <p:nvPr/>
        </p:nvSpPr>
        <p:spPr>
          <a:xfrm rot="2700000">
            <a:off x="2112264" y="4901184"/>
            <a:ext cx="109728" cy="109728"/>
          </a:xfrm>
          <a:prstGeom prst="rect">
            <a:avLst/>
          </a:prstGeom>
          <a:solidFill>
            <a:srgbClr val="D8C9A8">
              <a:alpha val="31000"/>
            </a:srgbClr>
          </a:solidFill>
          <a:ln w="12700">
            <a:solidFill>
              <a:srgbClr val="0E0A04"/>
            </a:solidFill>
            <a:prstDash val="solid"/>
          </a:ln>
        </p:spPr>
      </p:sp>
      <p:sp>
        <p:nvSpPr>
          <p:cNvPr id="171" name="Shape 169"/>
          <p:cNvSpPr/>
          <p:nvPr/>
        </p:nvSpPr>
        <p:spPr>
          <a:xfrm rot="2700000">
            <a:off x="2532888" y="4901184"/>
            <a:ext cx="155448" cy="155448"/>
          </a:xfrm>
          <a:prstGeom prst="rect">
            <a:avLst/>
          </a:prstGeom>
          <a:solidFill>
            <a:srgbClr val="8B2252">
              <a:alpha val="31000"/>
            </a:srgbClr>
          </a:solidFill>
          <a:ln w="12700">
            <a:solidFill>
              <a:srgbClr val="0E0A04"/>
            </a:solidFill>
            <a:prstDash val="solid"/>
          </a:ln>
        </p:spPr>
      </p:sp>
      <p:sp>
        <p:nvSpPr>
          <p:cNvPr id="172" name="Shape 170"/>
          <p:cNvSpPr/>
          <p:nvPr/>
        </p:nvSpPr>
        <p:spPr>
          <a:xfrm rot="2700000">
            <a:off x="2953512" y="4901184"/>
            <a:ext cx="219456" cy="219456"/>
          </a:xfrm>
          <a:prstGeom prst="rect">
            <a:avLst/>
          </a:prstGeom>
          <a:solidFill>
            <a:srgbClr val="6B4C20">
              <a:alpha val="31000"/>
            </a:srgbClr>
          </a:solidFill>
          <a:ln w="12700">
            <a:solidFill>
              <a:srgbClr val="0E0A04"/>
            </a:solidFill>
            <a:prstDash val="solid"/>
          </a:ln>
        </p:spPr>
      </p:sp>
      <p:sp>
        <p:nvSpPr>
          <p:cNvPr id="173" name="Shape 171"/>
          <p:cNvSpPr/>
          <p:nvPr/>
        </p:nvSpPr>
        <p:spPr>
          <a:xfrm rot="2700000">
            <a:off x="3374136" y="4901184"/>
            <a:ext cx="109728" cy="109728"/>
          </a:xfrm>
          <a:prstGeom prst="rect">
            <a:avLst/>
          </a:prstGeom>
          <a:solidFill>
            <a:srgbClr val="3D2208">
              <a:alpha val="31000"/>
            </a:srgbClr>
          </a:solidFill>
          <a:ln w="12700">
            <a:solidFill>
              <a:srgbClr val="0E0A04"/>
            </a:solidFill>
            <a:prstDash val="solid"/>
          </a:ln>
        </p:spPr>
      </p:sp>
      <p:sp>
        <p:nvSpPr>
          <p:cNvPr id="174" name="Shape 172"/>
          <p:cNvSpPr/>
          <p:nvPr/>
        </p:nvSpPr>
        <p:spPr>
          <a:xfrm rot="2700000">
            <a:off x="9144" y="5175504"/>
            <a:ext cx="109728" cy="109728"/>
          </a:xfrm>
          <a:prstGeom prst="rect">
            <a:avLst/>
          </a:prstGeom>
          <a:solidFill>
            <a:srgbClr val="C0622B">
              <a:alpha val="22000"/>
            </a:srgbClr>
          </a:solidFill>
          <a:ln w="12700">
            <a:solidFill>
              <a:srgbClr val="0E0A04"/>
            </a:solidFill>
            <a:prstDash val="solid"/>
          </a:ln>
        </p:spPr>
      </p:sp>
      <p:sp>
        <p:nvSpPr>
          <p:cNvPr id="175" name="Shape 173"/>
          <p:cNvSpPr/>
          <p:nvPr/>
        </p:nvSpPr>
        <p:spPr>
          <a:xfrm rot="2700000">
            <a:off x="429768" y="5175504"/>
            <a:ext cx="219456" cy="219456"/>
          </a:xfrm>
          <a:prstGeom prst="rect">
            <a:avLst/>
          </a:prstGeom>
          <a:solidFill>
            <a:srgbClr val="1B9A8A">
              <a:alpha val="22000"/>
            </a:srgbClr>
          </a:solidFill>
          <a:ln w="12700">
            <a:solidFill>
              <a:srgbClr val="0E0A04"/>
            </a:solidFill>
            <a:prstDash val="solid"/>
          </a:ln>
        </p:spPr>
      </p:sp>
      <p:sp>
        <p:nvSpPr>
          <p:cNvPr id="176" name="Shape 174"/>
          <p:cNvSpPr/>
          <p:nvPr/>
        </p:nvSpPr>
        <p:spPr>
          <a:xfrm rot="2700000">
            <a:off x="850392" y="5175504"/>
            <a:ext cx="155448" cy="155448"/>
          </a:xfrm>
          <a:prstGeom prst="rect">
            <a:avLst/>
          </a:prstGeom>
          <a:solidFill>
            <a:srgbClr val="D8C9A8">
              <a:alpha val="22000"/>
            </a:srgbClr>
          </a:solidFill>
          <a:ln w="12700">
            <a:solidFill>
              <a:srgbClr val="0E0A04"/>
            </a:solidFill>
            <a:prstDash val="solid"/>
          </a:ln>
        </p:spPr>
      </p:sp>
      <p:sp>
        <p:nvSpPr>
          <p:cNvPr id="177" name="Shape 175"/>
          <p:cNvSpPr/>
          <p:nvPr/>
        </p:nvSpPr>
        <p:spPr>
          <a:xfrm rot="2700000">
            <a:off x="1271016" y="5175504"/>
            <a:ext cx="109728" cy="109728"/>
          </a:xfrm>
          <a:prstGeom prst="rect">
            <a:avLst/>
          </a:prstGeom>
          <a:solidFill>
            <a:srgbClr val="8B2252">
              <a:alpha val="22000"/>
            </a:srgbClr>
          </a:solidFill>
          <a:ln w="12700">
            <a:solidFill>
              <a:srgbClr val="0E0A04"/>
            </a:solidFill>
            <a:prstDash val="solid"/>
          </a:ln>
        </p:spPr>
      </p:sp>
      <p:sp>
        <p:nvSpPr>
          <p:cNvPr id="178" name="Shape 176"/>
          <p:cNvSpPr/>
          <p:nvPr/>
        </p:nvSpPr>
        <p:spPr>
          <a:xfrm rot="2700000">
            <a:off x="1691640" y="5175504"/>
            <a:ext cx="109728" cy="109728"/>
          </a:xfrm>
          <a:prstGeom prst="rect">
            <a:avLst/>
          </a:prstGeom>
          <a:solidFill>
            <a:srgbClr val="6B4C20">
              <a:alpha val="22000"/>
            </a:srgbClr>
          </a:solidFill>
          <a:ln w="12700">
            <a:solidFill>
              <a:srgbClr val="0E0A04"/>
            </a:solidFill>
            <a:prstDash val="solid"/>
          </a:ln>
        </p:spPr>
      </p:sp>
      <p:sp>
        <p:nvSpPr>
          <p:cNvPr id="179" name="Shape 177"/>
          <p:cNvSpPr/>
          <p:nvPr/>
        </p:nvSpPr>
        <p:spPr>
          <a:xfrm rot="2700000">
            <a:off x="2112264" y="5175504"/>
            <a:ext cx="155448" cy="155448"/>
          </a:xfrm>
          <a:prstGeom prst="rect">
            <a:avLst/>
          </a:prstGeom>
          <a:solidFill>
            <a:srgbClr val="3D2208">
              <a:alpha val="22000"/>
            </a:srgbClr>
          </a:solidFill>
          <a:ln w="12700">
            <a:solidFill>
              <a:srgbClr val="0E0A04"/>
            </a:solidFill>
            <a:prstDash val="solid"/>
          </a:ln>
        </p:spPr>
      </p:sp>
      <p:sp>
        <p:nvSpPr>
          <p:cNvPr id="180" name="Shape 178"/>
          <p:cNvSpPr/>
          <p:nvPr/>
        </p:nvSpPr>
        <p:spPr>
          <a:xfrm rot="2700000">
            <a:off x="2532888" y="5175504"/>
            <a:ext cx="219456" cy="219456"/>
          </a:xfrm>
          <a:prstGeom prst="rect">
            <a:avLst/>
          </a:prstGeom>
          <a:solidFill>
            <a:srgbClr val="D4951A">
              <a:alpha val="22000"/>
            </a:srgbClr>
          </a:solidFill>
          <a:ln w="12700">
            <a:solidFill>
              <a:srgbClr val="0E0A04"/>
            </a:solidFill>
            <a:prstDash val="solid"/>
          </a:ln>
        </p:spPr>
      </p:sp>
      <p:sp>
        <p:nvSpPr>
          <p:cNvPr id="181" name="Shape 179"/>
          <p:cNvSpPr/>
          <p:nvPr/>
        </p:nvSpPr>
        <p:spPr>
          <a:xfrm rot="2700000">
            <a:off x="2953512" y="5175504"/>
            <a:ext cx="109728" cy="109728"/>
          </a:xfrm>
          <a:prstGeom prst="rect">
            <a:avLst/>
          </a:prstGeom>
          <a:solidFill>
            <a:srgbClr val="C0622B">
              <a:alpha val="22000"/>
            </a:srgbClr>
          </a:solidFill>
          <a:ln w="12700">
            <a:solidFill>
              <a:srgbClr val="0E0A04"/>
            </a:solidFill>
            <a:prstDash val="solid"/>
          </a:ln>
        </p:spPr>
      </p:sp>
      <p:sp>
        <p:nvSpPr>
          <p:cNvPr id="182" name="Shape 180"/>
          <p:cNvSpPr/>
          <p:nvPr/>
        </p:nvSpPr>
        <p:spPr>
          <a:xfrm rot="2700000">
            <a:off x="3374136" y="5175504"/>
            <a:ext cx="155448" cy="155448"/>
          </a:xfrm>
          <a:prstGeom prst="rect">
            <a:avLst/>
          </a:prstGeom>
          <a:solidFill>
            <a:srgbClr val="1B9A8A">
              <a:alpha val="22000"/>
            </a:srgbClr>
          </a:solidFill>
          <a:ln w="12700">
            <a:solidFill>
              <a:srgbClr val="0E0A04"/>
            </a:solidFill>
            <a:prstDash val="solid"/>
          </a:ln>
        </p:spPr>
      </p:sp>
      <p:sp>
        <p:nvSpPr>
          <p:cNvPr id="183" name="Text 181"/>
          <p:cNvSpPr/>
          <p:nvPr/>
        </p:nvSpPr>
        <p:spPr>
          <a:xfrm>
            <a:off x="3977640" y="411480"/>
            <a:ext cx="4983480" cy="548640"/>
          </a:xfrm>
          <a:prstGeom prst="rect">
            <a:avLst/>
          </a:prstGeom>
          <a:noFill/>
          <a:ln/>
        </p:spPr>
        <p:txBody>
          <a:bodyPr wrap="square" rtlCol="0" anchor="ctr"/>
          <a:lstStyle/>
          <a:p>
            <a:pPr indent="0" marL="0">
              <a:buNone/>
            </a:pPr>
            <a:r>
              <a:rPr lang="en-US" sz="1000" b="1" spc="300" kern="0" dirty="0">
                <a:solidFill>
                  <a:srgbClr val="6B7A8A"/>
                </a:solidFill>
                <a:latin typeface="Calibri" pitchFamily="34" charset="0"/>
                <a:ea typeface="Calibri" pitchFamily="34" charset="-122"/>
                <a:cs typeface="Calibri" pitchFamily="34" charset="-120"/>
              </a:rPr>
              <a:t>SÉLECTION DE LA CHAUDIÈRE</a:t>
            </a:r>
            <a:endParaRPr lang="en-US" sz="1000" dirty="0"/>
          </a:p>
        </p:txBody>
      </p:sp>
      <p:sp>
        <p:nvSpPr>
          <p:cNvPr id="184" name="Text 182"/>
          <p:cNvSpPr/>
          <p:nvPr/>
        </p:nvSpPr>
        <p:spPr>
          <a:xfrm>
            <a:off x="3977640" y="1005840"/>
            <a:ext cx="4983480" cy="1828800"/>
          </a:xfrm>
          <a:prstGeom prst="rect">
            <a:avLst/>
          </a:prstGeom>
          <a:noFill/>
          <a:ln/>
        </p:spPr>
        <p:txBody>
          <a:bodyPr wrap="square" rtlCol="0" anchor="ctr"/>
          <a:lstStyle/>
          <a:p>
            <a:pPr indent="0" marL="0">
              <a:lnSpc>
                <a:spcPct val="100000"/>
              </a:lnSpc>
              <a:buNone/>
            </a:pPr>
            <a:r>
              <a:rPr lang="en-US" sz="4200" b="1" dirty="0">
                <a:solidFill>
                  <a:srgbClr val="EDE0C8"/>
                </a:solidFill>
                <a:latin typeface="Georgia" pitchFamily="34" charset="0"/>
                <a:ea typeface="Georgia" pitchFamily="34" charset="-122"/>
                <a:cs typeface="Georgia" pitchFamily="34" charset="-120"/>
              </a:rPr>
              <a:t>Note de Décision</a:t>
            </a:r>
            <a:endParaRPr lang="en-US" sz="4200" dirty="0"/>
          </a:p>
          <a:p>
            <a:pPr indent="0" marL="0">
              <a:lnSpc>
                <a:spcPct val="100000"/>
              </a:lnSpc>
              <a:buNone/>
            </a:pPr>
            <a:r>
              <a:rPr lang="en-US" sz="4200" b="1" dirty="0">
                <a:solidFill>
                  <a:srgbClr val="EDE0C8"/>
                </a:solidFill>
                <a:latin typeface="Georgia" pitchFamily="34" charset="0"/>
                <a:ea typeface="Georgia" pitchFamily="34" charset="-122"/>
                <a:cs typeface="Georgia" pitchFamily="34" charset="-120"/>
              </a:rPr>
              <a:t>Direction</a:t>
            </a:r>
            <a:endParaRPr lang="en-US" sz="4200" dirty="0"/>
          </a:p>
        </p:txBody>
      </p:sp>
      <p:sp>
        <p:nvSpPr>
          <p:cNvPr id="185" name="Shape 183"/>
          <p:cNvSpPr/>
          <p:nvPr/>
        </p:nvSpPr>
        <p:spPr>
          <a:xfrm>
            <a:off x="3977640" y="2944368"/>
            <a:ext cx="4983480" cy="36576"/>
          </a:xfrm>
          <a:prstGeom prst="rect">
            <a:avLst/>
          </a:prstGeom>
          <a:solidFill>
            <a:srgbClr val="D4951A"/>
          </a:solidFill>
          <a:ln/>
        </p:spPr>
      </p:sp>
      <p:sp>
        <p:nvSpPr>
          <p:cNvPr id="186" name="Shape 184"/>
          <p:cNvSpPr/>
          <p:nvPr/>
        </p:nvSpPr>
        <p:spPr>
          <a:xfrm>
            <a:off x="3977640" y="3017520"/>
            <a:ext cx="2926080" cy="22860"/>
          </a:xfrm>
          <a:prstGeom prst="rect">
            <a:avLst/>
          </a:prstGeom>
          <a:solidFill>
            <a:srgbClr val="C0622B"/>
          </a:solidFill>
          <a:ln/>
        </p:spPr>
      </p:sp>
      <p:sp>
        <p:nvSpPr>
          <p:cNvPr id="187" name="Text 185"/>
          <p:cNvSpPr/>
          <p:nvPr/>
        </p:nvSpPr>
        <p:spPr>
          <a:xfrm>
            <a:off x="3977640" y="3127248"/>
            <a:ext cx="4983480" cy="411480"/>
          </a:xfrm>
          <a:prstGeom prst="rect">
            <a:avLst/>
          </a:prstGeom>
          <a:noFill/>
          <a:ln/>
        </p:spPr>
        <p:txBody>
          <a:bodyPr wrap="square" rtlCol="0" anchor="ctr"/>
          <a:lstStyle/>
          <a:p>
            <a:pPr indent="0" marL="0">
              <a:buNone/>
            </a:pPr>
            <a:r>
              <a:rPr lang="en-US" sz="1200" i="1" dirty="0">
                <a:solidFill>
                  <a:srgbClr val="D8C9A8"/>
                </a:solidFill>
                <a:latin typeface="Calibri" pitchFamily="34" charset="0"/>
                <a:ea typeface="Calibri" pitchFamily="34" charset="-122"/>
                <a:cs typeface="Calibri" pitchFamily="34" charset="-120"/>
              </a:rPr>
              <a:t>Pet Factory Maroc  ·  Ligne de production 5 T/H aliments secs pour animaux</a:t>
            </a:r>
            <a:endParaRPr lang="en-US" sz="1200" dirty="0"/>
          </a:p>
        </p:txBody>
      </p:sp>
      <p:sp>
        <p:nvSpPr>
          <p:cNvPr id="188" name="Shape 186"/>
          <p:cNvSpPr/>
          <p:nvPr/>
        </p:nvSpPr>
        <p:spPr>
          <a:xfrm>
            <a:off x="3977640" y="3675888"/>
            <a:ext cx="4983480" cy="804672"/>
          </a:xfrm>
          <a:prstGeom prst="rect">
            <a:avLst/>
          </a:prstGeom>
          <a:solidFill>
            <a:srgbClr val="141418"/>
          </a:solidFill>
          <a:ln w="12700">
            <a:solidFill>
              <a:srgbClr val="D4951A"/>
            </a:solidFill>
            <a:prstDash val="solid"/>
          </a:ln>
          <a:effectLst>
            <a:outerShdw sx="100000" sy="100000" kx="0" ky="0" algn="bl" rotWithShape="0" blurRad="152400" dist="50800" dir="8100000">
              <a:srgbClr val="000000">
                <a:alpha val="45000"/>
              </a:srgbClr>
            </a:outerShdw>
          </a:effectLst>
        </p:spPr>
      </p:sp>
      <p:sp>
        <p:nvSpPr>
          <p:cNvPr id="189" name="Shape 187"/>
          <p:cNvSpPr/>
          <p:nvPr/>
        </p:nvSpPr>
        <p:spPr>
          <a:xfrm>
            <a:off x="3977640" y="3675888"/>
            <a:ext cx="4983480" cy="45720"/>
          </a:xfrm>
          <a:prstGeom prst="rect">
            <a:avLst/>
          </a:prstGeom>
          <a:solidFill>
            <a:srgbClr val="D4951A"/>
          </a:solidFill>
          <a:ln/>
        </p:spPr>
      </p:sp>
      <p:sp>
        <p:nvSpPr>
          <p:cNvPr id="190" name="Text 188"/>
          <p:cNvSpPr/>
          <p:nvPr/>
        </p:nvSpPr>
        <p:spPr>
          <a:xfrm>
            <a:off x="4160520" y="3749040"/>
            <a:ext cx="100584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Carburant :</a:t>
            </a:r>
            <a:endParaRPr lang="en-US" sz="900" dirty="0"/>
          </a:p>
        </p:txBody>
      </p:sp>
      <p:sp>
        <p:nvSpPr>
          <p:cNvPr id="191" name="Text 189"/>
          <p:cNvSpPr/>
          <p:nvPr/>
        </p:nvSpPr>
        <p:spPr>
          <a:xfrm>
            <a:off x="5230368" y="3749040"/>
            <a:ext cx="3584448"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GPL (Gaz naturel — avenir)</a:t>
            </a:r>
            <a:endParaRPr lang="en-US" sz="900" dirty="0"/>
          </a:p>
        </p:txBody>
      </p:sp>
      <p:sp>
        <p:nvSpPr>
          <p:cNvPr id="192" name="Text 190"/>
          <p:cNvSpPr/>
          <p:nvPr/>
        </p:nvSpPr>
        <p:spPr>
          <a:xfrm>
            <a:off x="4160520" y="3986784"/>
            <a:ext cx="100584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Débit vapeur :</a:t>
            </a:r>
            <a:endParaRPr lang="en-US" sz="900" dirty="0"/>
          </a:p>
        </p:txBody>
      </p:sp>
      <p:sp>
        <p:nvSpPr>
          <p:cNvPr id="193" name="Text 191"/>
          <p:cNvSpPr/>
          <p:nvPr/>
        </p:nvSpPr>
        <p:spPr>
          <a:xfrm>
            <a:off x="5230368" y="3986784"/>
            <a:ext cx="3584448"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2 123 Kg/H (Ligne 1) · Vision : ×2 en 12 mois</a:t>
            </a:r>
            <a:endParaRPr lang="en-US" sz="900" dirty="0"/>
          </a:p>
        </p:txBody>
      </p:sp>
      <p:sp>
        <p:nvSpPr>
          <p:cNvPr id="194" name="Text 192"/>
          <p:cNvSpPr/>
          <p:nvPr/>
        </p:nvSpPr>
        <p:spPr>
          <a:xfrm>
            <a:off x="4160520" y="4224528"/>
            <a:ext cx="100584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Export :</a:t>
            </a:r>
            <a:endParaRPr lang="en-US" sz="900" dirty="0"/>
          </a:p>
        </p:txBody>
      </p:sp>
      <p:sp>
        <p:nvSpPr>
          <p:cNvPr id="195" name="Text 193"/>
          <p:cNvSpPr/>
          <p:nvPr/>
        </p:nvSpPr>
        <p:spPr>
          <a:xfrm>
            <a:off x="5230368" y="4224528"/>
            <a:ext cx="3584448"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UE + USA · FSSC 22000 · FDA PCAF</a:t>
            </a:r>
            <a:endParaRPr lang="en-US" sz="900" dirty="0"/>
          </a:p>
        </p:txBody>
      </p:sp>
      <p:sp>
        <p:nvSpPr>
          <p:cNvPr id="196" name="Shape 194"/>
          <p:cNvSpPr/>
          <p:nvPr/>
        </p:nvSpPr>
        <p:spPr>
          <a:xfrm>
            <a:off x="0" y="4645152"/>
            <a:ext cx="3749040" cy="498348"/>
          </a:xfrm>
          <a:prstGeom prst="rect">
            <a:avLst/>
          </a:prstGeom>
          <a:solidFill>
            <a:srgbClr val="070502"/>
          </a:solidFill>
          <a:ln/>
        </p:spPr>
      </p:sp>
      <p:sp>
        <p:nvSpPr>
          <p:cNvPr id="197" name="Text 195"/>
          <p:cNvSpPr/>
          <p:nvPr/>
        </p:nvSpPr>
        <p:spPr>
          <a:xfrm>
            <a:off x="91440" y="4663440"/>
            <a:ext cx="3566160" cy="475488"/>
          </a:xfrm>
          <a:prstGeom prst="rect">
            <a:avLst/>
          </a:prstGeom>
          <a:noFill/>
          <a:ln/>
        </p:spPr>
        <p:txBody>
          <a:bodyPr wrap="square" rtlCol="0" anchor="ctr"/>
          <a:lstStyle/>
          <a:p>
            <a:pPr algn="ctr" indent="0" marL="0">
              <a:buNone/>
            </a:pPr>
            <a:r>
              <a:rPr lang="en-US" sz="1000" b="1" spc="200" kern="0" dirty="0">
                <a:solidFill>
                  <a:srgbClr val="D4951A"/>
                </a:solidFill>
                <a:latin typeface="Georgia" pitchFamily="34" charset="0"/>
                <a:ea typeface="Georgia" pitchFamily="34" charset="-122"/>
                <a:cs typeface="Georgia" pitchFamily="34" charset="-120"/>
              </a:rPr>
              <a:t>PET FACTORY MAROC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SYNTHÈSE DÉCISIONNELLE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Les cinq décisions qui définissent la stratégie chaudière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87782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877824"/>
            <a:ext cx="548640" cy="749808"/>
          </a:xfrm>
          <a:prstGeom prst="rect">
            <a:avLst/>
          </a:prstGeom>
          <a:solidFill>
            <a:srgbClr val="D4951A"/>
          </a:solidFill>
          <a:ln/>
        </p:spPr>
      </p:sp>
      <p:sp>
        <p:nvSpPr>
          <p:cNvPr id="90" name="Text 88"/>
          <p:cNvSpPr/>
          <p:nvPr/>
        </p:nvSpPr>
        <p:spPr>
          <a:xfrm>
            <a:off x="256032" y="87782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01</a:t>
            </a:r>
            <a:endParaRPr lang="en-US" sz="1800" dirty="0"/>
          </a:p>
        </p:txBody>
      </p:sp>
      <p:sp>
        <p:nvSpPr>
          <p:cNvPr id="91" name="Text 89"/>
          <p:cNvSpPr/>
          <p:nvPr/>
        </p:nvSpPr>
        <p:spPr>
          <a:xfrm>
            <a:off x="896112" y="932688"/>
            <a:ext cx="7909560" cy="256032"/>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Dimensionner au-delà de la demande process</a:t>
            </a:r>
            <a:endParaRPr lang="en-US" sz="1100" dirty="0"/>
          </a:p>
        </p:txBody>
      </p:sp>
      <p:sp>
        <p:nvSpPr>
          <p:cNvPr id="92" name="Text 90"/>
          <p:cNvSpPr/>
          <p:nvPr/>
        </p:nvSpPr>
        <p:spPr>
          <a:xfrm>
            <a:off x="896112" y="119786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Les 2 123 Kg/H contractuels représentent la demande process. La puissance nominale correcte est 2 400–2 600 Kg/H par ligne — en intégrant les pertes de purge, l'efficacité GPL et les pics de démarrage.</a:t>
            </a:r>
            <a:endParaRPr lang="en-US" sz="950" dirty="0"/>
          </a:p>
        </p:txBody>
      </p:sp>
      <p:sp>
        <p:nvSpPr>
          <p:cNvPr id="93" name="Shape 91"/>
          <p:cNvSpPr/>
          <p:nvPr/>
        </p:nvSpPr>
        <p:spPr>
          <a:xfrm>
            <a:off x="256032" y="170078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4" name="Shape 92"/>
          <p:cNvSpPr/>
          <p:nvPr/>
        </p:nvSpPr>
        <p:spPr>
          <a:xfrm>
            <a:off x="256032" y="1700784"/>
            <a:ext cx="548640" cy="749808"/>
          </a:xfrm>
          <a:prstGeom prst="rect">
            <a:avLst/>
          </a:prstGeom>
          <a:solidFill>
            <a:srgbClr val="C0622B"/>
          </a:solidFill>
          <a:ln/>
        </p:spPr>
      </p:sp>
      <p:sp>
        <p:nvSpPr>
          <p:cNvPr id="95" name="Text 93"/>
          <p:cNvSpPr/>
          <p:nvPr/>
        </p:nvSpPr>
        <p:spPr>
          <a:xfrm>
            <a:off x="256032" y="170078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02</a:t>
            </a:r>
            <a:endParaRPr lang="en-US" sz="1800" dirty="0"/>
          </a:p>
        </p:txBody>
      </p:sp>
      <p:sp>
        <p:nvSpPr>
          <p:cNvPr id="96" name="Text 94"/>
          <p:cNvSpPr/>
          <p:nvPr/>
        </p:nvSpPr>
        <p:spPr>
          <a:xfrm>
            <a:off x="896112" y="1755648"/>
            <a:ext cx="7909560" cy="256032"/>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Deux chaudières dédiées — pas une seule partagée</a:t>
            </a:r>
            <a:endParaRPr lang="en-US" sz="1100" dirty="0"/>
          </a:p>
        </p:txBody>
      </p:sp>
      <p:sp>
        <p:nvSpPr>
          <p:cNvPr id="97" name="Text 95"/>
          <p:cNvSpPr/>
          <p:nvPr/>
        </p:nvSpPr>
        <p:spPr>
          <a:xfrm>
            <a:off x="896112" y="202082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Une seule chaudière surdimensionnée est un point de défaillance unique pour les deux lignes. Deux unités dédiées offrent une indépendance opérationnelle totale : la Ligne 2 peut démarrer, s'arrêter et être maintenue sans impacter la Ligne 1.</a:t>
            </a:r>
            <a:endParaRPr lang="en-US" sz="950" dirty="0"/>
          </a:p>
        </p:txBody>
      </p:sp>
      <p:sp>
        <p:nvSpPr>
          <p:cNvPr id="98" name="Shape 96"/>
          <p:cNvSpPr/>
          <p:nvPr/>
        </p:nvSpPr>
        <p:spPr>
          <a:xfrm>
            <a:off x="256032" y="252374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9" name="Shape 97"/>
          <p:cNvSpPr/>
          <p:nvPr/>
        </p:nvSpPr>
        <p:spPr>
          <a:xfrm>
            <a:off x="256032" y="2523744"/>
            <a:ext cx="548640" cy="749808"/>
          </a:xfrm>
          <a:prstGeom prst="rect">
            <a:avLst/>
          </a:prstGeom>
          <a:solidFill>
            <a:srgbClr val="1B9A8A"/>
          </a:solidFill>
          <a:ln/>
        </p:spPr>
      </p:sp>
      <p:sp>
        <p:nvSpPr>
          <p:cNvPr id="100" name="Text 98"/>
          <p:cNvSpPr/>
          <p:nvPr/>
        </p:nvSpPr>
        <p:spPr>
          <a:xfrm>
            <a:off x="256032" y="252374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03</a:t>
            </a:r>
            <a:endParaRPr lang="en-US" sz="1800" dirty="0"/>
          </a:p>
        </p:txBody>
      </p:sp>
      <p:sp>
        <p:nvSpPr>
          <p:cNvPr id="101" name="Text 99"/>
          <p:cNvSpPr/>
          <p:nvPr/>
        </p:nvSpPr>
        <p:spPr>
          <a:xfrm>
            <a:off x="896112" y="2578608"/>
            <a:ext cx="7909560" cy="256032"/>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Recommandation : Générateur de Vapeur Instantané (GVI/OTSG)</a:t>
            </a:r>
            <a:endParaRPr lang="en-US" sz="1100" dirty="0"/>
          </a:p>
        </p:txBody>
      </p:sp>
      <p:sp>
        <p:nvSpPr>
          <p:cNvPr id="102" name="Text 100"/>
          <p:cNvSpPr/>
          <p:nvPr/>
        </p:nvSpPr>
        <p:spPr>
          <a:xfrm>
            <a:off x="896112" y="284378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Le coût du GPL rend l'efficacité au démarrage critique. Un GVI atteint la pleine vapeur en 3–5 minutes contre 30–60 min pour une chaudière à tubes de fumée. Sur GPL, cette différence représente un impact financier annuel significatif.</a:t>
            </a:r>
            <a:endParaRPr lang="en-US" sz="950" dirty="0"/>
          </a:p>
        </p:txBody>
      </p:sp>
      <p:sp>
        <p:nvSpPr>
          <p:cNvPr id="103" name="Shape 101"/>
          <p:cNvSpPr/>
          <p:nvPr/>
        </p:nvSpPr>
        <p:spPr>
          <a:xfrm>
            <a:off x="256032" y="334670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4" name="Shape 102"/>
          <p:cNvSpPr/>
          <p:nvPr/>
        </p:nvSpPr>
        <p:spPr>
          <a:xfrm>
            <a:off x="256032" y="3346704"/>
            <a:ext cx="548640" cy="749808"/>
          </a:xfrm>
          <a:prstGeom prst="rect">
            <a:avLst/>
          </a:prstGeom>
          <a:solidFill>
            <a:srgbClr val="E8A020"/>
          </a:solidFill>
          <a:ln/>
        </p:spPr>
      </p:sp>
      <p:sp>
        <p:nvSpPr>
          <p:cNvPr id="105" name="Text 103"/>
          <p:cNvSpPr/>
          <p:nvPr/>
        </p:nvSpPr>
        <p:spPr>
          <a:xfrm>
            <a:off x="256032" y="334670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04</a:t>
            </a:r>
            <a:endParaRPr lang="en-US" sz="1800" dirty="0"/>
          </a:p>
        </p:txBody>
      </p:sp>
      <p:sp>
        <p:nvSpPr>
          <p:cNvPr id="106" name="Text 104"/>
          <p:cNvSpPr/>
          <p:nvPr/>
        </p:nvSpPr>
        <p:spPr>
          <a:xfrm>
            <a:off x="896112" y="3401568"/>
            <a:ext cx="7909560" cy="25603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Le marquage CE est la seule exigence export liée à la chaudière</a:t>
            </a:r>
            <a:endParaRPr lang="en-US" sz="1100" dirty="0"/>
          </a:p>
        </p:txBody>
      </p:sp>
      <p:sp>
        <p:nvSpPr>
          <p:cNvPr id="107" name="Text 105"/>
          <p:cNvSpPr/>
          <p:nvPr/>
        </p:nvSpPr>
        <p:spPr>
          <a:xfrm>
            <a:off x="896112" y="366674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L'UE et la FDA ne spécifient pas de marque ou de technologie. Mais votre chaudière DOIT être marquée CE (Directive EP 2014/68/UE). La conformité alimentaire repose sur la documentation de la qualité vapeur — pas sur la plaque constructeur.</a:t>
            </a:r>
            <a:endParaRPr lang="en-US" sz="950" dirty="0"/>
          </a:p>
        </p:txBody>
      </p:sp>
      <p:sp>
        <p:nvSpPr>
          <p:cNvPr id="108" name="Shape 106"/>
          <p:cNvSpPr/>
          <p:nvPr/>
        </p:nvSpPr>
        <p:spPr>
          <a:xfrm>
            <a:off x="256032" y="416966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9" name="Shape 107"/>
          <p:cNvSpPr/>
          <p:nvPr/>
        </p:nvSpPr>
        <p:spPr>
          <a:xfrm>
            <a:off x="256032" y="4169664"/>
            <a:ext cx="548640" cy="749808"/>
          </a:xfrm>
          <a:prstGeom prst="rect">
            <a:avLst/>
          </a:prstGeom>
          <a:solidFill>
            <a:srgbClr val="1A5FA8"/>
          </a:solidFill>
          <a:ln/>
        </p:spPr>
      </p:sp>
      <p:sp>
        <p:nvSpPr>
          <p:cNvPr id="110" name="Text 108"/>
          <p:cNvSpPr/>
          <p:nvPr/>
        </p:nvSpPr>
        <p:spPr>
          <a:xfrm>
            <a:off x="256032" y="416966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05</a:t>
            </a:r>
            <a:endParaRPr lang="en-US" sz="1800" dirty="0"/>
          </a:p>
        </p:txBody>
      </p:sp>
      <p:sp>
        <p:nvSpPr>
          <p:cNvPr id="111" name="Text 109"/>
          <p:cNvSpPr/>
          <p:nvPr/>
        </p:nvSpPr>
        <p:spPr>
          <a:xfrm>
            <a:off x="896112" y="4224528"/>
            <a:ext cx="7909560" cy="256032"/>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Trois fabricants présélectionnés pour l'appel d'offres</a:t>
            </a:r>
            <a:endParaRPr lang="en-US" sz="1100" dirty="0"/>
          </a:p>
        </p:txBody>
      </p:sp>
      <p:sp>
        <p:nvSpPr>
          <p:cNvPr id="112" name="Text 110"/>
          <p:cNvSpPr/>
          <p:nvPr/>
        </p:nvSpPr>
        <p:spPr>
          <a:xfrm>
            <a:off x="896112" y="448970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Miura (GVI, Japon/Europe), Clayton Industries (GVI, Belgique), Cleaver-Brooks (tubes fumée, référence). Minimum trois offres concurrentes requises avant toute décision d'achat.</a:t>
            </a:r>
            <a:endParaRPr lang="en-US" sz="950" dirty="0"/>
          </a:p>
        </p:txBody>
      </p:sp>
      <p:sp>
        <p:nvSpPr>
          <p:cNvPr id="113" name="Shape 111"/>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14" name="Shape 112"/>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15" name="Shape 113"/>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16" name="Shape 114"/>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17" name="Shape 115"/>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18" name="Shape 116"/>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19" name="Shape 117"/>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20" name="Shape 118"/>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21" name="Shape 119"/>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22" name="Shape 120"/>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23" name="Shape 121"/>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24" name="Shape 122"/>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25" name="Shape 123"/>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26" name="Shape 124"/>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27" name="Shape 125"/>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28" name="Shape 126"/>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29" name="Shape 127"/>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30" name="Shape 128"/>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91" name="Text 189"/>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POURQUOI LA CHAUDIÈRE EST SUR LE CHEMIN CRITIQUE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Sans vapeur = pas de conditionnement = pas d'extrusion = pas de production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Text 87"/>
          <p:cNvSpPr/>
          <p:nvPr/>
        </p:nvSpPr>
        <p:spPr>
          <a:xfrm>
            <a:off x="256032"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Matières</a:t>
            </a:r>
            <a:endParaRPr lang="en-US" sz="850" dirty="0"/>
          </a:p>
          <a:p>
            <a:pPr algn="ctr" indent="0" marL="0">
              <a:buNone/>
            </a:pPr>
            <a:r>
              <a:rPr lang="en-US" sz="850" dirty="0">
                <a:solidFill>
                  <a:srgbClr val="D8C9A8"/>
                </a:solidFill>
                <a:latin typeface="Calibri" pitchFamily="34" charset="0"/>
                <a:ea typeface="Calibri" pitchFamily="34" charset="-122"/>
                <a:cs typeface="Calibri" pitchFamily="34" charset="-120"/>
              </a:rPr>
              <a:t>premières</a:t>
            </a:r>
            <a:endParaRPr lang="en-US" sz="850" dirty="0"/>
          </a:p>
        </p:txBody>
      </p:sp>
      <p:sp>
        <p:nvSpPr>
          <p:cNvPr id="90" name="Shape 88"/>
          <p:cNvSpPr/>
          <p:nvPr/>
        </p:nvSpPr>
        <p:spPr>
          <a:xfrm>
            <a:off x="1133856" y="1280160"/>
            <a:ext cx="91440" cy="0"/>
          </a:xfrm>
          <a:prstGeom prst="line">
            <a:avLst/>
          </a:prstGeom>
          <a:noFill/>
          <a:ln w="12700">
            <a:solidFill>
              <a:srgbClr val="6B7A8A"/>
            </a:solidFill>
            <a:prstDash val="solid"/>
          </a:ln>
        </p:spPr>
      </p:sp>
      <p:sp>
        <p:nvSpPr>
          <p:cNvPr id="91" name="Shape 89"/>
          <p:cNvSpPr/>
          <p:nvPr/>
        </p:nvSpPr>
        <p:spPr>
          <a:xfrm>
            <a:off x="1225296"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2" name="Text 90"/>
          <p:cNvSpPr/>
          <p:nvPr/>
        </p:nvSpPr>
        <p:spPr>
          <a:xfrm>
            <a:off x="1225296"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Broyage</a:t>
            </a:r>
            <a:endParaRPr lang="en-US" sz="850" dirty="0"/>
          </a:p>
        </p:txBody>
      </p:sp>
      <p:sp>
        <p:nvSpPr>
          <p:cNvPr id="93" name="Shape 91"/>
          <p:cNvSpPr/>
          <p:nvPr/>
        </p:nvSpPr>
        <p:spPr>
          <a:xfrm>
            <a:off x="2103120" y="1280160"/>
            <a:ext cx="91440" cy="0"/>
          </a:xfrm>
          <a:prstGeom prst="line">
            <a:avLst/>
          </a:prstGeom>
          <a:noFill/>
          <a:ln w="12700">
            <a:solidFill>
              <a:srgbClr val="6B7A8A"/>
            </a:solidFill>
            <a:prstDash val="solid"/>
          </a:ln>
        </p:spPr>
      </p:sp>
      <p:sp>
        <p:nvSpPr>
          <p:cNvPr id="94" name="Shape 92"/>
          <p:cNvSpPr/>
          <p:nvPr/>
        </p:nvSpPr>
        <p:spPr>
          <a:xfrm>
            <a:off x="2194560"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5" name="Text 93"/>
          <p:cNvSpPr/>
          <p:nvPr/>
        </p:nvSpPr>
        <p:spPr>
          <a:xfrm>
            <a:off x="2194560"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Dosage</a:t>
            </a:r>
            <a:endParaRPr lang="en-US" sz="850" dirty="0"/>
          </a:p>
          <a:p>
            <a:pPr algn="ctr" indent="0" marL="0">
              <a:buNone/>
            </a:pPr>
            <a:r>
              <a:rPr lang="en-US" sz="850" dirty="0">
                <a:solidFill>
                  <a:srgbClr val="D8C9A8"/>
                </a:solidFill>
                <a:latin typeface="Calibri" pitchFamily="34" charset="0"/>
                <a:ea typeface="Calibri" pitchFamily="34" charset="-122"/>
                <a:cs typeface="Calibri" pitchFamily="34" charset="-120"/>
              </a:rPr>
              <a:t>&amp; Mélange</a:t>
            </a:r>
            <a:endParaRPr lang="en-US" sz="850" dirty="0"/>
          </a:p>
        </p:txBody>
      </p:sp>
      <p:sp>
        <p:nvSpPr>
          <p:cNvPr id="96" name="Shape 94"/>
          <p:cNvSpPr/>
          <p:nvPr/>
        </p:nvSpPr>
        <p:spPr>
          <a:xfrm>
            <a:off x="3072384" y="1280160"/>
            <a:ext cx="91440" cy="0"/>
          </a:xfrm>
          <a:prstGeom prst="line">
            <a:avLst/>
          </a:prstGeom>
          <a:noFill/>
          <a:ln w="12700">
            <a:solidFill>
              <a:srgbClr val="6B7A8A"/>
            </a:solidFill>
            <a:prstDash val="solid"/>
          </a:ln>
        </p:spPr>
      </p:sp>
      <p:sp>
        <p:nvSpPr>
          <p:cNvPr id="97" name="Shape 95"/>
          <p:cNvSpPr/>
          <p:nvPr/>
        </p:nvSpPr>
        <p:spPr>
          <a:xfrm>
            <a:off x="3163824"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98" name="Shape 96"/>
          <p:cNvSpPr/>
          <p:nvPr/>
        </p:nvSpPr>
        <p:spPr>
          <a:xfrm rot="2700000">
            <a:off x="3547872" y="850392"/>
            <a:ext cx="109728" cy="109728"/>
          </a:xfrm>
          <a:prstGeom prst="rect">
            <a:avLst/>
          </a:prstGeom>
          <a:solidFill>
            <a:srgbClr val="D4951A"/>
          </a:solidFill>
          <a:ln w="12700">
            <a:solidFill>
              <a:srgbClr val="09090F"/>
            </a:solidFill>
            <a:prstDash val="solid"/>
          </a:ln>
        </p:spPr>
      </p:sp>
      <p:sp>
        <p:nvSpPr>
          <p:cNvPr id="99" name="Text 97"/>
          <p:cNvSpPr/>
          <p:nvPr/>
        </p:nvSpPr>
        <p:spPr>
          <a:xfrm>
            <a:off x="3163824"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Pré-</a:t>
            </a:r>
            <a:endParaRPr lang="en-US" sz="850" dirty="0"/>
          </a:p>
          <a:p>
            <a:pPr algn="ctr" indent="0" marL="0">
              <a:buNone/>
            </a:pPr>
            <a:r>
              <a:rPr lang="en-US" sz="850" b="1" dirty="0">
                <a:solidFill>
                  <a:srgbClr val="09090F"/>
                </a:solidFill>
                <a:latin typeface="Calibri" pitchFamily="34" charset="0"/>
                <a:ea typeface="Calibri" pitchFamily="34" charset="-122"/>
                <a:cs typeface="Calibri" pitchFamily="34" charset="-120"/>
              </a:rPr>
              <a:t>conditionneur</a:t>
            </a:r>
            <a:endParaRPr lang="en-US" sz="850" dirty="0"/>
          </a:p>
        </p:txBody>
      </p:sp>
      <p:sp>
        <p:nvSpPr>
          <p:cNvPr id="100" name="Shape 98"/>
          <p:cNvSpPr/>
          <p:nvPr/>
        </p:nvSpPr>
        <p:spPr>
          <a:xfrm>
            <a:off x="4041648" y="1280160"/>
            <a:ext cx="91440" cy="0"/>
          </a:xfrm>
          <a:prstGeom prst="line">
            <a:avLst/>
          </a:prstGeom>
          <a:noFill/>
          <a:ln w="12700">
            <a:solidFill>
              <a:srgbClr val="6B7A8A"/>
            </a:solidFill>
            <a:prstDash val="solid"/>
          </a:ln>
        </p:spPr>
      </p:sp>
      <p:sp>
        <p:nvSpPr>
          <p:cNvPr id="101" name="Shape 99"/>
          <p:cNvSpPr/>
          <p:nvPr/>
        </p:nvSpPr>
        <p:spPr>
          <a:xfrm>
            <a:off x="4133088"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2" name="Shape 100"/>
          <p:cNvSpPr/>
          <p:nvPr/>
        </p:nvSpPr>
        <p:spPr>
          <a:xfrm rot="2700000">
            <a:off x="4517136" y="850392"/>
            <a:ext cx="109728" cy="109728"/>
          </a:xfrm>
          <a:prstGeom prst="rect">
            <a:avLst/>
          </a:prstGeom>
          <a:solidFill>
            <a:srgbClr val="D4951A"/>
          </a:solidFill>
          <a:ln w="12700">
            <a:solidFill>
              <a:srgbClr val="09090F"/>
            </a:solidFill>
            <a:prstDash val="solid"/>
          </a:ln>
        </p:spPr>
      </p:sp>
      <p:sp>
        <p:nvSpPr>
          <p:cNvPr id="103" name="Text 101"/>
          <p:cNvSpPr/>
          <p:nvPr/>
        </p:nvSpPr>
        <p:spPr>
          <a:xfrm>
            <a:off x="4133088"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Extrudeur</a:t>
            </a:r>
            <a:endParaRPr lang="en-US" sz="850" dirty="0"/>
          </a:p>
        </p:txBody>
      </p:sp>
      <p:sp>
        <p:nvSpPr>
          <p:cNvPr id="104" name="Shape 102"/>
          <p:cNvSpPr/>
          <p:nvPr/>
        </p:nvSpPr>
        <p:spPr>
          <a:xfrm>
            <a:off x="5010912" y="1280160"/>
            <a:ext cx="91440" cy="0"/>
          </a:xfrm>
          <a:prstGeom prst="line">
            <a:avLst/>
          </a:prstGeom>
          <a:noFill/>
          <a:ln w="12700">
            <a:solidFill>
              <a:srgbClr val="6B7A8A"/>
            </a:solidFill>
            <a:prstDash val="solid"/>
          </a:ln>
        </p:spPr>
      </p:sp>
      <p:sp>
        <p:nvSpPr>
          <p:cNvPr id="105" name="Shape 103"/>
          <p:cNvSpPr/>
          <p:nvPr/>
        </p:nvSpPr>
        <p:spPr>
          <a:xfrm>
            <a:off x="5102352"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6" name="Shape 104"/>
          <p:cNvSpPr/>
          <p:nvPr/>
        </p:nvSpPr>
        <p:spPr>
          <a:xfrm rot="2700000">
            <a:off x="5486400" y="850392"/>
            <a:ext cx="109728" cy="109728"/>
          </a:xfrm>
          <a:prstGeom prst="rect">
            <a:avLst/>
          </a:prstGeom>
          <a:solidFill>
            <a:srgbClr val="D4951A"/>
          </a:solidFill>
          <a:ln w="12700">
            <a:solidFill>
              <a:srgbClr val="09090F"/>
            </a:solidFill>
            <a:prstDash val="solid"/>
          </a:ln>
        </p:spPr>
      </p:sp>
      <p:sp>
        <p:nvSpPr>
          <p:cNvPr id="107" name="Text 105"/>
          <p:cNvSpPr/>
          <p:nvPr/>
        </p:nvSpPr>
        <p:spPr>
          <a:xfrm>
            <a:off x="5102352"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Sécheur</a:t>
            </a:r>
            <a:endParaRPr lang="en-US" sz="850" dirty="0"/>
          </a:p>
        </p:txBody>
      </p:sp>
      <p:sp>
        <p:nvSpPr>
          <p:cNvPr id="108" name="Shape 106"/>
          <p:cNvSpPr/>
          <p:nvPr/>
        </p:nvSpPr>
        <p:spPr>
          <a:xfrm>
            <a:off x="5980176" y="1280160"/>
            <a:ext cx="91440" cy="0"/>
          </a:xfrm>
          <a:prstGeom prst="line">
            <a:avLst/>
          </a:prstGeom>
          <a:noFill/>
          <a:ln w="12700">
            <a:solidFill>
              <a:srgbClr val="6B7A8A"/>
            </a:solidFill>
            <a:prstDash val="solid"/>
          </a:ln>
        </p:spPr>
      </p:sp>
      <p:sp>
        <p:nvSpPr>
          <p:cNvPr id="109" name="Shape 107"/>
          <p:cNvSpPr/>
          <p:nvPr/>
        </p:nvSpPr>
        <p:spPr>
          <a:xfrm>
            <a:off x="6071616"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0" name="Text 108"/>
          <p:cNvSpPr/>
          <p:nvPr/>
        </p:nvSpPr>
        <p:spPr>
          <a:xfrm>
            <a:off x="6071616"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Enrobage</a:t>
            </a:r>
            <a:endParaRPr lang="en-US" sz="850" dirty="0"/>
          </a:p>
        </p:txBody>
      </p:sp>
      <p:sp>
        <p:nvSpPr>
          <p:cNvPr id="111" name="Shape 109"/>
          <p:cNvSpPr/>
          <p:nvPr/>
        </p:nvSpPr>
        <p:spPr>
          <a:xfrm>
            <a:off x="6949440" y="1280160"/>
            <a:ext cx="91440" cy="0"/>
          </a:xfrm>
          <a:prstGeom prst="line">
            <a:avLst/>
          </a:prstGeom>
          <a:noFill/>
          <a:ln w="12700">
            <a:solidFill>
              <a:srgbClr val="6B7A8A"/>
            </a:solidFill>
            <a:prstDash val="solid"/>
          </a:ln>
        </p:spPr>
      </p:sp>
      <p:sp>
        <p:nvSpPr>
          <p:cNvPr id="112" name="Shape 110"/>
          <p:cNvSpPr/>
          <p:nvPr/>
        </p:nvSpPr>
        <p:spPr>
          <a:xfrm>
            <a:off x="7040880"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3" name="Text 111"/>
          <p:cNvSpPr/>
          <p:nvPr/>
        </p:nvSpPr>
        <p:spPr>
          <a:xfrm>
            <a:off x="7040880"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Refroid.</a:t>
            </a:r>
            <a:endParaRPr lang="en-US" sz="850" dirty="0"/>
          </a:p>
        </p:txBody>
      </p:sp>
      <p:sp>
        <p:nvSpPr>
          <p:cNvPr id="114" name="Shape 112"/>
          <p:cNvSpPr/>
          <p:nvPr/>
        </p:nvSpPr>
        <p:spPr>
          <a:xfrm>
            <a:off x="7918704" y="1280160"/>
            <a:ext cx="91440" cy="0"/>
          </a:xfrm>
          <a:prstGeom prst="line">
            <a:avLst/>
          </a:prstGeom>
          <a:noFill/>
          <a:ln w="12700">
            <a:solidFill>
              <a:srgbClr val="6B7A8A"/>
            </a:solidFill>
            <a:prstDash val="solid"/>
          </a:ln>
        </p:spPr>
      </p:sp>
      <p:sp>
        <p:nvSpPr>
          <p:cNvPr id="115" name="Shape 113"/>
          <p:cNvSpPr/>
          <p:nvPr/>
        </p:nvSpPr>
        <p:spPr>
          <a:xfrm>
            <a:off x="8010144"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6" name="Text 114"/>
          <p:cNvSpPr/>
          <p:nvPr/>
        </p:nvSpPr>
        <p:spPr>
          <a:xfrm>
            <a:off x="8010144"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Emballage</a:t>
            </a:r>
            <a:endParaRPr lang="en-US" sz="850" dirty="0"/>
          </a:p>
        </p:txBody>
      </p:sp>
      <p:sp>
        <p:nvSpPr>
          <p:cNvPr id="117" name="Shape 115"/>
          <p:cNvSpPr/>
          <p:nvPr/>
        </p:nvSpPr>
        <p:spPr>
          <a:xfrm>
            <a:off x="3236976" y="1627632"/>
            <a:ext cx="0" cy="475488"/>
          </a:xfrm>
          <a:prstGeom prst="line">
            <a:avLst/>
          </a:prstGeom>
          <a:noFill/>
          <a:ln w="12700">
            <a:solidFill>
              <a:srgbClr val="D4951A"/>
            </a:solidFill>
            <a:prstDash val="solid"/>
          </a:ln>
        </p:spPr>
      </p:sp>
      <p:sp>
        <p:nvSpPr>
          <p:cNvPr id="118" name="Text 116"/>
          <p:cNvSpPr/>
          <p:nvPr/>
        </p:nvSpPr>
        <p:spPr>
          <a:xfrm>
            <a:off x="2651760" y="2066544"/>
            <a:ext cx="1508760" cy="256032"/>
          </a:xfrm>
          <a:prstGeom prst="rect">
            <a:avLst/>
          </a:prstGeom>
          <a:noFill/>
          <a:ln/>
        </p:spPr>
        <p:txBody>
          <a:bodyPr wrap="square" rtlCol="0" anchor="ctr"/>
          <a:lstStyle/>
          <a:p>
            <a:pPr algn="ctr" indent="0" marL="0">
              <a:buNone/>
            </a:pPr>
            <a:r>
              <a:rPr lang="en-US" sz="900" b="1" dirty="0">
                <a:solidFill>
                  <a:srgbClr val="D4951A"/>
                </a:solidFill>
              </a:rPr>
              <a:t>🔥 VAPEUR</a:t>
            </a:r>
            <a:endParaRPr lang="en-US" sz="900" dirty="0"/>
          </a:p>
        </p:txBody>
      </p:sp>
      <p:sp>
        <p:nvSpPr>
          <p:cNvPr id="119" name="Shape 117"/>
          <p:cNvSpPr/>
          <p:nvPr/>
        </p:nvSpPr>
        <p:spPr>
          <a:xfrm>
            <a:off x="256032"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0" name="Shape 118"/>
          <p:cNvSpPr/>
          <p:nvPr/>
        </p:nvSpPr>
        <p:spPr>
          <a:xfrm>
            <a:off x="256032" y="2395728"/>
            <a:ext cx="2834640" cy="45720"/>
          </a:xfrm>
          <a:prstGeom prst="rect">
            <a:avLst/>
          </a:prstGeom>
          <a:solidFill>
            <a:srgbClr val="D4951A"/>
          </a:solidFill>
          <a:ln/>
        </p:spPr>
      </p:sp>
      <p:sp>
        <p:nvSpPr>
          <p:cNvPr id="121" name="Text 119"/>
          <p:cNvSpPr/>
          <p:nvPr/>
        </p:nvSpPr>
        <p:spPr>
          <a:xfrm>
            <a:off x="384048" y="2487168"/>
            <a:ext cx="2651760" cy="329184"/>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Vapeur au Conditionneur</a:t>
            </a:r>
            <a:endParaRPr lang="en-US" sz="1050" dirty="0"/>
          </a:p>
        </p:txBody>
      </p:sp>
      <p:sp>
        <p:nvSpPr>
          <p:cNvPr id="122" name="Text 120"/>
          <p:cNvSpPr/>
          <p:nvPr/>
        </p:nvSpPr>
        <p:spPr>
          <a:xfrm>
            <a:off x="384048"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Vapeur + eau injectées dans le mélange sec avant extrusion. Température portée à 80–90°C. Pré-gélatinise l'amidon, détruit les agents pathogènes (étape de destruction primaire — CCP). La pression doit être stable — toute fluctuation impacte directement la qualité produit et la validation HACCP.</a:t>
            </a:r>
            <a:endParaRPr lang="en-US" sz="900" dirty="0"/>
          </a:p>
        </p:txBody>
      </p:sp>
      <p:sp>
        <p:nvSpPr>
          <p:cNvPr id="123" name="Shape 121"/>
          <p:cNvSpPr/>
          <p:nvPr/>
        </p:nvSpPr>
        <p:spPr>
          <a:xfrm>
            <a:off x="3200400"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3200400" y="2395728"/>
            <a:ext cx="2834640" cy="45720"/>
          </a:xfrm>
          <a:prstGeom prst="rect">
            <a:avLst/>
          </a:prstGeom>
          <a:solidFill>
            <a:srgbClr val="C0622B"/>
          </a:solidFill>
          <a:ln/>
        </p:spPr>
      </p:sp>
      <p:sp>
        <p:nvSpPr>
          <p:cNvPr id="125" name="Text 123"/>
          <p:cNvSpPr/>
          <p:nvPr/>
        </p:nvSpPr>
        <p:spPr>
          <a:xfrm>
            <a:off x="3328416" y="2487168"/>
            <a:ext cx="2651760" cy="329184"/>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Chauffage des Zones Extrudeur</a:t>
            </a:r>
            <a:endParaRPr lang="en-US" sz="1050" dirty="0"/>
          </a:p>
        </p:txBody>
      </p:sp>
      <p:sp>
        <p:nvSpPr>
          <p:cNvPr id="126" name="Text 124"/>
          <p:cNvSpPr/>
          <p:nvPr/>
        </p:nvSpPr>
        <p:spPr>
          <a:xfrm>
            <a:off x="3328416"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Chauffage indirect par vapeur des six zones de températures du fourreau (80°C → 160°C). Chaque zone est régulée par PID. Une pression vapeur stable est essentielle pour le taux d'expansion, la densité apparente et la gélatinisation — les trois paramètres qualité fondamentaux du kibble.</a:t>
            </a:r>
            <a:endParaRPr lang="en-US" sz="900" dirty="0"/>
          </a:p>
        </p:txBody>
      </p:sp>
      <p:sp>
        <p:nvSpPr>
          <p:cNvPr id="127" name="Shape 125"/>
          <p:cNvSpPr/>
          <p:nvPr/>
        </p:nvSpPr>
        <p:spPr>
          <a:xfrm>
            <a:off x="6144768"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8" name="Shape 126"/>
          <p:cNvSpPr/>
          <p:nvPr/>
        </p:nvSpPr>
        <p:spPr>
          <a:xfrm>
            <a:off x="6144768" y="2395728"/>
            <a:ext cx="2834640" cy="45720"/>
          </a:xfrm>
          <a:prstGeom prst="rect">
            <a:avLst/>
          </a:prstGeom>
          <a:solidFill>
            <a:srgbClr val="1B9A8A"/>
          </a:solidFill>
          <a:ln/>
        </p:spPr>
      </p:sp>
      <p:sp>
        <p:nvSpPr>
          <p:cNvPr id="129" name="Text 127"/>
          <p:cNvSpPr/>
          <p:nvPr/>
        </p:nvSpPr>
        <p:spPr>
          <a:xfrm>
            <a:off x="6272784" y="2487168"/>
            <a:ext cx="2651760" cy="329184"/>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Sécheur &amp; Services Généraux</a:t>
            </a:r>
            <a:endParaRPr lang="en-US" sz="1050" dirty="0"/>
          </a:p>
        </p:txBody>
      </p:sp>
      <p:sp>
        <p:nvSpPr>
          <p:cNvPr id="130" name="Text 128"/>
          <p:cNvSpPr/>
          <p:nvPr/>
        </p:nvSpPr>
        <p:spPr>
          <a:xfrm>
            <a:off x="6272784"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Vapeur pour le préchauffage du circuit sécheur, le traçage thermique des cuves à huile (2×20 000 L), les cycles de nettoyage CIP et le chauffage général. Charges secondaires mais continues — la chaudière atteint rarement le ralenti pendant un quart de production.</a:t>
            </a:r>
            <a:endParaRPr lang="en-US" sz="900" dirty="0"/>
          </a:p>
        </p:txBody>
      </p:sp>
      <p:sp>
        <p:nvSpPr>
          <p:cNvPr id="131" name="Shape 12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9" name="Text 20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MÉTHODOLOGIE DE DIMENSIONNEMENT</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De la valeur contractuelle à la puissance nominale correcte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1993392" cy="45720"/>
          </a:xfrm>
          <a:prstGeom prst="rect">
            <a:avLst/>
          </a:prstGeom>
          <a:solidFill>
            <a:srgbClr val="6B7A8A"/>
          </a:solidFill>
          <a:ln/>
        </p:spPr>
      </p:sp>
      <p:sp>
        <p:nvSpPr>
          <p:cNvPr id="90" name="Text 88"/>
          <p:cNvSpPr/>
          <p:nvPr/>
        </p:nvSpPr>
        <p:spPr>
          <a:xfrm>
            <a:off x="256032" y="987552"/>
            <a:ext cx="1993392" cy="640080"/>
          </a:xfrm>
          <a:prstGeom prst="rect">
            <a:avLst/>
          </a:prstGeom>
          <a:noFill/>
          <a:ln/>
        </p:spPr>
        <p:txBody>
          <a:bodyPr wrap="square" rtlCol="0" anchor="ctr"/>
          <a:lstStyle/>
          <a:p>
            <a:pPr algn="ctr" indent="0" marL="0">
              <a:buNone/>
            </a:pPr>
            <a:r>
              <a:rPr lang="en-US" sz="3000" b="1" dirty="0">
                <a:solidFill>
                  <a:srgbClr val="6B7A8A"/>
                </a:solidFill>
                <a:latin typeface="Georgia" pitchFamily="34" charset="0"/>
                <a:ea typeface="Georgia" pitchFamily="34" charset="-122"/>
                <a:cs typeface="Georgia" pitchFamily="34" charset="-120"/>
              </a:rPr>
              <a:t>2 123</a:t>
            </a:r>
            <a:endParaRPr lang="en-US" sz="3000" dirty="0"/>
          </a:p>
        </p:txBody>
      </p:sp>
      <p:sp>
        <p:nvSpPr>
          <p:cNvPr id="91" name="Text 89"/>
          <p:cNvSpPr/>
          <p:nvPr/>
        </p:nvSpPr>
        <p:spPr>
          <a:xfrm>
            <a:off x="256032"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Kg/H</a:t>
            </a:r>
            <a:endParaRPr lang="en-US" sz="1000" dirty="0"/>
          </a:p>
        </p:txBody>
      </p:sp>
      <p:sp>
        <p:nvSpPr>
          <p:cNvPr id="92" name="Text 90"/>
          <p:cNvSpPr/>
          <p:nvPr/>
        </p:nvSpPr>
        <p:spPr>
          <a:xfrm>
            <a:off x="256032"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Spéc. Contractuelle FAMSUN</a:t>
            </a:r>
            <a:endParaRPr lang="en-US" sz="850" dirty="0"/>
          </a:p>
        </p:txBody>
      </p:sp>
      <p:sp>
        <p:nvSpPr>
          <p:cNvPr id="93" name="Shape 91"/>
          <p:cNvSpPr/>
          <p:nvPr/>
        </p:nvSpPr>
        <p:spPr>
          <a:xfrm>
            <a:off x="2377440"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4" name="Shape 92"/>
          <p:cNvSpPr/>
          <p:nvPr/>
        </p:nvSpPr>
        <p:spPr>
          <a:xfrm>
            <a:off x="2377440" y="932688"/>
            <a:ext cx="1993392" cy="45720"/>
          </a:xfrm>
          <a:prstGeom prst="rect">
            <a:avLst/>
          </a:prstGeom>
          <a:solidFill>
            <a:srgbClr val="C0622B"/>
          </a:solidFill>
          <a:ln/>
        </p:spPr>
      </p:sp>
      <p:sp>
        <p:nvSpPr>
          <p:cNvPr id="95" name="Text 93"/>
          <p:cNvSpPr/>
          <p:nvPr/>
        </p:nvSpPr>
        <p:spPr>
          <a:xfrm>
            <a:off x="2377440" y="987552"/>
            <a:ext cx="1993392" cy="640080"/>
          </a:xfrm>
          <a:prstGeom prst="rect">
            <a:avLst/>
          </a:prstGeom>
          <a:noFill/>
          <a:ln/>
        </p:spPr>
        <p:txBody>
          <a:bodyPr wrap="square" rtlCol="0" anchor="ctr"/>
          <a:lstStyle/>
          <a:p>
            <a:pPr algn="ctr" indent="0" marL="0">
              <a:buNone/>
            </a:pPr>
            <a:r>
              <a:rPr lang="en-US" sz="3000" b="1" dirty="0">
                <a:solidFill>
                  <a:srgbClr val="C0622B"/>
                </a:solidFill>
                <a:latin typeface="Georgia" pitchFamily="34" charset="0"/>
                <a:ea typeface="Georgia" pitchFamily="34" charset="-122"/>
                <a:cs typeface="Georgia" pitchFamily="34" charset="-120"/>
              </a:rPr>
              <a:t>≥10%</a:t>
            </a:r>
            <a:endParaRPr lang="en-US" sz="3000" dirty="0"/>
          </a:p>
        </p:txBody>
      </p:sp>
      <p:sp>
        <p:nvSpPr>
          <p:cNvPr id="96" name="Text 94"/>
          <p:cNvSpPr/>
          <p:nvPr/>
        </p:nvSpPr>
        <p:spPr>
          <a:xfrm>
            <a:off x="2377440"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Marge</a:t>
            </a:r>
            <a:endParaRPr lang="en-US" sz="1000" dirty="0"/>
          </a:p>
        </p:txBody>
      </p:sp>
      <p:sp>
        <p:nvSpPr>
          <p:cNvPr id="97" name="Text 95"/>
          <p:cNvSpPr/>
          <p:nvPr/>
        </p:nvSpPr>
        <p:spPr>
          <a:xfrm>
            <a:off x="2377440"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Purge + Démarrage</a:t>
            </a:r>
            <a:endParaRPr lang="en-US" sz="850" dirty="0"/>
          </a:p>
        </p:txBody>
      </p:sp>
      <p:sp>
        <p:nvSpPr>
          <p:cNvPr id="98" name="Shape 96"/>
          <p:cNvSpPr/>
          <p:nvPr/>
        </p:nvSpPr>
        <p:spPr>
          <a:xfrm>
            <a:off x="4498848"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9" name="Shape 97"/>
          <p:cNvSpPr/>
          <p:nvPr/>
        </p:nvSpPr>
        <p:spPr>
          <a:xfrm>
            <a:off x="4498848" y="932688"/>
            <a:ext cx="1993392" cy="45720"/>
          </a:xfrm>
          <a:prstGeom prst="rect">
            <a:avLst/>
          </a:prstGeom>
          <a:solidFill>
            <a:srgbClr val="D4951A"/>
          </a:solidFill>
          <a:ln/>
        </p:spPr>
      </p:sp>
      <p:sp>
        <p:nvSpPr>
          <p:cNvPr id="100" name="Text 98"/>
          <p:cNvSpPr/>
          <p:nvPr/>
        </p:nvSpPr>
        <p:spPr>
          <a:xfrm>
            <a:off x="4498848" y="987552"/>
            <a:ext cx="1993392" cy="640080"/>
          </a:xfrm>
          <a:prstGeom prst="rect">
            <a:avLst/>
          </a:prstGeom>
          <a:noFill/>
          <a:ln/>
        </p:spPr>
        <p:txBody>
          <a:bodyPr wrap="square" rtlCol="0" anchor="ctr"/>
          <a:lstStyle/>
          <a:p>
            <a:pPr algn="ctr" indent="0" marL="0">
              <a:buNone/>
            </a:pPr>
            <a:r>
              <a:rPr lang="en-US" sz="3000" b="1" dirty="0">
                <a:solidFill>
                  <a:srgbClr val="D4951A"/>
                </a:solidFill>
                <a:latin typeface="Georgia" pitchFamily="34" charset="0"/>
                <a:ea typeface="Georgia" pitchFamily="34" charset="-122"/>
                <a:cs typeface="Georgia" pitchFamily="34" charset="-120"/>
              </a:rPr>
              <a:t>2 500</a:t>
            </a:r>
            <a:endParaRPr lang="en-US" sz="3000" dirty="0"/>
          </a:p>
        </p:txBody>
      </p:sp>
      <p:sp>
        <p:nvSpPr>
          <p:cNvPr id="101" name="Text 99"/>
          <p:cNvSpPr/>
          <p:nvPr/>
        </p:nvSpPr>
        <p:spPr>
          <a:xfrm>
            <a:off x="4498848"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Kg/H</a:t>
            </a:r>
            <a:endParaRPr lang="en-US" sz="1000" dirty="0"/>
          </a:p>
        </p:txBody>
      </p:sp>
      <p:sp>
        <p:nvSpPr>
          <p:cNvPr id="102" name="Text 100"/>
          <p:cNvSpPr/>
          <p:nvPr/>
        </p:nvSpPr>
        <p:spPr>
          <a:xfrm>
            <a:off x="4498848"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Puissance Nominale Cible</a:t>
            </a:r>
            <a:endParaRPr lang="en-US" sz="850" dirty="0"/>
          </a:p>
        </p:txBody>
      </p:sp>
      <p:sp>
        <p:nvSpPr>
          <p:cNvPr id="103" name="Shape 101"/>
          <p:cNvSpPr/>
          <p:nvPr/>
        </p:nvSpPr>
        <p:spPr>
          <a:xfrm>
            <a:off x="6620256"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4" name="Shape 102"/>
          <p:cNvSpPr/>
          <p:nvPr/>
        </p:nvSpPr>
        <p:spPr>
          <a:xfrm>
            <a:off x="6620256" y="932688"/>
            <a:ext cx="1993392" cy="45720"/>
          </a:xfrm>
          <a:prstGeom prst="rect">
            <a:avLst/>
          </a:prstGeom>
          <a:solidFill>
            <a:srgbClr val="1B9A8A"/>
          </a:solidFill>
          <a:ln/>
        </p:spPr>
      </p:sp>
      <p:sp>
        <p:nvSpPr>
          <p:cNvPr id="105" name="Text 103"/>
          <p:cNvSpPr/>
          <p:nvPr/>
        </p:nvSpPr>
        <p:spPr>
          <a:xfrm>
            <a:off x="6620256" y="987552"/>
            <a:ext cx="1993392" cy="640080"/>
          </a:xfrm>
          <a:prstGeom prst="rect">
            <a:avLst/>
          </a:prstGeom>
          <a:noFill/>
          <a:ln/>
        </p:spPr>
        <p:txBody>
          <a:bodyPr wrap="square" rtlCol="0" anchor="ctr"/>
          <a:lstStyle/>
          <a:p>
            <a:pPr algn="ctr" indent="0" marL="0">
              <a:buNone/>
            </a:pPr>
            <a:r>
              <a:rPr lang="en-US" sz="3000" b="1" dirty="0">
                <a:solidFill>
                  <a:srgbClr val="1B9A8A"/>
                </a:solidFill>
                <a:latin typeface="Georgia" pitchFamily="34" charset="0"/>
                <a:ea typeface="Georgia" pitchFamily="34" charset="-122"/>
                <a:cs typeface="Georgia" pitchFamily="34" charset="-120"/>
              </a:rPr>
              <a:t>×2</a:t>
            </a:r>
            <a:endParaRPr lang="en-US" sz="3000" dirty="0"/>
          </a:p>
        </p:txBody>
      </p:sp>
      <p:sp>
        <p:nvSpPr>
          <p:cNvPr id="106" name="Text 104"/>
          <p:cNvSpPr/>
          <p:nvPr/>
        </p:nvSpPr>
        <p:spPr>
          <a:xfrm>
            <a:off x="6620256"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Lignes</a:t>
            </a:r>
            <a:endParaRPr lang="en-US" sz="1000" dirty="0"/>
          </a:p>
        </p:txBody>
      </p:sp>
      <p:sp>
        <p:nvSpPr>
          <p:cNvPr id="107" name="Text 105"/>
          <p:cNvSpPr/>
          <p:nvPr/>
        </p:nvSpPr>
        <p:spPr>
          <a:xfrm>
            <a:off x="6620256"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Vision An 1 → 5 000 Kg/H</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56032" y="2231136"/>
          <a:ext cx="8631936" cy="914400"/>
        </p:xfrm>
        <a:graphic>
          <a:graphicData uri="http://schemas.openxmlformats.org/drawingml/2006/table">
            <a:tbl>
              <a:tblPr/>
              <a:tblGrid>
                <a:gridCol w="3108960"/>
                <a:gridCol w="1828800"/>
                <a:gridCol w="3694176"/>
              </a:tblGrid>
              <a:tr h="283464">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Élément de dimensionnement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Spécification</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Justification technique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Demande vapeur contractuelle FAMSUN</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2 123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Périmètre confirmé — conditionneur, fourreau, circuit sécheur</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Perte purge (GPL, eau dure Maroc)</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+ 150–200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Taux de purge ~7–10% typique en fonctionnement GPL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Pics de démarrage et transitoires</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+ 100–150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Le démarrage extrudeur génère un appel vapeur de pointe avant régime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b="1" dirty="0">
                          <a:solidFill>
                            <a:srgbClr val="D4951A"/>
                          </a:solidFill>
                          <a:latin typeface="Calibri" pitchFamily="34" charset="0"/>
                          <a:ea typeface="Calibri" pitchFamily="34" charset="-122"/>
                          <a:cs typeface="Calibri" pitchFamily="34" charset="-120"/>
                        </a:rPr>
                        <a:t>Puissance nominale recommandée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b="1" dirty="0">
                          <a:solidFill>
                            <a:srgbClr val="D4951A"/>
                          </a:solidFill>
                          <a:latin typeface="Calibri" pitchFamily="34" charset="0"/>
                          <a:ea typeface="Calibri" pitchFamily="34" charset="-122"/>
                          <a:cs typeface="Calibri" pitchFamily="34" charset="-120"/>
                        </a:rPr>
                        <a:t>2 400–2 600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Marge opérationnelle sécurisée — ne jamais exploiter à puissance nominale max</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283464">
                <a:tc>
                  <a:txBody>
                    <a:bodyPr/>
                    <a:lstStyle/>
                    <a:p>
                      <a:pPr indent="0" marL="0">
                        <a:buNone/>
                      </a:pPr>
                      <a:r>
                        <a:rPr lang="en-US" sz="950" b="1" dirty="0">
                          <a:solidFill>
                            <a:srgbClr val="D4951A"/>
                          </a:solidFill>
                          <a:latin typeface="Calibri" pitchFamily="34" charset="0"/>
                          <a:ea typeface="Calibri" pitchFamily="34" charset="-122"/>
                          <a:cs typeface="Calibri" pitchFamily="34" charset="-120"/>
                        </a:rPr>
                        <a:t>Pression de service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b="1" dirty="0">
                          <a:solidFill>
                            <a:srgbClr val="D4951A"/>
                          </a:solidFill>
                          <a:latin typeface="Calibri" pitchFamily="34" charset="0"/>
                          <a:ea typeface="Calibri" pitchFamily="34" charset="-122"/>
                          <a:cs typeface="Calibri" pitchFamily="34" charset="-120"/>
                        </a:rPr>
                        <a:t>5 bar(e)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Dimensionné au-dessus du minimum 3 bar(e) — chute de pression en distribution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Type de vapeur</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Saturée sèche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Titre vapeur ≥0,95 requis. Vapeur surchauffée non nécessaire.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109" name="Shape 106"/>
          <p:cNvSpPr/>
          <p:nvPr/>
        </p:nvSpPr>
        <p:spPr>
          <a:xfrm>
            <a:off x="256032" y="4242816"/>
            <a:ext cx="8631936" cy="54864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10" name="Shape 107"/>
          <p:cNvSpPr/>
          <p:nvPr/>
        </p:nvSpPr>
        <p:spPr>
          <a:xfrm>
            <a:off x="256032" y="4242816"/>
            <a:ext cx="54864" cy="548640"/>
          </a:xfrm>
          <a:prstGeom prst="rect">
            <a:avLst/>
          </a:prstGeom>
          <a:solidFill>
            <a:srgbClr val="1B9A8A"/>
          </a:solidFill>
          <a:ln/>
        </p:spPr>
      </p:sp>
      <p:sp>
        <p:nvSpPr>
          <p:cNvPr id="111" name="Text 108"/>
          <p:cNvSpPr/>
          <p:nvPr/>
        </p:nvSpPr>
        <p:spPr>
          <a:xfrm>
            <a:off x="402336" y="4279392"/>
            <a:ext cx="8321040" cy="475488"/>
          </a:xfrm>
          <a:prstGeom prst="rect">
            <a:avLst/>
          </a:prstGeom>
          <a:noFill/>
          <a:ln/>
        </p:spPr>
        <p:txBody>
          <a:bodyPr wrap="square" rtlCol="0" anchor="ctr"/>
          <a:lstStyle/>
          <a:p>
            <a:pPr indent="0" marL="0">
              <a:buNone/>
            </a:pPr>
            <a:r>
              <a:rPr lang="en-US" sz="1050" b="1" dirty="0">
                <a:solidFill>
                  <a:srgbClr val="1B9A8A"/>
                </a:solidFill>
                <a:latin typeface="Calibri" pitchFamily="34" charset="0"/>
                <a:ea typeface="Calibri" pitchFamily="34" charset="-122"/>
                <a:cs typeface="Calibri" pitchFamily="34" charset="-120"/>
              </a:rPr>
              <a:t>Vision Deux Lignes : </a:t>
            </a:r>
            <a:pPr indent="0" marL="0">
              <a:buNone/>
            </a:pPr>
            <a:r>
              <a:rPr lang="en-US" sz="1000" dirty="0">
                <a:solidFill>
                  <a:srgbClr val="EDE0C8"/>
                </a:solidFill>
                <a:latin typeface="Calibri" pitchFamily="34" charset="0"/>
                <a:ea typeface="Calibri" pitchFamily="34" charset="-122"/>
                <a:cs typeface="Calibri" pitchFamily="34" charset="-120"/>
              </a:rPr>
              <a:t>Ne PAS acheter une seule chaudière de 5 000 Kg/H partagée. Acheter DEUX unités indépendantes de 2 500 Kg/H — une par ligne. Cela garantit l'indépendance opérationnelle, la redondance N+1, l'efficacité à charge partielle et la maintenabilité sans arrêt de production.</a:t>
            </a:r>
            <a:endParaRPr lang="en-US" sz="1050" dirty="0"/>
          </a:p>
        </p:txBody>
      </p:sp>
      <p:sp>
        <p:nvSpPr>
          <p:cNvPr id="112" name="Shape 10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70" name="Shape 16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71" name="Shape 16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72" name="Shape 16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73" name="Shape 17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74" name="Shape 17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75" name="Shape 17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76" name="Shape 17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77" name="Shape 17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78" name="Shape 17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79" name="Shape 17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80" name="Shape 17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81" name="Shape 17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82" name="Shape 17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83" name="Shape 18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84" name="Shape 18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85" name="Shape 18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86" name="Shape 18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87" name="Shape 18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88" name="Shape 18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89" name="Shape 18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90" name="Text 18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COMPARAISON TECHNOLOGIQUE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Générateur de Vapeur Instantané (GVI) vs Chaudière Conventionnelle à Tubes de Fumée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14400"/>
            <a:ext cx="3072384" cy="420624"/>
          </a:xfrm>
          <a:prstGeom prst="rect">
            <a:avLst/>
          </a:prstGeom>
          <a:solidFill>
            <a:srgbClr val="141418"/>
          </a:solidFill>
          <a:ln/>
          <a:effectLst>
            <a:outerShdw sx="100000" sy="100000" kx="0" ky="0" algn="bl" rotWithShape="0" blurRad="76200" dist="25400" dir="8100000">
              <a:srgbClr val="000000">
                <a:alpha val="30000"/>
              </a:srgbClr>
            </a:outerShdw>
          </a:effectLst>
        </p:spPr>
      </p:sp>
      <p:sp>
        <p:nvSpPr>
          <p:cNvPr id="89" name="Text 87"/>
          <p:cNvSpPr/>
          <p:nvPr/>
        </p:nvSpPr>
        <p:spPr>
          <a:xfrm>
            <a:off x="329184" y="914400"/>
            <a:ext cx="2926080" cy="420624"/>
          </a:xfrm>
          <a:prstGeom prst="rect">
            <a:avLst/>
          </a:prstGeom>
          <a:noFill/>
          <a:ln/>
        </p:spPr>
        <p:txBody>
          <a:bodyPr wrap="square" rtlCol="0" anchor="ctr"/>
          <a:lstStyle/>
          <a:p>
            <a:pPr indent="0" marL="0">
              <a:buNone/>
            </a:pPr>
            <a:r>
              <a:rPr lang="en-US" sz="1150" b="1" dirty="0">
                <a:solidFill>
                  <a:srgbClr val="D8C9A8"/>
                </a:solidFill>
                <a:latin typeface="Georgia" pitchFamily="34" charset="0"/>
                <a:ea typeface="Georgia" pitchFamily="34" charset="-122"/>
                <a:cs typeface="Georgia" pitchFamily="34" charset="-120"/>
              </a:rPr>
              <a:t>CRITÈRES</a:t>
            </a:r>
            <a:endParaRPr lang="en-US" sz="1150" dirty="0"/>
          </a:p>
        </p:txBody>
      </p:sp>
      <p:sp>
        <p:nvSpPr>
          <p:cNvPr id="90" name="Shape 88"/>
          <p:cNvSpPr/>
          <p:nvPr/>
        </p:nvSpPr>
        <p:spPr>
          <a:xfrm>
            <a:off x="3419856" y="914400"/>
            <a:ext cx="2779776" cy="420624"/>
          </a:xfrm>
          <a:prstGeom prst="rect">
            <a:avLst/>
          </a:prstGeom>
          <a:solidFill>
            <a:srgbClr val="1B9A8A"/>
          </a:solidFill>
          <a:ln/>
          <a:effectLst>
            <a:outerShdw sx="100000" sy="100000" kx="0" ky="0" algn="bl" rotWithShape="0" blurRad="76200" dist="25400" dir="8100000">
              <a:srgbClr val="000000">
                <a:alpha val="30000"/>
              </a:srgbClr>
            </a:outerShdw>
          </a:effectLst>
        </p:spPr>
      </p:sp>
      <p:sp>
        <p:nvSpPr>
          <p:cNvPr id="91" name="Text 89"/>
          <p:cNvSpPr/>
          <p:nvPr/>
        </p:nvSpPr>
        <p:spPr>
          <a:xfrm>
            <a:off x="3493008" y="914400"/>
            <a:ext cx="2651760" cy="420624"/>
          </a:xfrm>
          <a:prstGeom prst="rect">
            <a:avLst/>
          </a:prstGeom>
          <a:noFill/>
          <a:ln/>
        </p:spPr>
        <p:txBody>
          <a:bodyPr wrap="square" rtlCol="0" anchor="ctr"/>
          <a:lstStyle/>
          <a:p>
            <a:pPr indent="0" marL="0">
              <a:buNone/>
            </a:pPr>
            <a:r>
              <a:rPr lang="en-US" sz="1150" b="1" dirty="0">
                <a:solidFill>
                  <a:srgbClr val="09090F"/>
                </a:solidFill>
                <a:latin typeface="Georgia" pitchFamily="34" charset="0"/>
                <a:ea typeface="Georgia" pitchFamily="34" charset="-122"/>
                <a:cs typeface="Georgia" pitchFamily="34" charset="-120"/>
              </a:rPr>
              <a:t>GVI — INSTANTANÉ</a:t>
            </a:r>
            <a:endParaRPr lang="en-US" sz="1150" dirty="0"/>
          </a:p>
        </p:txBody>
      </p:sp>
      <p:sp>
        <p:nvSpPr>
          <p:cNvPr id="92" name="Shape 90"/>
          <p:cNvSpPr/>
          <p:nvPr/>
        </p:nvSpPr>
        <p:spPr>
          <a:xfrm>
            <a:off x="6291072" y="914400"/>
            <a:ext cx="2779776" cy="420624"/>
          </a:xfrm>
          <a:prstGeom prst="rect">
            <a:avLst/>
          </a:prstGeom>
          <a:solidFill>
            <a:srgbClr val="C0622B"/>
          </a:solidFill>
          <a:ln/>
          <a:effectLst>
            <a:outerShdw sx="100000" sy="100000" kx="0" ky="0" algn="bl" rotWithShape="0" blurRad="76200" dist="25400" dir="8100000">
              <a:srgbClr val="000000">
                <a:alpha val="30000"/>
              </a:srgbClr>
            </a:outerShdw>
          </a:effectLst>
        </p:spPr>
      </p:sp>
      <p:sp>
        <p:nvSpPr>
          <p:cNvPr id="93" name="Text 91"/>
          <p:cNvSpPr/>
          <p:nvPr/>
        </p:nvSpPr>
        <p:spPr>
          <a:xfrm>
            <a:off x="6364224" y="914400"/>
            <a:ext cx="2651760" cy="420624"/>
          </a:xfrm>
          <a:prstGeom prst="rect">
            <a:avLst/>
          </a:prstGeom>
          <a:noFill/>
          <a:ln/>
        </p:spPr>
        <p:txBody>
          <a:bodyPr wrap="square" rtlCol="0" anchor="ctr"/>
          <a:lstStyle/>
          <a:p>
            <a:pPr indent="0" marL="0">
              <a:buNone/>
            </a:pPr>
            <a:r>
              <a:rPr lang="en-US" sz="1150" b="1" dirty="0">
                <a:solidFill>
                  <a:srgbClr val="09090F"/>
                </a:solidFill>
                <a:latin typeface="Georgia" pitchFamily="34" charset="0"/>
                <a:ea typeface="Georgia" pitchFamily="34" charset="-122"/>
                <a:cs typeface="Georgia" pitchFamily="34" charset="-120"/>
              </a:rPr>
              <a:t>TUBES DE FUMÉE</a:t>
            </a:r>
            <a:endParaRPr lang="en-US" sz="1150" dirty="0"/>
          </a:p>
        </p:txBody>
      </p:sp>
      <p:sp>
        <p:nvSpPr>
          <p:cNvPr id="94" name="Shape 92"/>
          <p:cNvSpPr/>
          <p:nvPr/>
        </p:nvSpPr>
        <p:spPr>
          <a:xfrm>
            <a:off x="256032" y="1408176"/>
            <a:ext cx="3072384" cy="338328"/>
          </a:xfrm>
          <a:prstGeom prst="rect">
            <a:avLst/>
          </a:prstGeom>
          <a:solidFill>
            <a:srgbClr val="141418"/>
          </a:solidFill>
          <a:ln w="12700">
            <a:solidFill>
              <a:srgbClr val="1E1E26"/>
            </a:solidFill>
            <a:prstDash val="solid"/>
          </a:ln>
        </p:spPr>
      </p:sp>
      <p:sp>
        <p:nvSpPr>
          <p:cNvPr id="95" name="Text 93"/>
          <p:cNvSpPr/>
          <p:nvPr/>
        </p:nvSpPr>
        <p:spPr>
          <a:xfrm>
            <a:off x="329184" y="1408176"/>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Temps à pleine vapeur</a:t>
            </a:r>
            <a:endParaRPr lang="en-US" sz="900" dirty="0"/>
          </a:p>
        </p:txBody>
      </p:sp>
      <p:sp>
        <p:nvSpPr>
          <p:cNvPr id="96" name="Shape 94"/>
          <p:cNvSpPr/>
          <p:nvPr/>
        </p:nvSpPr>
        <p:spPr>
          <a:xfrm>
            <a:off x="3419856" y="1408176"/>
            <a:ext cx="2779776" cy="338328"/>
          </a:xfrm>
          <a:prstGeom prst="rect">
            <a:avLst/>
          </a:prstGeom>
          <a:solidFill>
            <a:srgbClr val="141418"/>
          </a:solidFill>
          <a:ln w="12700">
            <a:solidFill>
              <a:srgbClr val="1E1E26"/>
            </a:solidFill>
            <a:prstDash val="solid"/>
          </a:ln>
        </p:spPr>
      </p:sp>
      <p:sp>
        <p:nvSpPr>
          <p:cNvPr id="97" name="Text 95"/>
          <p:cNvSpPr/>
          <p:nvPr/>
        </p:nvSpPr>
        <p:spPr>
          <a:xfrm>
            <a:off x="3493008" y="1408176"/>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3–5 minutes</a:t>
            </a:r>
            <a:endParaRPr lang="en-US" sz="900" dirty="0"/>
          </a:p>
        </p:txBody>
      </p:sp>
      <p:sp>
        <p:nvSpPr>
          <p:cNvPr id="98" name="Shape 96"/>
          <p:cNvSpPr/>
          <p:nvPr/>
        </p:nvSpPr>
        <p:spPr>
          <a:xfrm>
            <a:off x="6291072" y="1408176"/>
            <a:ext cx="2779776" cy="338328"/>
          </a:xfrm>
          <a:prstGeom prst="rect">
            <a:avLst/>
          </a:prstGeom>
          <a:solidFill>
            <a:srgbClr val="141418"/>
          </a:solidFill>
          <a:ln w="12700">
            <a:solidFill>
              <a:srgbClr val="1E1E26"/>
            </a:solidFill>
            <a:prstDash val="solid"/>
          </a:ln>
        </p:spPr>
      </p:sp>
      <p:sp>
        <p:nvSpPr>
          <p:cNvPr id="99" name="Text 97"/>
          <p:cNvSpPr/>
          <p:nvPr/>
        </p:nvSpPr>
        <p:spPr>
          <a:xfrm>
            <a:off x="6364224" y="1408176"/>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30–60 minutes</a:t>
            </a:r>
            <a:endParaRPr lang="en-US" sz="900" dirty="0"/>
          </a:p>
        </p:txBody>
      </p:sp>
      <p:sp>
        <p:nvSpPr>
          <p:cNvPr id="100" name="Shape 98"/>
          <p:cNvSpPr/>
          <p:nvPr/>
        </p:nvSpPr>
        <p:spPr>
          <a:xfrm>
            <a:off x="256032" y="1752905"/>
            <a:ext cx="3072384" cy="338328"/>
          </a:xfrm>
          <a:prstGeom prst="rect">
            <a:avLst/>
          </a:prstGeom>
          <a:solidFill>
            <a:srgbClr val="111115"/>
          </a:solidFill>
          <a:ln w="12700">
            <a:solidFill>
              <a:srgbClr val="1E1E26"/>
            </a:solidFill>
            <a:prstDash val="solid"/>
          </a:ln>
        </p:spPr>
      </p:sp>
      <p:sp>
        <p:nvSpPr>
          <p:cNvPr id="101" name="Text 99"/>
          <p:cNvSpPr/>
          <p:nvPr/>
        </p:nvSpPr>
        <p:spPr>
          <a:xfrm>
            <a:off x="329184" y="1752905"/>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Efficacité thermique (PCI)</a:t>
            </a:r>
            <a:endParaRPr lang="en-US" sz="900" dirty="0"/>
          </a:p>
        </p:txBody>
      </p:sp>
      <p:sp>
        <p:nvSpPr>
          <p:cNvPr id="102" name="Shape 100"/>
          <p:cNvSpPr/>
          <p:nvPr/>
        </p:nvSpPr>
        <p:spPr>
          <a:xfrm>
            <a:off x="3419856" y="1752905"/>
            <a:ext cx="2779776" cy="338328"/>
          </a:xfrm>
          <a:prstGeom prst="rect">
            <a:avLst/>
          </a:prstGeom>
          <a:solidFill>
            <a:srgbClr val="111115"/>
          </a:solidFill>
          <a:ln w="12700">
            <a:solidFill>
              <a:srgbClr val="1E1E26"/>
            </a:solidFill>
            <a:prstDash val="solid"/>
          </a:ln>
        </p:spPr>
      </p:sp>
      <p:sp>
        <p:nvSpPr>
          <p:cNvPr id="103" name="Text 101"/>
          <p:cNvSpPr/>
          <p:nvPr/>
        </p:nvSpPr>
        <p:spPr>
          <a:xfrm>
            <a:off x="3493008" y="1752905"/>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90–95%</a:t>
            </a:r>
            <a:endParaRPr lang="en-US" sz="900" dirty="0"/>
          </a:p>
        </p:txBody>
      </p:sp>
      <p:sp>
        <p:nvSpPr>
          <p:cNvPr id="104" name="Shape 102"/>
          <p:cNvSpPr/>
          <p:nvPr/>
        </p:nvSpPr>
        <p:spPr>
          <a:xfrm>
            <a:off x="6291072" y="1752905"/>
            <a:ext cx="2779776" cy="338328"/>
          </a:xfrm>
          <a:prstGeom prst="rect">
            <a:avLst/>
          </a:prstGeom>
          <a:solidFill>
            <a:srgbClr val="111115"/>
          </a:solidFill>
          <a:ln w="12700">
            <a:solidFill>
              <a:srgbClr val="1E1E26"/>
            </a:solidFill>
            <a:prstDash val="solid"/>
          </a:ln>
        </p:spPr>
      </p:sp>
      <p:sp>
        <p:nvSpPr>
          <p:cNvPr id="105" name="Text 103"/>
          <p:cNvSpPr/>
          <p:nvPr/>
        </p:nvSpPr>
        <p:spPr>
          <a:xfrm>
            <a:off x="6364224" y="1752905"/>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82–88%</a:t>
            </a:r>
            <a:endParaRPr lang="en-US" sz="900" dirty="0"/>
          </a:p>
        </p:txBody>
      </p:sp>
      <p:sp>
        <p:nvSpPr>
          <p:cNvPr id="106" name="Shape 104"/>
          <p:cNvSpPr/>
          <p:nvPr/>
        </p:nvSpPr>
        <p:spPr>
          <a:xfrm>
            <a:off x="256032" y="2097634"/>
            <a:ext cx="3072384" cy="338328"/>
          </a:xfrm>
          <a:prstGeom prst="rect">
            <a:avLst/>
          </a:prstGeom>
          <a:solidFill>
            <a:srgbClr val="141418"/>
          </a:solidFill>
          <a:ln w="12700">
            <a:solidFill>
              <a:srgbClr val="1E1E26"/>
            </a:solidFill>
            <a:prstDash val="solid"/>
          </a:ln>
        </p:spPr>
      </p:sp>
      <p:sp>
        <p:nvSpPr>
          <p:cNvPr id="107" name="Text 105"/>
          <p:cNvSpPr/>
          <p:nvPr/>
        </p:nvSpPr>
        <p:spPr>
          <a:xfrm>
            <a:off x="329184" y="2097634"/>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Coût démarrage GPL / jour</a:t>
            </a:r>
            <a:endParaRPr lang="en-US" sz="900" dirty="0"/>
          </a:p>
        </p:txBody>
      </p:sp>
      <p:sp>
        <p:nvSpPr>
          <p:cNvPr id="108" name="Shape 106"/>
          <p:cNvSpPr/>
          <p:nvPr/>
        </p:nvSpPr>
        <p:spPr>
          <a:xfrm>
            <a:off x="3419856" y="2097634"/>
            <a:ext cx="2779776" cy="338328"/>
          </a:xfrm>
          <a:prstGeom prst="rect">
            <a:avLst/>
          </a:prstGeom>
          <a:solidFill>
            <a:srgbClr val="141418"/>
          </a:solidFill>
          <a:ln w="12700">
            <a:solidFill>
              <a:srgbClr val="1E1E26"/>
            </a:solidFill>
            <a:prstDash val="solid"/>
          </a:ln>
        </p:spPr>
      </p:sp>
      <p:sp>
        <p:nvSpPr>
          <p:cNvPr id="109" name="Text 107"/>
          <p:cNvSpPr/>
          <p:nvPr/>
        </p:nvSpPr>
        <p:spPr>
          <a:xfrm>
            <a:off x="3493008" y="2097634"/>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Faible (démarrage rapide)</a:t>
            </a:r>
            <a:endParaRPr lang="en-US" sz="900" dirty="0"/>
          </a:p>
        </p:txBody>
      </p:sp>
      <p:sp>
        <p:nvSpPr>
          <p:cNvPr id="110" name="Shape 108"/>
          <p:cNvSpPr/>
          <p:nvPr/>
        </p:nvSpPr>
        <p:spPr>
          <a:xfrm>
            <a:off x="6291072" y="2097634"/>
            <a:ext cx="2779776" cy="338328"/>
          </a:xfrm>
          <a:prstGeom prst="rect">
            <a:avLst/>
          </a:prstGeom>
          <a:solidFill>
            <a:srgbClr val="141418"/>
          </a:solidFill>
          <a:ln w="12700">
            <a:solidFill>
              <a:srgbClr val="1E1E26"/>
            </a:solidFill>
            <a:prstDash val="solid"/>
          </a:ln>
        </p:spPr>
      </p:sp>
      <p:sp>
        <p:nvSpPr>
          <p:cNvPr id="111" name="Text 109"/>
          <p:cNvSpPr/>
          <p:nvPr/>
        </p:nvSpPr>
        <p:spPr>
          <a:xfrm>
            <a:off x="6364224" y="2097634"/>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Élevé (purge + montée en T°)</a:t>
            </a:r>
            <a:endParaRPr lang="en-US" sz="900" dirty="0"/>
          </a:p>
        </p:txBody>
      </p:sp>
      <p:sp>
        <p:nvSpPr>
          <p:cNvPr id="112" name="Shape 110"/>
          <p:cNvSpPr/>
          <p:nvPr/>
        </p:nvSpPr>
        <p:spPr>
          <a:xfrm>
            <a:off x="256032" y="2442362"/>
            <a:ext cx="3072384" cy="338328"/>
          </a:xfrm>
          <a:prstGeom prst="rect">
            <a:avLst/>
          </a:prstGeom>
          <a:solidFill>
            <a:srgbClr val="111115"/>
          </a:solidFill>
          <a:ln w="12700">
            <a:solidFill>
              <a:srgbClr val="1E1E26"/>
            </a:solidFill>
            <a:prstDash val="solid"/>
          </a:ln>
        </p:spPr>
      </p:sp>
      <p:sp>
        <p:nvSpPr>
          <p:cNvPr id="113" name="Text 111"/>
          <p:cNvSpPr/>
          <p:nvPr/>
        </p:nvSpPr>
        <p:spPr>
          <a:xfrm>
            <a:off x="329184" y="2442362"/>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Suivi de charge</a:t>
            </a:r>
            <a:endParaRPr lang="en-US" sz="900" dirty="0"/>
          </a:p>
        </p:txBody>
      </p:sp>
      <p:sp>
        <p:nvSpPr>
          <p:cNvPr id="114" name="Shape 112"/>
          <p:cNvSpPr/>
          <p:nvPr/>
        </p:nvSpPr>
        <p:spPr>
          <a:xfrm>
            <a:off x="3419856" y="2442362"/>
            <a:ext cx="2779776" cy="338328"/>
          </a:xfrm>
          <a:prstGeom prst="rect">
            <a:avLst/>
          </a:prstGeom>
          <a:solidFill>
            <a:srgbClr val="111115"/>
          </a:solidFill>
          <a:ln w="12700">
            <a:solidFill>
              <a:srgbClr val="1E1E26"/>
            </a:solidFill>
            <a:prstDash val="solid"/>
          </a:ln>
        </p:spPr>
      </p:sp>
      <p:sp>
        <p:nvSpPr>
          <p:cNvPr id="115" name="Text 113"/>
          <p:cNvSpPr/>
          <p:nvPr/>
        </p:nvSpPr>
        <p:spPr>
          <a:xfrm>
            <a:off x="3493008" y="2442362"/>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Quasi-instantané</a:t>
            </a:r>
            <a:endParaRPr lang="en-US" sz="900" dirty="0"/>
          </a:p>
        </p:txBody>
      </p:sp>
      <p:sp>
        <p:nvSpPr>
          <p:cNvPr id="116" name="Shape 114"/>
          <p:cNvSpPr/>
          <p:nvPr/>
        </p:nvSpPr>
        <p:spPr>
          <a:xfrm>
            <a:off x="6291072" y="2442362"/>
            <a:ext cx="2779776" cy="338328"/>
          </a:xfrm>
          <a:prstGeom prst="rect">
            <a:avLst/>
          </a:prstGeom>
          <a:solidFill>
            <a:srgbClr val="111115"/>
          </a:solidFill>
          <a:ln w="12700">
            <a:solidFill>
              <a:srgbClr val="1E1E26"/>
            </a:solidFill>
            <a:prstDash val="solid"/>
          </a:ln>
        </p:spPr>
      </p:sp>
      <p:sp>
        <p:nvSpPr>
          <p:cNvPr id="117" name="Text 115"/>
          <p:cNvSpPr/>
          <p:nvPr/>
        </p:nvSpPr>
        <p:spPr>
          <a:xfrm>
            <a:off x="6364224" y="2442362"/>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Modéré (inertie thermique)</a:t>
            </a:r>
            <a:endParaRPr lang="en-US" sz="900" dirty="0"/>
          </a:p>
        </p:txBody>
      </p:sp>
      <p:sp>
        <p:nvSpPr>
          <p:cNvPr id="118" name="Shape 116"/>
          <p:cNvSpPr/>
          <p:nvPr/>
        </p:nvSpPr>
        <p:spPr>
          <a:xfrm>
            <a:off x="256032" y="2787091"/>
            <a:ext cx="3072384" cy="338328"/>
          </a:xfrm>
          <a:prstGeom prst="rect">
            <a:avLst/>
          </a:prstGeom>
          <a:solidFill>
            <a:srgbClr val="141418"/>
          </a:solidFill>
          <a:ln w="12700">
            <a:solidFill>
              <a:srgbClr val="1E1E26"/>
            </a:solidFill>
            <a:prstDash val="solid"/>
          </a:ln>
        </p:spPr>
      </p:sp>
      <p:sp>
        <p:nvSpPr>
          <p:cNvPr id="119" name="Text 117"/>
          <p:cNvSpPr/>
          <p:nvPr/>
        </p:nvSpPr>
        <p:spPr>
          <a:xfrm>
            <a:off x="329184" y="2787091"/>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Volume d'eau</a:t>
            </a:r>
            <a:endParaRPr lang="en-US" sz="900" dirty="0"/>
          </a:p>
        </p:txBody>
      </p:sp>
      <p:sp>
        <p:nvSpPr>
          <p:cNvPr id="120" name="Shape 118"/>
          <p:cNvSpPr/>
          <p:nvPr/>
        </p:nvSpPr>
        <p:spPr>
          <a:xfrm>
            <a:off x="3419856" y="2787091"/>
            <a:ext cx="2779776" cy="338328"/>
          </a:xfrm>
          <a:prstGeom prst="rect">
            <a:avLst/>
          </a:prstGeom>
          <a:solidFill>
            <a:srgbClr val="141418"/>
          </a:solidFill>
          <a:ln w="12700">
            <a:solidFill>
              <a:srgbClr val="1E1E26"/>
            </a:solidFill>
            <a:prstDash val="solid"/>
          </a:ln>
        </p:spPr>
      </p:sp>
      <p:sp>
        <p:nvSpPr>
          <p:cNvPr id="121" name="Text 119"/>
          <p:cNvSpPr/>
          <p:nvPr/>
        </p:nvSpPr>
        <p:spPr>
          <a:xfrm>
            <a:off x="3493008" y="2787091"/>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Minimal (serpentins fins)</a:t>
            </a:r>
            <a:endParaRPr lang="en-US" sz="900" dirty="0"/>
          </a:p>
        </p:txBody>
      </p:sp>
      <p:sp>
        <p:nvSpPr>
          <p:cNvPr id="122" name="Shape 120"/>
          <p:cNvSpPr/>
          <p:nvPr/>
        </p:nvSpPr>
        <p:spPr>
          <a:xfrm>
            <a:off x="6291072" y="2787091"/>
            <a:ext cx="2779776" cy="338328"/>
          </a:xfrm>
          <a:prstGeom prst="rect">
            <a:avLst/>
          </a:prstGeom>
          <a:solidFill>
            <a:srgbClr val="141418"/>
          </a:solidFill>
          <a:ln w="12700">
            <a:solidFill>
              <a:srgbClr val="1E1E26"/>
            </a:solidFill>
            <a:prstDash val="solid"/>
          </a:ln>
        </p:spPr>
      </p:sp>
      <p:sp>
        <p:nvSpPr>
          <p:cNvPr id="123" name="Text 121"/>
          <p:cNvSpPr/>
          <p:nvPr/>
        </p:nvSpPr>
        <p:spPr>
          <a:xfrm>
            <a:off x="6364224" y="2787091"/>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Important (ballon plein)</a:t>
            </a:r>
            <a:endParaRPr lang="en-US" sz="900" dirty="0"/>
          </a:p>
        </p:txBody>
      </p:sp>
      <p:sp>
        <p:nvSpPr>
          <p:cNvPr id="124" name="Shape 122"/>
          <p:cNvSpPr/>
          <p:nvPr/>
        </p:nvSpPr>
        <p:spPr>
          <a:xfrm>
            <a:off x="256032" y="3131820"/>
            <a:ext cx="3072384" cy="338328"/>
          </a:xfrm>
          <a:prstGeom prst="rect">
            <a:avLst/>
          </a:prstGeom>
          <a:solidFill>
            <a:srgbClr val="111115"/>
          </a:solidFill>
          <a:ln w="12700">
            <a:solidFill>
              <a:srgbClr val="1E1E26"/>
            </a:solidFill>
            <a:prstDash val="solid"/>
          </a:ln>
        </p:spPr>
      </p:sp>
      <p:sp>
        <p:nvSpPr>
          <p:cNvPr id="125" name="Text 123"/>
          <p:cNvSpPr/>
          <p:nvPr/>
        </p:nvSpPr>
        <p:spPr>
          <a:xfrm>
            <a:off x="329184" y="3131820"/>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Encombrement physique</a:t>
            </a:r>
            <a:endParaRPr lang="en-US" sz="900" dirty="0"/>
          </a:p>
        </p:txBody>
      </p:sp>
      <p:sp>
        <p:nvSpPr>
          <p:cNvPr id="126" name="Shape 124"/>
          <p:cNvSpPr/>
          <p:nvPr/>
        </p:nvSpPr>
        <p:spPr>
          <a:xfrm>
            <a:off x="3419856" y="3131820"/>
            <a:ext cx="2779776" cy="338328"/>
          </a:xfrm>
          <a:prstGeom prst="rect">
            <a:avLst/>
          </a:prstGeom>
          <a:solidFill>
            <a:srgbClr val="111115"/>
          </a:solidFill>
          <a:ln w="12700">
            <a:solidFill>
              <a:srgbClr val="1E1E26"/>
            </a:solidFill>
            <a:prstDash val="solid"/>
          </a:ln>
        </p:spPr>
      </p:sp>
      <p:sp>
        <p:nvSpPr>
          <p:cNvPr id="127" name="Text 125"/>
          <p:cNvSpPr/>
          <p:nvPr/>
        </p:nvSpPr>
        <p:spPr>
          <a:xfrm>
            <a:off x="3493008" y="3131820"/>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Très compact</a:t>
            </a:r>
            <a:endParaRPr lang="en-US" sz="900" dirty="0"/>
          </a:p>
        </p:txBody>
      </p:sp>
      <p:sp>
        <p:nvSpPr>
          <p:cNvPr id="128" name="Shape 126"/>
          <p:cNvSpPr/>
          <p:nvPr/>
        </p:nvSpPr>
        <p:spPr>
          <a:xfrm>
            <a:off x="6291072" y="3131820"/>
            <a:ext cx="2779776" cy="338328"/>
          </a:xfrm>
          <a:prstGeom prst="rect">
            <a:avLst/>
          </a:prstGeom>
          <a:solidFill>
            <a:srgbClr val="111115"/>
          </a:solidFill>
          <a:ln w="12700">
            <a:solidFill>
              <a:srgbClr val="1E1E26"/>
            </a:solidFill>
            <a:prstDash val="solid"/>
          </a:ln>
        </p:spPr>
      </p:sp>
      <p:sp>
        <p:nvSpPr>
          <p:cNvPr id="129" name="Text 127"/>
          <p:cNvSpPr/>
          <p:nvPr/>
        </p:nvSpPr>
        <p:spPr>
          <a:xfrm>
            <a:off x="6364224" y="3131820"/>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Grand — longueur &gt;6 m typique</a:t>
            </a:r>
            <a:endParaRPr lang="en-US" sz="900" dirty="0"/>
          </a:p>
        </p:txBody>
      </p:sp>
      <p:sp>
        <p:nvSpPr>
          <p:cNvPr id="130" name="Shape 128"/>
          <p:cNvSpPr/>
          <p:nvPr/>
        </p:nvSpPr>
        <p:spPr>
          <a:xfrm>
            <a:off x="256032" y="3476549"/>
            <a:ext cx="3072384" cy="338328"/>
          </a:xfrm>
          <a:prstGeom prst="rect">
            <a:avLst/>
          </a:prstGeom>
          <a:solidFill>
            <a:srgbClr val="141418"/>
          </a:solidFill>
          <a:ln w="12700">
            <a:solidFill>
              <a:srgbClr val="1E1E26"/>
            </a:solidFill>
            <a:prstDash val="solid"/>
          </a:ln>
        </p:spPr>
      </p:sp>
      <p:sp>
        <p:nvSpPr>
          <p:cNvPr id="131" name="Text 129"/>
          <p:cNvSpPr/>
          <p:nvPr/>
        </p:nvSpPr>
        <p:spPr>
          <a:xfrm>
            <a:off x="329184" y="3476549"/>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Prix d'achat</a:t>
            </a:r>
            <a:endParaRPr lang="en-US" sz="900" dirty="0"/>
          </a:p>
        </p:txBody>
      </p:sp>
      <p:sp>
        <p:nvSpPr>
          <p:cNvPr id="132" name="Shape 130"/>
          <p:cNvSpPr/>
          <p:nvPr/>
        </p:nvSpPr>
        <p:spPr>
          <a:xfrm>
            <a:off x="3419856" y="3476549"/>
            <a:ext cx="2779776" cy="338328"/>
          </a:xfrm>
          <a:prstGeom prst="rect">
            <a:avLst/>
          </a:prstGeom>
          <a:solidFill>
            <a:srgbClr val="141418"/>
          </a:solidFill>
          <a:ln w="12700">
            <a:solidFill>
              <a:srgbClr val="1E1E26"/>
            </a:solidFill>
            <a:prstDash val="solid"/>
          </a:ln>
        </p:spPr>
      </p:sp>
      <p:sp>
        <p:nvSpPr>
          <p:cNvPr id="133" name="Text 131"/>
          <p:cNvSpPr/>
          <p:nvPr/>
        </p:nvSpPr>
        <p:spPr>
          <a:xfrm>
            <a:off x="3493008" y="3476549"/>
            <a:ext cx="2633472"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Plus élevé (+20–35%)</a:t>
            </a:r>
            <a:endParaRPr lang="en-US" sz="900" dirty="0"/>
          </a:p>
        </p:txBody>
      </p:sp>
      <p:sp>
        <p:nvSpPr>
          <p:cNvPr id="134" name="Shape 132"/>
          <p:cNvSpPr/>
          <p:nvPr/>
        </p:nvSpPr>
        <p:spPr>
          <a:xfrm>
            <a:off x="6291072" y="3476549"/>
            <a:ext cx="2779776" cy="338328"/>
          </a:xfrm>
          <a:prstGeom prst="rect">
            <a:avLst/>
          </a:prstGeom>
          <a:solidFill>
            <a:srgbClr val="141418"/>
          </a:solidFill>
          <a:ln w="12700">
            <a:solidFill>
              <a:srgbClr val="1E1E26"/>
            </a:solidFill>
            <a:prstDash val="solid"/>
          </a:ln>
        </p:spPr>
      </p:sp>
      <p:sp>
        <p:nvSpPr>
          <p:cNvPr id="135" name="Text 133"/>
          <p:cNvSpPr/>
          <p:nvPr/>
        </p:nvSpPr>
        <p:spPr>
          <a:xfrm>
            <a:off x="6364224" y="3476549"/>
            <a:ext cx="2633472" cy="338328"/>
          </a:xfrm>
          <a:prstGeom prst="rect">
            <a:avLst/>
          </a:prstGeom>
          <a:noFill/>
          <a:ln/>
        </p:spPr>
        <p:txBody>
          <a:bodyPr wrap="square" rtlCol="0" anchor="ctr"/>
          <a:lstStyle/>
          <a:p>
            <a:pPr algn="ctr" indent="0" marL="0">
              <a:buNone/>
            </a:pPr>
            <a:r>
              <a:rPr lang="en-US" sz="900" dirty="0">
                <a:solidFill>
                  <a:srgbClr val="3DAF7A"/>
                </a:solidFill>
                <a:latin typeface="Calibri" pitchFamily="34" charset="0"/>
                <a:ea typeface="Calibri" pitchFamily="34" charset="-122"/>
                <a:cs typeface="Calibri" pitchFamily="34" charset="-120"/>
              </a:rPr>
              <a:t>Plus faible — référence</a:t>
            </a:r>
            <a:endParaRPr lang="en-US" sz="900" dirty="0"/>
          </a:p>
        </p:txBody>
      </p:sp>
      <p:sp>
        <p:nvSpPr>
          <p:cNvPr id="136" name="Shape 134"/>
          <p:cNvSpPr/>
          <p:nvPr/>
        </p:nvSpPr>
        <p:spPr>
          <a:xfrm>
            <a:off x="256032" y="3821278"/>
            <a:ext cx="3072384" cy="338328"/>
          </a:xfrm>
          <a:prstGeom prst="rect">
            <a:avLst/>
          </a:prstGeom>
          <a:solidFill>
            <a:srgbClr val="111115"/>
          </a:solidFill>
          <a:ln w="12700">
            <a:solidFill>
              <a:srgbClr val="1E1E26"/>
            </a:solidFill>
            <a:prstDash val="solid"/>
          </a:ln>
        </p:spPr>
      </p:sp>
      <p:sp>
        <p:nvSpPr>
          <p:cNvPr id="137" name="Text 135"/>
          <p:cNvSpPr/>
          <p:nvPr/>
        </p:nvSpPr>
        <p:spPr>
          <a:xfrm>
            <a:off x="329184" y="3821278"/>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Pièces détachées au Maroc</a:t>
            </a:r>
            <a:endParaRPr lang="en-US" sz="900" dirty="0"/>
          </a:p>
        </p:txBody>
      </p:sp>
      <p:sp>
        <p:nvSpPr>
          <p:cNvPr id="138" name="Shape 136"/>
          <p:cNvSpPr/>
          <p:nvPr/>
        </p:nvSpPr>
        <p:spPr>
          <a:xfrm>
            <a:off x="3419856" y="3821278"/>
            <a:ext cx="2779776" cy="338328"/>
          </a:xfrm>
          <a:prstGeom prst="rect">
            <a:avLst/>
          </a:prstGeom>
          <a:solidFill>
            <a:srgbClr val="111115"/>
          </a:solidFill>
          <a:ln w="12700">
            <a:solidFill>
              <a:srgbClr val="1E1E26"/>
            </a:solidFill>
            <a:prstDash val="solid"/>
          </a:ln>
        </p:spPr>
      </p:sp>
      <p:sp>
        <p:nvSpPr>
          <p:cNvPr id="139" name="Text 137"/>
          <p:cNvSpPr/>
          <p:nvPr/>
        </p:nvSpPr>
        <p:spPr>
          <a:xfrm>
            <a:off x="3493008" y="3821278"/>
            <a:ext cx="2633472"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Importation requise</a:t>
            </a:r>
            <a:endParaRPr lang="en-US" sz="900" dirty="0"/>
          </a:p>
        </p:txBody>
      </p:sp>
      <p:sp>
        <p:nvSpPr>
          <p:cNvPr id="140" name="Shape 138"/>
          <p:cNvSpPr/>
          <p:nvPr/>
        </p:nvSpPr>
        <p:spPr>
          <a:xfrm>
            <a:off x="6291072" y="3821278"/>
            <a:ext cx="2779776" cy="338328"/>
          </a:xfrm>
          <a:prstGeom prst="rect">
            <a:avLst/>
          </a:prstGeom>
          <a:solidFill>
            <a:srgbClr val="111115"/>
          </a:solidFill>
          <a:ln w="12700">
            <a:solidFill>
              <a:srgbClr val="1E1E26"/>
            </a:solidFill>
            <a:prstDash val="solid"/>
          </a:ln>
        </p:spPr>
      </p:sp>
      <p:sp>
        <p:nvSpPr>
          <p:cNvPr id="141" name="Text 139"/>
          <p:cNvSpPr/>
          <p:nvPr/>
        </p:nvSpPr>
        <p:spPr>
          <a:xfrm>
            <a:off x="6364224" y="3821278"/>
            <a:ext cx="2633472" cy="338328"/>
          </a:xfrm>
          <a:prstGeom prst="rect">
            <a:avLst/>
          </a:prstGeom>
          <a:noFill/>
          <a:ln/>
        </p:spPr>
        <p:txBody>
          <a:bodyPr wrap="square" rtlCol="0" anchor="ctr"/>
          <a:lstStyle/>
          <a:p>
            <a:pPr algn="ctr" indent="0" marL="0">
              <a:buNone/>
            </a:pPr>
            <a:r>
              <a:rPr lang="en-US" sz="900" dirty="0">
                <a:solidFill>
                  <a:srgbClr val="3DAF7A"/>
                </a:solidFill>
                <a:latin typeface="Calibri" pitchFamily="34" charset="0"/>
                <a:ea typeface="Calibri" pitchFamily="34" charset="-122"/>
                <a:cs typeface="Calibri" pitchFamily="34" charset="-120"/>
              </a:rPr>
              <a:t>Disponibilité locale meilleure</a:t>
            </a:r>
            <a:endParaRPr lang="en-US" sz="900" dirty="0"/>
          </a:p>
        </p:txBody>
      </p:sp>
      <p:sp>
        <p:nvSpPr>
          <p:cNvPr id="142" name="Shape 140"/>
          <p:cNvSpPr/>
          <p:nvPr/>
        </p:nvSpPr>
        <p:spPr>
          <a:xfrm>
            <a:off x="256032" y="4166006"/>
            <a:ext cx="3072384" cy="338328"/>
          </a:xfrm>
          <a:prstGeom prst="rect">
            <a:avLst/>
          </a:prstGeom>
          <a:solidFill>
            <a:srgbClr val="141418"/>
          </a:solidFill>
          <a:ln w="12700">
            <a:solidFill>
              <a:srgbClr val="1E1E26"/>
            </a:solidFill>
            <a:prstDash val="solid"/>
          </a:ln>
        </p:spPr>
      </p:sp>
      <p:sp>
        <p:nvSpPr>
          <p:cNvPr id="143" name="Text 141"/>
          <p:cNvSpPr/>
          <p:nvPr/>
        </p:nvSpPr>
        <p:spPr>
          <a:xfrm>
            <a:off x="329184" y="4166006"/>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Complexité d'exploitation</a:t>
            </a:r>
            <a:endParaRPr lang="en-US" sz="900" dirty="0"/>
          </a:p>
        </p:txBody>
      </p:sp>
      <p:sp>
        <p:nvSpPr>
          <p:cNvPr id="144" name="Shape 142"/>
          <p:cNvSpPr/>
          <p:nvPr/>
        </p:nvSpPr>
        <p:spPr>
          <a:xfrm>
            <a:off x="3419856" y="4166006"/>
            <a:ext cx="2779776" cy="338328"/>
          </a:xfrm>
          <a:prstGeom prst="rect">
            <a:avLst/>
          </a:prstGeom>
          <a:solidFill>
            <a:srgbClr val="141418"/>
          </a:solidFill>
          <a:ln w="12700">
            <a:solidFill>
              <a:srgbClr val="1E1E26"/>
            </a:solidFill>
            <a:prstDash val="solid"/>
          </a:ln>
        </p:spPr>
      </p:sp>
      <p:sp>
        <p:nvSpPr>
          <p:cNvPr id="145" name="Text 143"/>
          <p:cNvSpPr/>
          <p:nvPr/>
        </p:nvSpPr>
        <p:spPr>
          <a:xfrm>
            <a:off x="3493008" y="4166006"/>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Faible — pas de ballon purge</a:t>
            </a:r>
            <a:endParaRPr lang="en-US" sz="900" dirty="0"/>
          </a:p>
        </p:txBody>
      </p:sp>
      <p:sp>
        <p:nvSpPr>
          <p:cNvPr id="146" name="Shape 144"/>
          <p:cNvSpPr/>
          <p:nvPr/>
        </p:nvSpPr>
        <p:spPr>
          <a:xfrm>
            <a:off x="6291072" y="4166006"/>
            <a:ext cx="2779776" cy="338328"/>
          </a:xfrm>
          <a:prstGeom prst="rect">
            <a:avLst/>
          </a:prstGeom>
          <a:solidFill>
            <a:srgbClr val="141418"/>
          </a:solidFill>
          <a:ln w="12700">
            <a:solidFill>
              <a:srgbClr val="1E1E26"/>
            </a:solidFill>
            <a:prstDash val="solid"/>
          </a:ln>
        </p:spPr>
      </p:sp>
      <p:sp>
        <p:nvSpPr>
          <p:cNvPr id="147" name="Text 145"/>
          <p:cNvSpPr/>
          <p:nvPr/>
        </p:nvSpPr>
        <p:spPr>
          <a:xfrm>
            <a:off x="6364224" y="4166006"/>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Procédures plus nombreuses</a:t>
            </a:r>
            <a:endParaRPr lang="en-US" sz="900" dirty="0"/>
          </a:p>
        </p:txBody>
      </p:sp>
      <p:sp>
        <p:nvSpPr>
          <p:cNvPr id="148" name="Shape 146"/>
          <p:cNvSpPr/>
          <p:nvPr/>
        </p:nvSpPr>
        <p:spPr>
          <a:xfrm>
            <a:off x="256032" y="4510735"/>
            <a:ext cx="3072384" cy="338328"/>
          </a:xfrm>
          <a:prstGeom prst="rect">
            <a:avLst/>
          </a:prstGeom>
          <a:solidFill>
            <a:srgbClr val="111115"/>
          </a:solidFill>
          <a:ln w="12700">
            <a:solidFill>
              <a:srgbClr val="1E1E26"/>
            </a:solidFill>
            <a:prstDash val="solid"/>
          </a:ln>
        </p:spPr>
      </p:sp>
      <p:sp>
        <p:nvSpPr>
          <p:cNvPr id="149" name="Text 147"/>
          <p:cNvSpPr/>
          <p:nvPr/>
        </p:nvSpPr>
        <p:spPr>
          <a:xfrm>
            <a:off x="329184" y="4510735"/>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Coût total 5 ans en GPL</a:t>
            </a:r>
            <a:endParaRPr lang="en-US" sz="900" dirty="0"/>
          </a:p>
        </p:txBody>
      </p:sp>
      <p:sp>
        <p:nvSpPr>
          <p:cNvPr id="150" name="Shape 148"/>
          <p:cNvSpPr/>
          <p:nvPr/>
        </p:nvSpPr>
        <p:spPr>
          <a:xfrm>
            <a:off x="3419856" y="4510735"/>
            <a:ext cx="2779776" cy="338328"/>
          </a:xfrm>
          <a:prstGeom prst="rect">
            <a:avLst/>
          </a:prstGeom>
          <a:solidFill>
            <a:srgbClr val="111115"/>
          </a:solidFill>
          <a:ln w="12700">
            <a:solidFill>
              <a:srgbClr val="1E1E26"/>
            </a:solidFill>
            <a:prstDash val="solid"/>
          </a:ln>
        </p:spPr>
      </p:sp>
      <p:sp>
        <p:nvSpPr>
          <p:cNvPr id="151" name="Text 149"/>
          <p:cNvSpPr/>
          <p:nvPr/>
        </p:nvSpPr>
        <p:spPr>
          <a:xfrm>
            <a:off x="3493008" y="4510735"/>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Plus faible (économies efficacité)</a:t>
            </a:r>
            <a:endParaRPr lang="en-US" sz="900" dirty="0"/>
          </a:p>
        </p:txBody>
      </p:sp>
      <p:sp>
        <p:nvSpPr>
          <p:cNvPr id="152" name="Shape 150"/>
          <p:cNvSpPr/>
          <p:nvPr/>
        </p:nvSpPr>
        <p:spPr>
          <a:xfrm>
            <a:off x="6291072" y="4510735"/>
            <a:ext cx="2779776" cy="338328"/>
          </a:xfrm>
          <a:prstGeom prst="rect">
            <a:avLst/>
          </a:prstGeom>
          <a:solidFill>
            <a:srgbClr val="111115"/>
          </a:solidFill>
          <a:ln w="12700">
            <a:solidFill>
              <a:srgbClr val="1E1E26"/>
            </a:solidFill>
            <a:prstDash val="solid"/>
          </a:ln>
        </p:spPr>
      </p:sp>
      <p:sp>
        <p:nvSpPr>
          <p:cNvPr id="153" name="Text 151"/>
          <p:cNvSpPr/>
          <p:nvPr/>
        </p:nvSpPr>
        <p:spPr>
          <a:xfrm>
            <a:off x="6364224" y="4510735"/>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Plus élevé (gaspillage GPL)</a:t>
            </a:r>
            <a:endParaRPr lang="en-US" sz="900" dirty="0"/>
          </a:p>
        </p:txBody>
      </p:sp>
      <p:sp>
        <p:nvSpPr>
          <p:cNvPr id="154" name="Shape 152"/>
          <p:cNvSpPr/>
          <p:nvPr/>
        </p:nvSpPr>
        <p:spPr>
          <a:xfrm>
            <a:off x="256032" y="4846320"/>
            <a:ext cx="8631936" cy="228600"/>
          </a:xfrm>
          <a:prstGeom prst="rect">
            <a:avLst/>
          </a:prstGeom>
          <a:solidFill>
            <a:srgbClr val="1B9A8A"/>
          </a:solidFill>
          <a:ln/>
        </p:spPr>
      </p:sp>
      <p:sp>
        <p:nvSpPr>
          <p:cNvPr id="155" name="Text 153"/>
          <p:cNvSpPr/>
          <p:nvPr/>
        </p:nvSpPr>
        <p:spPr>
          <a:xfrm>
            <a:off x="347472" y="4846320"/>
            <a:ext cx="8449056" cy="228600"/>
          </a:xfrm>
          <a:prstGeom prst="rect">
            <a:avLst/>
          </a:prstGeom>
          <a:noFill/>
          <a:ln/>
        </p:spPr>
        <p:txBody>
          <a:bodyPr wrap="square" rtlCol="0" anchor="ctr"/>
          <a:lstStyle/>
          <a:p>
            <a:pPr indent="0" marL="0">
              <a:buNone/>
            </a:pPr>
            <a:r>
              <a:rPr lang="en-US" sz="850" b="1" dirty="0">
                <a:solidFill>
                  <a:srgbClr val="09090F"/>
                </a:solidFill>
                <a:latin typeface="Calibri" pitchFamily="34" charset="0"/>
                <a:ea typeface="Calibri" pitchFamily="34" charset="-122"/>
                <a:cs typeface="Calibri" pitchFamily="34" charset="-120"/>
              </a:rPr>
              <a:t>VERDICT : GVI recommandé pour carburant GPL + industrie alimentaire + encombrement réduit. Tubes de fumée reste valide si la disponibilité des pièces détachées est la contrainte prioritaire.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CARBURANT GPL — CONSIDÉRATIONS TECHNIQUES SPÉCIFIQUES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Le GPL modifie significativement l'économie et les exigences d'ingénierie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2834640" cy="45720"/>
          </a:xfrm>
          <a:prstGeom prst="rect">
            <a:avLst/>
          </a:prstGeom>
          <a:solidFill>
            <a:srgbClr val="C0622B"/>
          </a:solidFill>
          <a:ln/>
        </p:spPr>
      </p:sp>
      <p:sp>
        <p:nvSpPr>
          <p:cNvPr id="90" name="Text 88"/>
          <p:cNvSpPr/>
          <p:nvPr/>
        </p:nvSpPr>
        <p:spPr>
          <a:xfrm>
            <a:off x="384048" y="1024128"/>
            <a:ext cx="2651760" cy="365760"/>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  Pouvoir calorifique élevé = flamme plus chaude</a:t>
            </a:r>
            <a:endParaRPr lang="en-US" sz="1050" dirty="0"/>
          </a:p>
        </p:txBody>
      </p:sp>
      <p:sp>
        <p:nvSpPr>
          <p:cNvPr id="91" name="Shape 89"/>
          <p:cNvSpPr/>
          <p:nvPr/>
        </p:nvSpPr>
        <p:spPr>
          <a:xfrm rot="2700000">
            <a:off x="10973" y="1426464"/>
            <a:ext cx="77724" cy="77724"/>
          </a:xfrm>
          <a:prstGeom prst="rect">
            <a:avLst/>
          </a:prstGeom>
          <a:solidFill>
            <a:srgbClr val="C0622B">
              <a:alpha val="18000"/>
            </a:srgbClr>
          </a:solidFill>
          <a:ln w="12700">
            <a:solidFill>
              <a:srgbClr val="C0622B"/>
            </a:solidFill>
            <a:prstDash val="solid"/>
          </a:ln>
        </p:spPr>
      </p:sp>
      <p:sp>
        <p:nvSpPr>
          <p:cNvPr id="92" name="Shape 90"/>
          <p:cNvSpPr/>
          <p:nvPr/>
        </p:nvSpPr>
        <p:spPr>
          <a:xfrm rot="2700000">
            <a:off x="128016" y="1426464"/>
            <a:ext cx="77724" cy="77724"/>
          </a:xfrm>
          <a:prstGeom prst="rect">
            <a:avLst/>
          </a:prstGeom>
          <a:solidFill>
            <a:srgbClr val="C0622B">
              <a:alpha val="18000"/>
            </a:srgbClr>
          </a:solidFill>
          <a:ln w="12700">
            <a:solidFill>
              <a:srgbClr val="C0622B"/>
            </a:solidFill>
            <a:prstDash val="solid"/>
          </a:ln>
        </p:spPr>
      </p:sp>
      <p:sp>
        <p:nvSpPr>
          <p:cNvPr id="93" name="Shape 91"/>
          <p:cNvSpPr/>
          <p:nvPr/>
        </p:nvSpPr>
        <p:spPr>
          <a:xfrm rot="2700000">
            <a:off x="245059" y="1426464"/>
            <a:ext cx="77724" cy="77724"/>
          </a:xfrm>
          <a:prstGeom prst="rect">
            <a:avLst/>
          </a:prstGeom>
          <a:solidFill>
            <a:srgbClr val="C0622B">
              <a:alpha val="18000"/>
            </a:srgbClr>
          </a:solidFill>
          <a:ln w="12700">
            <a:solidFill>
              <a:srgbClr val="C0622B"/>
            </a:solidFill>
            <a:prstDash val="solid"/>
          </a:ln>
        </p:spPr>
      </p:sp>
      <p:sp>
        <p:nvSpPr>
          <p:cNvPr id="94" name="Shape 92"/>
          <p:cNvSpPr/>
          <p:nvPr/>
        </p:nvSpPr>
        <p:spPr>
          <a:xfrm rot="2700000">
            <a:off x="362102" y="1426464"/>
            <a:ext cx="77724" cy="77724"/>
          </a:xfrm>
          <a:prstGeom prst="rect">
            <a:avLst/>
          </a:prstGeom>
          <a:solidFill>
            <a:srgbClr val="C0622B">
              <a:alpha val="18000"/>
            </a:srgbClr>
          </a:solidFill>
          <a:ln w="12700">
            <a:solidFill>
              <a:srgbClr val="C0622B"/>
            </a:solidFill>
            <a:prstDash val="solid"/>
          </a:ln>
        </p:spPr>
      </p:sp>
      <p:sp>
        <p:nvSpPr>
          <p:cNvPr id="95" name="Shape 93"/>
          <p:cNvSpPr/>
          <p:nvPr/>
        </p:nvSpPr>
        <p:spPr>
          <a:xfrm rot="2700000">
            <a:off x="479146" y="1426464"/>
            <a:ext cx="77724" cy="77724"/>
          </a:xfrm>
          <a:prstGeom prst="rect">
            <a:avLst/>
          </a:prstGeom>
          <a:solidFill>
            <a:srgbClr val="C0622B">
              <a:alpha val="18000"/>
            </a:srgbClr>
          </a:solidFill>
          <a:ln w="12700">
            <a:solidFill>
              <a:srgbClr val="C0622B"/>
            </a:solidFill>
            <a:prstDash val="solid"/>
          </a:ln>
        </p:spPr>
      </p:sp>
      <p:sp>
        <p:nvSpPr>
          <p:cNvPr id="96" name="Shape 94"/>
          <p:cNvSpPr/>
          <p:nvPr/>
        </p:nvSpPr>
        <p:spPr>
          <a:xfrm rot="2700000">
            <a:off x="596189" y="1426464"/>
            <a:ext cx="77724" cy="77724"/>
          </a:xfrm>
          <a:prstGeom prst="rect">
            <a:avLst/>
          </a:prstGeom>
          <a:solidFill>
            <a:srgbClr val="C0622B">
              <a:alpha val="18000"/>
            </a:srgbClr>
          </a:solidFill>
          <a:ln w="12700">
            <a:solidFill>
              <a:srgbClr val="C0622B"/>
            </a:solidFill>
            <a:prstDash val="solid"/>
          </a:ln>
        </p:spPr>
      </p:sp>
      <p:sp>
        <p:nvSpPr>
          <p:cNvPr id="97" name="Shape 95"/>
          <p:cNvSpPr/>
          <p:nvPr/>
        </p:nvSpPr>
        <p:spPr>
          <a:xfrm rot="2700000">
            <a:off x="713232" y="1426464"/>
            <a:ext cx="77724" cy="77724"/>
          </a:xfrm>
          <a:prstGeom prst="rect">
            <a:avLst/>
          </a:prstGeom>
          <a:solidFill>
            <a:srgbClr val="C0622B">
              <a:alpha val="18000"/>
            </a:srgbClr>
          </a:solidFill>
          <a:ln w="12700">
            <a:solidFill>
              <a:srgbClr val="C0622B"/>
            </a:solidFill>
            <a:prstDash val="solid"/>
          </a:ln>
        </p:spPr>
      </p:sp>
      <p:sp>
        <p:nvSpPr>
          <p:cNvPr id="98" name="Shape 96"/>
          <p:cNvSpPr/>
          <p:nvPr/>
        </p:nvSpPr>
        <p:spPr>
          <a:xfrm rot="2700000">
            <a:off x="830275" y="1426464"/>
            <a:ext cx="77724" cy="77724"/>
          </a:xfrm>
          <a:prstGeom prst="rect">
            <a:avLst/>
          </a:prstGeom>
          <a:solidFill>
            <a:srgbClr val="C0622B">
              <a:alpha val="18000"/>
            </a:srgbClr>
          </a:solidFill>
          <a:ln w="12700">
            <a:solidFill>
              <a:srgbClr val="C0622B"/>
            </a:solidFill>
            <a:prstDash val="solid"/>
          </a:ln>
        </p:spPr>
      </p:sp>
      <p:sp>
        <p:nvSpPr>
          <p:cNvPr id="99" name="Shape 97"/>
          <p:cNvSpPr/>
          <p:nvPr/>
        </p:nvSpPr>
        <p:spPr>
          <a:xfrm rot="2700000">
            <a:off x="947318" y="1426464"/>
            <a:ext cx="77724" cy="77724"/>
          </a:xfrm>
          <a:prstGeom prst="rect">
            <a:avLst/>
          </a:prstGeom>
          <a:solidFill>
            <a:srgbClr val="C0622B">
              <a:alpha val="18000"/>
            </a:srgbClr>
          </a:solidFill>
          <a:ln w="12700">
            <a:solidFill>
              <a:srgbClr val="C0622B"/>
            </a:solidFill>
            <a:prstDash val="solid"/>
          </a:ln>
        </p:spPr>
      </p:sp>
      <p:sp>
        <p:nvSpPr>
          <p:cNvPr id="100" name="Shape 98"/>
          <p:cNvSpPr/>
          <p:nvPr/>
        </p:nvSpPr>
        <p:spPr>
          <a:xfrm rot="2700000">
            <a:off x="1064362" y="1426464"/>
            <a:ext cx="77724" cy="77724"/>
          </a:xfrm>
          <a:prstGeom prst="rect">
            <a:avLst/>
          </a:prstGeom>
          <a:solidFill>
            <a:srgbClr val="C0622B">
              <a:alpha val="18000"/>
            </a:srgbClr>
          </a:solidFill>
          <a:ln w="12700">
            <a:solidFill>
              <a:srgbClr val="C0622B"/>
            </a:solidFill>
            <a:prstDash val="solid"/>
          </a:ln>
        </p:spPr>
      </p:sp>
      <p:sp>
        <p:nvSpPr>
          <p:cNvPr id="101" name="Shape 99"/>
          <p:cNvSpPr/>
          <p:nvPr/>
        </p:nvSpPr>
        <p:spPr>
          <a:xfrm rot="2700000">
            <a:off x="1181405" y="1426464"/>
            <a:ext cx="77724" cy="77724"/>
          </a:xfrm>
          <a:prstGeom prst="rect">
            <a:avLst/>
          </a:prstGeom>
          <a:solidFill>
            <a:srgbClr val="C0622B">
              <a:alpha val="18000"/>
            </a:srgbClr>
          </a:solidFill>
          <a:ln w="12700">
            <a:solidFill>
              <a:srgbClr val="C0622B"/>
            </a:solidFill>
            <a:prstDash val="solid"/>
          </a:ln>
        </p:spPr>
      </p:sp>
      <p:sp>
        <p:nvSpPr>
          <p:cNvPr id="102" name="Shape 100"/>
          <p:cNvSpPr/>
          <p:nvPr/>
        </p:nvSpPr>
        <p:spPr>
          <a:xfrm rot="2700000">
            <a:off x="1298448" y="1426464"/>
            <a:ext cx="77724" cy="77724"/>
          </a:xfrm>
          <a:prstGeom prst="rect">
            <a:avLst/>
          </a:prstGeom>
          <a:solidFill>
            <a:srgbClr val="C0622B">
              <a:alpha val="18000"/>
            </a:srgbClr>
          </a:solidFill>
          <a:ln w="12700">
            <a:solidFill>
              <a:srgbClr val="C0622B"/>
            </a:solidFill>
            <a:prstDash val="solid"/>
          </a:ln>
        </p:spPr>
      </p:sp>
      <p:sp>
        <p:nvSpPr>
          <p:cNvPr id="103" name="Shape 101"/>
          <p:cNvSpPr/>
          <p:nvPr/>
        </p:nvSpPr>
        <p:spPr>
          <a:xfrm rot="2700000">
            <a:off x="1415491" y="1426464"/>
            <a:ext cx="77724" cy="77724"/>
          </a:xfrm>
          <a:prstGeom prst="rect">
            <a:avLst/>
          </a:prstGeom>
          <a:solidFill>
            <a:srgbClr val="C0622B">
              <a:alpha val="18000"/>
            </a:srgbClr>
          </a:solidFill>
          <a:ln w="12700">
            <a:solidFill>
              <a:srgbClr val="C0622B"/>
            </a:solidFill>
            <a:prstDash val="solid"/>
          </a:ln>
        </p:spPr>
      </p:sp>
      <p:sp>
        <p:nvSpPr>
          <p:cNvPr id="104" name="Shape 102"/>
          <p:cNvSpPr/>
          <p:nvPr/>
        </p:nvSpPr>
        <p:spPr>
          <a:xfrm rot="2700000">
            <a:off x="1532534" y="1426464"/>
            <a:ext cx="77724" cy="77724"/>
          </a:xfrm>
          <a:prstGeom prst="rect">
            <a:avLst/>
          </a:prstGeom>
          <a:solidFill>
            <a:srgbClr val="C0622B">
              <a:alpha val="18000"/>
            </a:srgbClr>
          </a:solidFill>
          <a:ln w="12700">
            <a:solidFill>
              <a:srgbClr val="C0622B"/>
            </a:solidFill>
            <a:prstDash val="solid"/>
          </a:ln>
        </p:spPr>
      </p:sp>
      <p:sp>
        <p:nvSpPr>
          <p:cNvPr id="105" name="Shape 103"/>
          <p:cNvSpPr/>
          <p:nvPr/>
        </p:nvSpPr>
        <p:spPr>
          <a:xfrm rot="2700000">
            <a:off x="1649578" y="1426464"/>
            <a:ext cx="77724" cy="77724"/>
          </a:xfrm>
          <a:prstGeom prst="rect">
            <a:avLst/>
          </a:prstGeom>
          <a:solidFill>
            <a:srgbClr val="C0622B">
              <a:alpha val="18000"/>
            </a:srgbClr>
          </a:solidFill>
          <a:ln w="12700">
            <a:solidFill>
              <a:srgbClr val="C0622B"/>
            </a:solidFill>
            <a:prstDash val="solid"/>
          </a:ln>
        </p:spPr>
      </p:sp>
      <p:sp>
        <p:nvSpPr>
          <p:cNvPr id="106" name="Shape 104"/>
          <p:cNvSpPr/>
          <p:nvPr/>
        </p:nvSpPr>
        <p:spPr>
          <a:xfrm rot="2700000">
            <a:off x="1766621" y="1426464"/>
            <a:ext cx="77724" cy="77724"/>
          </a:xfrm>
          <a:prstGeom prst="rect">
            <a:avLst/>
          </a:prstGeom>
          <a:solidFill>
            <a:srgbClr val="C0622B">
              <a:alpha val="18000"/>
            </a:srgbClr>
          </a:solidFill>
          <a:ln w="12700">
            <a:solidFill>
              <a:srgbClr val="C0622B"/>
            </a:solidFill>
            <a:prstDash val="solid"/>
          </a:ln>
        </p:spPr>
      </p:sp>
      <p:sp>
        <p:nvSpPr>
          <p:cNvPr id="107" name="Shape 105"/>
          <p:cNvSpPr/>
          <p:nvPr/>
        </p:nvSpPr>
        <p:spPr>
          <a:xfrm rot="2700000">
            <a:off x="1883664" y="1426464"/>
            <a:ext cx="77724" cy="77724"/>
          </a:xfrm>
          <a:prstGeom prst="rect">
            <a:avLst/>
          </a:prstGeom>
          <a:solidFill>
            <a:srgbClr val="C0622B">
              <a:alpha val="18000"/>
            </a:srgbClr>
          </a:solidFill>
          <a:ln w="12700">
            <a:solidFill>
              <a:srgbClr val="C0622B"/>
            </a:solidFill>
            <a:prstDash val="solid"/>
          </a:ln>
        </p:spPr>
      </p:sp>
      <p:sp>
        <p:nvSpPr>
          <p:cNvPr id="108" name="Shape 106"/>
          <p:cNvSpPr/>
          <p:nvPr/>
        </p:nvSpPr>
        <p:spPr>
          <a:xfrm rot="2700000">
            <a:off x="2000707" y="1426464"/>
            <a:ext cx="77724" cy="77724"/>
          </a:xfrm>
          <a:prstGeom prst="rect">
            <a:avLst/>
          </a:prstGeom>
          <a:solidFill>
            <a:srgbClr val="C0622B">
              <a:alpha val="18000"/>
            </a:srgbClr>
          </a:solidFill>
          <a:ln w="12700">
            <a:solidFill>
              <a:srgbClr val="C0622B"/>
            </a:solidFill>
            <a:prstDash val="solid"/>
          </a:ln>
        </p:spPr>
      </p:sp>
      <p:sp>
        <p:nvSpPr>
          <p:cNvPr id="109" name="Shape 107"/>
          <p:cNvSpPr/>
          <p:nvPr/>
        </p:nvSpPr>
        <p:spPr>
          <a:xfrm rot="2700000">
            <a:off x="2117750" y="1426464"/>
            <a:ext cx="77724" cy="77724"/>
          </a:xfrm>
          <a:prstGeom prst="rect">
            <a:avLst/>
          </a:prstGeom>
          <a:solidFill>
            <a:srgbClr val="C0622B">
              <a:alpha val="18000"/>
            </a:srgbClr>
          </a:solidFill>
          <a:ln w="12700">
            <a:solidFill>
              <a:srgbClr val="C0622B"/>
            </a:solidFill>
            <a:prstDash val="solid"/>
          </a:ln>
        </p:spPr>
      </p:sp>
      <p:sp>
        <p:nvSpPr>
          <p:cNvPr id="110" name="Shape 108"/>
          <p:cNvSpPr/>
          <p:nvPr/>
        </p:nvSpPr>
        <p:spPr>
          <a:xfrm rot="2700000">
            <a:off x="2234794" y="1426464"/>
            <a:ext cx="77724" cy="77724"/>
          </a:xfrm>
          <a:prstGeom prst="rect">
            <a:avLst/>
          </a:prstGeom>
          <a:solidFill>
            <a:srgbClr val="C0622B">
              <a:alpha val="18000"/>
            </a:srgbClr>
          </a:solidFill>
          <a:ln w="12700">
            <a:solidFill>
              <a:srgbClr val="C0622B"/>
            </a:solidFill>
            <a:prstDash val="solid"/>
          </a:ln>
        </p:spPr>
      </p:sp>
      <p:sp>
        <p:nvSpPr>
          <p:cNvPr id="111" name="Shape 109"/>
          <p:cNvSpPr/>
          <p:nvPr/>
        </p:nvSpPr>
        <p:spPr>
          <a:xfrm rot="2700000">
            <a:off x="2351837" y="1426464"/>
            <a:ext cx="77724" cy="77724"/>
          </a:xfrm>
          <a:prstGeom prst="rect">
            <a:avLst/>
          </a:prstGeom>
          <a:solidFill>
            <a:srgbClr val="C0622B">
              <a:alpha val="18000"/>
            </a:srgbClr>
          </a:solidFill>
          <a:ln w="12700">
            <a:solidFill>
              <a:srgbClr val="C0622B"/>
            </a:solidFill>
            <a:prstDash val="solid"/>
          </a:ln>
        </p:spPr>
      </p:sp>
      <p:sp>
        <p:nvSpPr>
          <p:cNvPr id="112" name="Shape 110"/>
          <p:cNvSpPr/>
          <p:nvPr/>
        </p:nvSpPr>
        <p:spPr>
          <a:xfrm rot="2700000">
            <a:off x="2468880" y="1426464"/>
            <a:ext cx="77724" cy="77724"/>
          </a:xfrm>
          <a:prstGeom prst="rect">
            <a:avLst/>
          </a:prstGeom>
          <a:solidFill>
            <a:srgbClr val="C0622B">
              <a:alpha val="18000"/>
            </a:srgbClr>
          </a:solidFill>
          <a:ln w="12700">
            <a:solidFill>
              <a:srgbClr val="C0622B"/>
            </a:solidFill>
            <a:prstDash val="solid"/>
          </a:ln>
        </p:spPr>
      </p:sp>
      <p:sp>
        <p:nvSpPr>
          <p:cNvPr id="113" name="Shape 111"/>
          <p:cNvSpPr/>
          <p:nvPr/>
        </p:nvSpPr>
        <p:spPr>
          <a:xfrm rot="2700000">
            <a:off x="2585923" y="1426464"/>
            <a:ext cx="77724" cy="77724"/>
          </a:xfrm>
          <a:prstGeom prst="rect">
            <a:avLst/>
          </a:prstGeom>
          <a:solidFill>
            <a:srgbClr val="C0622B">
              <a:alpha val="18000"/>
            </a:srgbClr>
          </a:solidFill>
          <a:ln w="12700">
            <a:solidFill>
              <a:srgbClr val="C0622B"/>
            </a:solidFill>
            <a:prstDash val="solid"/>
          </a:ln>
        </p:spPr>
      </p:sp>
      <p:sp>
        <p:nvSpPr>
          <p:cNvPr id="114" name="Shape 112"/>
          <p:cNvSpPr/>
          <p:nvPr/>
        </p:nvSpPr>
        <p:spPr>
          <a:xfrm rot="2700000">
            <a:off x="2702966" y="1426464"/>
            <a:ext cx="77724" cy="77724"/>
          </a:xfrm>
          <a:prstGeom prst="rect">
            <a:avLst/>
          </a:prstGeom>
          <a:solidFill>
            <a:srgbClr val="C0622B">
              <a:alpha val="18000"/>
            </a:srgbClr>
          </a:solidFill>
          <a:ln w="12700">
            <a:solidFill>
              <a:srgbClr val="C0622B"/>
            </a:solidFill>
            <a:prstDash val="solid"/>
          </a:ln>
        </p:spPr>
      </p:sp>
      <p:sp>
        <p:nvSpPr>
          <p:cNvPr id="115" name="Text 113"/>
          <p:cNvSpPr/>
          <p:nvPr/>
        </p:nvSpPr>
        <p:spPr>
          <a:xfrm>
            <a:off x="384048"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brûle plus chaud que le gaz naturel (~93,2 MJ/m³ vs 38,5 MJ/m³). Chaque chaudière et brûleur doit être HOMOLOGUÉ EN USINE pour le GPL. Ne jamais accepter une conversion terrain depuis gaz naturel — les caractéristiques de combustion, l'excès d'air et la stabilité de flamme nécessitent une calibration constructeur.</a:t>
            </a:r>
            <a:endParaRPr lang="en-US" sz="880" dirty="0"/>
          </a:p>
        </p:txBody>
      </p:sp>
      <p:sp>
        <p:nvSpPr>
          <p:cNvPr id="116" name="Shape 114"/>
          <p:cNvSpPr/>
          <p:nvPr/>
        </p:nvSpPr>
        <p:spPr>
          <a:xfrm>
            <a:off x="3200400"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7" name="Shape 115"/>
          <p:cNvSpPr/>
          <p:nvPr/>
        </p:nvSpPr>
        <p:spPr>
          <a:xfrm>
            <a:off x="3200400" y="932688"/>
            <a:ext cx="2834640" cy="45720"/>
          </a:xfrm>
          <a:prstGeom prst="rect">
            <a:avLst/>
          </a:prstGeom>
          <a:solidFill>
            <a:srgbClr val="E8A020"/>
          </a:solidFill>
          <a:ln/>
        </p:spPr>
      </p:sp>
      <p:sp>
        <p:nvSpPr>
          <p:cNvPr id="118" name="Text 116"/>
          <p:cNvSpPr/>
          <p:nvPr/>
        </p:nvSpPr>
        <p:spPr>
          <a:xfrm>
            <a:off x="3328416" y="1024128"/>
            <a:ext cx="2651760" cy="365760"/>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  Coût GPL = l'efficacité au démarrage est critique</a:t>
            </a:r>
            <a:endParaRPr lang="en-US" sz="1050" dirty="0"/>
          </a:p>
        </p:txBody>
      </p:sp>
      <p:sp>
        <p:nvSpPr>
          <p:cNvPr id="119" name="Shape 117"/>
          <p:cNvSpPr/>
          <p:nvPr/>
        </p:nvSpPr>
        <p:spPr>
          <a:xfrm rot="2700000">
            <a:off x="10973" y="1426464"/>
            <a:ext cx="77724" cy="77724"/>
          </a:xfrm>
          <a:prstGeom prst="rect">
            <a:avLst/>
          </a:prstGeom>
          <a:solidFill>
            <a:srgbClr val="E8A020">
              <a:alpha val="18000"/>
            </a:srgbClr>
          </a:solidFill>
          <a:ln w="12700">
            <a:solidFill>
              <a:srgbClr val="E8A020"/>
            </a:solidFill>
            <a:prstDash val="solid"/>
          </a:ln>
        </p:spPr>
      </p:sp>
      <p:sp>
        <p:nvSpPr>
          <p:cNvPr id="120" name="Shape 118"/>
          <p:cNvSpPr/>
          <p:nvPr/>
        </p:nvSpPr>
        <p:spPr>
          <a:xfrm rot="2700000">
            <a:off x="128016" y="1426464"/>
            <a:ext cx="77724" cy="77724"/>
          </a:xfrm>
          <a:prstGeom prst="rect">
            <a:avLst/>
          </a:prstGeom>
          <a:solidFill>
            <a:srgbClr val="E8A020">
              <a:alpha val="18000"/>
            </a:srgbClr>
          </a:solidFill>
          <a:ln w="12700">
            <a:solidFill>
              <a:srgbClr val="E8A020"/>
            </a:solidFill>
            <a:prstDash val="solid"/>
          </a:ln>
        </p:spPr>
      </p:sp>
      <p:sp>
        <p:nvSpPr>
          <p:cNvPr id="121" name="Shape 119"/>
          <p:cNvSpPr/>
          <p:nvPr/>
        </p:nvSpPr>
        <p:spPr>
          <a:xfrm rot="2700000">
            <a:off x="245059" y="1426464"/>
            <a:ext cx="77724" cy="77724"/>
          </a:xfrm>
          <a:prstGeom prst="rect">
            <a:avLst/>
          </a:prstGeom>
          <a:solidFill>
            <a:srgbClr val="E8A020">
              <a:alpha val="18000"/>
            </a:srgbClr>
          </a:solidFill>
          <a:ln w="12700">
            <a:solidFill>
              <a:srgbClr val="E8A020"/>
            </a:solidFill>
            <a:prstDash val="solid"/>
          </a:ln>
        </p:spPr>
      </p:sp>
      <p:sp>
        <p:nvSpPr>
          <p:cNvPr id="122" name="Shape 120"/>
          <p:cNvSpPr/>
          <p:nvPr/>
        </p:nvSpPr>
        <p:spPr>
          <a:xfrm rot="2700000">
            <a:off x="362102" y="1426464"/>
            <a:ext cx="77724" cy="77724"/>
          </a:xfrm>
          <a:prstGeom prst="rect">
            <a:avLst/>
          </a:prstGeom>
          <a:solidFill>
            <a:srgbClr val="E8A020">
              <a:alpha val="18000"/>
            </a:srgbClr>
          </a:solidFill>
          <a:ln w="12700">
            <a:solidFill>
              <a:srgbClr val="E8A020"/>
            </a:solidFill>
            <a:prstDash val="solid"/>
          </a:ln>
        </p:spPr>
      </p:sp>
      <p:sp>
        <p:nvSpPr>
          <p:cNvPr id="123" name="Shape 121"/>
          <p:cNvSpPr/>
          <p:nvPr/>
        </p:nvSpPr>
        <p:spPr>
          <a:xfrm rot="2700000">
            <a:off x="479146" y="1426464"/>
            <a:ext cx="77724" cy="77724"/>
          </a:xfrm>
          <a:prstGeom prst="rect">
            <a:avLst/>
          </a:prstGeom>
          <a:solidFill>
            <a:srgbClr val="E8A020">
              <a:alpha val="18000"/>
            </a:srgbClr>
          </a:solidFill>
          <a:ln w="12700">
            <a:solidFill>
              <a:srgbClr val="E8A020"/>
            </a:solidFill>
            <a:prstDash val="solid"/>
          </a:ln>
        </p:spPr>
      </p:sp>
      <p:sp>
        <p:nvSpPr>
          <p:cNvPr id="124" name="Shape 122"/>
          <p:cNvSpPr/>
          <p:nvPr/>
        </p:nvSpPr>
        <p:spPr>
          <a:xfrm rot="2700000">
            <a:off x="596189" y="1426464"/>
            <a:ext cx="77724" cy="77724"/>
          </a:xfrm>
          <a:prstGeom prst="rect">
            <a:avLst/>
          </a:prstGeom>
          <a:solidFill>
            <a:srgbClr val="E8A020">
              <a:alpha val="18000"/>
            </a:srgbClr>
          </a:solidFill>
          <a:ln w="12700">
            <a:solidFill>
              <a:srgbClr val="E8A020"/>
            </a:solidFill>
            <a:prstDash val="solid"/>
          </a:ln>
        </p:spPr>
      </p:sp>
      <p:sp>
        <p:nvSpPr>
          <p:cNvPr id="125" name="Shape 123"/>
          <p:cNvSpPr/>
          <p:nvPr/>
        </p:nvSpPr>
        <p:spPr>
          <a:xfrm rot="2700000">
            <a:off x="713232" y="1426464"/>
            <a:ext cx="77724" cy="77724"/>
          </a:xfrm>
          <a:prstGeom prst="rect">
            <a:avLst/>
          </a:prstGeom>
          <a:solidFill>
            <a:srgbClr val="E8A020">
              <a:alpha val="18000"/>
            </a:srgbClr>
          </a:solidFill>
          <a:ln w="12700">
            <a:solidFill>
              <a:srgbClr val="E8A020"/>
            </a:solidFill>
            <a:prstDash val="solid"/>
          </a:ln>
        </p:spPr>
      </p:sp>
      <p:sp>
        <p:nvSpPr>
          <p:cNvPr id="126" name="Shape 124"/>
          <p:cNvSpPr/>
          <p:nvPr/>
        </p:nvSpPr>
        <p:spPr>
          <a:xfrm rot="2700000">
            <a:off x="830275" y="1426464"/>
            <a:ext cx="77724" cy="77724"/>
          </a:xfrm>
          <a:prstGeom prst="rect">
            <a:avLst/>
          </a:prstGeom>
          <a:solidFill>
            <a:srgbClr val="E8A020">
              <a:alpha val="18000"/>
            </a:srgbClr>
          </a:solidFill>
          <a:ln w="12700">
            <a:solidFill>
              <a:srgbClr val="E8A020"/>
            </a:solidFill>
            <a:prstDash val="solid"/>
          </a:ln>
        </p:spPr>
      </p:sp>
      <p:sp>
        <p:nvSpPr>
          <p:cNvPr id="127" name="Shape 125"/>
          <p:cNvSpPr/>
          <p:nvPr/>
        </p:nvSpPr>
        <p:spPr>
          <a:xfrm rot="2700000">
            <a:off x="947318" y="1426464"/>
            <a:ext cx="77724" cy="77724"/>
          </a:xfrm>
          <a:prstGeom prst="rect">
            <a:avLst/>
          </a:prstGeom>
          <a:solidFill>
            <a:srgbClr val="E8A020">
              <a:alpha val="18000"/>
            </a:srgbClr>
          </a:solidFill>
          <a:ln w="12700">
            <a:solidFill>
              <a:srgbClr val="E8A020"/>
            </a:solidFill>
            <a:prstDash val="solid"/>
          </a:ln>
        </p:spPr>
      </p:sp>
      <p:sp>
        <p:nvSpPr>
          <p:cNvPr id="128" name="Shape 126"/>
          <p:cNvSpPr/>
          <p:nvPr/>
        </p:nvSpPr>
        <p:spPr>
          <a:xfrm rot="2700000">
            <a:off x="1064362" y="1426464"/>
            <a:ext cx="77724" cy="77724"/>
          </a:xfrm>
          <a:prstGeom prst="rect">
            <a:avLst/>
          </a:prstGeom>
          <a:solidFill>
            <a:srgbClr val="E8A020">
              <a:alpha val="18000"/>
            </a:srgbClr>
          </a:solidFill>
          <a:ln w="12700">
            <a:solidFill>
              <a:srgbClr val="E8A020"/>
            </a:solidFill>
            <a:prstDash val="solid"/>
          </a:ln>
        </p:spPr>
      </p:sp>
      <p:sp>
        <p:nvSpPr>
          <p:cNvPr id="129" name="Shape 127"/>
          <p:cNvSpPr/>
          <p:nvPr/>
        </p:nvSpPr>
        <p:spPr>
          <a:xfrm rot="2700000">
            <a:off x="1181405" y="1426464"/>
            <a:ext cx="77724" cy="77724"/>
          </a:xfrm>
          <a:prstGeom prst="rect">
            <a:avLst/>
          </a:prstGeom>
          <a:solidFill>
            <a:srgbClr val="E8A020">
              <a:alpha val="18000"/>
            </a:srgbClr>
          </a:solidFill>
          <a:ln w="12700">
            <a:solidFill>
              <a:srgbClr val="E8A020"/>
            </a:solidFill>
            <a:prstDash val="solid"/>
          </a:ln>
        </p:spPr>
      </p:sp>
      <p:sp>
        <p:nvSpPr>
          <p:cNvPr id="130" name="Shape 128"/>
          <p:cNvSpPr/>
          <p:nvPr/>
        </p:nvSpPr>
        <p:spPr>
          <a:xfrm rot="2700000">
            <a:off x="1298448" y="1426464"/>
            <a:ext cx="77724" cy="77724"/>
          </a:xfrm>
          <a:prstGeom prst="rect">
            <a:avLst/>
          </a:prstGeom>
          <a:solidFill>
            <a:srgbClr val="E8A020">
              <a:alpha val="18000"/>
            </a:srgbClr>
          </a:solidFill>
          <a:ln w="12700">
            <a:solidFill>
              <a:srgbClr val="E8A020"/>
            </a:solidFill>
            <a:prstDash val="solid"/>
          </a:ln>
        </p:spPr>
      </p:sp>
      <p:sp>
        <p:nvSpPr>
          <p:cNvPr id="131" name="Shape 129"/>
          <p:cNvSpPr/>
          <p:nvPr/>
        </p:nvSpPr>
        <p:spPr>
          <a:xfrm rot="2700000">
            <a:off x="1415491" y="1426464"/>
            <a:ext cx="77724" cy="77724"/>
          </a:xfrm>
          <a:prstGeom prst="rect">
            <a:avLst/>
          </a:prstGeom>
          <a:solidFill>
            <a:srgbClr val="E8A020">
              <a:alpha val="18000"/>
            </a:srgbClr>
          </a:solidFill>
          <a:ln w="12700">
            <a:solidFill>
              <a:srgbClr val="E8A020"/>
            </a:solidFill>
            <a:prstDash val="solid"/>
          </a:ln>
        </p:spPr>
      </p:sp>
      <p:sp>
        <p:nvSpPr>
          <p:cNvPr id="132" name="Shape 130"/>
          <p:cNvSpPr/>
          <p:nvPr/>
        </p:nvSpPr>
        <p:spPr>
          <a:xfrm rot="2700000">
            <a:off x="1532534" y="1426464"/>
            <a:ext cx="77724" cy="77724"/>
          </a:xfrm>
          <a:prstGeom prst="rect">
            <a:avLst/>
          </a:prstGeom>
          <a:solidFill>
            <a:srgbClr val="E8A020">
              <a:alpha val="18000"/>
            </a:srgbClr>
          </a:solidFill>
          <a:ln w="12700">
            <a:solidFill>
              <a:srgbClr val="E8A020"/>
            </a:solidFill>
            <a:prstDash val="solid"/>
          </a:ln>
        </p:spPr>
      </p:sp>
      <p:sp>
        <p:nvSpPr>
          <p:cNvPr id="133" name="Shape 131"/>
          <p:cNvSpPr/>
          <p:nvPr/>
        </p:nvSpPr>
        <p:spPr>
          <a:xfrm rot="2700000">
            <a:off x="1649578" y="1426464"/>
            <a:ext cx="77724" cy="77724"/>
          </a:xfrm>
          <a:prstGeom prst="rect">
            <a:avLst/>
          </a:prstGeom>
          <a:solidFill>
            <a:srgbClr val="E8A020">
              <a:alpha val="18000"/>
            </a:srgbClr>
          </a:solidFill>
          <a:ln w="12700">
            <a:solidFill>
              <a:srgbClr val="E8A020"/>
            </a:solidFill>
            <a:prstDash val="solid"/>
          </a:ln>
        </p:spPr>
      </p:sp>
      <p:sp>
        <p:nvSpPr>
          <p:cNvPr id="134" name="Shape 132"/>
          <p:cNvSpPr/>
          <p:nvPr/>
        </p:nvSpPr>
        <p:spPr>
          <a:xfrm rot="2700000">
            <a:off x="1766621" y="1426464"/>
            <a:ext cx="77724" cy="77724"/>
          </a:xfrm>
          <a:prstGeom prst="rect">
            <a:avLst/>
          </a:prstGeom>
          <a:solidFill>
            <a:srgbClr val="E8A020">
              <a:alpha val="18000"/>
            </a:srgbClr>
          </a:solidFill>
          <a:ln w="12700">
            <a:solidFill>
              <a:srgbClr val="E8A020"/>
            </a:solidFill>
            <a:prstDash val="solid"/>
          </a:ln>
        </p:spPr>
      </p:sp>
      <p:sp>
        <p:nvSpPr>
          <p:cNvPr id="135" name="Shape 133"/>
          <p:cNvSpPr/>
          <p:nvPr/>
        </p:nvSpPr>
        <p:spPr>
          <a:xfrm rot="2700000">
            <a:off x="1883664" y="1426464"/>
            <a:ext cx="77724" cy="77724"/>
          </a:xfrm>
          <a:prstGeom prst="rect">
            <a:avLst/>
          </a:prstGeom>
          <a:solidFill>
            <a:srgbClr val="E8A020">
              <a:alpha val="18000"/>
            </a:srgbClr>
          </a:solidFill>
          <a:ln w="12700">
            <a:solidFill>
              <a:srgbClr val="E8A020"/>
            </a:solidFill>
            <a:prstDash val="solid"/>
          </a:ln>
        </p:spPr>
      </p:sp>
      <p:sp>
        <p:nvSpPr>
          <p:cNvPr id="136" name="Shape 134"/>
          <p:cNvSpPr/>
          <p:nvPr/>
        </p:nvSpPr>
        <p:spPr>
          <a:xfrm rot="2700000">
            <a:off x="2000707" y="1426464"/>
            <a:ext cx="77724" cy="77724"/>
          </a:xfrm>
          <a:prstGeom prst="rect">
            <a:avLst/>
          </a:prstGeom>
          <a:solidFill>
            <a:srgbClr val="E8A020">
              <a:alpha val="18000"/>
            </a:srgbClr>
          </a:solidFill>
          <a:ln w="12700">
            <a:solidFill>
              <a:srgbClr val="E8A020"/>
            </a:solidFill>
            <a:prstDash val="solid"/>
          </a:ln>
        </p:spPr>
      </p:sp>
      <p:sp>
        <p:nvSpPr>
          <p:cNvPr id="137" name="Shape 135"/>
          <p:cNvSpPr/>
          <p:nvPr/>
        </p:nvSpPr>
        <p:spPr>
          <a:xfrm rot="2700000">
            <a:off x="2117750" y="1426464"/>
            <a:ext cx="77724" cy="77724"/>
          </a:xfrm>
          <a:prstGeom prst="rect">
            <a:avLst/>
          </a:prstGeom>
          <a:solidFill>
            <a:srgbClr val="E8A020">
              <a:alpha val="18000"/>
            </a:srgbClr>
          </a:solidFill>
          <a:ln w="12700">
            <a:solidFill>
              <a:srgbClr val="E8A020"/>
            </a:solidFill>
            <a:prstDash val="solid"/>
          </a:ln>
        </p:spPr>
      </p:sp>
      <p:sp>
        <p:nvSpPr>
          <p:cNvPr id="138" name="Shape 136"/>
          <p:cNvSpPr/>
          <p:nvPr/>
        </p:nvSpPr>
        <p:spPr>
          <a:xfrm rot="2700000">
            <a:off x="2234794" y="1426464"/>
            <a:ext cx="77724" cy="77724"/>
          </a:xfrm>
          <a:prstGeom prst="rect">
            <a:avLst/>
          </a:prstGeom>
          <a:solidFill>
            <a:srgbClr val="E8A020">
              <a:alpha val="18000"/>
            </a:srgbClr>
          </a:solidFill>
          <a:ln w="12700">
            <a:solidFill>
              <a:srgbClr val="E8A020"/>
            </a:solidFill>
            <a:prstDash val="solid"/>
          </a:ln>
        </p:spPr>
      </p:sp>
      <p:sp>
        <p:nvSpPr>
          <p:cNvPr id="139" name="Shape 137"/>
          <p:cNvSpPr/>
          <p:nvPr/>
        </p:nvSpPr>
        <p:spPr>
          <a:xfrm rot="2700000">
            <a:off x="2351837" y="1426464"/>
            <a:ext cx="77724" cy="77724"/>
          </a:xfrm>
          <a:prstGeom prst="rect">
            <a:avLst/>
          </a:prstGeom>
          <a:solidFill>
            <a:srgbClr val="E8A020">
              <a:alpha val="18000"/>
            </a:srgbClr>
          </a:solidFill>
          <a:ln w="12700">
            <a:solidFill>
              <a:srgbClr val="E8A020"/>
            </a:solidFill>
            <a:prstDash val="solid"/>
          </a:ln>
        </p:spPr>
      </p:sp>
      <p:sp>
        <p:nvSpPr>
          <p:cNvPr id="140" name="Shape 138"/>
          <p:cNvSpPr/>
          <p:nvPr/>
        </p:nvSpPr>
        <p:spPr>
          <a:xfrm rot="2700000">
            <a:off x="2468880" y="1426464"/>
            <a:ext cx="77724" cy="77724"/>
          </a:xfrm>
          <a:prstGeom prst="rect">
            <a:avLst/>
          </a:prstGeom>
          <a:solidFill>
            <a:srgbClr val="E8A020">
              <a:alpha val="18000"/>
            </a:srgbClr>
          </a:solidFill>
          <a:ln w="12700">
            <a:solidFill>
              <a:srgbClr val="E8A020"/>
            </a:solidFill>
            <a:prstDash val="solid"/>
          </a:ln>
        </p:spPr>
      </p:sp>
      <p:sp>
        <p:nvSpPr>
          <p:cNvPr id="141" name="Shape 139"/>
          <p:cNvSpPr/>
          <p:nvPr/>
        </p:nvSpPr>
        <p:spPr>
          <a:xfrm rot="2700000">
            <a:off x="2585923" y="1426464"/>
            <a:ext cx="77724" cy="77724"/>
          </a:xfrm>
          <a:prstGeom prst="rect">
            <a:avLst/>
          </a:prstGeom>
          <a:solidFill>
            <a:srgbClr val="E8A020">
              <a:alpha val="18000"/>
            </a:srgbClr>
          </a:solidFill>
          <a:ln w="12700">
            <a:solidFill>
              <a:srgbClr val="E8A020"/>
            </a:solidFill>
            <a:prstDash val="solid"/>
          </a:ln>
        </p:spPr>
      </p:sp>
      <p:sp>
        <p:nvSpPr>
          <p:cNvPr id="142" name="Shape 140"/>
          <p:cNvSpPr/>
          <p:nvPr/>
        </p:nvSpPr>
        <p:spPr>
          <a:xfrm rot="2700000">
            <a:off x="2702966" y="1426464"/>
            <a:ext cx="77724" cy="77724"/>
          </a:xfrm>
          <a:prstGeom prst="rect">
            <a:avLst/>
          </a:prstGeom>
          <a:solidFill>
            <a:srgbClr val="E8A020">
              <a:alpha val="18000"/>
            </a:srgbClr>
          </a:solidFill>
          <a:ln w="12700">
            <a:solidFill>
              <a:srgbClr val="E8A020"/>
            </a:solidFill>
            <a:prstDash val="solid"/>
          </a:ln>
        </p:spPr>
      </p:sp>
      <p:sp>
        <p:nvSpPr>
          <p:cNvPr id="143" name="Text 141"/>
          <p:cNvSpPr/>
          <p:nvPr/>
        </p:nvSpPr>
        <p:spPr>
          <a:xfrm>
            <a:off x="3328416"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coûte environ 40–60% plus cher par unité d'énergie que le gaz naturel pipeliné. Chaque démarrage à froid d'une chaudière à tubes de fumée brûle 60–90 minutes de GPL pour chauffer l'eau sans produire de vapeur utile. Sur une semaine de 5 jours avec arrêt week-end, l'écart annuel est chiffrable.</a:t>
            </a:r>
            <a:endParaRPr lang="en-US" sz="880" dirty="0"/>
          </a:p>
        </p:txBody>
      </p:sp>
      <p:sp>
        <p:nvSpPr>
          <p:cNvPr id="144" name="Shape 142"/>
          <p:cNvSpPr/>
          <p:nvPr/>
        </p:nvSpPr>
        <p:spPr>
          <a:xfrm>
            <a:off x="6144768"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45" name="Shape 143"/>
          <p:cNvSpPr/>
          <p:nvPr/>
        </p:nvSpPr>
        <p:spPr>
          <a:xfrm>
            <a:off x="6144768" y="932688"/>
            <a:ext cx="2834640" cy="45720"/>
          </a:xfrm>
          <a:prstGeom prst="rect">
            <a:avLst/>
          </a:prstGeom>
          <a:solidFill>
            <a:srgbClr val="D4951A"/>
          </a:solidFill>
          <a:ln/>
        </p:spPr>
      </p:sp>
      <p:sp>
        <p:nvSpPr>
          <p:cNvPr id="146" name="Text 144"/>
          <p:cNvSpPr/>
          <p:nvPr/>
        </p:nvSpPr>
        <p:spPr>
          <a:xfrm>
            <a:off x="6272784" y="1024128"/>
            <a:ext cx="2651760" cy="365760"/>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  Cuve GPL en vrac — périmètre civil distinct</a:t>
            </a:r>
            <a:endParaRPr lang="en-US" sz="1050" dirty="0"/>
          </a:p>
        </p:txBody>
      </p:sp>
      <p:sp>
        <p:nvSpPr>
          <p:cNvPr id="147" name="Shape 145"/>
          <p:cNvSpPr/>
          <p:nvPr/>
        </p:nvSpPr>
        <p:spPr>
          <a:xfrm rot="2700000">
            <a:off x="10973" y="1426464"/>
            <a:ext cx="77724" cy="77724"/>
          </a:xfrm>
          <a:prstGeom prst="rect">
            <a:avLst/>
          </a:prstGeom>
          <a:solidFill>
            <a:srgbClr val="D4951A">
              <a:alpha val="18000"/>
            </a:srgbClr>
          </a:solidFill>
          <a:ln w="12700">
            <a:solidFill>
              <a:srgbClr val="D4951A"/>
            </a:solidFill>
            <a:prstDash val="solid"/>
          </a:ln>
        </p:spPr>
      </p:sp>
      <p:sp>
        <p:nvSpPr>
          <p:cNvPr id="148" name="Shape 146"/>
          <p:cNvSpPr/>
          <p:nvPr/>
        </p:nvSpPr>
        <p:spPr>
          <a:xfrm rot="2700000">
            <a:off x="128016" y="1426464"/>
            <a:ext cx="77724" cy="77724"/>
          </a:xfrm>
          <a:prstGeom prst="rect">
            <a:avLst/>
          </a:prstGeom>
          <a:solidFill>
            <a:srgbClr val="D4951A">
              <a:alpha val="18000"/>
            </a:srgbClr>
          </a:solidFill>
          <a:ln w="12700">
            <a:solidFill>
              <a:srgbClr val="D4951A"/>
            </a:solidFill>
            <a:prstDash val="solid"/>
          </a:ln>
        </p:spPr>
      </p:sp>
      <p:sp>
        <p:nvSpPr>
          <p:cNvPr id="149" name="Shape 147"/>
          <p:cNvSpPr/>
          <p:nvPr/>
        </p:nvSpPr>
        <p:spPr>
          <a:xfrm rot="2700000">
            <a:off x="245059" y="1426464"/>
            <a:ext cx="77724" cy="77724"/>
          </a:xfrm>
          <a:prstGeom prst="rect">
            <a:avLst/>
          </a:prstGeom>
          <a:solidFill>
            <a:srgbClr val="D4951A">
              <a:alpha val="18000"/>
            </a:srgbClr>
          </a:solidFill>
          <a:ln w="12700">
            <a:solidFill>
              <a:srgbClr val="D4951A"/>
            </a:solidFill>
            <a:prstDash val="solid"/>
          </a:ln>
        </p:spPr>
      </p:sp>
      <p:sp>
        <p:nvSpPr>
          <p:cNvPr id="150" name="Shape 148"/>
          <p:cNvSpPr/>
          <p:nvPr/>
        </p:nvSpPr>
        <p:spPr>
          <a:xfrm rot="2700000">
            <a:off x="362102" y="1426464"/>
            <a:ext cx="77724" cy="77724"/>
          </a:xfrm>
          <a:prstGeom prst="rect">
            <a:avLst/>
          </a:prstGeom>
          <a:solidFill>
            <a:srgbClr val="D4951A">
              <a:alpha val="18000"/>
            </a:srgbClr>
          </a:solidFill>
          <a:ln w="12700">
            <a:solidFill>
              <a:srgbClr val="D4951A"/>
            </a:solidFill>
            <a:prstDash val="solid"/>
          </a:ln>
        </p:spPr>
      </p:sp>
      <p:sp>
        <p:nvSpPr>
          <p:cNvPr id="151" name="Shape 149"/>
          <p:cNvSpPr/>
          <p:nvPr/>
        </p:nvSpPr>
        <p:spPr>
          <a:xfrm rot="2700000">
            <a:off x="479146" y="1426464"/>
            <a:ext cx="77724" cy="77724"/>
          </a:xfrm>
          <a:prstGeom prst="rect">
            <a:avLst/>
          </a:prstGeom>
          <a:solidFill>
            <a:srgbClr val="D4951A">
              <a:alpha val="18000"/>
            </a:srgbClr>
          </a:solidFill>
          <a:ln w="12700">
            <a:solidFill>
              <a:srgbClr val="D4951A"/>
            </a:solidFill>
            <a:prstDash val="solid"/>
          </a:ln>
        </p:spPr>
      </p:sp>
      <p:sp>
        <p:nvSpPr>
          <p:cNvPr id="152" name="Shape 150"/>
          <p:cNvSpPr/>
          <p:nvPr/>
        </p:nvSpPr>
        <p:spPr>
          <a:xfrm rot="2700000">
            <a:off x="596189" y="1426464"/>
            <a:ext cx="77724" cy="77724"/>
          </a:xfrm>
          <a:prstGeom prst="rect">
            <a:avLst/>
          </a:prstGeom>
          <a:solidFill>
            <a:srgbClr val="D4951A">
              <a:alpha val="18000"/>
            </a:srgbClr>
          </a:solidFill>
          <a:ln w="12700">
            <a:solidFill>
              <a:srgbClr val="D4951A"/>
            </a:solidFill>
            <a:prstDash val="solid"/>
          </a:ln>
        </p:spPr>
      </p:sp>
      <p:sp>
        <p:nvSpPr>
          <p:cNvPr id="153" name="Shape 151"/>
          <p:cNvSpPr/>
          <p:nvPr/>
        </p:nvSpPr>
        <p:spPr>
          <a:xfrm rot="2700000">
            <a:off x="713232" y="1426464"/>
            <a:ext cx="77724" cy="77724"/>
          </a:xfrm>
          <a:prstGeom prst="rect">
            <a:avLst/>
          </a:prstGeom>
          <a:solidFill>
            <a:srgbClr val="D4951A">
              <a:alpha val="18000"/>
            </a:srgbClr>
          </a:solidFill>
          <a:ln w="12700">
            <a:solidFill>
              <a:srgbClr val="D4951A"/>
            </a:solidFill>
            <a:prstDash val="solid"/>
          </a:ln>
        </p:spPr>
      </p:sp>
      <p:sp>
        <p:nvSpPr>
          <p:cNvPr id="154" name="Shape 152"/>
          <p:cNvSpPr/>
          <p:nvPr/>
        </p:nvSpPr>
        <p:spPr>
          <a:xfrm rot="2700000">
            <a:off x="830275" y="1426464"/>
            <a:ext cx="77724" cy="77724"/>
          </a:xfrm>
          <a:prstGeom prst="rect">
            <a:avLst/>
          </a:prstGeom>
          <a:solidFill>
            <a:srgbClr val="D4951A">
              <a:alpha val="18000"/>
            </a:srgbClr>
          </a:solidFill>
          <a:ln w="12700">
            <a:solidFill>
              <a:srgbClr val="D4951A"/>
            </a:solidFill>
            <a:prstDash val="solid"/>
          </a:ln>
        </p:spPr>
      </p:sp>
      <p:sp>
        <p:nvSpPr>
          <p:cNvPr id="155" name="Shape 153"/>
          <p:cNvSpPr/>
          <p:nvPr/>
        </p:nvSpPr>
        <p:spPr>
          <a:xfrm rot="2700000">
            <a:off x="947318" y="1426464"/>
            <a:ext cx="77724" cy="77724"/>
          </a:xfrm>
          <a:prstGeom prst="rect">
            <a:avLst/>
          </a:prstGeom>
          <a:solidFill>
            <a:srgbClr val="D4951A">
              <a:alpha val="18000"/>
            </a:srgbClr>
          </a:solidFill>
          <a:ln w="12700">
            <a:solidFill>
              <a:srgbClr val="D4951A"/>
            </a:solidFill>
            <a:prstDash val="solid"/>
          </a:ln>
        </p:spPr>
      </p:sp>
      <p:sp>
        <p:nvSpPr>
          <p:cNvPr id="156" name="Shape 154"/>
          <p:cNvSpPr/>
          <p:nvPr/>
        </p:nvSpPr>
        <p:spPr>
          <a:xfrm rot="2700000">
            <a:off x="1064362" y="1426464"/>
            <a:ext cx="77724" cy="77724"/>
          </a:xfrm>
          <a:prstGeom prst="rect">
            <a:avLst/>
          </a:prstGeom>
          <a:solidFill>
            <a:srgbClr val="D4951A">
              <a:alpha val="18000"/>
            </a:srgbClr>
          </a:solidFill>
          <a:ln w="12700">
            <a:solidFill>
              <a:srgbClr val="D4951A"/>
            </a:solidFill>
            <a:prstDash val="solid"/>
          </a:ln>
        </p:spPr>
      </p:sp>
      <p:sp>
        <p:nvSpPr>
          <p:cNvPr id="157" name="Shape 155"/>
          <p:cNvSpPr/>
          <p:nvPr/>
        </p:nvSpPr>
        <p:spPr>
          <a:xfrm rot="2700000">
            <a:off x="1181405" y="1426464"/>
            <a:ext cx="77724" cy="77724"/>
          </a:xfrm>
          <a:prstGeom prst="rect">
            <a:avLst/>
          </a:prstGeom>
          <a:solidFill>
            <a:srgbClr val="D4951A">
              <a:alpha val="18000"/>
            </a:srgbClr>
          </a:solidFill>
          <a:ln w="12700">
            <a:solidFill>
              <a:srgbClr val="D4951A"/>
            </a:solidFill>
            <a:prstDash val="solid"/>
          </a:ln>
        </p:spPr>
      </p:sp>
      <p:sp>
        <p:nvSpPr>
          <p:cNvPr id="158" name="Shape 156"/>
          <p:cNvSpPr/>
          <p:nvPr/>
        </p:nvSpPr>
        <p:spPr>
          <a:xfrm rot="2700000">
            <a:off x="1298448" y="1426464"/>
            <a:ext cx="77724" cy="77724"/>
          </a:xfrm>
          <a:prstGeom prst="rect">
            <a:avLst/>
          </a:prstGeom>
          <a:solidFill>
            <a:srgbClr val="D4951A">
              <a:alpha val="18000"/>
            </a:srgbClr>
          </a:solidFill>
          <a:ln w="12700">
            <a:solidFill>
              <a:srgbClr val="D4951A"/>
            </a:solidFill>
            <a:prstDash val="solid"/>
          </a:ln>
        </p:spPr>
      </p:sp>
      <p:sp>
        <p:nvSpPr>
          <p:cNvPr id="159" name="Shape 157"/>
          <p:cNvSpPr/>
          <p:nvPr/>
        </p:nvSpPr>
        <p:spPr>
          <a:xfrm rot="2700000">
            <a:off x="1415491" y="1426464"/>
            <a:ext cx="77724" cy="77724"/>
          </a:xfrm>
          <a:prstGeom prst="rect">
            <a:avLst/>
          </a:prstGeom>
          <a:solidFill>
            <a:srgbClr val="D4951A">
              <a:alpha val="18000"/>
            </a:srgbClr>
          </a:solidFill>
          <a:ln w="12700">
            <a:solidFill>
              <a:srgbClr val="D4951A"/>
            </a:solidFill>
            <a:prstDash val="solid"/>
          </a:ln>
        </p:spPr>
      </p:sp>
      <p:sp>
        <p:nvSpPr>
          <p:cNvPr id="160" name="Shape 158"/>
          <p:cNvSpPr/>
          <p:nvPr/>
        </p:nvSpPr>
        <p:spPr>
          <a:xfrm rot="2700000">
            <a:off x="1532534" y="1426464"/>
            <a:ext cx="77724" cy="77724"/>
          </a:xfrm>
          <a:prstGeom prst="rect">
            <a:avLst/>
          </a:prstGeom>
          <a:solidFill>
            <a:srgbClr val="D4951A">
              <a:alpha val="18000"/>
            </a:srgbClr>
          </a:solidFill>
          <a:ln w="12700">
            <a:solidFill>
              <a:srgbClr val="D4951A"/>
            </a:solidFill>
            <a:prstDash val="solid"/>
          </a:ln>
        </p:spPr>
      </p:sp>
      <p:sp>
        <p:nvSpPr>
          <p:cNvPr id="161" name="Shape 159"/>
          <p:cNvSpPr/>
          <p:nvPr/>
        </p:nvSpPr>
        <p:spPr>
          <a:xfrm rot="2700000">
            <a:off x="1649578" y="1426464"/>
            <a:ext cx="77724" cy="77724"/>
          </a:xfrm>
          <a:prstGeom prst="rect">
            <a:avLst/>
          </a:prstGeom>
          <a:solidFill>
            <a:srgbClr val="D4951A">
              <a:alpha val="18000"/>
            </a:srgbClr>
          </a:solidFill>
          <a:ln w="12700">
            <a:solidFill>
              <a:srgbClr val="D4951A"/>
            </a:solidFill>
            <a:prstDash val="solid"/>
          </a:ln>
        </p:spPr>
      </p:sp>
      <p:sp>
        <p:nvSpPr>
          <p:cNvPr id="162" name="Shape 160"/>
          <p:cNvSpPr/>
          <p:nvPr/>
        </p:nvSpPr>
        <p:spPr>
          <a:xfrm rot="2700000">
            <a:off x="1766621" y="1426464"/>
            <a:ext cx="77724" cy="77724"/>
          </a:xfrm>
          <a:prstGeom prst="rect">
            <a:avLst/>
          </a:prstGeom>
          <a:solidFill>
            <a:srgbClr val="D4951A">
              <a:alpha val="18000"/>
            </a:srgbClr>
          </a:solidFill>
          <a:ln w="12700">
            <a:solidFill>
              <a:srgbClr val="D4951A"/>
            </a:solidFill>
            <a:prstDash val="solid"/>
          </a:ln>
        </p:spPr>
      </p:sp>
      <p:sp>
        <p:nvSpPr>
          <p:cNvPr id="163" name="Shape 161"/>
          <p:cNvSpPr/>
          <p:nvPr/>
        </p:nvSpPr>
        <p:spPr>
          <a:xfrm rot="2700000">
            <a:off x="1883664" y="1426464"/>
            <a:ext cx="77724" cy="77724"/>
          </a:xfrm>
          <a:prstGeom prst="rect">
            <a:avLst/>
          </a:prstGeom>
          <a:solidFill>
            <a:srgbClr val="D4951A">
              <a:alpha val="18000"/>
            </a:srgbClr>
          </a:solidFill>
          <a:ln w="12700">
            <a:solidFill>
              <a:srgbClr val="D4951A"/>
            </a:solidFill>
            <a:prstDash val="solid"/>
          </a:ln>
        </p:spPr>
      </p:sp>
      <p:sp>
        <p:nvSpPr>
          <p:cNvPr id="164" name="Shape 162"/>
          <p:cNvSpPr/>
          <p:nvPr/>
        </p:nvSpPr>
        <p:spPr>
          <a:xfrm rot="2700000">
            <a:off x="2000707" y="1426464"/>
            <a:ext cx="77724" cy="77724"/>
          </a:xfrm>
          <a:prstGeom prst="rect">
            <a:avLst/>
          </a:prstGeom>
          <a:solidFill>
            <a:srgbClr val="D4951A">
              <a:alpha val="18000"/>
            </a:srgbClr>
          </a:solidFill>
          <a:ln w="12700">
            <a:solidFill>
              <a:srgbClr val="D4951A"/>
            </a:solidFill>
            <a:prstDash val="solid"/>
          </a:ln>
        </p:spPr>
      </p:sp>
      <p:sp>
        <p:nvSpPr>
          <p:cNvPr id="165" name="Shape 163"/>
          <p:cNvSpPr/>
          <p:nvPr/>
        </p:nvSpPr>
        <p:spPr>
          <a:xfrm rot="2700000">
            <a:off x="2117750" y="1426464"/>
            <a:ext cx="77724" cy="77724"/>
          </a:xfrm>
          <a:prstGeom prst="rect">
            <a:avLst/>
          </a:prstGeom>
          <a:solidFill>
            <a:srgbClr val="D4951A">
              <a:alpha val="18000"/>
            </a:srgbClr>
          </a:solidFill>
          <a:ln w="12700">
            <a:solidFill>
              <a:srgbClr val="D4951A"/>
            </a:solidFill>
            <a:prstDash val="solid"/>
          </a:ln>
        </p:spPr>
      </p:sp>
      <p:sp>
        <p:nvSpPr>
          <p:cNvPr id="166" name="Shape 164"/>
          <p:cNvSpPr/>
          <p:nvPr/>
        </p:nvSpPr>
        <p:spPr>
          <a:xfrm rot="2700000">
            <a:off x="2234794" y="1426464"/>
            <a:ext cx="77724" cy="77724"/>
          </a:xfrm>
          <a:prstGeom prst="rect">
            <a:avLst/>
          </a:prstGeom>
          <a:solidFill>
            <a:srgbClr val="D4951A">
              <a:alpha val="18000"/>
            </a:srgbClr>
          </a:solidFill>
          <a:ln w="12700">
            <a:solidFill>
              <a:srgbClr val="D4951A"/>
            </a:solidFill>
            <a:prstDash val="solid"/>
          </a:ln>
        </p:spPr>
      </p:sp>
      <p:sp>
        <p:nvSpPr>
          <p:cNvPr id="167" name="Shape 165"/>
          <p:cNvSpPr/>
          <p:nvPr/>
        </p:nvSpPr>
        <p:spPr>
          <a:xfrm rot="2700000">
            <a:off x="2351837" y="1426464"/>
            <a:ext cx="77724" cy="77724"/>
          </a:xfrm>
          <a:prstGeom prst="rect">
            <a:avLst/>
          </a:prstGeom>
          <a:solidFill>
            <a:srgbClr val="D4951A">
              <a:alpha val="18000"/>
            </a:srgbClr>
          </a:solidFill>
          <a:ln w="12700">
            <a:solidFill>
              <a:srgbClr val="D4951A"/>
            </a:solidFill>
            <a:prstDash val="solid"/>
          </a:ln>
        </p:spPr>
      </p:sp>
      <p:sp>
        <p:nvSpPr>
          <p:cNvPr id="168" name="Shape 166"/>
          <p:cNvSpPr/>
          <p:nvPr/>
        </p:nvSpPr>
        <p:spPr>
          <a:xfrm rot="2700000">
            <a:off x="2468880" y="1426464"/>
            <a:ext cx="77724" cy="77724"/>
          </a:xfrm>
          <a:prstGeom prst="rect">
            <a:avLst/>
          </a:prstGeom>
          <a:solidFill>
            <a:srgbClr val="D4951A">
              <a:alpha val="18000"/>
            </a:srgbClr>
          </a:solidFill>
          <a:ln w="12700">
            <a:solidFill>
              <a:srgbClr val="D4951A"/>
            </a:solidFill>
            <a:prstDash val="solid"/>
          </a:ln>
        </p:spPr>
      </p:sp>
      <p:sp>
        <p:nvSpPr>
          <p:cNvPr id="169" name="Shape 167"/>
          <p:cNvSpPr/>
          <p:nvPr/>
        </p:nvSpPr>
        <p:spPr>
          <a:xfrm rot="2700000">
            <a:off x="2585923" y="1426464"/>
            <a:ext cx="77724" cy="77724"/>
          </a:xfrm>
          <a:prstGeom prst="rect">
            <a:avLst/>
          </a:prstGeom>
          <a:solidFill>
            <a:srgbClr val="D4951A">
              <a:alpha val="18000"/>
            </a:srgbClr>
          </a:solidFill>
          <a:ln w="12700">
            <a:solidFill>
              <a:srgbClr val="D4951A"/>
            </a:solidFill>
            <a:prstDash val="solid"/>
          </a:ln>
        </p:spPr>
      </p:sp>
      <p:sp>
        <p:nvSpPr>
          <p:cNvPr id="170" name="Shape 168"/>
          <p:cNvSpPr/>
          <p:nvPr/>
        </p:nvSpPr>
        <p:spPr>
          <a:xfrm rot="2700000">
            <a:off x="2702966" y="1426464"/>
            <a:ext cx="77724" cy="77724"/>
          </a:xfrm>
          <a:prstGeom prst="rect">
            <a:avLst/>
          </a:prstGeom>
          <a:solidFill>
            <a:srgbClr val="D4951A">
              <a:alpha val="18000"/>
            </a:srgbClr>
          </a:solidFill>
          <a:ln w="12700">
            <a:solidFill>
              <a:srgbClr val="D4951A"/>
            </a:solidFill>
            <a:prstDash val="solid"/>
          </a:ln>
        </p:spPr>
      </p:sp>
      <p:sp>
        <p:nvSpPr>
          <p:cNvPr id="171" name="Text 169"/>
          <p:cNvSpPr/>
          <p:nvPr/>
        </p:nvSpPr>
        <p:spPr>
          <a:xfrm>
            <a:off x="6272784"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Une cuve GPL en vrac de 10–15 tonnes est nécessaire sur site. Ce n'est PAS inclus dans les devis chaudière. Il faut prévoir un évaporateur (forcé si altitude ou hiver froid), un train de régulation de pression, une détection de gaz et un merlon de rétention. Budgétiser comme un poste CAPEX séparé. Délai de livraison au Maroc : 8–14 semaines.</a:t>
            </a:r>
            <a:endParaRPr lang="en-US" sz="880" dirty="0"/>
          </a:p>
        </p:txBody>
      </p:sp>
      <p:sp>
        <p:nvSpPr>
          <p:cNvPr id="172" name="Shape 170"/>
          <p:cNvSpPr/>
          <p:nvPr/>
        </p:nvSpPr>
        <p:spPr>
          <a:xfrm>
            <a:off x="256032"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73" name="Shape 171"/>
          <p:cNvSpPr/>
          <p:nvPr/>
        </p:nvSpPr>
        <p:spPr>
          <a:xfrm>
            <a:off x="256032" y="2944368"/>
            <a:ext cx="2834640" cy="45720"/>
          </a:xfrm>
          <a:prstGeom prst="rect">
            <a:avLst/>
          </a:prstGeom>
          <a:solidFill>
            <a:srgbClr val="1B9A8A"/>
          </a:solidFill>
          <a:ln/>
        </p:spPr>
      </p:sp>
      <p:sp>
        <p:nvSpPr>
          <p:cNvPr id="174" name="Text 172"/>
          <p:cNvSpPr/>
          <p:nvPr/>
        </p:nvSpPr>
        <p:spPr>
          <a:xfrm>
            <a:off x="384048" y="3035808"/>
            <a:ext cx="2651760" cy="365760"/>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  Pression de vapeur et température ambiante</a:t>
            </a:r>
            <a:endParaRPr lang="en-US" sz="1050" dirty="0"/>
          </a:p>
        </p:txBody>
      </p:sp>
      <p:sp>
        <p:nvSpPr>
          <p:cNvPr id="175" name="Shape 173"/>
          <p:cNvSpPr/>
          <p:nvPr/>
        </p:nvSpPr>
        <p:spPr>
          <a:xfrm rot="2700000">
            <a:off x="10973" y="3438144"/>
            <a:ext cx="77724" cy="77724"/>
          </a:xfrm>
          <a:prstGeom prst="rect">
            <a:avLst/>
          </a:prstGeom>
          <a:solidFill>
            <a:srgbClr val="1B9A8A">
              <a:alpha val="18000"/>
            </a:srgbClr>
          </a:solidFill>
          <a:ln w="12700">
            <a:solidFill>
              <a:srgbClr val="1B9A8A"/>
            </a:solidFill>
            <a:prstDash val="solid"/>
          </a:ln>
        </p:spPr>
      </p:sp>
      <p:sp>
        <p:nvSpPr>
          <p:cNvPr id="176" name="Shape 174"/>
          <p:cNvSpPr/>
          <p:nvPr/>
        </p:nvSpPr>
        <p:spPr>
          <a:xfrm rot="2700000">
            <a:off x="128016" y="3438144"/>
            <a:ext cx="77724" cy="77724"/>
          </a:xfrm>
          <a:prstGeom prst="rect">
            <a:avLst/>
          </a:prstGeom>
          <a:solidFill>
            <a:srgbClr val="1B9A8A">
              <a:alpha val="18000"/>
            </a:srgbClr>
          </a:solidFill>
          <a:ln w="12700">
            <a:solidFill>
              <a:srgbClr val="1B9A8A"/>
            </a:solidFill>
            <a:prstDash val="solid"/>
          </a:ln>
        </p:spPr>
      </p:sp>
      <p:sp>
        <p:nvSpPr>
          <p:cNvPr id="177" name="Shape 175"/>
          <p:cNvSpPr/>
          <p:nvPr/>
        </p:nvSpPr>
        <p:spPr>
          <a:xfrm rot="2700000">
            <a:off x="245059" y="3438144"/>
            <a:ext cx="77724" cy="77724"/>
          </a:xfrm>
          <a:prstGeom prst="rect">
            <a:avLst/>
          </a:prstGeom>
          <a:solidFill>
            <a:srgbClr val="1B9A8A">
              <a:alpha val="18000"/>
            </a:srgbClr>
          </a:solidFill>
          <a:ln w="12700">
            <a:solidFill>
              <a:srgbClr val="1B9A8A"/>
            </a:solidFill>
            <a:prstDash val="solid"/>
          </a:ln>
        </p:spPr>
      </p:sp>
      <p:sp>
        <p:nvSpPr>
          <p:cNvPr id="178" name="Shape 176"/>
          <p:cNvSpPr/>
          <p:nvPr/>
        </p:nvSpPr>
        <p:spPr>
          <a:xfrm rot="2700000">
            <a:off x="362102" y="3438144"/>
            <a:ext cx="77724" cy="77724"/>
          </a:xfrm>
          <a:prstGeom prst="rect">
            <a:avLst/>
          </a:prstGeom>
          <a:solidFill>
            <a:srgbClr val="1B9A8A">
              <a:alpha val="18000"/>
            </a:srgbClr>
          </a:solidFill>
          <a:ln w="12700">
            <a:solidFill>
              <a:srgbClr val="1B9A8A"/>
            </a:solidFill>
            <a:prstDash val="solid"/>
          </a:ln>
        </p:spPr>
      </p:sp>
      <p:sp>
        <p:nvSpPr>
          <p:cNvPr id="179" name="Shape 177"/>
          <p:cNvSpPr/>
          <p:nvPr/>
        </p:nvSpPr>
        <p:spPr>
          <a:xfrm rot="2700000">
            <a:off x="479146" y="3438144"/>
            <a:ext cx="77724" cy="77724"/>
          </a:xfrm>
          <a:prstGeom prst="rect">
            <a:avLst/>
          </a:prstGeom>
          <a:solidFill>
            <a:srgbClr val="1B9A8A">
              <a:alpha val="18000"/>
            </a:srgbClr>
          </a:solidFill>
          <a:ln w="12700">
            <a:solidFill>
              <a:srgbClr val="1B9A8A"/>
            </a:solidFill>
            <a:prstDash val="solid"/>
          </a:ln>
        </p:spPr>
      </p:sp>
      <p:sp>
        <p:nvSpPr>
          <p:cNvPr id="180" name="Shape 178"/>
          <p:cNvSpPr/>
          <p:nvPr/>
        </p:nvSpPr>
        <p:spPr>
          <a:xfrm rot="2700000">
            <a:off x="596189" y="3438144"/>
            <a:ext cx="77724" cy="77724"/>
          </a:xfrm>
          <a:prstGeom prst="rect">
            <a:avLst/>
          </a:prstGeom>
          <a:solidFill>
            <a:srgbClr val="1B9A8A">
              <a:alpha val="18000"/>
            </a:srgbClr>
          </a:solidFill>
          <a:ln w="12700">
            <a:solidFill>
              <a:srgbClr val="1B9A8A"/>
            </a:solidFill>
            <a:prstDash val="solid"/>
          </a:ln>
        </p:spPr>
      </p:sp>
      <p:sp>
        <p:nvSpPr>
          <p:cNvPr id="181" name="Shape 179"/>
          <p:cNvSpPr/>
          <p:nvPr/>
        </p:nvSpPr>
        <p:spPr>
          <a:xfrm rot="2700000">
            <a:off x="713232" y="3438144"/>
            <a:ext cx="77724" cy="77724"/>
          </a:xfrm>
          <a:prstGeom prst="rect">
            <a:avLst/>
          </a:prstGeom>
          <a:solidFill>
            <a:srgbClr val="1B9A8A">
              <a:alpha val="18000"/>
            </a:srgbClr>
          </a:solidFill>
          <a:ln w="12700">
            <a:solidFill>
              <a:srgbClr val="1B9A8A"/>
            </a:solidFill>
            <a:prstDash val="solid"/>
          </a:ln>
        </p:spPr>
      </p:sp>
      <p:sp>
        <p:nvSpPr>
          <p:cNvPr id="182" name="Shape 180"/>
          <p:cNvSpPr/>
          <p:nvPr/>
        </p:nvSpPr>
        <p:spPr>
          <a:xfrm rot="2700000">
            <a:off x="830275" y="3438144"/>
            <a:ext cx="77724" cy="77724"/>
          </a:xfrm>
          <a:prstGeom prst="rect">
            <a:avLst/>
          </a:prstGeom>
          <a:solidFill>
            <a:srgbClr val="1B9A8A">
              <a:alpha val="18000"/>
            </a:srgbClr>
          </a:solidFill>
          <a:ln w="12700">
            <a:solidFill>
              <a:srgbClr val="1B9A8A"/>
            </a:solidFill>
            <a:prstDash val="solid"/>
          </a:ln>
        </p:spPr>
      </p:sp>
      <p:sp>
        <p:nvSpPr>
          <p:cNvPr id="183" name="Shape 181"/>
          <p:cNvSpPr/>
          <p:nvPr/>
        </p:nvSpPr>
        <p:spPr>
          <a:xfrm rot="2700000">
            <a:off x="947318" y="3438144"/>
            <a:ext cx="77724" cy="77724"/>
          </a:xfrm>
          <a:prstGeom prst="rect">
            <a:avLst/>
          </a:prstGeom>
          <a:solidFill>
            <a:srgbClr val="1B9A8A">
              <a:alpha val="18000"/>
            </a:srgbClr>
          </a:solidFill>
          <a:ln w="12700">
            <a:solidFill>
              <a:srgbClr val="1B9A8A"/>
            </a:solidFill>
            <a:prstDash val="solid"/>
          </a:ln>
        </p:spPr>
      </p:sp>
      <p:sp>
        <p:nvSpPr>
          <p:cNvPr id="184" name="Shape 182"/>
          <p:cNvSpPr/>
          <p:nvPr/>
        </p:nvSpPr>
        <p:spPr>
          <a:xfrm rot="2700000">
            <a:off x="1064362" y="3438144"/>
            <a:ext cx="77724" cy="77724"/>
          </a:xfrm>
          <a:prstGeom prst="rect">
            <a:avLst/>
          </a:prstGeom>
          <a:solidFill>
            <a:srgbClr val="1B9A8A">
              <a:alpha val="18000"/>
            </a:srgbClr>
          </a:solidFill>
          <a:ln w="12700">
            <a:solidFill>
              <a:srgbClr val="1B9A8A"/>
            </a:solidFill>
            <a:prstDash val="solid"/>
          </a:ln>
        </p:spPr>
      </p:sp>
      <p:sp>
        <p:nvSpPr>
          <p:cNvPr id="185" name="Shape 183"/>
          <p:cNvSpPr/>
          <p:nvPr/>
        </p:nvSpPr>
        <p:spPr>
          <a:xfrm rot="2700000">
            <a:off x="1181405" y="3438144"/>
            <a:ext cx="77724" cy="77724"/>
          </a:xfrm>
          <a:prstGeom prst="rect">
            <a:avLst/>
          </a:prstGeom>
          <a:solidFill>
            <a:srgbClr val="1B9A8A">
              <a:alpha val="18000"/>
            </a:srgbClr>
          </a:solidFill>
          <a:ln w="12700">
            <a:solidFill>
              <a:srgbClr val="1B9A8A"/>
            </a:solidFill>
            <a:prstDash val="solid"/>
          </a:ln>
        </p:spPr>
      </p:sp>
      <p:sp>
        <p:nvSpPr>
          <p:cNvPr id="186" name="Shape 184"/>
          <p:cNvSpPr/>
          <p:nvPr/>
        </p:nvSpPr>
        <p:spPr>
          <a:xfrm rot="2700000">
            <a:off x="1298448" y="3438144"/>
            <a:ext cx="77724" cy="77724"/>
          </a:xfrm>
          <a:prstGeom prst="rect">
            <a:avLst/>
          </a:prstGeom>
          <a:solidFill>
            <a:srgbClr val="1B9A8A">
              <a:alpha val="18000"/>
            </a:srgbClr>
          </a:solidFill>
          <a:ln w="12700">
            <a:solidFill>
              <a:srgbClr val="1B9A8A"/>
            </a:solidFill>
            <a:prstDash val="solid"/>
          </a:ln>
        </p:spPr>
      </p:sp>
      <p:sp>
        <p:nvSpPr>
          <p:cNvPr id="187" name="Shape 185"/>
          <p:cNvSpPr/>
          <p:nvPr/>
        </p:nvSpPr>
        <p:spPr>
          <a:xfrm rot="2700000">
            <a:off x="1415491" y="3438144"/>
            <a:ext cx="77724" cy="77724"/>
          </a:xfrm>
          <a:prstGeom prst="rect">
            <a:avLst/>
          </a:prstGeom>
          <a:solidFill>
            <a:srgbClr val="1B9A8A">
              <a:alpha val="18000"/>
            </a:srgbClr>
          </a:solidFill>
          <a:ln w="12700">
            <a:solidFill>
              <a:srgbClr val="1B9A8A"/>
            </a:solidFill>
            <a:prstDash val="solid"/>
          </a:ln>
        </p:spPr>
      </p:sp>
      <p:sp>
        <p:nvSpPr>
          <p:cNvPr id="188" name="Shape 186"/>
          <p:cNvSpPr/>
          <p:nvPr/>
        </p:nvSpPr>
        <p:spPr>
          <a:xfrm rot="2700000">
            <a:off x="1532534" y="3438144"/>
            <a:ext cx="77724" cy="77724"/>
          </a:xfrm>
          <a:prstGeom prst="rect">
            <a:avLst/>
          </a:prstGeom>
          <a:solidFill>
            <a:srgbClr val="1B9A8A">
              <a:alpha val="18000"/>
            </a:srgbClr>
          </a:solidFill>
          <a:ln w="12700">
            <a:solidFill>
              <a:srgbClr val="1B9A8A"/>
            </a:solidFill>
            <a:prstDash val="solid"/>
          </a:ln>
        </p:spPr>
      </p:sp>
      <p:sp>
        <p:nvSpPr>
          <p:cNvPr id="189" name="Shape 187"/>
          <p:cNvSpPr/>
          <p:nvPr/>
        </p:nvSpPr>
        <p:spPr>
          <a:xfrm rot="2700000">
            <a:off x="1649578" y="3438144"/>
            <a:ext cx="77724" cy="77724"/>
          </a:xfrm>
          <a:prstGeom prst="rect">
            <a:avLst/>
          </a:prstGeom>
          <a:solidFill>
            <a:srgbClr val="1B9A8A">
              <a:alpha val="18000"/>
            </a:srgbClr>
          </a:solidFill>
          <a:ln w="12700">
            <a:solidFill>
              <a:srgbClr val="1B9A8A"/>
            </a:solidFill>
            <a:prstDash val="solid"/>
          </a:ln>
        </p:spPr>
      </p:sp>
      <p:sp>
        <p:nvSpPr>
          <p:cNvPr id="190" name="Shape 188"/>
          <p:cNvSpPr/>
          <p:nvPr/>
        </p:nvSpPr>
        <p:spPr>
          <a:xfrm rot="2700000">
            <a:off x="1766621" y="3438144"/>
            <a:ext cx="77724" cy="77724"/>
          </a:xfrm>
          <a:prstGeom prst="rect">
            <a:avLst/>
          </a:prstGeom>
          <a:solidFill>
            <a:srgbClr val="1B9A8A">
              <a:alpha val="18000"/>
            </a:srgbClr>
          </a:solidFill>
          <a:ln w="12700">
            <a:solidFill>
              <a:srgbClr val="1B9A8A"/>
            </a:solidFill>
            <a:prstDash val="solid"/>
          </a:ln>
        </p:spPr>
      </p:sp>
      <p:sp>
        <p:nvSpPr>
          <p:cNvPr id="191" name="Shape 189"/>
          <p:cNvSpPr/>
          <p:nvPr/>
        </p:nvSpPr>
        <p:spPr>
          <a:xfrm rot="2700000">
            <a:off x="1883664" y="3438144"/>
            <a:ext cx="77724" cy="77724"/>
          </a:xfrm>
          <a:prstGeom prst="rect">
            <a:avLst/>
          </a:prstGeom>
          <a:solidFill>
            <a:srgbClr val="1B9A8A">
              <a:alpha val="18000"/>
            </a:srgbClr>
          </a:solidFill>
          <a:ln w="12700">
            <a:solidFill>
              <a:srgbClr val="1B9A8A"/>
            </a:solidFill>
            <a:prstDash val="solid"/>
          </a:ln>
        </p:spPr>
      </p:sp>
      <p:sp>
        <p:nvSpPr>
          <p:cNvPr id="192" name="Shape 190"/>
          <p:cNvSpPr/>
          <p:nvPr/>
        </p:nvSpPr>
        <p:spPr>
          <a:xfrm rot="2700000">
            <a:off x="2000707" y="3438144"/>
            <a:ext cx="77724" cy="77724"/>
          </a:xfrm>
          <a:prstGeom prst="rect">
            <a:avLst/>
          </a:prstGeom>
          <a:solidFill>
            <a:srgbClr val="1B9A8A">
              <a:alpha val="18000"/>
            </a:srgbClr>
          </a:solidFill>
          <a:ln w="12700">
            <a:solidFill>
              <a:srgbClr val="1B9A8A"/>
            </a:solidFill>
            <a:prstDash val="solid"/>
          </a:ln>
        </p:spPr>
      </p:sp>
      <p:sp>
        <p:nvSpPr>
          <p:cNvPr id="193" name="Shape 191"/>
          <p:cNvSpPr/>
          <p:nvPr/>
        </p:nvSpPr>
        <p:spPr>
          <a:xfrm rot="2700000">
            <a:off x="2117750" y="3438144"/>
            <a:ext cx="77724" cy="77724"/>
          </a:xfrm>
          <a:prstGeom prst="rect">
            <a:avLst/>
          </a:prstGeom>
          <a:solidFill>
            <a:srgbClr val="1B9A8A">
              <a:alpha val="18000"/>
            </a:srgbClr>
          </a:solidFill>
          <a:ln w="12700">
            <a:solidFill>
              <a:srgbClr val="1B9A8A"/>
            </a:solidFill>
            <a:prstDash val="solid"/>
          </a:ln>
        </p:spPr>
      </p:sp>
      <p:sp>
        <p:nvSpPr>
          <p:cNvPr id="194" name="Shape 192"/>
          <p:cNvSpPr/>
          <p:nvPr/>
        </p:nvSpPr>
        <p:spPr>
          <a:xfrm rot="2700000">
            <a:off x="2234794" y="3438144"/>
            <a:ext cx="77724" cy="77724"/>
          </a:xfrm>
          <a:prstGeom prst="rect">
            <a:avLst/>
          </a:prstGeom>
          <a:solidFill>
            <a:srgbClr val="1B9A8A">
              <a:alpha val="18000"/>
            </a:srgbClr>
          </a:solidFill>
          <a:ln w="12700">
            <a:solidFill>
              <a:srgbClr val="1B9A8A"/>
            </a:solidFill>
            <a:prstDash val="solid"/>
          </a:ln>
        </p:spPr>
      </p:sp>
      <p:sp>
        <p:nvSpPr>
          <p:cNvPr id="195" name="Shape 193"/>
          <p:cNvSpPr/>
          <p:nvPr/>
        </p:nvSpPr>
        <p:spPr>
          <a:xfrm rot="2700000">
            <a:off x="2351837" y="3438144"/>
            <a:ext cx="77724" cy="77724"/>
          </a:xfrm>
          <a:prstGeom prst="rect">
            <a:avLst/>
          </a:prstGeom>
          <a:solidFill>
            <a:srgbClr val="1B9A8A">
              <a:alpha val="18000"/>
            </a:srgbClr>
          </a:solidFill>
          <a:ln w="12700">
            <a:solidFill>
              <a:srgbClr val="1B9A8A"/>
            </a:solidFill>
            <a:prstDash val="solid"/>
          </a:ln>
        </p:spPr>
      </p:sp>
      <p:sp>
        <p:nvSpPr>
          <p:cNvPr id="196" name="Shape 194"/>
          <p:cNvSpPr/>
          <p:nvPr/>
        </p:nvSpPr>
        <p:spPr>
          <a:xfrm rot="2700000">
            <a:off x="2468880" y="3438144"/>
            <a:ext cx="77724" cy="77724"/>
          </a:xfrm>
          <a:prstGeom prst="rect">
            <a:avLst/>
          </a:prstGeom>
          <a:solidFill>
            <a:srgbClr val="1B9A8A">
              <a:alpha val="18000"/>
            </a:srgbClr>
          </a:solidFill>
          <a:ln w="12700">
            <a:solidFill>
              <a:srgbClr val="1B9A8A"/>
            </a:solidFill>
            <a:prstDash val="solid"/>
          </a:ln>
        </p:spPr>
      </p:sp>
      <p:sp>
        <p:nvSpPr>
          <p:cNvPr id="197" name="Shape 195"/>
          <p:cNvSpPr/>
          <p:nvPr/>
        </p:nvSpPr>
        <p:spPr>
          <a:xfrm rot="2700000">
            <a:off x="2585923" y="3438144"/>
            <a:ext cx="77724" cy="77724"/>
          </a:xfrm>
          <a:prstGeom prst="rect">
            <a:avLst/>
          </a:prstGeom>
          <a:solidFill>
            <a:srgbClr val="1B9A8A">
              <a:alpha val="18000"/>
            </a:srgbClr>
          </a:solidFill>
          <a:ln w="12700">
            <a:solidFill>
              <a:srgbClr val="1B9A8A"/>
            </a:solidFill>
            <a:prstDash val="solid"/>
          </a:ln>
        </p:spPr>
      </p:sp>
      <p:sp>
        <p:nvSpPr>
          <p:cNvPr id="198" name="Shape 196"/>
          <p:cNvSpPr/>
          <p:nvPr/>
        </p:nvSpPr>
        <p:spPr>
          <a:xfrm rot="2700000">
            <a:off x="2702966" y="3438144"/>
            <a:ext cx="77724" cy="77724"/>
          </a:xfrm>
          <a:prstGeom prst="rect">
            <a:avLst/>
          </a:prstGeom>
          <a:solidFill>
            <a:srgbClr val="1B9A8A">
              <a:alpha val="18000"/>
            </a:srgbClr>
          </a:solidFill>
          <a:ln w="12700">
            <a:solidFill>
              <a:srgbClr val="1B9A8A"/>
            </a:solidFill>
            <a:prstDash val="solid"/>
          </a:ln>
        </p:spPr>
      </p:sp>
      <p:sp>
        <p:nvSpPr>
          <p:cNvPr id="199" name="Text 197"/>
          <p:cNvSpPr/>
          <p:nvPr/>
        </p:nvSpPr>
        <p:spPr>
          <a:xfrm>
            <a:off x="384048"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Le GPL perd de la pression de vapeur par temps froid. Pour la plupart des sites marocains côtiers et en plaine, ce n'est généralement pas un problème. Si votre site est dans les terres ou au-dessus de 400 m d'altitude, spécifier un évaporateur électrique forcé dans le périmètre de l'installation GPL.</a:t>
            </a:r>
            <a:endParaRPr lang="en-US" sz="880" dirty="0"/>
          </a:p>
        </p:txBody>
      </p:sp>
      <p:sp>
        <p:nvSpPr>
          <p:cNvPr id="200" name="Shape 198"/>
          <p:cNvSpPr/>
          <p:nvPr/>
        </p:nvSpPr>
        <p:spPr>
          <a:xfrm>
            <a:off x="3200400"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201" name="Shape 199"/>
          <p:cNvSpPr/>
          <p:nvPr/>
        </p:nvSpPr>
        <p:spPr>
          <a:xfrm>
            <a:off x="3200400" y="2944368"/>
            <a:ext cx="2834640" cy="45720"/>
          </a:xfrm>
          <a:prstGeom prst="rect">
            <a:avLst/>
          </a:prstGeom>
          <a:solidFill>
            <a:srgbClr val="C8960C"/>
          </a:solidFill>
          <a:ln/>
        </p:spPr>
      </p:sp>
      <p:sp>
        <p:nvSpPr>
          <p:cNvPr id="202" name="Text 200"/>
          <p:cNvSpPr/>
          <p:nvPr/>
        </p:nvSpPr>
        <p:spPr>
          <a:xfrm>
            <a:off x="3328416" y="3035808"/>
            <a:ext cx="2651760" cy="365760"/>
          </a:xfrm>
          <a:prstGeom prst="rect">
            <a:avLst/>
          </a:prstGeom>
          <a:noFill/>
          <a:ln/>
        </p:spPr>
        <p:txBody>
          <a:bodyPr wrap="square" rtlCol="0" anchor="ctr"/>
          <a:lstStyle/>
          <a:p>
            <a:pPr indent="0" marL="0">
              <a:buNone/>
            </a:pPr>
            <a:r>
              <a:rPr lang="en-US" sz="1050" b="1" dirty="0">
                <a:solidFill>
                  <a:srgbClr val="C8960C"/>
                </a:solidFill>
                <a:latin typeface="Georgia" pitchFamily="34" charset="0"/>
                <a:ea typeface="Georgia" pitchFamily="34" charset="-122"/>
                <a:cs typeface="Georgia" pitchFamily="34" charset="-120"/>
              </a:rPr>
              <a:t>⚙  Mise en service du brûleur et analyse des fumées</a:t>
            </a:r>
            <a:endParaRPr lang="en-US" sz="1050" dirty="0"/>
          </a:p>
        </p:txBody>
      </p:sp>
      <p:sp>
        <p:nvSpPr>
          <p:cNvPr id="203" name="Shape 201"/>
          <p:cNvSpPr/>
          <p:nvPr/>
        </p:nvSpPr>
        <p:spPr>
          <a:xfrm rot="2700000">
            <a:off x="10973" y="3438144"/>
            <a:ext cx="77724" cy="77724"/>
          </a:xfrm>
          <a:prstGeom prst="rect">
            <a:avLst/>
          </a:prstGeom>
          <a:solidFill>
            <a:srgbClr val="C8960C">
              <a:alpha val="18000"/>
            </a:srgbClr>
          </a:solidFill>
          <a:ln w="12700">
            <a:solidFill>
              <a:srgbClr val="C8960C"/>
            </a:solidFill>
            <a:prstDash val="solid"/>
          </a:ln>
        </p:spPr>
      </p:sp>
      <p:sp>
        <p:nvSpPr>
          <p:cNvPr id="204" name="Shape 202"/>
          <p:cNvSpPr/>
          <p:nvPr/>
        </p:nvSpPr>
        <p:spPr>
          <a:xfrm rot="2700000">
            <a:off x="128016" y="3438144"/>
            <a:ext cx="77724" cy="77724"/>
          </a:xfrm>
          <a:prstGeom prst="rect">
            <a:avLst/>
          </a:prstGeom>
          <a:solidFill>
            <a:srgbClr val="C8960C">
              <a:alpha val="18000"/>
            </a:srgbClr>
          </a:solidFill>
          <a:ln w="12700">
            <a:solidFill>
              <a:srgbClr val="C8960C"/>
            </a:solidFill>
            <a:prstDash val="solid"/>
          </a:ln>
        </p:spPr>
      </p:sp>
      <p:sp>
        <p:nvSpPr>
          <p:cNvPr id="205" name="Shape 203"/>
          <p:cNvSpPr/>
          <p:nvPr/>
        </p:nvSpPr>
        <p:spPr>
          <a:xfrm rot="2700000">
            <a:off x="245059" y="3438144"/>
            <a:ext cx="77724" cy="77724"/>
          </a:xfrm>
          <a:prstGeom prst="rect">
            <a:avLst/>
          </a:prstGeom>
          <a:solidFill>
            <a:srgbClr val="C8960C">
              <a:alpha val="18000"/>
            </a:srgbClr>
          </a:solidFill>
          <a:ln w="12700">
            <a:solidFill>
              <a:srgbClr val="C8960C"/>
            </a:solidFill>
            <a:prstDash val="solid"/>
          </a:ln>
        </p:spPr>
      </p:sp>
      <p:sp>
        <p:nvSpPr>
          <p:cNvPr id="206" name="Shape 204"/>
          <p:cNvSpPr/>
          <p:nvPr/>
        </p:nvSpPr>
        <p:spPr>
          <a:xfrm rot="2700000">
            <a:off x="362102" y="3438144"/>
            <a:ext cx="77724" cy="77724"/>
          </a:xfrm>
          <a:prstGeom prst="rect">
            <a:avLst/>
          </a:prstGeom>
          <a:solidFill>
            <a:srgbClr val="C8960C">
              <a:alpha val="18000"/>
            </a:srgbClr>
          </a:solidFill>
          <a:ln w="12700">
            <a:solidFill>
              <a:srgbClr val="C8960C"/>
            </a:solidFill>
            <a:prstDash val="solid"/>
          </a:ln>
        </p:spPr>
      </p:sp>
      <p:sp>
        <p:nvSpPr>
          <p:cNvPr id="207" name="Shape 205"/>
          <p:cNvSpPr/>
          <p:nvPr/>
        </p:nvSpPr>
        <p:spPr>
          <a:xfrm rot="2700000">
            <a:off x="479146" y="3438144"/>
            <a:ext cx="77724" cy="77724"/>
          </a:xfrm>
          <a:prstGeom prst="rect">
            <a:avLst/>
          </a:prstGeom>
          <a:solidFill>
            <a:srgbClr val="C8960C">
              <a:alpha val="18000"/>
            </a:srgbClr>
          </a:solidFill>
          <a:ln w="12700">
            <a:solidFill>
              <a:srgbClr val="C8960C"/>
            </a:solidFill>
            <a:prstDash val="solid"/>
          </a:ln>
        </p:spPr>
      </p:sp>
      <p:sp>
        <p:nvSpPr>
          <p:cNvPr id="208" name="Shape 206"/>
          <p:cNvSpPr/>
          <p:nvPr/>
        </p:nvSpPr>
        <p:spPr>
          <a:xfrm rot="2700000">
            <a:off x="596189" y="3438144"/>
            <a:ext cx="77724" cy="77724"/>
          </a:xfrm>
          <a:prstGeom prst="rect">
            <a:avLst/>
          </a:prstGeom>
          <a:solidFill>
            <a:srgbClr val="C8960C">
              <a:alpha val="18000"/>
            </a:srgbClr>
          </a:solidFill>
          <a:ln w="12700">
            <a:solidFill>
              <a:srgbClr val="C8960C"/>
            </a:solidFill>
            <a:prstDash val="solid"/>
          </a:ln>
        </p:spPr>
      </p:sp>
      <p:sp>
        <p:nvSpPr>
          <p:cNvPr id="209" name="Shape 207"/>
          <p:cNvSpPr/>
          <p:nvPr/>
        </p:nvSpPr>
        <p:spPr>
          <a:xfrm rot="2700000">
            <a:off x="713232" y="3438144"/>
            <a:ext cx="77724" cy="77724"/>
          </a:xfrm>
          <a:prstGeom prst="rect">
            <a:avLst/>
          </a:prstGeom>
          <a:solidFill>
            <a:srgbClr val="C8960C">
              <a:alpha val="18000"/>
            </a:srgbClr>
          </a:solidFill>
          <a:ln w="12700">
            <a:solidFill>
              <a:srgbClr val="C8960C"/>
            </a:solidFill>
            <a:prstDash val="solid"/>
          </a:ln>
        </p:spPr>
      </p:sp>
      <p:sp>
        <p:nvSpPr>
          <p:cNvPr id="210" name="Shape 208"/>
          <p:cNvSpPr/>
          <p:nvPr/>
        </p:nvSpPr>
        <p:spPr>
          <a:xfrm rot="2700000">
            <a:off x="830275" y="3438144"/>
            <a:ext cx="77724" cy="77724"/>
          </a:xfrm>
          <a:prstGeom prst="rect">
            <a:avLst/>
          </a:prstGeom>
          <a:solidFill>
            <a:srgbClr val="C8960C">
              <a:alpha val="18000"/>
            </a:srgbClr>
          </a:solidFill>
          <a:ln w="12700">
            <a:solidFill>
              <a:srgbClr val="C8960C"/>
            </a:solidFill>
            <a:prstDash val="solid"/>
          </a:ln>
        </p:spPr>
      </p:sp>
      <p:sp>
        <p:nvSpPr>
          <p:cNvPr id="211" name="Shape 209"/>
          <p:cNvSpPr/>
          <p:nvPr/>
        </p:nvSpPr>
        <p:spPr>
          <a:xfrm rot="2700000">
            <a:off x="947318" y="3438144"/>
            <a:ext cx="77724" cy="77724"/>
          </a:xfrm>
          <a:prstGeom prst="rect">
            <a:avLst/>
          </a:prstGeom>
          <a:solidFill>
            <a:srgbClr val="C8960C">
              <a:alpha val="18000"/>
            </a:srgbClr>
          </a:solidFill>
          <a:ln w="12700">
            <a:solidFill>
              <a:srgbClr val="C8960C"/>
            </a:solidFill>
            <a:prstDash val="solid"/>
          </a:ln>
        </p:spPr>
      </p:sp>
      <p:sp>
        <p:nvSpPr>
          <p:cNvPr id="212" name="Shape 210"/>
          <p:cNvSpPr/>
          <p:nvPr/>
        </p:nvSpPr>
        <p:spPr>
          <a:xfrm rot="2700000">
            <a:off x="1064362" y="3438144"/>
            <a:ext cx="77724" cy="77724"/>
          </a:xfrm>
          <a:prstGeom prst="rect">
            <a:avLst/>
          </a:prstGeom>
          <a:solidFill>
            <a:srgbClr val="C8960C">
              <a:alpha val="18000"/>
            </a:srgbClr>
          </a:solidFill>
          <a:ln w="12700">
            <a:solidFill>
              <a:srgbClr val="C8960C"/>
            </a:solidFill>
            <a:prstDash val="solid"/>
          </a:ln>
        </p:spPr>
      </p:sp>
      <p:sp>
        <p:nvSpPr>
          <p:cNvPr id="213" name="Shape 211"/>
          <p:cNvSpPr/>
          <p:nvPr/>
        </p:nvSpPr>
        <p:spPr>
          <a:xfrm rot="2700000">
            <a:off x="1181405" y="3438144"/>
            <a:ext cx="77724" cy="77724"/>
          </a:xfrm>
          <a:prstGeom prst="rect">
            <a:avLst/>
          </a:prstGeom>
          <a:solidFill>
            <a:srgbClr val="C8960C">
              <a:alpha val="18000"/>
            </a:srgbClr>
          </a:solidFill>
          <a:ln w="12700">
            <a:solidFill>
              <a:srgbClr val="C8960C"/>
            </a:solidFill>
            <a:prstDash val="solid"/>
          </a:ln>
        </p:spPr>
      </p:sp>
      <p:sp>
        <p:nvSpPr>
          <p:cNvPr id="214" name="Shape 212"/>
          <p:cNvSpPr/>
          <p:nvPr/>
        </p:nvSpPr>
        <p:spPr>
          <a:xfrm rot="2700000">
            <a:off x="1298448" y="3438144"/>
            <a:ext cx="77724" cy="77724"/>
          </a:xfrm>
          <a:prstGeom prst="rect">
            <a:avLst/>
          </a:prstGeom>
          <a:solidFill>
            <a:srgbClr val="C8960C">
              <a:alpha val="18000"/>
            </a:srgbClr>
          </a:solidFill>
          <a:ln w="12700">
            <a:solidFill>
              <a:srgbClr val="C8960C"/>
            </a:solidFill>
            <a:prstDash val="solid"/>
          </a:ln>
        </p:spPr>
      </p:sp>
      <p:sp>
        <p:nvSpPr>
          <p:cNvPr id="215" name="Shape 213"/>
          <p:cNvSpPr/>
          <p:nvPr/>
        </p:nvSpPr>
        <p:spPr>
          <a:xfrm rot="2700000">
            <a:off x="1415491" y="3438144"/>
            <a:ext cx="77724" cy="77724"/>
          </a:xfrm>
          <a:prstGeom prst="rect">
            <a:avLst/>
          </a:prstGeom>
          <a:solidFill>
            <a:srgbClr val="C8960C">
              <a:alpha val="18000"/>
            </a:srgbClr>
          </a:solidFill>
          <a:ln w="12700">
            <a:solidFill>
              <a:srgbClr val="C8960C"/>
            </a:solidFill>
            <a:prstDash val="solid"/>
          </a:ln>
        </p:spPr>
      </p:sp>
      <p:sp>
        <p:nvSpPr>
          <p:cNvPr id="216" name="Shape 214"/>
          <p:cNvSpPr/>
          <p:nvPr/>
        </p:nvSpPr>
        <p:spPr>
          <a:xfrm rot="2700000">
            <a:off x="1532534" y="3438144"/>
            <a:ext cx="77724" cy="77724"/>
          </a:xfrm>
          <a:prstGeom prst="rect">
            <a:avLst/>
          </a:prstGeom>
          <a:solidFill>
            <a:srgbClr val="C8960C">
              <a:alpha val="18000"/>
            </a:srgbClr>
          </a:solidFill>
          <a:ln w="12700">
            <a:solidFill>
              <a:srgbClr val="C8960C"/>
            </a:solidFill>
            <a:prstDash val="solid"/>
          </a:ln>
        </p:spPr>
      </p:sp>
      <p:sp>
        <p:nvSpPr>
          <p:cNvPr id="217" name="Shape 215"/>
          <p:cNvSpPr/>
          <p:nvPr/>
        </p:nvSpPr>
        <p:spPr>
          <a:xfrm rot="2700000">
            <a:off x="1649578" y="3438144"/>
            <a:ext cx="77724" cy="77724"/>
          </a:xfrm>
          <a:prstGeom prst="rect">
            <a:avLst/>
          </a:prstGeom>
          <a:solidFill>
            <a:srgbClr val="C8960C">
              <a:alpha val="18000"/>
            </a:srgbClr>
          </a:solidFill>
          <a:ln w="12700">
            <a:solidFill>
              <a:srgbClr val="C8960C"/>
            </a:solidFill>
            <a:prstDash val="solid"/>
          </a:ln>
        </p:spPr>
      </p:sp>
      <p:sp>
        <p:nvSpPr>
          <p:cNvPr id="218" name="Shape 216"/>
          <p:cNvSpPr/>
          <p:nvPr/>
        </p:nvSpPr>
        <p:spPr>
          <a:xfrm rot="2700000">
            <a:off x="1766621" y="3438144"/>
            <a:ext cx="77724" cy="77724"/>
          </a:xfrm>
          <a:prstGeom prst="rect">
            <a:avLst/>
          </a:prstGeom>
          <a:solidFill>
            <a:srgbClr val="C8960C">
              <a:alpha val="18000"/>
            </a:srgbClr>
          </a:solidFill>
          <a:ln w="12700">
            <a:solidFill>
              <a:srgbClr val="C8960C"/>
            </a:solidFill>
            <a:prstDash val="solid"/>
          </a:ln>
        </p:spPr>
      </p:sp>
      <p:sp>
        <p:nvSpPr>
          <p:cNvPr id="219" name="Shape 217"/>
          <p:cNvSpPr/>
          <p:nvPr/>
        </p:nvSpPr>
        <p:spPr>
          <a:xfrm rot="2700000">
            <a:off x="1883664" y="3438144"/>
            <a:ext cx="77724" cy="77724"/>
          </a:xfrm>
          <a:prstGeom prst="rect">
            <a:avLst/>
          </a:prstGeom>
          <a:solidFill>
            <a:srgbClr val="C8960C">
              <a:alpha val="18000"/>
            </a:srgbClr>
          </a:solidFill>
          <a:ln w="12700">
            <a:solidFill>
              <a:srgbClr val="C8960C"/>
            </a:solidFill>
            <a:prstDash val="solid"/>
          </a:ln>
        </p:spPr>
      </p:sp>
      <p:sp>
        <p:nvSpPr>
          <p:cNvPr id="220" name="Shape 218"/>
          <p:cNvSpPr/>
          <p:nvPr/>
        </p:nvSpPr>
        <p:spPr>
          <a:xfrm rot="2700000">
            <a:off x="2000707" y="3438144"/>
            <a:ext cx="77724" cy="77724"/>
          </a:xfrm>
          <a:prstGeom prst="rect">
            <a:avLst/>
          </a:prstGeom>
          <a:solidFill>
            <a:srgbClr val="C8960C">
              <a:alpha val="18000"/>
            </a:srgbClr>
          </a:solidFill>
          <a:ln w="12700">
            <a:solidFill>
              <a:srgbClr val="C8960C"/>
            </a:solidFill>
            <a:prstDash val="solid"/>
          </a:ln>
        </p:spPr>
      </p:sp>
      <p:sp>
        <p:nvSpPr>
          <p:cNvPr id="221" name="Shape 219"/>
          <p:cNvSpPr/>
          <p:nvPr/>
        </p:nvSpPr>
        <p:spPr>
          <a:xfrm rot="2700000">
            <a:off x="2117750" y="3438144"/>
            <a:ext cx="77724" cy="77724"/>
          </a:xfrm>
          <a:prstGeom prst="rect">
            <a:avLst/>
          </a:prstGeom>
          <a:solidFill>
            <a:srgbClr val="C8960C">
              <a:alpha val="18000"/>
            </a:srgbClr>
          </a:solidFill>
          <a:ln w="12700">
            <a:solidFill>
              <a:srgbClr val="C8960C"/>
            </a:solidFill>
            <a:prstDash val="solid"/>
          </a:ln>
        </p:spPr>
      </p:sp>
      <p:sp>
        <p:nvSpPr>
          <p:cNvPr id="222" name="Shape 220"/>
          <p:cNvSpPr/>
          <p:nvPr/>
        </p:nvSpPr>
        <p:spPr>
          <a:xfrm rot="2700000">
            <a:off x="2234794" y="3438144"/>
            <a:ext cx="77724" cy="77724"/>
          </a:xfrm>
          <a:prstGeom prst="rect">
            <a:avLst/>
          </a:prstGeom>
          <a:solidFill>
            <a:srgbClr val="C8960C">
              <a:alpha val="18000"/>
            </a:srgbClr>
          </a:solidFill>
          <a:ln w="12700">
            <a:solidFill>
              <a:srgbClr val="C8960C"/>
            </a:solidFill>
            <a:prstDash val="solid"/>
          </a:ln>
        </p:spPr>
      </p:sp>
      <p:sp>
        <p:nvSpPr>
          <p:cNvPr id="223" name="Shape 221"/>
          <p:cNvSpPr/>
          <p:nvPr/>
        </p:nvSpPr>
        <p:spPr>
          <a:xfrm rot="2700000">
            <a:off x="2351837" y="3438144"/>
            <a:ext cx="77724" cy="77724"/>
          </a:xfrm>
          <a:prstGeom prst="rect">
            <a:avLst/>
          </a:prstGeom>
          <a:solidFill>
            <a:srgbClr val="C8960C">
              <a:alpha val="18000"/>
            </a:srgbClr>
          </a:solidFill>
          <a:ln w="12700">
            <a:solidFill>
              <a:srgbClr val="C8960C"/>
            </a:solidFill>
            <a:prstDash val="solid"/>
          </a:ln>
        </p:spPr>
      </p:sp>
      <p:sp>
        <p:nvSpPr>
          <p:cNvPr id="224" name="Shape 222"/>
          <p:cNvSpPr/>
          <p:nvPr/>
        </p:nvSpPr>
        <p:spPr>
          <a:xfrm rot="2700000">
            <a:off x="2468880" y="3438144"/>
            <a:ext cx="77724" cy="77724"/>
          </a:xfrm>
          <a:prstGeom prst="rect">
            <a:avLst/>
          </a:prstGeom>
          <a:solidFill>
            <a:srgbClr val="C8960C">
              <a:alpha val="18000"/>
            </a:srgbClr>
          </a:solidFill>
          <a:ln w="12700">
            <a:solidFill>
              <a:srgbClr val="C8960C"/>
            </a:solidFill>
            <a:prstDash val="solid"/>
          </a:ln>
        </p:spPr>
      </p:sp>
      <p:sp>
        <p:nvSpPr>
          <p:cNvPr id="225" name="Shape 223"/>
          <p:cNvSpPr/>
          <p:nvPr/>
        </p:nvSpPr>
        <p:spPr>
          <a:xfrm rot="2700000">
            <a:off x="2585923" y="3438144"/>
            <a:ext cx="77724" cy="77724"/>
          </a:xfrm>
          <a:prstGeom prst="rect">
            <a:avLst/>
          </a:prstGeom>
          <a:solidFill>
            <a:srgbClr val="C8960C">
              <a:alpha val="18000"/>
            </a:srgbClr>
          </a:solidFill>
          <a:ln w="12700">
            <a:solidFill>
              <a:srgbClr val="C8960C"/>
            </a:solidFill>
            <a:prstDash val="solid"/>
          </a:ln>
        </p:spPr>
      </p:sp>
      <p:sp>
        <p:nvSpPr>
          <p:cNvPr id="226" name="Shape 224"/>
          <p:cNvSpPr/>
          <p:nvPr/>
        </p:nvSpPr>
        <p:spPr>
          <a:xfrm rot="2700000">
            <a:off x="2702966" y="3438144"/>
            <a:ext cx="77724" cy="77724"/>
          </a:xfrm>
          <a:prstGeom prst="rect">
            <a:avLst/>
          </a:prstGeom>
          <a:solidFill>
            <a:srgbClr val="C8960C">
              <a:alpha val="18000"/>
            </a:srgbClr>
          </a:solidFill>
          <a:ln w="12700">
            <a:solidFill>
              <a:srgbClr val="C8960C"/>
            </a:solidFill>
            <a:prstDash val="solid"/>
          </a:ln>
        </p:spPr>
      </p:sp>
      <p:sp>
        <p:nvSpPr>
          <p:cNvPr id="227" name="Text 225"/>
          <p:cNvSpPr/>
          <p:nvPr/>
        </p:nvSpPr>
        <p:spPr>
          <a:xfrm>
            <a:off x="3328416"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La mise en service d'un brûleur GPL nécessite un analyseur de fumées (O₂, CO, CO₂) pour régler le taux d'excès d'air. Cela doit être réalisé par un ingénieur certifié en combustion GPL, pas un technicien chaudière généraliste. Inclure dans le périmètre de mise en service dans les documents d'appel d'offres.</a:t>
            </a:r>
            <a:endParaRPr lang="en-US" sz="880" dirty="0"/>
          </a:p>
        </p:txBody>
      </p:sp>
      <p:sp>
        <p:nvSpPr>
          <p:cNvPr id="228" name="Shape 226"/>
          <p:cNvSpPr/>
          <p:nvPr/>
        </p:nvSpPr>
        <p:spPr>
          <a:xfrm>
            <a:off x="6144768"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229" name="Shape 227"/>
          <p:cNvSpPr/>
          <p:nvPr/>
        </p:nvSpPr>
        <p:spPr>
          <a:xfrm>
            <a:off x="6144768" y="2944368"/>
            <a:ext cx="2834640" cy="45720"/>
          </a:xfrm>
          <a:prstGeom prst="rect">
            <a:avLst/>
          </a:prstGeom>
          <a:solidFill>
            <a:srgbClr val="1A5FA8"/>
          </a:solidFill>
          <a:ln/>
        </p:spPr>
      </p:sp>
      <p:sp>
        <p:nvSpPr>
          <p:cNvPr id="230" name="Text 228"/>
          <p:cNvSpPr/>
          <p:nvPr/>
        </p:nvSpPr>
        <p:spPr>
          <a:xfrm>
            <a:off x="6272784" y="3035808"/>
            <a:ext cx="2651760" cy="365760"/>
          </a:xfrm>
          <a:prstGeom prst="rect">
            <a:avLst/>
          </a:prstGeom>
          <a:noFill/>
          <a:ln/>
        </p:spPr>
        <p:txBody>
          <a:bodyPr wrap="square" rtlCol="0" anchor="ctr"/>
          <a:lstStyle/>
          <a:p>
            <a:pPr indent="0" marL="0">
              <a:buNone/>
            </a:pPr>
            <a:r>
              <a:rPr lang="en-US" sz="1050" b="1" dirty="0">
                <a:solidFill>
                  <a:srgbClr val="1A5FA8"/>
                </a:solidFill>
                <a:latin typeface="Georgia" pitchFamily="34" charset="0"/>
                <a:ea typeface="Georgia" pitchFamily="34" charset="-122"/>
                <a:cs typeface="Georgia" pitchFamily="34" charset="-120"/>
              </a:rPr>
              <a:t>📋  Évolution future gaz — spécifier brûleur bi-combustible</a:t>
            </a:r>
            <a:endParaRPr lang="en-US" sz="1050" dirty="0"/>
          </a:p>
        </p:txBody>
      </p:sp>
      <p:sp>
        <p:nvSpPr>
          <p:cNvPr id="231" name="Shape 229"/>
          <p:cNvSpPr/>
          <p:nvPr/>
        </p:nvSpPr>
        <p:spPr>
          <a:xfrm rot="2700000">
            <a:off x="10973" y="3438144"/>
            <a:ext cx="77724" cy="77724"/>
          </a:xfrm>
          <a:prstGeom prst="rect">
            <a:avLst/>
          </a:prstGeom>
          <a:solidFill>
            <a:srgbClr val="1A5FA8">
              <a:alpha val="18000"/>
            </a:srgbClr>
          </a:solidFill>
          <a:ln w="12700">
            <a:solidFill>
              <a:srgbClr val="1A5FA8"/>
            </a:solidFill>
            <a:prstDash val="solid"/>
          </a:ln>
        </p:spPr>
      </p:sp>
      <p:sp>
        <p:nvSpPr>
          <p:cNvPr id="232" name="Shape 230"/>
          <p:cNvSpPr/>
          <p:nvPr/>
        </p:nvSpPr>
        <p:spPr>
          <a:xfrm rot="2700000">
            <a:off x="128016" y="3438144"/>
            <a:ext cx="77724" cy="77724"/>
          </a:xfrm>
          <a:prstGeom prst="rect">
            <a:avLst/>
          </a:prstGeom>
          <a:solidFill>
            <a:srgbClr val="1A5FA8">
              <a:alpha val="18000"/>
            </a:srgbClr>
          </a:solidFill>
          <a:ln w="12700">
            <a:solidFill>
              <a:srgbClr val="1A5FA8"/>
            </a:solidFill>
            <a:prstDash val="solid"/>
          </a:ln>
        </p:spPr>
      </p:sp>
      <p:sp>
        <p:nvSpPr>
          <p:cNvPr id="233" name="Shape 231"/>
          <p:cNvSpPr/>
          <p:nvPr/>
        </p:nvSpPr>
        <p:spPr>
          <a:xfrm rot="2700000">
            <a:off x="245059" y="3438144"/>
            <a:ext cx="77724" cy="77724"/>
          </a:xfrm>
          <a:prstGeom prst="rect">
            <a:avLst/>
          </a:prstGeom>
          <a:solidFill>
            <a:srgbClr val="1A5FA8">
              <a:alpha val="18000"/>
            </a:srgbClr>
          </a:solidFill>
          <a:ln w="12700">
            <a:solidFill>
              <a:srgbClr val="1A5FA8"/>
            </a:solidFill>
            <a:prstDash val="solid"/>
          </a:ln>
        </p:spPr>
      </p:sp>
      <p:sp>
        <p:nvSpPr>
          <p:cNvPr id="234" name="Shape 232"/>
          <p:cNvSpPr/>
          <p:nvPr/>
        </p:nvSpPr>
        <p:spPr>
          <a:xfrm rot="2700000">
            <a:off x="362102" y="3438144"/>
            <a:ext cx="77724" cy="77724"/>
          </a:xfrm>
          <a:prstGeom prst="rect">
            <a:avLst/>
          </a:prstGeom>
          <a:solidFill>
            <a:srgbClr val="1A5FA8">
              <a:alpha val="18000"/>
            </a:srgbClr>
          </a:solidFill>
          <a:ln w="12700">
            <a:solidFill>
              <a:srgbClr val="1A5FA8"/>
            </a:solidFill>
            <a:prstDash val="solid"/>
          </a:ln>
        </p:spPr>
      </p:sp>
      <p:sp>
        <p:nvSpPr>
          <p:cNvPr id="235" name="Shape 233"/>
          <p:cNvSpPr/>
          <p:nvPr/>
        </p:nvSpPr>
        <p:spPr>
          <a:xfrm rot="2700000">
            <a:off x="479146" y="3438144"/>
            <a:ext cx="77724" cy="77724"/>
          </a:xfrm>
          <a:prstGeom prst="rect">
            <a:avLst/>
          </a:prstGeom>
          <a:solidFill>
            <a:srgbClr val="1A5FA8">
              <a:alpha val="18000"/>
            </a:srgbClr>
          </a:solidFill>
          <a:ln w="12700">
            <a:solidFill>
              <a:srgbClr val="1A5FA8"/>
            </a:solidFill>
            <a:prstDash val="solid"/>
          </a:ln>
        </p:spPr>
      </p:sp>
      <p:sp>
        <p:nvSpPr>
          <p:cNvPr id="236" name="Shape 234"/>
          <p:cNvSpPr/>
          <p:nvPr/>
        </p:nvSpPr>
        <p:spPr>
          <a:xfrm rot="2700000">
            <a:off x="596189" y="3438144"/>
            <a:ext cx="77724" cy="77724"/>
          </a:xfrm>
          <a:prstGeom prst="rect">
            <a:avLst/>
          </a:prstGeom>
          <a:solidFill>
            <a:srgbClr val="1A5FA8">
              <a:alpha val="18000"/>
            </a:srgbClr>
          </a:solidFill>
          <a:ln w="12700">
            <a:solidFill>
              <a:srgbClr val="1A5FA8"/>
            </a:solidFill>
            <a:prstDash val="solid"/>
          </a:ln>
        </p:spPr>
      </p:sp>
      <p:sp>
        <p:nvSpPr>
          <p:cNvPr id="237" name="Shape 235"/>
          <p:cNvSpPr/>
          <p:nvPr/>
        </p:nvSpPr>
        <p:spPr>
          <a:xfrm rot="2700000">
            <a:off x="713232" y="3438144"/>
            <a:ext cx="77724" cy="77724"/>
          </a:xfrm>
          <a:prstGeom prst="rect">
            <a:avLst/>
          </a:prstGeom>
          <a:solidFill>
            <a:srgbClr val="1A5FA8">
              <a:alpha val="18000"/>
            </a:srgbClr>
          </a:solidFill>
          <a:ln w="12700">
            <a:solidFill>
              <a:srgbClr val="1A5FA8"/>
            </a:solidFill>
            <a:prstDash val="solid"/>
          </a:ln>
        </p:spPr>
      </p:sp>
      <p:sp>
        <p:nvSpPr>
          <p:cNvPr id="238" name="Shape 236"/>
          <p:cNvSpPr/>
          <p:nvPr/>
        </p:nvSpPr>
        <p:spPr>
          <a:xfrm rot="2700000">
            <a:off x="830275" y="3438144"/>
            <a:ext cx="77724" cy="77724"/>
          </a:xfrm>
          <a:prstGeom prst="rect">
            <a:avLst/>
          </a:prstGeom>
          <a:solidFill>
            <a:srgbClr val="1A5FA8">
              <a:alpha val="18000"/>
            </a:srgbClr>
          </a:solidFill>
          <a:ln w="12700">
            <a:solidFill>
              <a:srgbClr val="1A5FA8"/>
            </a:solidFill>
            <a:prstDash val="solid"/>
          </a:ln>
        </p:spPr>
      </p:sp>
      <p:sp>
        <p:nvSpPr>
          <p:cNvPr id="239" name="Shape 237"/>
          <p:cNvSpPr/>
          <p:nvPr/>
        </p:nvSpPr>
        <p:spPr>
          <a:xfrm rot="2700000">
            <a:off x="947318" y="3438144"/>
            <a:ext cx="77724" cy="77724"/>
          </a:xfrm>
          <a:prstGeom prst="rect">
            <a:avLst/>
          </a:prstGeom>
          <a:solidFill>
            <a:srgbClr val="1A5FA8">
              <a:alpha val="18000"/>
            </a:srgbClr>
          </a:solidFill>
          <a:ln w="12700">
            <a:solidFill>
              <a:srgbClr val="1A5FA8"/>
            </a:solidFill>
            <a:prstDash val="solid"/>
          </a:ln>
        </p:spPr>
      </p:sp>
      <p:sp>
        <p:nvSpPr>
          <p:cNvPr id="240" name="Shape 238"/>
          <p:cNvSpPr/>
          <p:nvPr/>
        </p:nvSpPr>
        <p:spPr>
          <a:xfrm rot="2700000">
            <a:off x="1064362" y="3438144"/>
            <a:ext cx="77724" cy="77724"/>
          </a:xfrm>
          <a:prstGeom prst="rect">
            <a:avLst/>
          </a:prstGeom>
          <a:solidFill>
            <a:srgbClr val="1A5FA8">
              <a:alpha val="18000"/>
            </a:srgbClr>
          </a:solidFill>
          <a:ln w="12700">
            <a:solidFill>
              <a:srgbClr val="1A5FA8"/>
            </a:solidFill>
            <a:prstDash val="solid"/>
          </a:ln>
        </p:spPr>
      </p:sp>
      <p:sp>
        <p:nvSpPr>
          <p:cNvPr id="241" name="Shape 239"/>
          <p:cNvSpPr/>
          <p:nvPr/>
        </p:nvSpPr>
        <p:spPr>
          <a:xfrm rot="2700000">
            <a:off x="1181405" y="3438144"/>
            <a:ext cx="77724" cy="77724"/>
          </a:xfrm>
          <a:prstGeom prst="rect">
            <a:avLst/>
          </a:prstGeom>
          <a:solidFill>
            <a:srgbClr val="1A5FA8">
              <a:alpha val="18000"/>
            </a:srgbClr>
          </a:solidFill>
          <a:ln w="12700">
            <a:solidFill>
              <a:srgbClr val="1A5FA8"/>
            </a:solidFill>
            <a:prstDash val="solid"/>
          </a:ln>
        </p:spPr>
      </p:sp>
      <p:sp>
        <p:nvSpPr>
          <p:cNvPr id="242" name="Shape 240"/>
          <p:cNvSpPr/>
          <p:nvPr/>
        </p:nvSpPr>
        <p:spPr>
          <a:xfrm rot="2700000">
            <a:off x="1298448" y="3438144"/>
            <a:ext cx="77724" cy="77724"/>
          </a:xfrm>
          <a:prstGeom prst="rect">
            <a:avLst/>
          </a:prstGeom>
          <a:solidFill>
            <a:srgbClr val="1A5FA8">
              <a:alpha val="18000"/>
            </a:srgbClr>
          </a:solidFill>
          <a:ln w="12700">
            <a:solidFill>
              <a:srgbClr val="1A5FA8"/>
            </a:solidFill>
            <a:prstDash val="solid"/>
          </a:ln>
        </p:spPr>
      </p:sp>
      <p:sp>
        <p:nvSpPr>
          <p:cNvPr id="243" name="Shape 241"/>
          <p:cNvSpPr/>
          <p:nvPr/>
        </p:nvSpPr>
        <p:spPr>
          <a:xfrm rot="2700000">
            <a:off x="1415491" y="3438144"/>
            <a:ext cx="77724" cy="77724"/>
          </a:xfrm>
          <a:prstGeom prst="rect">
            <a:avLst/>
          </a:prstGeom>
          <a:solidFill>
            <a:srgbClr val="1A5FA8">
              <a:alpha val="18000"/>
            </a:srgbClr>
          </a:solidFill>
          <a:ln w="12700">
            <a:solidFill>
              <a:srgbClr val="1A5FA8"/>
            </a:solidFill>
            <a:prstDash val="solid"/>
          </a:ln>
        </p:spPr>
      </p:sp>
      <p:sp>
        <p:nvSpPr>
          <p:cNvPr id="244" name="Shape 242"/>
          <p:cNvSpPr/>
          <p:nvPr/>
        </p:nvSpPr>
        <p:spPr>
          <a:xfrm rot="2700000">
            <a:off x="1532534" y="3438144"/>
            <a:ext cx="77724" cy="77724"/>
          </a:xfrm>
          <a:prstGeom prst="rect">
            <a:avLst/>
          </a:prstGeom>
          <a:solidFill>
            <a:srgbClr val="1A5FA8">
              <a:alpha val="18000"/>
            </a:srgbClr>
          </a:solidFill>
          <a:ln w="12700">
            <a:solidFill>
              <a:srgbClr val="1A5FA8"/>
            </a:solidFill>
            <a:prstDash val="solid"/>
          </a:ln>
        </p:spPr>
      </p:sp>
      <p:sp>
        <p:nvSpPr>
          <p:cNvPr id="245" name="Shape 243"/>
          <p:cNvSpPr/>
          <p:nvPr/>
        </p:nvSpPr>
        <p:spPr>
          <a:xfrm rot="2700000">
            <a:off x="1649578" y="3438144"/>
            <a:ext cx="77724" cy="77724"/>
          </a:xfrm>
          <a:prstGeom prst="rect">
            <a:avLst/>
          </a:prstGeom>
          <a:solidFill>
            <a:srgbClr val="1A5FA8">
              <a:alpha val="18000"/>
            </a:srgbClr>
          </a:solidFill>
          <a:ln w="12700">
            <a:solidFill>
              <a:srgbClr val="1A5FA8"/>
            </a:solidFill>
            <a:prstDash val="solid"/>
          </a:ln>
        </p:spPr>
      </p:sp>
      <p:sp>
        <p:nvSpPr>
          <p:cNvPr id="246" name="Shape 244"/>
          <p:cNvSpPr/>
          <p:nvPr/>
        </p:nvSpPr>
        <p:spPr>
          <a:xfrm rot="2700000">
            <a:off x="1766621" y="3438144"/>
            <a:ext cx="77724" cy="77724"/>
          </a:xfrm>
          <a:prstGeom prst="rect">
            <a:avLst/>
          </a:prstGeom>
          <a:solidFill>
            <a:srgbClr val="1A5FA8">
              <a:alpha val="18000"/>
            </a:srgbClr>
          </a:solidFill>
          <a:ln w="12700">
            <a:solidFill>
              <a:srgbClr val="1A5FA8"/>
            </a:solidFill>
            <a:prstDash val="solid"/>
          </a:ln>
        </p:spPr>
      </p:sp>
      <p:sp>
        <p:nvSpPr>
          <p:cNvPr id="247" name="Shape 245"/>
          <p:cNvSpPr/>
          <p:nvPr/>
        </p:nvSpPr>
        <p:spPr>
          <a:xfrm rot="2700000">
            <a:off x="1883664" y="3438144"/>
            <a:ext cx="77724" cy="77724"/>
          </a:xfrm>
          <a:prstGeom prst="rect">
            <a:avLst/>
          </a:prstGeom>
          <a:solidFill>
            <a:srgbClr val="1A5FA8">
              <a:alpha val="18000"/>
            </a:srgbClr>
          </a:solidFill>
          <a:ln w="12700">
            <a:solidFill>
              <a:srgbClr val="1A5FA8"/>
            </a:solidFill>
            <a:prstDash val="solid"/>
          </a:ln>
        </p:spPr>
      </p:sp>
      <p:sp>
        <p:nvSpPr>
          <p:cNvPr id="248" name="Shape 246"/>
          <p:cNvSpPr/>
          <p:nvPr/>
        </p:nvSpPr>
        <p:spPr>
          <a:xfrm rot="2700000">
            <a:off x="2000707" y="3438144"/>
            <a:ext cx="77724" cy="77724"/>
          </a:xfrm>
          <a:prstGeom prst="rect">
            <a:avLst/>
          </a:prstGeom>
          <a:solidFill>
            <a:srgbClr val="1A5FA8">
              <a:alpha val="18000"/>
            </a:srgbClr>
          </a:solidFill>
          <a:ln w="12700">
            <a:solidFill>
              <a:srgbClr val="1A5FA8"/>
            </a:solidFill>
            <a:prstDash val="solid"/>
          </a:ln>
        </p:spPr>
      </p:sp>
      <p:sp>
        <p:nvSpPr>
          <p:cNvPr id="249" name="Shape 247"/>
          <p:cNvSpPr/>
          <p:nvPr/>
        </p:nvSpPr>
        <p:spPr>
          <a:xfrm rot="2700000">
            <a:off x="2117750" y="3438144"/>
            <a:ext cx="77724" cy="77724"/>
          </a:xfrm>
          <a:prstGeom prst="rect">
            <a:avLst/>
          </a:prstGeom>
          <a:solidFill>
            <a:srgbClr val="1A5FA8">
              <a:alpha val="18000"/>
            </a:srgbClr>
          </a:solidFill>
          <a:ln w="12700">
            <a:solidFill>
              <a:srgbClr val="1A5FA8"/>
            </a:solidFill>
            <a:prstDash val="solid"/>
          </a:ln>
        </p:spPr>
      </p:sp>
      <p:sp>
        <p:nvSpPr>
          <p:cNvPr id="250" name="Shape 248"/>
          <p:cNvSpPr/>
          <p:nvPr/>
        </p:nvSpPr>
        <p:spPr>
          <a:xfrm rot="2700000">
            <a:off x="2234794" y="3438144"/>
            <a:ext cx="77724" cy="77724"/>
          </a:xfrm>
          <a:prstGeom prst="rect">
            <a:avLst/>
          </a:prstGeom>
          <a:solidFill>
            <a:srgbClr val="1A5FA8">
              <a:alpha val="18000"/>
            </a:srgbClr>
          </a:solidFill>
          <a:ln w="12700">
            <a:solidFill>
              <a:srgbClr val="1A5FA8"/>
            </a:solidFill>
            <a:prstDash val="solid"/>
          </a:ln>
        </p:spPr>
      </p:sp>
      <p:sp>
        <p:nvSpPr>
          <p:cNvPr id="251" name="Shape 249"/>
          <p:cNvSpPr/>
          <p:nvPr/>
        </p:nvSpPr>
        <p:spPr>
          <a:xfrm rot="2700000">
            <a:off x="2351837" y="3438144"/>
            <a:ext cx="77724" cy="77724"/>
          </a:xfrm>
          <a:prstGeom prst="rect">
            <a:avLst/>
          </a:prstGeom>
          <a:solidFill>
            <a:srgbClr val="1A5FA8">
              <a:alpha val="18000"/>
            </a:srgbClr>
          </a:solidFill>
          <a:ln w="12700">
            <a:solidFill>
              <a:srgbClr val="1A5FA8"/>
            </a:solidFill>
            <a:prstDash val="solid"/>
          </a:ln>
        </p:spPr>
      </p:sp>
      <p:sp>
        <p:nvSpPr>
          <p:cNvPr id="252" name="Shape 250"/>
          <p:cNvSpPr/>
          <p:nvPr/>
        </p:nvSpPr>
        <p:spPr>
          <a:xfrm rot="2700000">
            <a:off x="2468880" y="3438144"/>
            <a:ext cx="77724" cy="77724"/>
          </a:xfrm>
          <a:prstGeom prst="rect">
            <a:avLst/>
          </a:prstGeom>
          <a:solidFill>
            <a:srgbClr val="1A5FA8">
              <a:alpha val="18000"/>
            </a:srgbClr>
          </a:solidFill>
          <a:ln w="12700">
            <a:solidFill>
              <a:srgbClr val="1A5FA8"/>
            </a:solidFill>
            <a:prstDash val="solid"/>
          </a:ln>
        </p:spPr>
      </p:sp>
      <p:sp>
        <p:nvSpPr>
          <p:cNvPr id="253" name="Shape 251"/>
          <p:cNvSpPr/>
          <p:nvPr/>
        </p:nvSpPr>
        <p:spPr>
          <a:xfrm rot="2700000">
            <a:off x="2585923" y="3438144"/>
            <a:ext cx="77724" cy="77724"/>
          </a:xfrm>
          <a:prstGeom prst="rect">
            <a:avLst/>
          </a:prstGeom>
          <a:solidFill>
            <a:srgbClr val="1A5FA8">
              <a:alpha val="18000"/>
            </a:srgbClr>
          </a:solidFill>
          <a:ln w="12700">
            <a:solidFill>
              <a:srgbClr val="1A5FA8"/>
            </a:solidFill>
            <a:prstDash val="solid"/>
          </a:ln>
        </p:spPr>
      </p:sp>
      <p:sp>
        <p:nvSpPr>
          <p:cNvPr id="254" name="Shape 252"/>
          <p:cNvSpPr/>
          <p:nvPr/>
        </p:nvSpPr>
        <p:spPr>
          <a:xfrm rot="2700000">
            <a:off x="2702966" y="3438144"/>
            <a:ext cx="77724" cy="77724"/>
          </a:xfrm>
          <a:prstGeom prst="rect">
            <a:avLst/>
          </a:prstGeom>
          <a:solidFill>
            <a:srgbClr val="1A5FA8">
              <a:alpha val="18000"/>
            </a:srgbClr>
          </a:solidFill>
          <a:ln w="12700">
            <a:solidFill>
              <a:srgbClr val="1A5FA8"/>
            </a:solidFill>
            <a:prstDash val="solid"/>
          </a:ln>
        </p:spPr>
      </p:sp>
      <p:sp>
        <p:nvSpPr>
          <p:cNvPr id="255" name="Text 253"/>
          <p:cNvSpPr/>
          <p:nvPr/>
        </p:nvSpPr>
        <p:spPr>
          <a:xfrm>
            <a:off x="6272784"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Si le gaz naturel devient disponible sur site dans 3–5 ans (extension du réseau ONEE en cours au Maroc), un brûleur bi-combustible GPL/GN installé aujourd'hui évite un remplacement complet ultérieur. Le surcoût à l'achat est limité. Recommandé : spécifier le bi-combustible en option dans l'appel d'offres.</a:t>
            </a:r>
            <a:endParaRPr lang="en-US" sz="880" dirty="0"/>
          </a:p>
        </p:txBody>
      </p:sp>
      <p:sp>
        <p:nvSpPr>
          <p:cNvPr id="256" name="Shape 254"/>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259" name="Shape 257"/>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260" name="Shape 258"/>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261" name="Shape 259"/>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262" name="Shape 260"/>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263" name="Shape 261"/>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264" name="Shape 262"/>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265" name="Shape 263"/>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266" name="Shape 264"/>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267" name="Shape 265"/>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268" name="Shape 266"/>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269" name="Shape 267"/>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270" name="Shape 268"/>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271" name="Shape 269"/>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272" name="Shape 270"/>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273" name="Shape 271"/>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274" name="Shape 272"/>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75" name="Shape 273"/>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76" name="Shape 274"/>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77" name="Shape 275"/>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78" name="Shape 276"/>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79" name="Shape 277"/>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80" name="Shape 278"/>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81" name="Shape 279"/>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82" name="Shape 280"/>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83" name="Shape 281"/>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84" name="Shape 282"/>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85" name="Shape 283"/>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86" name="Shape 284"/>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87" name="Shape 285"/>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88" name="Shape 286"/>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89" name="Shape 287"/>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90" name="Shape 288"/>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91" name="Shape 289"/>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92" name="Shape 290"/>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93" name="Shape 291"/>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94" name="Shape 292"/>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95" name="Shape 293"/>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96" name="Shape 294"/>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97" name="Shape 295"/>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98" name="Shape 296"/>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99" name="Shape 297"/>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300" name="Shape 298"/>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301" name="Shape 299"/>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302" name="Shape 300"/>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303" name="Shape 301"/>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304" name="Shape 302"/>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305" name="Shape 303"/>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306" name="Shape 304"/>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307" name="Shape 305"/>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308" name="Shape 306"/>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309" name="Shape 307"/>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310" name="Shape 308"/>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311" name="Shape 309"/>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312" name="Shape 310"/>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313" name="Shape 311"/>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314" name="Shape 312"/>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315" name="Shape 313"/>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316" name="Shape 314"/>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317" name="Shape 315"/>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318" name="Shape 316"/>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319" name="Shape 317"/>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320" name="Shape 318"/>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321" name="Shape 319"/>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322" name="Shape 320"/>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323" name="Shape 321"/>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324" name="Shape 322"/>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325" name="Shape 323"/>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326" name="Shape 324"/>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327" name="Shape 325"/>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328" name="Shape 326"/>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329" name="Shape 327"/>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330" name="Shape 328"/>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331" name="Shape 329"/>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332" name="Shape 330"/>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333" name="Shape 331"/>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334" name="Text 332"/>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EXPORT UE &amp; USA — CE QUI COMPTE VRAIMENT</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La marque de la chaudière ne détermine pas votre certification export. Ces cinq éléments, oui.</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475488"/>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54864" cy="475488"/>
          </a:xfrm>
          <a:prstGeom prst="rect">
            <a:avLst/>
          </a:prstGeom>
          <a:solidFill>
            <a:srgbClr val="D4951A"/>
          </a:solidFill>
          <a:ln/>
        </p:spPr>
      </p:sp>
      <p:sp>
        <p:nvSpPr>
          <p:cNvPr id="90" name="Text 88"/>
          <p:cNvSpPr/>
          <p:nvPr/>
        </p:nvSpPr>
        <p:spPr>
          <a:xfrm>
            <a:off x="402336" y="969264"/>
            <a:ext cx="8321040" cy="402336"/>
          </a:xfrm>
          <a:prstGeom prst="rect">
            <a:avLst/>
          </a:prstGeom>
          <a:noFill/>
          <a:ln/>
        </p:spPr>
        <p:txBody>
          <a:bodyPr wrap="square" rtlCol="0" anchor="ctr"/>
          <a:lstStyle/>
          <a:p>
            <a:pPr indent="0" marL="0">
              <a:buNone/>
            </a:pPr>
            <a:r>
              <a:rPr lang="en-US" sz="1100" b="1" dirty="0">
                <a:solidFill>
                  <a:srgbClr val="D4951A"/>
                </a:solidFill>
                <a:latin typeface="Calibri" pitchFamily="34" charset="0"/>
                <a:ea typeface="Calibri" pitchFamily="34" charset="-122"/>
                <a:cs typeface="Calibri" pitchFamily="34" charset="-120"/>
              </a:rPr>
              <a:t>Principe fondamental : </a:t>
            </a:r>
            <a:pPr indent="0" marL="0">
              <a:buNone/>
            </a:pPr>
            <a:r>
              <a:rPr lang="en-US" sz="1050" dirty="0">
                <a:solidFill>
                  <a:srgbClr val="EDE0C8"/>
                </a:solidFill>
                <a:latin typeface="Calibri" pitchFamily="34" charset="0"/>
                <a:ea typeface="Calibri" pitchFamily="34" charset="-122"/>
                <a:cs typeface="Calibri" pitchFamily="34" charset="-120"/>
              </a:rPr>
              <a:t>Aucune réglementation européenne ni règle FDA ne spécifie une marque ou technologie de chaudière. Ce qui est réglementé, c'est la sécurité et la traçabilité de ce que la chaudière produit — la vapeur en tant qu'intrant process en contact avec l'aliment — et la façon dont vous le documentez.</a:t>
            </a:r>
            <a:endParaRPr lang="en-US" sz="1100" dirty="0"/>
          </a:p>
        </p:txBody>
      </p:sp>
      <p:sp>
        <p:nvSpPr>
          <p:cNvPr id="91" name="Shape 89"/>
          <p:cNvSpPr/>
          <p:nvPr/>
        </p:nvSpPr>
        <p:spPr>
          <a:xfrm>
            <a:off x="256032" y="1499616"/>
            <a:ext cx="8631936" cy="640080"/>
          </a:xfrm>
          <a:prstGeom prst="rect">
            <a:avLst/>
          </a:prstGeom>
          <a:solidFill>
            <a:srgbClr val="141418"/>
          </a:solidFill>
          <a:ln w="12700">
            <a:solidFill>
              <a:srgbClr val="1E1E26"/>
            </a:solidFill>
            <a:prstDash val="solid"/>
          </a:ln>
        </p:spPr>
      </p:sp>
      <p:sp>
        <p:nvSpPr>
          <p:cNvPr id="92" name="Shape 90"/>
          <p:cNvSpPr/>
          <p:nvPr/>
        </p:nvSpPr>
        <p:spPr>
          <a:xfrm>
            <a:off x="256032" y="1499616"/>
            <a:ext cx="502920" cy="640080"/>
          </a:xfrm>
          <a:prstGeom prst="rect">
            <a:avLst/>
          </a:prstGeom>
          <a:solidFill>
            <a:srgbClr val="1A5FA8"/>
          </a:solidFill>
          <a:ln/>
        </p:spPr>
      </p:sp>
      <p:sp>
        <p:nvSpPr>
          <p:cNvPr id="93" name="Text 91"/>
          <p:cNvSpPr/>
          <p:nvPr/>
        </p:nvSpPr>
        <p:spPr>
          <a:xfrm>
            <a:off x="256032" y="1499616"/>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01</a:t>
            </a:r>
            <a:endParaRPr lang="en-US" sz="1600" dirty="0"/>
          </a:p>
        </p:txBody>
      </p:sp>
      <p:sp>
        <p:nvSpPr>
          <p:cNvPr id="94" name="Text 92"/>
          <p:cNvSpPr/>
          <p:nvPr/>
        </p:nvSpPr>
        <p:spPr>
          <a:xfrm>
            <a:off x="841248" y="1536192"/>
            <a:ext cx="6766560" cy="256032"/>
          </a:xfrm>
          <a:prstGeom prst="rect">
            <a:avLst/>
          </a:prstGeom>
          <a:noFill/>
          <a:ln/>
        </p:spPr>
        <p:txBody>
          <a:bodyPr wrap="square" rtlCol="0" anchor="ctr"/>
          <a:lstStyle/>
          <a:p>
            <a:pPr indent="0" marL="0">
              <a:buNone/>
            </a:pPr>
            <a:r>
              <a:rPr lang="en-US" sz="1050" b="1" dirty="0">
                <a:solidFill>
                  <a:srgbClr val="1A5FA8"/>
                </a:solidFill>
                <a:latin typeface="Georgia" pitchFamily="34" charset="0"/>
                <a:ea typeface="Georgia" pitchFamily="34" charset="-122"/>
                <a:cs typeface="Georgia" pitchFamily="34" charset="-120"/>
              </a:rPr>
              <a:t>Marquage CE sous la Directive Équipements sous Pression 2014/68/UE</a:t>
            </a:r>
            <a:endParaRPr lang="en-US" sz="1050" dirty="0"/>
          </a:p>
        </p:txBody>
      </p:sp>
      <p:sp>
        <p:nvSpPr>
          <p:cNvPr id="95" name="Text 93"/>
          <p:cNvSpPr/>
          <p:nvPr/>
        </p:nvSpPr>
        <p:spPr>
          <a:xfrm>
            <a:off x="841248" y="1801368"/>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C'est le SEUL point où le choix de la chaudière impacte directement la conformité export. Une chaudière livrée au Maroc peut ne porter que la certification marocaine. Pour crédibilité auditeurs FSSC 22000, exiger le marquage CE dans l'appel d'offres. Les GVI Miura et Clayton d'origine européenne sont fournis CE d'usine.</a:t>
            </a:r>
            <a:endParaRPr lang="en-US" sz="850" dirty="0"/>
          </a:p>
        </p:txBody>
      </p:sp>
      <p:sp>
        <p:nvSpPr>
          <p:cNvPr id="96" name="Shape 94"/>
          <p:cNvSpPr/>
          <p:nvPr/>
        </p:nvSpPr>
        <p:spPr>
          <a:xfrm>
            <a:off x="7699248" y="1536192"/>
            <a:ext cx="502920" cy="228600"/>
          </a:xfrm>
          <a:prstGeom prst="rect">
            <a:avLst/>
          </a:prstGeom>
          <a:solidFill>
            <a:srgbClr val="1A3A8A"/>
          </a:solidFill>
          <a:ln/>
        </p:spPr>
      </p:sp>
      <p:sp>
        <p:nvSpPr>
          <p:cNvPr id="97" name="Text 95"/>
          <p:cNvSpPr/>
          <p:nvPr/>
        </p:nvSpPr>
        <p:spPr>
          <a:xfrm>
            <a:off x="7699248" y="1536192"/>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98" name="Shape 96"/>
          <p:cNvSpPr/>
          <p:nvPr/>
        </p:nvSpPr>
        <p:spPr>
          <a:xfrm>
            <a:off x="256032" y="2194560"/>
            <a:ext cx="8631936" cy="640080"/>
          </a:xfrm>
          <a:prstGeom prst="rect">
            <a:avLst/>
          </a:prstGeom>
          <a:solidFill>
            <a:srgbClr val="141418"/>
          </a:solidFill>
          <a:ln w="12700">
            <a:solidFill>
              <a:srgbClr val="1E1E26"/>
            </a:solidFill>
            <a:prstDash val="solid"/>
          </a:ln>
        </p:spPr>
      </p:sp>
      <p:sp>
        <p:nvSpPr>
          <p:cNvPr id="99" name="Shape 97"/>
          <p:cNvSpPr/>
          <p:nvPr/>
        </p:nvSpPr>
        <p:spPr>
          <a:xfrm>
            <a:off x="256032" y="2194560"/>
            <a:ext cx="502920" cy="640080"/>
          </a:xfrm>
          <a:prstGeom prst="rect">
            <a:avLst/>
          </a:prstGeom>
          <a:solidFill>
            <a:srgbClr val="1B9A8A"/>
          </a:solidFill>
          <a:ln/>
        </p:spPr>
      </p:sp>
      <p:sp>
        <p:nvSpPr>
          <p:cNvPr id="100" name="Text 98"/>
          <p:cNvSpPr/>
          <p:nvPr/>
        </p:nvSpPr>
        <p:spPr>
          <a:xfrm>
            <a:off x="256032" y="2194560"/>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02</a:t>
            </a:r>
            <a:endParaRPr lang="en-US" sz="1600" dirty="0"/>
          </a:p>
        </p:txBody>
      </p:sp>
      <p:sp>
        <p:nvSpPr>
          <p:cNvPr id="101" name="Text 99"/>
          <p:cNvSpPr/>
          <p:nvPr/>
        </p:nvSpPr>
        <p:spPr>
          <a:xfrm>
            <a:off x="841248" y="2231136"/>
            <a:ext cx="6766560" cy="256032"/>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Produits de traitement d'eau chaudière homologués alimentation (NSF H1)</a:t>
            </a:r>
            <a:endParaRPr lang="en-US" sz="1050" dirty="0"/>
          </a:p>
        </p:txBody>
      </p:sp>
      <p:sp>
        <p:nvSpPr>
          <p:cNvPr id="102" name="Text 100"/>
          <p:cNvSpPr/>
          <p:nvPr/>
        </p:nvSpPr>
        <p:spPr>
          <a:xfrm>
            <a:off x="841248" y="2496312"/>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Les inhibiteurs tartre et désoxygénants industriels standard ne sont PAS acceptables lorsque la vapeur est en contact avec un aliment. Le Règlement (CE) 183/2005 et la 21 CFR Part 507 FDA exigent des intrants chimiques homologués alimentaires. Spécifier les produits certifiés NSF H1 dans l'appel d'offres comme exigence obligatoire.</a:t>
            </a:r>
            <a:endParaRPr lang="en-US" sz="850" dirty="0"/>
          </a:p>
        </p:txBody>
      </p:sp>
      <p:sp>
        <p:nvSpPr>
          <p:cNvPr id="103" name="Shape 101"/>
          <p:cNvSpPr/>
          <p:nvPr/>
        </p:nvSpPr>
        <p:spPr>
          <a:xfrm>
            <a:off x="7699248" y="2231136"/>
            <a:ext cx="502920" cy="228600"/>
          </a:xfrm>
          <a:prstGeom prst="rect">
            <a:avLst/>
          </a:prstGeom>
          <a:solidFill>
            <a:srgbClr val="1A3A8A"/>
          </a:solidFill>
          <a:ln/>
        </p:spPr>
      </p:sp>
      <p:sp>
        <p:nvSpPr>
          <p:cNvPr id="104" name="Text 102"/>
          <p:cNvSpPr/>
          <p:nvPr/>
        </p:nvSpPr>
        <p:spPr>
          <a:xfrm>
            <a:off x="7699248" y="2231136"/>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05" name="Shape 103"/>
          <p:cNvSpPr/>
          <p:nvPr/>
        </p:nvSpPr>
        <p:spPr>
          <a:xfrm>
            <a:off x="8302752" y="2231136"/>
            <a:ext cx="530352" cy="228600"/>
          </a:xfrm>
          <a:prstGeom prst="rect">
            <a:avLst/>
          </a:prstGeom>
          <a:solidFill>
            <a:srgbClr val="8A1A1A"/>
          </a:solidFill>
          <a:ln/>
        </p:spPr>
      </p:sp>
      <p:sp>
        <p:nvSpPr>
          <p:cNvPr id="106" name="Text 104"/>
          <p:cNvSpPr/>
          <p:nvPr/>
        </p:nvSpPr>
        <p:spPr>
          <a:xfrm>
            <a:off x="8302752" y="2231136"/>
            <a:ext cx="530352"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07" name="Shape 105"/>
          <p:cNvSpPr/>
          <p:nvPr/>
        </p:nvSpPr>
        <p:spPr>
          <a:xfrm>
            <a:off x="256032" y="2889504"/>
            <a:ext cx="8631936" cy="640080"/>
          </a:xfrm>
          <a:prstGeom prst="rect">
            <a:avLst/>
          </a:prstGeom>
          <a:solidFill>
            <a:srgbClr val="141418"/>
          </a:solidFill>
          <a:ln w="12700">
            <a:solidFill>
              <a:srgbClr val="1E1E26"/>
            </a:solidFill>
            <a:prstDash val="solid"/>
          </a:ln>
        </p:spPr>
      </p:sp>
      <p:sp>
        <p:nvSpPr>
          <p:cNvPr id="108" name="Shape 106"/>
          <p:cNvSpPr/>
          <p:nvPr/>
        </p:nvSpPr>
        <p:spPr>
          <a:xfrm>
            <a:off x="256032" y="2889504"/>
            <a:ext cx="502920" cy="640080"/>
          </a:xfrm>
          <a:prstGeom prst="rect">
            <a:avLst/>
          </a:prstGeom>
          <a:solidFill>
            <a:srgbClr val="D4951A"/>
          </a:solidFill>
          <a:ln/>
        </p:spPr>
      </p:sp>
      <p:sp>
        <p:nvSpPr>
          <p:cNvPr id="109" name="Text 107"/>
          <p:cNvSpPr/>
          <p:nvPr/>
        </p:nvSpPr>
        <p:spPr>
          <a:xfrm>
            <a:off x="256032" y="2889504"/>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03</a:t>
            </a:r>
            <a:endParaRPr lang="en-US" sz="1600" dirty="0"/>
          </a:p>
        </p:txBody>
      </p:sp>
      <p:sp>
        <p:nvSpPr>
          <p:cNvPr id="110" name="Text 108"/>
          <p:cNvSpPr/>
          <p:nvPr/>
        </p:nvSpPr>
        <p:spPr>
          <a:xfrm>
            <a:off x="841248" y="2926080"/>
            <a:ext cx="6766560" cy="256032"/>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Qualité vapeur documentée comme CCP dans le plan HACCP</a:t>
            </a:r>
            <a:endParaRPr lang="en-US" sz="1050" dirty="0"/>
          </a:p>
        </p:txBody>
      </p:sp>
      <p:sp>
        <p:nvSpPr>
          <p:cNvPr id="111" name="Text 109"/>
          <p:cNvSpPr/>
          <p:nvPr/>
        </p:nvSpPr>
        <p:spPr>
          <a:xfrm>
            <a:off x="841248" y="3191256"/>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Le circuit vapeur du conditionneur doit être identifié comme Point Critique pour la Maîtrise (CCP) dans votre plan HACCP. Vous avez besoin d'une procédure de surveillance (pH, conductivité, résidus chimiques quotidiens), d'une action corrective documentée et de résultats de laboratoire indépendants trimestriels. L'auditeur demandera ces enregistrements — la marque importe peu, les dossiers sont tout.</a:t>
            </a:r>
            <a:endParaRPr lang="en-US" sz="850" dirty="0"/>
          </a:p>
        </p:txBody>
      </p:sp>
      <p:sp>
        <p:nvSpPr>
          <p:cNvPr id="112" name="Shape 110"/>
          <p:cNvSpPr/>
          <p:nvPr/>
        </p:nvSpPr>
        <p:spPr>
          <a:xfrm>
            <a:off x="7699248" y="2926080"/>
            <a:ext cx="502920" cy="228600"/>
          </a:xfrm>
          <a:prstGeom prst="rect">
            <a:avLst/>
          </a:prstGeom>
          <a:solidFill>
            <a:srgbClr val="1A3A8A"/>
          </a:solidFill>
          <a:ln/>
        </p:spPr>
      </p:sp>
      <p:sp>
        <p:nvSpPr>
          <p:cNvPr id="113" name="Text 111"/>
          <p:cNvSpPr/>
          <p:nvPr/>
        </p:nvSpPr>
        <p:spPr>
          <a:xfrm>
            <a:off x="7699248" y="2926080"/>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14" name="Shape 112"/>
          <p:cNvSpPr/>
          <p:nvPr/>
        </p:nvSpPr>
        <p:spPr>
          <a:xfrm>
            <a:off x="8302752" y="2926080"/>
            <a:ext cx="530352" cy="228600"/>
          </a:xfrm>
          <a:prstGeom prst="rect">
            <a:avLst/>
          </a:prstGeom>
          <a:solidFill>
            <a:srgbClr val="8A1A1A"/>
          </a:solidFill>
          <a:ln/>
        </p:spPr>
      </p:sp>
      <p:sp>
        <p:nvSpPr>
          <p:cNvPr id="115" name="Text 113"/>
          <p:cNvSpPr/>
          <p:nvPr/>
        </p:nvSpPr>
        <p:spPr>
          <a:xfrm>
            <a:off x="8302752" y="2926080"/>
            <a:ext cx="530352"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16" name="Shape 114"/>
          <p:cNvSpPr/>
          <p:nvPr/>
        </p:nvSpPr>
        <p:spPr>
          <a:xfrm>
            <a:off x="256032" y="3584448"/>
            <a:ext cx="8631936" cy="640080"/>
          </a:xfrm>
          <a:prstGeom prst="rect">
            <a:avLst/>
          </a:prstGeom>
          <a:solidFill>
            <a:srgbClr val="141418"/>
          </a:solidFill>
          <a:ln w="12700">
            <a:solidFill>
              <a:srgbClr val="1E1E26"/>
            </a:solidFill>
            <a:prstDash val="solid"/>
          </a:ln>
        </p:spPr>
      </p:sp>
      <p:sp>
        <p:nvSpPr>
          <p:cNvPr id="117" name="Shape 115"/>
          <p:cNvSpPr/>
          <p:nvPr/>
        </p:nvSpPr>
        <p:spPr>
          <a:xfrm>
            <a:off x="256032" y="3584448"/>
            <a:ext cx="502920" cy="640080"/>
          </a:xfrm>
          <a:prstGeom prst="rect">
            <a:avLst/>
          </a:prstGeom>
          <a:solidFill>
            <a:srgbClr val="C0622B"/>
          </a:solidFill>
          <a:ln/>
        </p:spPr>
      </p:sp>
      <p:sp>
        <p:nvSpPr>
          <p:cNvPr id="118" name="Text 116"/>
          <p:cNvSpPr/>
          <p:nvPr/>
        </p:nvSpPr>
        <p:spPr>
          <a:xfrm>
            <a:off x="256032" y="3584448"/>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04</a:t>
            </a:r>
            <a:endParaRPr lang="en-US" sz="1600" dirty="0"/>
          </a:p>
        </p:txBody>
      </p:sp>
      <p:sp>
        <p:nvSpPr>
          <p:cNvPr id="119" name="Text 117"/>
          <p:cNvSpPr/>
          <p:nvPr/>
        </p:nvSpPr>
        <p:spPr>
          <a:xfrm>
            <a:off x="841248" y="3621024"/>
            <a:ext cx="6766560" cy="256032"/>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Traçabilité métrologique de tous les instruments</a:t>
            </a:r>
            <a:endParaRPr lang="en-US" sz="1050" dirty="0"/>
          </a:p>
        </p:txBody>
      </p:sp>
      <p:sp>
        <p:nvSpPr>
          <p:cNvPr id="120" name="Text 118"/>
          <p:cNvSpPr/>
          <p:nvPr/>
        </p:nvSpPr>
        <p:spPr>
          <a:xfrm>
            <a:off x="841248" y="3886200"/>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Tous les manomètres, capteurs de température, soupapes de sécurité et conductimètres de la chaudière doivent être étalonnés par un organisme accrédité, avec certificats conservés au minimum 2 ans. Les auditeurs FSSC 22000 et les inspecteurs FDA PCAF contrôleront ces dossiers par sondage. Inclure l'étalonnage dans le périmètre de mise en service dès le départ.</a:t>
            </a:r>
            <a:endParaRPr lang="en-US" sz="850" dirty="0"/>
          </a:p>
        </p:txBody>
      </p:sp>
      <p:sp>
        <p:nvSpPr>
          <p:cNvPr id="121" name="Shape 119"/>
          <p:cNvSpPr/>
          <p:nvPr/>
        </p:nvSpPr>
        <p:spPr>
          <a:xfrm>
            <a:off x="7699248" y="3621024"/>
            <a:ext cx="502920" cy="228600"/>
          </a:xfrm>
          <a:prstGeom prst="rect">
            <a:avLst/>
          </a:prstGeom>
          <a:solidFill>
            <a:srgbClr val="1A3A8A"/>
          </a:solidFill>
          <a:ln/>
        </p:spPr>
      </p:sp>
      <p:sp>
        <p:nvSpPr>
          <p:cNvPr id="122" name="Text 120"/>
          <p:cNvSpPr/>
          <p:nvPr/>
        </p:nvSpPr>
        <p:spPr>
          <a:xfrm>
            <a:off x="7699248" y="3621024"/>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23" name="Shape 121"/>
          <p:cNvSpPr/>
          <p:nvPr/>
        </p:nvSpPr>
        <p:spPr>
          <a:xfrm>
            <a:off x="8302752" y="3621024"/>
            <a:ext cx="530352" cy="228600"/>
          </a:xfrm>
          <a:prstGeom prst="rect">
            <a:avLst/>
          </a:prstGeom>
          <a:solidFill>
            <a:srgbClr val="8A1A1A"/>
          </a:solidFill>
          <a:ln/>
        </p:spPr>
      </p:sp>
      <p:sp>
        <p:nvSpPr>
          <p:cNvPr id="124" name="Text 122"/>
          <p:cNvSpPr/>
          <p:nvPr/>
        </p:nvSpPr>
        <p:spPr>
          <a:xfrm>
            <a:off x="8302752" y="3621024"/>
            <a:ext cx="530352"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25" name="Shape 123"/>
          <p:cNvSpPr/>
          <p:nvPr/>
        </p:nvSpPr>
        <p:spPr>
          <a:xfrm>
            <a:off x="256032" y="4279392"/>
            <a:ext cx="8631936" cy="640080"/>
          </a:xfrm>
          <a:prstGeom prst="rect">
            <a:avLst/>
          </a:prstGeom>
          <a:solidFill>
            <a:srgbClr val="141418"/>
          </a:solidFill>
          <a:ln w="12700">
            <a:solidFill>
              <a:srgbClr val="1E1E26"/>
            </a:solidFill>
            <a:prstDash val="solid"/>
          </a:ln>
        </p:spPr>
      </p:sp>
      <p:sp>
        <p:nvSpPr>
          <p:cNvPr id="126" name="Shape 124"/>
          <p:cNvSpPr/>
          <p:nvPr/>
        </p:nvSpPr>
        <p:spPr>
          <a:xfrm>
            <a:off x="256032" y="4279392"/>
            <a:ext cx="502920" cy="640080"/>
          </a:xfrm>
          <a:prstGeom prst="rect">
            <a:avLst/>
          </a:prstGeom>
          <a:solidFill>
            <a:srgbClr val="E8A020"/>
          </a:solidFill>
          <a:ln/>
        </p:spPr>
      </p:sp>
      <p:sp>
        <p:nvSpPr>
          <p:cNvPr id="127" name="Text 125"/>
          <p:cNvSpPr/>
          <p:nvPr/>
        </p:nvSpPr>
        <p:spPr>
          <a:xfrm>
            <a:off x="256032" y="4279392"/>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05</a:t>
            </a:r>
            <a:endParaRPr lang="en-US" sz="1600" dirty="0"/>
          </a:p>
        </p:txBody>
      </p:sp>
      <p:sp>
        <p:nvSpPr>
          <p:cNvPr id="128" name="Text 126"/>
          <p:cNvSpPr/>
          <p:nvPr/>
        </p:nvSpPr>
        <p:spPr>
          <a:xfrm>
            <a:off x="841248" y="4315968"/>
            <a:ext cx="6766560" cy="256032"/>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Alimentation vapeur stable vers l'étape de destruction (CCP)</a:t>
            </a:r>
            <a:endParaRPr lang="en-US" sz="1050" dirty="0"/>
          </a:p>
        </p:txBody>
      </p:sp>
      <p:sp>
        <p:nvSpPr>
          <p:cNvPr id="129" name="Text 127"/>
          <p:cNvSpPr/>
          <p:nvPr/>
        </p:nvSpPr>
        <p:spPr>
          <a:xfrm>
            <a:off x="841248" y="4581144"/>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L'étape conditionneur + extrusion (≥80°C, ≥30 secondes) est votre barrière primaire de sécurité alimentaire. Votre validation HACCP doit démontrer que la chaudière maintient ces conditions de façon constante tout au long du cycle de production. Le suivi de charge supérieur du GVI rend cette preuve de validation plus simple et plus défendable.</a:t>
            </a:r>
            <a:endParaRPr lang="en-US" sz="850" dirty="0"/>
          </a:p>
        </p:txBody>
      </p:sp>
      <p:sp>
        <p:nvSpPr>
          <p:cNvPr id="130" name="Shape 128"/>
          <p:cNvSpPr/>
          <p:nvPr/>
        </p:nvSpPr>
        <p:spPr>
          <a:xfrm>
            <a:off x="7699248" y="4315968"/>
            <a:ext cx="502920" cy="228600"/>
          </a:xfrm>
          <a:prstGeom prst="rect">
            <a:avLst/>
          </a:prstGeom>
          <a:solidFill>
            <a:srgbClr val="1A3A8A"/>
          </a:solidFill>
          <a:ln/>
        </p:spPr>
      </p:sp>
      <p:sp>
        <p:nvSpPr>
          <p:cNvPr id="131" name="Text 129"/>
          <p:cNvSpPr/>
          <p:nvPr/>
        </p:nvSpPr>
        <p:spPr>
          <a:xfrm>
            <a:off x="7699248" y="4315968"/>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UE</a:t>
            </a:r>
            <a:endParaRPr lang="en-US" sz="750" dirty="0"/>
          </a:p>
        </p:txBody>
      </p:sp>
      <p:sp>
        <p:nvSpPr>
          <p:cNvPr id="132" name="Shape 130"/>
          <p:cNvSpPr/>
          <p:nvPr/>
        </p:nvSpPr>
        <p:spPr>
          <a:xfrm>
            <a:off x="8302752" y="4315968"/>
            <a:ext cx="530352" cy="228600"/>
          </a:xfrm>
          <a:prstGeom prst="rect">
            <a:avLst/>
          </a:prstGeom>
          <a:solidFill>
            <a:srgbClr val="8A1A1A"/>
          </a:solidFill>
          <a:ln/>
        </p:spPr>
      </p:sp>
      <p:sp>
        <p:nvSpPr>
          <p:cNvPr id="133" name="Text 131"/>
          <p:cNvSpPr/>
          <p:nvPr/>
        </p:nvSpPr>
        <p:spPr>
          <a:xfrm>
            <a:off x="8302752" y="4315968"/>
            <a:ext cx="530352"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34" name="Shape 132"/>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12" name="Text 210"/>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PANORAMA FABRICANTS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Fournisseurs présélectionnés — sur la base de connaissances vérifiées, sans spéculation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329184"/>
          </a:xfrm>
          <a:prstGeom prst="rect">
            <a:avLst/>
          </a:prstGeom>
          <a:solidFill>
            <a:srgbClr val="130F08"/>
          </a:solidFill>
          <a:ln w="12700">
            <a:solidFill>
              <a:srgbClr val="C0622B"/>
            </a:solidFill>
            <a:prstDash val="solid"/>
          </a:ln>
        </p:spPr>
      </p:sp>
      <p:sp>
        <p:nvSpPr>
          <p:cNvPr id="89" name="Text 87"/>
          <p:cNvSpPr/>
          <p:nvPr/>
        </p:nvSpPr>
        <p:spPr>
          <a:xfrm>
            <a:off x="347472" y="950976"/>
            <a:ext cx="8357616" cy="292608"/>
          </a:xfrm>
          <a:prstGeom prst="rect">
            <a:avLst/>
          </a:prstGeom>
          <a:noFill/>
          <a:ln/>
        </p:spPr>
        <p:txBody>
          <a:bodyPr wrap="square" rtlCol="0" anchor="ctr"/>
          <a:lstStyle/>
          <a:p>
            <a:pPr indent="0" marL="0">
              <a:buNone/>
            </a:pPr>
            <a:r>
              <a:rPr lang="en-US" sz="850" i="1" dirty="0">
                <a:solidFill>
                  <a:srgbClr val="E8A020"/>
                </a:solidFill>
                <a:latin typeface="Calibri" pitchFamily="34" charset="0"/>
                <a:ea typeface="Calibri" pitchFamily="34" charset="-122"/>
                <a:cs typeface="Calibri" pitchFamily="34" charset="-120"/>
              </a:rPr>
              <a:t>⚠  Note de transparence : Les informations fabricants sont basées sur des données industrielles vérifiables. Les prix, la disponibilité actuelle au Maroc et les délais doivent être confirmés directement auprès de chaque fournisseur avant tout engagement.</a:t>
            </a:r>
            <a:endParaRPr lang="en-US" sz="850" dirty="0"/>
          </a:p>
        </p:txBody>
      </p:sp>
      <p:sp>
        <p:nvSpPr>
          <p:cNvPr id="90" name="Shape 88"/>
          <p:cNvSpPr/>
          <p:nvPr/>
        </p:nvSpPr>
        <p:spPr>
          <a:xfrm>
            <a:off x="256032" y="1335024"/>
            <a:ext cx="8631936" cy="676656"/>
          </a:xfrm>
          <a:prstGeom prst="rect">
            <a:avLst/>
          </a:prstGeom>
          <a:solidFill>
            <a:srgbClr val="141418"/>
          </a:solidFill>
          <a:ln w="12700">
            <a:solidFill>
              <a:srgbClr val="1E1E26"/>
            </a:solidFill>
            <a:prstDash val="solid"/>
          </a:ln>
        </p:spPr>
      </p:sp>
      <p:sp>
        <p:nvSpPr>
          <p:cNvPr id="91" name="Shape 89"/>
          <p:cNvSpPr/>
          <p:nvPr/>
        </p:nvSpPr>
        <p:spPr>
          <a:xfrm>
            <a:off x="256032" y="1335024"/>
            <a:ext cx="54864" cy="676656"/>
          </a:xfrm>
          <a:prstGeom prst="rect">
            <a:avLst/>
          </a:prstGeom>
          <a:solidFill>
            <a:srgbClr val="1B9A8A"/>
          </a:solidFill>
          <a:ln/>
        </p:spPr>
      </p:sp>
      <p:sp>
        <p:nvSpPr>
          <p:cNvPr id="92" name="Shape 90"/>
          <p:cNvSpPr/>
          <p:nvPr/>
        </p:nvSpPr>
        <p:spPr>
          <a:xfrm>
            <a:off x="8101584" y="1389888"/>
            <a:ext cx="731520" cy="237744"/>
          </a:xfrm>
          <a:prstGeom prst="rect">
            <a:avLst/>
          </a:prstGeom>
          <a:solidFill>
            <a:srgbClr val="3DAF7A"/>
          </a:solidFill>
          <a:ln/>
        </p:spPr>
      </p:sp>
      <p:sp>
        <p:nvSpPr>
          <p:cNvPr id="93" name="Text 91"/>
          <p:cNvSpPr/>
          <p:nvPr/>
        </p:nvSpPr>
        <p:spPr>
          <a:xfrm>
            <a:off x="8101584" y="138988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PRIORITAIRE</a:t>
            </a:r>
            <a:endParaRPr lang="en-US" sz="750" dirty="0"/>
          </a:p>
        </p:txBody>
      </p:sp>
      <p:sp>
        <p:nvSpPr>
          <p:cNvPr id="94" name="Text 92"/>
          <p:cNvSpPr/>
          <p:nvPr/>
        </p:nvSpPr>
        <p:spPr>
          <a:xfrm>
            <a:off x="402336" y="1380744"/>
            <a:ext cx="1828800" cy="274320"/>
          </a:xfrm>
          <a:prstGeom prst="rect">
            <a:avLst/>
          </a:prstGeom>
          <a:noFill/>
          <a:ln/>
        </p:spPr>
        <p:txBody>
          <a:bodyPr wrap="square" rtlCol="0" anchor="ctr"/>
          <a:lstStyle/>
          <a:p>
            <a:pPr indent="0" marL="0">
              <a:buNone/>
            </a:pPr>
            <a:r>
              <a:rPr lang="en-US" sz="1200" b="1" dirty="0">
                <a:solidFill>
                  <a:srgbClr val="1B9A8A"/>
                </a:solidFill>
                <a:latin typeface="Georgia" pitchFamily="34" charset="0"/>
                <a:ea typeface="Georgia" pitchFamily="34" charset="-122"/>
                <a:cs typeface="Georgia" pitchFamily="34" charset="-120"/>
              </a:rPr>
              <a:t>MIURA</a:t>
            </a:r>
            <a:endParaRPr lang="en-US" sz="1200" dirty="0"/>
          </a:p>
        </p:txBody>
      </p:sp>
      <p:sp>
        <p:nvSpPr>
          <p:cNvPr id="95" name="Text 93"/>
          <p:cNvSpPr/>
          <p:nvPr/>
        </p:nvSpPr>
        <p:spPr>
          <a:xfrm>
            <a:off x="402336" y="165506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Japon / Europe · GVI</a:t>
            </a:r>
            <a:endParaRPr lang="en-US" sz="850" dirty="0"/>
          </a:p>
        </p:txBody>
      </p:sp>
      <p:sp>
        <p:nvSpPr>
          <p:cNvPr id="96" name="Text 94"/>
          <p:cNvSpPr/>
          <p:nvPr/>
        </p:nvSpPr>
        <p:spPr>
          <a:xfrm>
            <a:off x="402336" y="182880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Modèle : Séries LX / EX — compact, démarrage rapide</a:t>
            </a:r>
            <a:endParaRPr lang="en-US" sz="800" dirty="0"/>
          </a:p>
        </p:txBody>
      </p:sp>
      <p:sp>
        <p:nvSpPr>
          <p:cNvPr id="97" name="Text 95"/>
          <p:cNvSpPr/>
          <p:nvPr/>
        </p:nvSpPr>
        <p:spPr>
          <a:xfrm>
            <a:off x="2331720" y="1371600"/>
            <a:ext cx="1417320" cy="201168"/>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Industrie aliment.</a:t>
            </a:r>
            <a:endParaRPr lang="en-US" sz="800" dirty="0"/>
          </a:p>
        </p:txBody>
      </p:sp>
      <p:sp>
        <p:nvSpPr>
          <p:cNvPr id="98" name="Text 96"/>
          <p:cNvSpPr/>
          <p:nvPr/>
        </p:nvSpPr>
        <p:spPr>
          <a:xfrm>
            <a:off x="2331720" y="155448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Référence mondiale pharma &amp; agroalimentaire</a:t>
            </a:r>
            <a:endParaRPr lang="en-US" sz="780" dirty="0"/>
          </a:p>
        </p:txBody>
      </p:sp>
      <p:sp>
        <p:nvSpPr>
          <p:cNvPr id="99" name="Text 97"/>
          <p:cNvSpPr/>
          <p:nvPr/>
        </p:nvSpPr>
        <p:spPr>
          <a:xfrm>
            <a:off x="3813048" y="1371600"/>
            <a:ext cx="1417320" cy="201168"/>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Marquage CE</a:t>
            </a:r>
            <a:endParaRPr lang="en-US" sz="800" dirty="0"/>
          </a:p>
        </p:txBody>
      </p:sp>
      <p:sp>
        <p:nvSpPr>
          <p:cNvPr id="100" name="Text 98"/>
          <p:cNvSpPr/>
          <p:nvPr/>
        </p:nvSpPr>
        <p:spPr>
          <a:xfrm>
            <a:off x="3813048" y="155448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Oui — unités origine Europe</a:t>
            </a:r>
            <a:endParaRPr lang="en-US" sz="780" dirty="0"/>
          </a:p>
        </p:txBody>
      </p:sp>
      <p:sp>
        <p:nvSpPr>
          <p:cNvPr id="101" name="Text 99"/>
          <p:cNvSpPr/>
          <p:nvPr/>
        </p:nvSpPr>
        <p:spPr>
          <a:xfrm>
            <a:off x="5294376" y="1371600"/>
            <a:ext cx="1417320" cy="201168"/>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GPL</a:t>
            </a:r>
            <a:endParaRPr lang="en-US" sz="800" dirty="0"/>
          </a:p>
        </p:txBody>
      </p:sp>
      <p:sp>
        <p:nvSpPr>
          <p:cNvPr id="102" name="Text 100"/>
          <p:cNvSpPr/>
          <p:nvPr/>
        </p:nvSpPr>
        <p:spPr>
          <a:xfrm>
            <a:off x="5294376" y="155448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Brûleurs GPL disponibles</a:t>
            </a:r>
            <a:endParaRPr lang="en-US" sz="780" dirty="0"/>
          </a:p>
        </p:txBody>
      </p:sp>
      <p:sp>
        <p:nvSpPr>
          <p:cNvPr id="103" name="Text 101"/>
          <p:cNvSpPr/>
          <p:nvPr/>
        </p:nvSpPr>
        <p:spPr>
          <a:xfrm>
            <a:off x="6775704" y="1371600"/>
            <a:ext cx="1417320" cy="201168"/>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SAV Afrique</a:t>
            </a:r>
            <a:endParaRPr lang="en-US" sz="800" dirty="0"/>
          </a:p>
        </p:txBody>
      </p:sp>
      <p:sp>
        <p:nvSpPr>
          <p:cNvPr id="104" name="Text 102"/>
          <p:cNvSpPr/>
          <p:nvPr/>
        </p:nvSpPr>
        <p:spPr>
          <a:xfrm>
            <a:off x="6775704" y="155448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Bureau Europe (UK, France) — vérifier distributeur Afrique du Nord</a:t>
            </a:r>
            <a:endParaRPr lang="en-US" sz="780" dirty="0"/>
          </a:p>
        </p:txBody>
      </p:sp>
      <p:sp>
        <p:nvSpPr>
          <p:cNvPr id="105" name="Shape 103"/>
          <p:cNvSpPr/>
          <p:nvPr/>
        </p:nvSpPr>
        <p:spPr>
          <a:xfrm>
            <a:off x="256032" y="2066544"/>
            <a:ext cx="8631936" cy="676656"/>
          </a:xfrm>
          <a:prstGeom prst="rect">
            <a:avLst/>
          </a:prstGeom>
          <a:solidFill>
            <a:srgbClr val="111115"/>
          </a:solidFill>
          <a:ln w="12700">
            <a:solidFill>
              <a:srgbClr val="1E1E26"/>
            </a:solidFill>
            <a:prstDash val="solid"/>
          </a:ln>
        </p:spPr>
      </p:sp>
      <p:sp>
        <p:nvSpPr>
          <p:cNvPr id="106" name="Shape 104"/>
          <p:cNvSpPr/>
          <p:nvPr/>
        </p:nvSpPr>
        <p:spPr>
          <a:xfrm>
            <a:off x="256032" y="2066544"/>
            <a:ext cx="54864" cy="676656"/>
          </a:xfrm>
          <a:prstGeom prst="rect">
            <a:avLst/>
          </a:prstGeom>
          <a:solidFill>
            <a:srgbClr val="D4951A"/>
          </a:solidFill>
          <a:ln/>
        </p:spPr>
      </p:sp>
      <p:sp>
        <p:nvSpPr>
          <p:cNvPr id="107" name="Shape 105"/>
          <p:cNvSpPr/>
          <p:nvPr/>
        </p:nvSpPr>
        <p:spPr>
          <a:xfrm>
            <a:off x="8101584" y="2121408"/>
            <a:ext cx="731520" cy="237744"/>
          </a:xfrm>
          <a:prstGeom prst="rect">
            <a:avLst/>
          </a:prstGeom>
          <a:solidFill>
            <a:srgbClr val="3DAF7A"/>
          </a:solidFill>
          <a:ln/>
        </p:spPr>
      </p:sp>
      <p:sp>
        <p:nvSpPr>
          <p:cNvPr id="108" name="Text 106"/>
          <p:cNvSpPr/>
          <p:nvPr/>
        </p:nvSpPr>
        <p:spPr>
          <a:xfrm>
            <a:off x="8101584" y="212140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PRIORITAIRE</a:t>
            </a:r>
            <a:endParaRPr lang="en-US" sz="750" dirty="0"/>
          </a:p>
        </p:txBody>
      </p:sp>
      <p:sp>
        <p:nvSpPr>
          <p:cNvPr id="109" name="Text 107"/>
          <p:cNvSpPr/>
          <p:nvPr/>
        </p:nvSpPr>
        <p:spPr>
          <a:xfrm>
            <a:off x="402336" y="2112264"/>
            <a:ext cx="1828800" cy="274320"/>
          </a:xfrm>
          <a:prstGeom prst="rect">
            <a:avLst/>
          </a:prstGeom>
          <a:noFill/>
          <a:ln/>
        </p:spPr>
        <p:txBody>
          <a:bodyPr wrap="square" rtlCol="0" anchor="ctr"/>
          <a:lstStyle/>
          <a:p>
            <a:pPr indent="0" marL="0">
              <a:buNone/>
            </a:pPr>
            <a:r>
              <a:rPr lang="en-US" sz="1200" b="1" dirty="0">
                <a:solidFill>
                  <a:srgbClr val="D4951A"/>
                </a:solidFill>
                <a:latin typeface="Georgia" pitchFamily="34" charset="0"/>
                <a:ea typeface="Georgia" pitchFamily="34" charset="-122"/>
                <a:cs typeface="Georgia" pitchFamily="34" charset="-120"/>
              </a:rPr>
              <a:t>CLAYTON INDUSTRIES</a:t>
            </a:r>
            <a:endParaRPr lang="en-US" sz="1200" dirty="0"/>
          </a:p>
        </p:txBody>
      </p:sp>
      <p:sp>
        <p:nvSpPr>
          <p:cNvPr id="110" name="Text 108"/>
          <p:cNvSpPr/>
          <p:nvPr/>
        </p:nvSpPr>
        <p:spPr>
          <a:xfrm>
            <a:off x="402336" y="238658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USA / Belgique · GVI</a:t>
            </a:r>
            <a:endParaRPr lang="en-US" sz="850" dirty="0"/>
          </a:p>
        </p:txBody>
      </p:sp>
      <p:sp>
        <p:nvSpPr>
          <p:cNvPr id="111" name="Text 109"/>
          <p:cNvSpPr/>
          <p:nvPr/>
        </p:nvSpPr>
        <p:spPr>
          <a:xfrm>
            <a:off x="402336" y="256032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Modèle : Série E / EG — GVI à serpentin vertical</a:t>
            </a:r>
            <a:endParaRPr lang="en-US" sz="800" dirty="0"/>
          </a:p>
        </p:txBody>
      </p:sp>
      <p:sp>
        <p:nvSpPr>
          <p:cNvPr id="112" name="Text 110"/>
          <p:cNvSpPr/>
          <p:nvPr/>
        </p:nvSpPr>
        <p:spPr>
          <a:xfrm>
            <a:off x="2331720" y="2103120"/>
            <a:ext cx="1417320" cy="201168"/>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Industrie aliment.</a:t>
            </a:r>
            <a:endParaRPr lang="en-US" sz="800" dirty="0"/>
          </a:p>
        </p:txBody>
      </p:sp>
      <p:sp>
        <p:nvSpPr>
          <p:cNvPr id="113" name="Text 111"/>
          <p:cNvSpPr/>
          <p:nvPr/>
        </p:nvSpPr>
        <p:spPr>
          <a:xfrm>
            <a:off x="2331720" y="228600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Agroalimentaire &amp; process industriel</a:t>
            </a:r>
            <a:endParaRPr lang="en-US" sz="780" dirty="0"/>
          </a:p>
        </p:txBody>
      </p:sp>
      <p:sp>
        <p:nvSpPr>
          <p:cNvPr id="114" name="Text 112"/>
          <p:cNvSpPr/>
          <p:nvPr/>
        </p:nvSpPr>
        <p:spPr>
          <a:xfrm>
            <a:off x="3813048" y="2103120"/>
            <a:ext cx="1417320" cy="201168"/>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Marquage CE</a:t>
            </a:r>
            <a:endParaRPr lang="en-US" sz="800" dirty="0"/>
          </a:p>
        </p:txBody>
      </p:sp>
      <p:sp>
        <p:nvSpPr>
          <p:cNvPr id="115" name="Text 113"/>
          <p:cNvSpPr/>
          <p:nvPr/>
        </p:nvSpPr>
        <p:spPr>
          <a:xfrm>
            <a:off x="3813048" y="228600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Oui — fabriqué en Belgique</a:t>
            </a:r>
            <a:endParaRPr lang="en-US" sz="780" dirty="0"/>
          </a:p>
        </p:txBody>
      </p:sp>
      <p:sp>
        <p:nvSpPr>
          <p:cNvPr id="116" name="Text 114"/>
          <p:cNvSpPr/>
          <p:nvPr/>
        </p:nvSpPr>
        <p:spPr>
          <a:xfrm>
            <a:off x="5294376" y="2103120"/>
            <a:ext cx="1417320" cy="201168"/>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GPL</a:t>
            </a:r>
            <a:endParaRPr lang="en-US" sz="800" dirty="0"/>
          </a:p>
        </p:txBody>
      </p:sp>
      <p:sp>
        <p:nvSpPr>
          <p:cNvPr id="117" name="Text 115"/>
          <p:cNvSpPr/>
          <p:nvPr/>
        </p:nvSpPr>
        <p:spPr>
          <a:xfrm>
            <a:off x="5294376" y="228600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Configurations GPL disponibles</a:t>
            </a:r>
            <a:endParaRPr lang="en-US" sz="780" dirty="0"/>
          </a:p>
        </p:txBody>
      </p:sp>
      <p:sp>
        <p:nvSpPr>
          <p:cNvPr id="118" name="Text 116"/>
          <p:cNvSpPr/>
          <p:nvPr/>
        </p:nvSpPr>
        <p:spPr>
          <a:xfrm>
            <a:off x="6775704" y="2103120"/>
            <a:ext cx="1417320" cy="201168"/>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SAV Afrique</a:t>
            </a:r>
            <a:endParaRPr lang="en-US" sz="800" dirty="0"/>
          </a:p>
        </p:txBody>
      </p:sp>
      <p:sp>
        <p:nvSpPr>
          <p:cNvPr id="119" name="Text 117"/>
          <p:cNvSpPr/>
          <p:nvPr/>
        </p:nvSpPr>
        <p:spPr>
          <a:xfrm>
            <a:off x="6775704" y="228600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Fabrication Belgique — logistique UE vers Maroc favorable</a:t>
            </a:r>
            <a:endParaRPr lang="en-US" sz="780" dirty="0"/>
          </a:p>
        </p:txBody>
      </p:sp>
      <p:sp>
        <p:nvSpPr>
          <p:cNvPr id="120" name="Shape 118"/>
          <p:cNvSpPr/>
          <p:nvPr/>
        </p:nvSpPr>
        <p:spPr>
          <a:xfrm>
            <a:off x="256032" y="2798064"/>
            <a:ext cx="8631936" cy="676656"/>
          </a:xfrm>
          <a:prstGeom prst="rect">
            <a:avLst/>
          </a:prstGeom>
          <a:solidFill>
            <a:srgbClr val="141418"/>
          </a:solidFill>
          <a:ln w="12700">
            <a:solidFill>
              <a:srgbClr val="1E1E26"/>
            </a:solidFill>
            <a:prstDash val="solid"/>
          </a:ln>
        </p:spPr>
      </p:sp>
      <p:sp>
        <p:nvSpPr>
          <p:cNvPr id="121" name="Shape 119"/>
          <p:cNvSpPr/>
          <p:nvPr/>
        </p:nvSpPr>
        <p:spPr>
          <a:xfrm>
            <a:off x="256032" y="2798064"/>
            <a:ext cx="54864" cy="676656"/>
          </a:xfrm>
          <a:prstGeom prst="rect">
            <a:avLst/>
          </a:prstGeom>
          <a:solidFill>
            <a:srgbClr val="C0622B"/>
          </a:solidFill>
          <a:ln/>
        </p:spPr>
      </p:sp>
      <p:sp>
        <p:nvSpPr>
          <p:cNvPr id="122" name="Shape 120"/>
          <p:cNvSpPr/>
          <p:nvPr/>
        </p:nvSpPr>
        <p:spPr>
          <a:xfrm>
            <a:off x="8101584" y="2852928"/>
            <a:ext cx="731520" cy="237744"/>
          </a:xfrm>
          <a:prstGeom prst="rect">
            <a:avLst/>
          </a:prstGeom>
          <a:solidFill>
            <a:srgbClr val="E8A020"/>
          </a:solidFill>
          <a:ln/>
        </p:spPr>
      </p:sp>
      <p:sp>
        <p:nvSpPr>
          <p:cNvPr id="123" name="Text 121"/>
          <p:cNvSpPr/>
          <p:nvPr/>
        </p:nvSpPr>
        <p:spPr>
          <a:xfrm>
            <a:off x="8101584" y="285292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ALTERNATIF</a:t>
            </a:r>
            <a:endParaRPr lang="en-US" sz="750" dirty="0"/>
          </a:p>
        </p:txBody>
      </p:sp>
      <p:sp>
        <p:nvSpPr>
          <p:cNvPr id="124" name="Text 122"/>
          <p:cNvSpPr/>
          <p:nvPr/>
        </p:nvSpPr>
        <p:spPr>
          <a:xfrm>
            <a:off x="402336" y="2843784"/>
            <a:ext cx="1828800" cy="274320"/>
          </a:xfrm>
          <a:prstGeom prst="rect">
            <a:avLst/>
          </a:prstGeom>
          <a:noFill/>
          <a:ln/>
        </p:spPr>
        <p:txBody>
          <a:bodyPr wrap="square" rtlCol="0" anchor="ctr"/>
          <a:lstStyle/>
          <a:p>
            <a:pPr indent="0" marL="0">
              <a:buNone/>
            </a:pPr>
            <a:r>
              <a:rPr lang="en-US" sz="1200" b="1" dirty="0">
                <a:solidFill>
                  <a:srgbClr val="C0622B"/>
                </a:solidFill>
                <a:latin typeface="Georgia" pitchFamily="34" charset="0"/>
                <a:ea typeface="Georgia" pitchFamily="34" charset="-122"/>
                <a:cs typeface="Georgia" pitchFamily="34" charset="-120"/>
              </a:rPr>
              <a:t>CLEAVER-BROOKS</a:t>
            </a:r>
            <a:endParaRPr lang="en-US" sz="1200" dirty="0"/>
          </a:p>
        </p:txBody>
      </p:sp>
      <p:sp>
        <p:nvSpPr>
          <p:cNvPr id="125" name="Text 123"/>
          <p:cNvSpPr/>
          <p:nvPr/>
        </p:nvSpPr>
        <p:spPr>
          <a:xfrm>
            <a:off x="402336" y="311810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USA / Mondial · Tubes de Fumée</a:t>
            </a:r>
            <a:endParaRPr lang="en-US" sz="850" dirty="0"/>
          </a:p>
        </p:txBody>
      </p:sp>
      <p:sp>
        <p:nvSpPr>
          <p:cNvPr id="126" name="Text 124"/>
          <p:cNvSpPr/>
          <p:nvPr/>
        </p:nvSpPr>
        <p:spPr>
          <a:xfrm>
            <a:off x="402336" y="329184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Modèle : Séries CBex / ClearFire</a:t>
            </a:r>
            <a:endParaRPr lang="en-US" sz="800" dirty="0"/>
          </a:p>
        </p:txBody>
      </p:sp>
      <p:sp>
        <p:nvSpPr>
          <p:cNvPr id="127" name="Text 125"/>
          <p:cNvSpPr/>
          <p:nvPr/>
        </p:nvSpPr>
        <p:spPr>
          <a:xfrm>
            <a:off x="2331720" y="2834640"/>
            <a:ext cx="1417320" cy="201168"/>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Industrie aliment.</a:t>
            </a:r>
            <a:endParaRPr lang="en-US" sz="800" dirty="0"/>
          </a:p>
        </p:txBody>
      </p:sp>
      <p:sp>
        <p:nvSpPr>
          <p:cNvPr id="128" name="Text 126"/>
          <p:cNvSpPr/>
          <p:nvPr/>
        </p:nvSpPr>
        <p:spPr>
          <a:xfrm>
            <a:off x="2331720" y="301752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Industriel large spectre dont agroalimentaire</a:t>
            </a:r>
            <a:endParaRPr lang="en-US" sz="780" dirty="0"/>
          </a:p>
        </p:txBody>
      </p:sp>
      <p:sp>
        <p:nvSpPr>
          <p:cNvPr id="129" name="Text 127"/>
          <p:cNvSpPr/>
          <p:nvPr/>
        </p:nvSpPr>
        <p:spPr>
          <a:xfrm>
            <a:off x="3813048" y="2834640"/>
            <a:ext cx="1417320" cy="201168"/>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Marquage CE</a:t>
            </a:r>
            <a:endParaRPr lang="en-US" sz="800" dirty="0"/>
          </a:p>
        </p:txBody>
      </p:sp>
      <p:sp>
        <p:nvSpPr>
          <p:cNvPr id="130" name="Text 128"/>
          <p:cNvSpPr/>
          <p:nvPr/>
        </p:nvSpPr>
        <p:spPr>
          <a:xfrm>
            <a:off x="3813048" y="301752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Modèles CE sur gamme européenne</a:t>
            </a:r>
            <a:endParaRPr lang="en-US" sz="780" dirty="0"/>
          </a:p>
        </p:txBody>
      </p:sp>
      <p:sp>
        <p:nvSpPr>
          <p:cNvPr id="131" name="Text 129"/>
          <p:cNvSpPr/>
          <p:nvPr/>
        </p:nvSpPr>
        <p:spPr>
          <a:xfrm>
            <a:off x="5294376" y="2834640"/>
            <a:ext cx="1417320" cy="201168"/>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GPL</a:t>
            </a:r>
            <a:endParaRPr lang="en-US" sz="800" dirty="0"/>
          </a:p>
        </p:txBody>
      </p:sp>
      <p:sp>
        <p:nvSpPr>
          <p:cNvPr id="132" name="Text 130"/>
          <p:cNvSpPr/>
          <p:nvPr/>
        </p:nvSpPr>
        <p:spPr>
          <a:xfrm>
            <a:off x="5294376" y="301752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Brûleurs GPL en option standard</a:t>
            </a:r>
            <a:endParaRPr lang="en-US" sz="780" dirty="0"/>
          </a:p>
        </p:txBody>
      </p:sp>
      <p:sp>
        <p:nvSpPr>
          <p:cNvPr id="133" name="Text 131"/>
          <p:cNvSpPr/>
          <p:nvPr/>
        </p:nvSpPr>
        <p:spPr>
          <a:xfrm>
            <a:off x="6775704" y="2834640"/>
            <a:ext cx="1417320" cy="201168"/>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SAV Afrique</a:t>
            </a:r>
            <a:endParaRPr lang="en-US" sz="800" dirty="0"/>
          </a:p>
        </p:txBody>
      </p:sp>
      <p:sp>
        <p:nvSpPr>
          <p:cNvPr id="134" name="Text 132"/>
          <p:cNvSpPr/>
          <p:nvPr/>
        </p:nvSpPr>
        <p:spPr>
          <a:xfrm>
            <a:off x="6775704" y="301752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Réseau mondial étendu — vérifier Afrique du Nord</a:t>
            </a:r>
            <a:endParaRPr lang="en-US" sz="780" dirty="0"/>
          </a:p>
        </p:txBody>
      </p:sp>
      <p:sp>
        <p:nvSpPr>
          <p:cNvPr id="135" name="Shape 133"/>
          <p:cNvSpPr/>
          <p:nvPr/>
        </p:nvSpPr>
        <p:spPr>
          <a:xfrm>
            <a:off x="256032" y="3529584"/>
            <a:ext cx="8631936" cy="676656"/>
          </a:xfrm>
          <a:prstGeom prst="rect">
            <a:avLst/>
          </a:prstGeom>
          <a:solidFill>
            <a:srgbClr val="111115"/>
          </a:solidFill>
          <a:ln w="12700">
            <a:solidFill>
              <a:srgbClr val="1E1E26"/>
            </a:solidFill>
            <a:prstDash val="solid"/>
          </a:ln>
        </p:spPr>
      </p:sp>
      <p:sp>
        <p:nvSpPr>
          <p:cNvPr id="136" name="Shape 134"/>
          <p:cNvSpPr/>
          <p:nvPr/>
        </p:nvSpPr>
        <p:spPr>
          <a:xfrm>
            <a:off x="256032" y="3529584"/>
            <a:ext cx="54864" cy="676656"/>
          </a:xfrm>
          <a:prstGeom prst="rect">
            <a:avLst/>
          </a:prstGeom>
          <a:solidFill>
            <a:srgbClr val="E8A020"/>
          </a:solidFill>
          <a:ln/>
        </p:spPr>
      </p:sp>
      <p:sp>
        <p:nvSpPr>
          <p:cNvPr id="137" name="Shape 135"/>
          <p:cNvSpPr/>
          <p:nvPr/>
        </p:nvSpPr>
        <p:spPr>
          <a:xfrm>
            <a:off x="8101584" y="3584448"/>
            <a:ext cx="731520" cy="237744"/>
          </a:xfrm>
          <a:prstGeom prst="rect">
            <a:avLst/>
          </a:prstGeom>
          <a:solidFill>
            <a:srgbClr val="E8A020"/>
          </a:solidFill>
          <a:ln/>
        </p:spPr>
      </p:sp>
      <p:sp>
        <p:nvSpPr>
          <p:cNvPr id="138" name="Text 136"/>
          <p:cNvSpPr/>
          <p:nvPr/>
        </p:nvSpPr>
        <p:spPr>
          <a:xfrm>
            <a:off x="8101584" y="358444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ALTERNATIF</a:t>
            </a:r>
            <a:endParaRPr lang="en-US" sz="750" dirty="0"/>
          </a:p>
        </p:txBody>
      </p:sp>
      <p:sp>
        <p:nvSpPr>
          <p:cNvPr id="139" name="Text 137"/>
          <p:cNvSpPr/>
          <p:nvPr/>
        </p:nvSpPr>
        <p:spPr>
          <a:xfrm>
            <a:off x="402336" y="3575304"/>
            <a:ext cx="1828800" cy="274320"/>
          </a:xfrm>
          <a:prstGeom prst="rect">
            <a:avLst/>
          </a:prstGeom>
          <a:noFill/>
          <a:ln/>
        </p:spPr>
        <p:txBody>
          <a:bodyPr wrap="square" rtlCol="0" anchor="ctr"/>
          <a:lstStyle/>
          <a:p>
            <a:pPr indent="0" marL="0">
              <a:buNone/>
            </a:pPr>
            <a:r>
              <a:rPr lang="en-US" sz="1200" b="1" dirty="0">
                <a:solidFill>
                  <a:srgbClr val="E8A020"/>
                </a:solidFill>
                <a:latin typeface="Georgia" pitchFamily="34" charset="0"/>
                <a:ea typeface="Georgia" pitchFamily="34" charset="-122"/>
                <a:cs typeface="Georgia" pitchFamily="34" charset="-120"/>
              </a:rPr>
              <a:t>FULTON</a:t>
            </a:r>
            <a:endParaRPr lang="en-US" sz="1200" dirty="0"/>
          </a:p>
        </p:txBody>
      </p:sp>
      <p:sp>
        <p:nvSpPr>
          <p:cNvPr id="140" name="Text 138"/>
          <p:cNvSpPr/>
          <p:nvPr/>
        </p:nvSpPr>
        <p:spPr>
          <a:xfrm>
            <a:off x="402336" y="384962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USA / Royaume-Uni · GVI / Tubes Fumée</a:t>
            </a:r>
            <a:endParaRPr lang="en-US" sz="850" dirty="0"/>
          </a:p>
        </p:txBody>
      </p:sp>
      <p:sp>
        <p:nvSpPr>
          <p:cNvPr id="141" name="Text 139"/>
          <p:cNvSpPr/>
          <p:nvPr/>
        </p:nvSpPr>
        <p:spPr>
          <a:xfrm>
            <a:off x="402336" y="402336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Modèle : Série VSRT (serpentin spiralé — hybride)</a:t>
            </a:r>
            <a:endParaRPr lang="en-US" sz="800" dirty="0"/>
          </a:p>
        </p:txBody>
      </p:sp>
      <p:sp>
        <p:nvSpPr>
          <p:cNvPr id="142" name="Text 140"/>
          <p:cNvSpPr/>
          <p:nvPr/>
        </p:nvSpPr>
        <p:spPr>
          <a:xfrm>
            <a:off x="2331720" y="3566160"/>
            <a:ext cx="1417320" cy="201168"/>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Industrie aliment.</a:t>
            </a:r>
            <a:endParaRPr lang="en-US" sz="800" dirty="0"/>
          </a:p>
        </p:txBody>
      </p:sp>
      <p:sp>
        <p:nvSpPr>
          <p:cNvPr id="143" name="Text 141"/>
          <p:cNvSpPr/>
          <p:nvPr/>
        </p:nvSpPr>
        <p:spPr>
          <a:xfrm>
            <a:off x="2331720" y="374904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Bonne référence agroalimentaire Europe</a:t>
            </a:r>
            <a:endParaRPr lang="en-US" sz="780" dirty="0"/>
          </a:p>
        </p:txBody>
      </p:sp>
      <p:sp>
        <p:nvSpPr>
          <p:cNvPr id="144" name="Text 142"/>
          <p:cNvSpPr/>
          <p:nvPr/>
        </p:nvSpPr>
        <p:spPr>
          <a:xfrm>
            <a:off x="3813048" y="3566160"/>
            <a:ext cx="1417320" cy="201168"/>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Marquage CE</a:t>
            </a:r>
            <a:endParaRPr lang="en-US" sz="800" dirty="0"/>
          </a:p>
        </p:txBody>
      </p:sp>
      <p:sp>
        <p:nvSpPr>
          <p:cNvPr id="145" name="Text 143"/>
          <p:cNvSpPr/>
          <p:nvPr/>
        </p:nvSpPr>
        <p:spPr>
          <a:xfrm>
            <a:off x="3813048" y="374904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Oui — fabriqué au Royaume-Uni</a:t>
            </a:r>
            <a:endParaRPr lang="en-US" sz="780" dirty="0"/>
          </a:p>
        </p:txBody>
      </p:sp>
      <p:sp>
        <p:nvSpPr>
          <p:cNvPr id="146" name="Text 144"/>
          <p:cNvSpPr/>
          <p:nvPr/>
        </p:nvSpPr>
        <p:spPr>
          <a:xfrm>
            <a:off x="5294376" y="3566160"/>
            <a:ext cx="1417320" cy="201168"/>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GPL</a:t>
            </a:r>
            <a:endParaRPr lang="en-US" sz="800" dirty="0"/>
          </a:p>
        </p:txBody>
      </p:sp>
      <p:sp>
        <p:nvSpPr>
          <p:cNvPr id="147" name="Text 145"/>
          <p:cNvSpPr/>
          <p:nvPr/>
        </p:nvSpPr>
        <p:spPr>
          <a:xfrm>
            <a:off x="5294376" y="374904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GPL disponible</a:t>
            </a:r>
            <a:endParaRPr lang="en-US" sz="780" dirty="0"/>
          </a:p>
        </p:txBody>
      </p:sp>
      <p:sp>
        <p:nvSpPr>
          <p:cNvPr id="148" name="Text 146"/>
          <p:cNvSpPr/>
          <p:nvPr/>
        </p:nvSpPr>
        <p:spPr>
          <a:xfrm>
            <a:off x="6775704" y="3566160"/>
            <a:ext cx="1417320" cy="201168"/>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SAV Afrique</a:t>
            </a:r>
            <a:endParaRPr lang="en-US" sz="800" dirty="0"/>
          </a:p>
        </p:txBody>
      </p:sp>
      <p:sp>
        <p:nvSpPr>
          <p:cNvPr id="149" name="Text 147"/>
          <p:cNvSpPr/>
          <p:nvPr/>
        </p:nvSpPr>
        <p:spPr>
          <a:xfrm>
            <a:off x="6775704" y="374904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Distribution UK — vérifier agent Afrique du Nord</a:t>
            </a:r>
            <a:endParaRPr lang="en-US" sz="780" dirty="0"/>
          </a:p>
        </p:txBody>
      </p:sp>
      <p:sp>
        <p:nvSpPr>
          <p:cNvPr id="150" name="Shape 148"/>
          <p:cNvSpPr/>
          <p:nvPr/>
        </p:nvSpPr>
        <p:spPr>
          <a:xfrm>
            <a:off x="256032" y="4261104"/>
            <a:ext cx="8631936" cy="676656"/>
          </a:xfrm>
          <a:prstGeom prst="rect">
            <a:avLst/>
          </a:prstGeom>
          <a:solidFill>
            <a:srgbClr val="141418"/>
          </a:solidFill>
          <a:ln w="12700">
            <a:solidFill>
              <a:srgbClr val="1E1E26"/>
            </a:solidFill>
            <a:prstDash val="solid"/>
          </a:ln>
        </p:spPr>
      </p:sp>
      <p:sp>
        <p:nvSpPr>
          <p:cNvPr id="151" name="Shape 149"/>
          <p:cNvSpPr/>
          <p:nvPr/>
        </p:nvSpPr>
        <p:spPr>
          <a:xfrm>
            <a:off x="256032" y="4261104"/>
            <a:ext cx="54864" cy="676656"/>
          </a:xfrm>
          <a:prstGeom prst="rect">
            <a:avLst/>
          </a:prstGeom>
          <a:solidFill>
            <a:srgbClr val="1A5FA8"/>
          </a:solidFill>
          <a:ln/>
        </p:spPr>
      </p:sp>
      <p:sp>
        <p:nvSpPr>
          <p:cNvPr id="152" name="Shape 150"/>
          <p:cNvSpPr/>
          <p:nvPr/>
        </p:nvSpPr>
        <p:spPr>
          <a:xfrm>
            <a:off x="8101584" y="4315968"/>
            <a:ext cx="731520" cy="237744"/>
          </a:xfrm>
          <a:prstGeom prst="rect">
            <a:avLst/>
          </a:prstGeom>
          <a:solidFill>
            <a:srgbClr val="1A5FA8"/>
          </a:solidFill>
          <a:ln/>
        </p:spPr>
      </p:sp>
      <p:sp>
        <p:nvSpPr>
          <p:cNvPr id="153" name="Text 151"/>
          <p:cNvSpPr/>
          <p:nvPr/>
        </p:nvSpPr>
        <p:spPr>
          <a:xfrm>
            <a:off x="8101584" y="431596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RÉGIONAL</a:t>
            </a:r>
            <a:endParaRPr lang="en-US" sz="750" dirty="0"/>
          </a:p>
        </p:txBody>
      </p:sp>
      <p:sp>
        <p:nvSpPr>
          <p:cNvPr id="154" name="Text 152"/>
          <p:cNvSpPr/>
          <p:nvPr/>
        </p:nvSpPr>
        <p:spPr>
          <a:xfrm>
            <a:off x="402336" y="4306824"/>
            <a:ext cx="1828800" cy="274320"/>
          </a:xfrm>
          <a:prstGeom prst="rect">
            <a:avLst/>
          </a:prstGeom>
          <a:noFill/>
          <a:ln/>
        </p:spPr>
        <p:txBody>
          <a:bodyPr wrap="square" rtlCol="0" anchor="ctr"/>
          <a:lstStyle/>
          <a:p>
            <a:pPr indent="0" marL="0">
              <a:buNone/>
            </a:pPr>
            <a:r>
              <a:rPr lang="en-US" sz="1200" b="1" dirty="0">
                <a:solidFill>
                  <a:srgbClr val="1A5FA8"/>
                </a:solidFill>
                <a:latin typeface="Georgia" pitchFamily="34" charset="0"/>
                <a:ea typeface="Georgia" pitchFamily="34" charset="-122"/>
                <a:cs typeface="Georgia" pitchFamily="34" charset="-120"/>
              </a:rPr>
              <a:t>ICI CALDAIE</a:t>
            </a:r>
            <a:endParaRPr lang="en-US" sz="1200" dirty="0"/>
          </a:p>
        </p:txBody>
      </p:sp>
      <p:sp>
        <p:nvSpPr>
          <p:cNvPr id="155" name="Text 153"/>
          <p:cNvSpPr/>
          <p:nvPr/>
        </p:nvSpPr>
        <p:spPr>
          <a:xfrm>
            <a:off x="402336" y="458114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Italie · Tubes de Fumée</a:t>
            </a:r>
            <a:endParaRPr lang="en-US" sz="850" dirty="0"/>
          </a:p>
        </p:txBody>
      </p:sp>
      <p:sp>
        <p:nvSpPr>
          <p:cNvPr id="156" name="Text 154"/>
          <p:cNvSpPr/>
          <p:nvPr/>
        </p:nvSpPr>
        <p:spPr>
          <a:xfrm>
            <a:off x="402336" y="475488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Modèle : Séries ICI TIGON / ELIA</a:t>
            </a:r>
            <a:endParaRPr lang="en-US" sz="800" dirty="0"/>
          </a:p>
        </p:txBody>
      </p:sp>
      <p:sp>
        <p:nvSpPr>
          <p:cNvPr id="157" name="Text 155"/>
          <p:cNvSpPr/>
          <p:nvPr/>
        </p:nvSpPr>
        <p:spPr>
          <a:xfrm>
            <a:off x="2331720" y="4297680"/>
            <a:ext cx="1417320" cy="201168"/>
          </a:xfrm>
          <a:prstGeom prst="rect">
            <a:avLst/>
          </a:prstGeom>
          <a:noFill/>
          <a:ln/>
        </p:spPr>
        <p:txBody>
          <a:bodyPr wrap="square" rtlCol="0" anchor="ctr"/>
          <a:lstStyle/>
          <a:p>
            <a:pPr indent="0" marL="0">
              <a:buNone/>
            </a:pPr>
            <a:r>
              <a:rPr lang="en-US" sz="800" b="1" dirty="0">
                <a:solidFill>
                  <a:srgbClr val="1A5FA8"/>
                </a:solidFill>
                <a:latin typeface="Calibri" pitchFamily="34" charset="0"/>
                <a:ea typeface="Calibri" pitchFamily="34" charset="-122"/>
                <a:cs typeface="Calibri" pitchFamily="34" charset="-120"/>
              </a:rPr>
              <a:t>Industrie aliment.</a:t>
            </a:r>
            <a:endParaRPr lang="en-US" sz="800" dirty="0"/>
          </a:p>
        </p:txBody>
      </p:sp>
      <p:sp>
        <p:nvSpPr>
          <p:cNvPr id="158" name="Text 156"/>
          <p:cNvSpPr/>
          <p:nvPr/>
        </p:nvSpPr>
        <p:spPr>
          <a:xfrm>
            <a:off x="2331720" y="448056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Process industriel dont agroalimentaire</a:t>
            </a:r>
            <a:endParaRPr lang="en-US" sz="780" dirty="0"/>
          </a:p>
        </p:txBody>
      </p:sp>
      <p:sp>
        <p:nvSpPr>
          <p:cNvPr id="159" name="Text 157"/>
          <p:cNvSpPr/>
          <p:nvPr/>
        </p:nvSpPr>
        <p:spPr>
          <a:xfrm>
            <a:off x="3813048" y="4297680"/>
            <a:ext cx="1417320" cy="201168"/>
          </a:xfrm>
          <a:prstGeom prst="rect">
            <a:avLst/>
          </a:prstGeom>
          <a:noFill/>
          <a:ln/>
        </p:spPr>
        <p:txBody>
          <a:bodyPr wrap="square" rtlCol="0" anchor="ctr"/>
          <a:lstStyle/>
          <a:p>
            <a:pPr indent="0" marL="0">
              <a:buNone/>
            </a:pPr>
            <a:r>
              <a:rPr lang="en-US" sz="800" b="1" dirty="0">
                <a:solidFill>
                  <a:srgbClr val="1A5FA8"/>
                </a:solidFill>
                <a:latin typeface="Calibri" pitchFamily="34" charset="0"/>
                <a:ea typeface="Calibri" pitchFamily="34" charset="-122"/>
                <a:cs typeface="Calibri" pitchFamily="34" charset="-120"/>
              </a:rPr>
              <a:t>Marquage CE</a:t>
            </a:r>
            <a:endParaRPr lang="en-US" sz="800" dirty="0"/>
          </a:p>
        </p:txBody>
      </p:sp>
      <p:sp>
        <p:nvSpPr>
          <p:cNvPr id="160" name="Text 158"/>
          <p:cNvSpPr/>
          <p:nvPr/>
        </p:nvSpPr>
        <p:spPr>
          <a:xfrm>
            <a:off x="3813048" y="448056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Oui — fabriqué en Italie</a:t>
            </a:r>
            <a:endParaRPr lang="en-US" sz="780" dirty="0"/>
          </a:p>
        </p:txBody>
      </p:sp>
      <p:sp>
        <p:nvSpPr>
          <p:cNvPr id="161" name="Text 159"/>
          <p:cNvSpPr/>
          <p:nvPr/>
        </p:nvSpPr>
        <p:spPr>
          <a:xfrm>
            <a:off x="5294376" y="4297680"/>
            <a:ext cx="1417320" cy="201168"/>
          </a:xfrm>
          <a:prstGeom prst="rect">
            <a:avLst/>
          </a:prstGeom>
          <a:noFill/>
          <a:ln/>
        </p:spPr>
        <p:txBody>
          <a:bodyPr wrap="square" rtlCol="0" anchor="ctr"/>
          <a:lstStyle/>
          <a:p>
            <a:pPr indent="0" marL="0">
              <a:buNone/>
            </a:pPr>
            <a:r>
              <a:rPr lang="en-US" sz="800" b="1" dirty="0">
                <a:solidFill>
                  <a:srgbClr val="1A5FA8"/>
                </a:solidFill>
                <a:latin typeface="Calibri" pitchFamily="34" charset="0"/>
                <a:ea typeface="Calibri" pitchFamily="34" charset="-122"/>
                <a:cs typeface="Calibri" pitchFamily="34" charset="-120"/>
              </a:rPr>
              <a:t>GPL</a:t>
            </a:r>
            <a:endParaRPr lang="en-US" sz="800" dirty="0"/>
          </a:p>
        </p:txBody>
      </p:sp>
      <p:sp>
        <p:nvSpPr>
          <p:cNvPr id="162" name="Text 160"/>
          <p:cNvSpPr/>
          <p:nvPr/>
        </p:nvSpPr>
        <p:spPr>
          <a:xfrm>
            <a:off x="5294376" y="448056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Configurations GPL disponibles</a:t>
            </a:r>
            <a:endParaRPr lang="en-US" sz="780" dirty="0"/>
          </a:p>
        </p:txBody>
      </p:sp>
      <p:sp>
        <p:nvSpPr>
          <p:cNvPr id="163" name="Text 161"/>
          <p:cNvSpPr/>
          <p:nvPr/>
        </p:nvSpPr>
        <p:spPr>
          <a:xfrm>
            <a:off x="6775704" y="4297680"/>
            <a:ext cx="1417320" cy="201168"/>
          </a:xfrm>
          <a:prstGeom prst="rect">
            <a:avLst/>
          </a:prstGeom>
          <a:noFill/>
          <a:ln/>
        </p:spPr>
        <p:txBody>
          <a:bodyPr wrap="square" rtlCol="0" anchor="ctr"/>
          <a:lstStyle/>
          <a:p>
            <a:pPr indent="0" marL="0">
              <a:buNone/>
            </a:pPr>
            <a:r>
              <a:rPr lang="en-US" sz="800" b="1" dirty="0">
                <a:solidFill>
                  <a:srgbClr val="1A5FA8"/>
                </a:solidFill>
                <a:latin typeface="Calibri" pitchFamily="34" charset="0"/>
                <a:ea typeface="Calibri" pitchFamily="34" charset="-122"/>
                <a:cs typeface="Calibri" pitchFamily="34" charset="-120"/>
              </a:rPr>
              <a:t>SAV Afrique</a:t>
            </a:r>
            <a:endParaRPr lang="en-US" sz="800" dirty="0"/>
          </a:p>
        </p:txBody>
      </p:sp>
      <p:sp>
        <p:nvSpPr>
          <p:cNvPr id="164" name="Text 162"/>
          <p:cNvSpPr/>
          <p:nvPr/>
        </p:nvSpPr>
        <p:spPr>
          <a:xfrm>
            <a:off x="6775704" y="448056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Réseau de distribution méditerranéen &amp; Afrique du Nord reconnu</a:t>
            </a:r>
            <a:endParaRPr lang="en-US" sz="780" dirty="0"/>
          </a:p>
        </p:txBody>
      </p:sp>
      <p:sp>
        <p:nvSpPr>
          <p:cNvPr id="165" name="Shape 163"/>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43" name="Text 241"/>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COÛT TOTAL DE POSSESSION — ANALYSE SUR 5 ANS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L'économie du GPL redéfinit le compromis CAPEX / OPEX</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56032" y="932688"/>
          <a:ext cx="8631936" cy="914400"/>
        </p:xfrm>
        <a:graphic>
          <a:graphicData uri="http://schemas.openxmlformats.org/drawingml/2006/table">
            <a:tbl>
              <a:tblPr/>
              <a:tblGrid>
                <a:gridCol w="2377440"/>
                <a:gridCol w="1737360"/>
                <a:gridCol w="1737360"/>
                <a:gridCol w="2779776"/>
              </a:tblGrid>
              <a:tr h="301752">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Poste de coût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GVI</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Tubes de Fumée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Facteur clé</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Prix d'achat</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Plus élevé +20–35%</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Plus faible — référence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Avantage tubes fumée — CAPEX inférieur</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GPL — Coût démarrage quotidien</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Faible (démarrage 3–5 min)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Élevé (purge 30–60 min)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~55 min × démarrages × tarif GPL × 300 jours/an</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GPL — Efficacité d'exploitation</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90–95% efficacité thermique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82–88% efficacité thermique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7% d'écart × coût GPL × 2 500 Kg/H = économie annuelle importante</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Produits de traitement d'eau</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Moindre (purge minimale)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Plus élevé (pertes purge)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La purge gaspille eau traitée et énergie</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Main d'œuvre de maintenance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Moindre — moins de procédures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Plus élevé — purge, contrôles ballon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Le GVI a des procédures d'exploitation quotidiennes plus simples</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Pièces détachées (contexte Maroc)</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Plus élevé — importation requise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Meilleure disponibilité locale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Inspection réglementaire annuelle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6B7A8A"/>
                          </a:solidFill>
                          <a:latin typeface="Calibri" pitchFamily="34" charset="0"/>
                          <a:ea typeface="Calibri" pitchFamily="34" charset="-122"/>
                          <a:cs typeface="Calibri" pitchFamily="34" charset="-120"/>
                        </a:rPr>
                        <a:t>Obligatoire pour les deux</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6B7A8A"/>
                          </a:solidFill>
                          <a:latin typeface="Calibri" pitchFamily="34" charset="0"/>
                          <a:ea typeface="Calibri" pitchFamily="34" charset="-122"/>
                          <a:cs typeface="Calibri" pitchFamily="34" charset="-120"/>
                        </a:rPr>
                        <a:t>Obligatoire pour les deux</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Loi marocaine appareils sous pression — s'applique aux deux technologies</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01752">
                <a:tc>
                  <a:txBody>
                    <a:bodyPr/>
                    <a:lstStyle/>
                    <a:p>
                      <a:pPr indent="0" marL="0">
                        <a:buNone/>
                      </a:pPr>
                      <a:r>
                        <a:rPr lang="en-US" sz="950" b="1" dirty="0">
                          <a:solidFill>
                            <a:srgbClr val="D8C9A8"/>
                          </a:solidFill>
                          <a:latin typeface="Calibri" pitchFamily="34" charset="0"/>
                          <a:ea typeface="Calibri" pitchFamily="34" charset="-122"/>
                          <a:cs typeface="Calibri" pitchFamily="34" charset="-120"/>
                        </a:rPr>
                        <a:t>TCO 5 ans en GPL</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PLUS FAIBLE globalement</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PLUS ÉLEVÉ globalement</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La prime efficacité GVI est amortie en 2,5–3,5 ans sur GPL</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89" name="Shape 86"/>
          <p:cNvSpPr/>
          <p:nvPr/>
        </p:nvSpPr>
        <p:spPr>
          <a:xfrm>
            <a:off x="256032" y="4407408"/>
            <a:ext cx="8631936" cy="475488"/>
          </a:xfrm>
          <a:prstGeom prst="rect">
            <a:avLst/>
          </a:prstGeom>
          <a:solidFill>
            <a:srgbClr val="141418"/>
          </a:solidFill>
          <a:ln w="12700">
            <a:solidFill>
              <a:srgbClr val="1B9A8A"/>
            </a:solidFill>
            <a:prstDash val="solid"/>
          </a:ln>
        </p:spPr>
      </p:sp>
      <p:sp>
        <p:nvSpPr>
          <p:cNvPr id="90" name="Shape 87"/>
          <p:cNvSpPr/>
          <p:nvPr/>
        </p:nvSpPr>
        <p:spPr>
          <a:xfrm>
            <a:off x="256032" y="4407408"/>
            <a:ext cx="54864" cy="475488"/>
          </a:xfrm>
          <a:prstGeom prst="rect">
            <a:avLst/>
          </a:prstGeom>
          <a:solidFill>
            <a:srgbClr val="1B9A8A"/>
          </a:solidFill>
          <a:ln/>
        </p:spPr>
      </p:sp>
      <p:sp>
        <p:nvSpPr>
          <p:cNvPr id="91" name="Text 88"/>
          <p:cNvSpPr/>
          <p:nvPr/>
        </p:nvSpPr>
        <p:spPr>
          <a:xfrm>
            <a:off x="402336" y="4443984"/>
            <a:ext cx="8321040" cy="402336"/>
          </a:xfrm>
          <a:prstGeom prst="rect">
            <a:avLst/>
          </a:prstGeom>
          <a:noFill/>
          <a:ln/>
        </p:spPr>
        <p:txBody>
          <a:bodyPr wrap="square" rtlCol="0" anchor="ctr"/>
          <a:lstStyle/>
          <a:p>
            <a:pPr indent="0" marL="0">
              <a:buNone/>
            </a:pPr>
            <a:r>
              <a:rPr lang="en-US" sz="1050" b="1" dirty="0">
                <a:solidFill>
                  <a:srgbClr val="1B9A8A"/>
                </a:solidFill>
                <a:latin typeface="Calibri" pitchFamily="34" charset="0"/>
                <a:ea typeface="Calibri" pitchFamily="34" charset="-122"/>
                <a:cs typeface="Calibri" pitchFamily="34" charset="-120"/>
              </a:rPr>
              <a:t>Logique de retour sur investissement GPL : </a:t>
            </a:r>
            <a:pPr indent="0" marL="0">
              <a:buNone/>
            </a:pPr>
            <a:r>
              <a:rPr lang="en-US" sz="950" dirty="0">
                <a:solidFill>
                  <a:srgbClr val="EDE0C8"/>
                </a:solidFill>
                <a:latin typeface="Calibri" pitchFamily="34" charset="0"/>
                <a:ea typeface="Calibri" pitchFamily="34" charset="-122"/>
                <a:cs typeface="Calibri" pitchFamily="34" charset="-120"/>
              </a:rPr>
              <a:t>Avec 7% d'efficacité thermique supplémentaire et 55 minutes de démarrage en moins par jour, l'économie OPEX du GVI en GPL amortit la prime CAPEX en 2,5–3,5 ans selon le prix unitaire GPL et les heures annuelles d'exploitation. Cette analyse doit être calculée avec le prix GPL confirmé de votre fournisseur avant la sélection finale.</a:t>
            </a:r>
            <a:endParaRPr lang="en-US" sz="1050" dirty="0"/>
          </a:p>
        </p:txBody>
      </p:sp>
      <p:sp>
        <p:nvSpPr>
          <p:cNvPr id="92" name="Shape 8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3" name="Shape 9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70" name="Text 16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CONFIGURATION RECOMMANDÉE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Recommandation technique pour Pet Factory Maroc</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658368"/>
          </a:xfrm>
          <a:prstGeom prst="rect">
            <a:avLst/>
          </a:prstGeom>
          <a:solidFill>
            <a:srgbClr val="1B9A8A"/>
          </a:solidFill>
          <a:ln/>
          <a:effectLst>
            <a:outerShdw sx="100000" sy="100000" kx="0" ky="0" algn="bl" rotWithShape="0" blurRad="152400" dist="50800" dir="8100000">
              <a:srgbClr val="000000">
                <a:alpha val="45000"/>
              </a:srgbClr>
            </a:outerShdw>
          </a:effectLst>
        </p:spPr>
      </p:sp>
      <p:sp>
        <p:nvSpPr>
          <p:cNvPr id="89" name="Shape 87"/>
          <p:cNvSpPr/>
          <p:nvPr/>
        </p:nvSpPr>
        <p:spPr>
          <a:xfrm rot="2700000">
            <a:off x="10973" y="932688"/>
            <a:ext cx="77724" cy="77724"/>
          </a:xfrm>
          <a:prstGeom prst="rect">
            <a:avLst/>
          </a:prstGeom>
          <a:solidFill>
            <a:srgbClr val="D4951A">
              <a:alpha val="30000"/>
            </a:srgbClr>
          </a:solidFill>
          <a:ln w="12700">
            <a:solidFill>
              <a:srgbClr val="D4951A"/>
            </a:solidFill>
            <a:prstDash val="solid"/>
          </a:ln>
        </p:spPr>
      </p:sp>
      <p:sp>
        <p:nvSpPr>
          <p:cNvPr id="90" name="Shape 88"/>
          <p:cNvSpPr/>
          <p:nvPr/>
        </p:nvSpPr>
        <p:spPr>
          <a:xfrm rot="2700000">
            <a:off x="128016" y="932688"/>
            <a:ext cx="77724" cy="77724"/>
          </a:xfrm>
          <a:prstGeom prst="rect">
            <a:avLst/>
          </a:prstGeom>
          <a:solidFill>
            <a:srgbClr val="D4951A">
              <a:alpha val="30000"/>
            </a:srgbClr>
          </a:solidFill>
          <a:ln w="12700">
            <a:solidFill>
              <a:srgbClr val="D4951A"/>
            </a:solidFill>
            <a:prstDash val="solid"/>
          </a:ln>
        </p:spPr>
      </p:sp>
      <p:sp>
        <p:nvSpPr>
          <p:cNvPr id="91" name="Shape 89"/>
          <p:cNvSpPr/>
          <p:nvPr/>
        </p:nvSpPr>
        <p:spPr>
          <a:xfrm rot="2700000">
            <a:off x="245059" y="932688"/>
            <a:ext cx="77724" cy="77724"/>
          </a:xfrm>
          <a:prstGeom prst="rect">
            <a:avLst/>
          </a:prstGeom>
          <a:solidFill>
            <a:srgbClr val="D4951A">
              <a:alpha val="30000"/>
            </a:srgbClr>
          </a:solidFill>
          <a:ln w="12700">
            <a:solidFill>
              <a:srgbClr val="D4951A"/>
            </a:solidFill>
            <a:prstDash val="solid"/>
          </a:ln>
        </p:spPr>
      </p:sp>
      <p:sp>
        <p:nvSpPr>
          <p:cNvPr id="92" name="Shape 90"/>
          <p:cNvSpPr/>
          <p:nvPr/>
        </p:nvSpPr>
        <p:spPr>
          <a:xfrm rot="2700000">
            <a:off x="362102" y="932688"/>
            <a:ext cx="77724" cy="77724"/>
          </a:xfrm>
          <a:prstGeom prst="rect">
            <a:avLst/>
          </a:prstGeom>
          <a:solidFill>
            <a:srgbClr val="D4951A">
              <a:alpha val="30000"/>
            </a:srgbClr>
          </a:solidFill>
          <a:ln w="12700">
            <a:solidFill>
              <a:srgbClr val="D4951A"/>
            </a:solidFill>
            <a:prstDash val="solid"/>
          </a:ln>
        </p:spPr>
      </p:sp>
      <p:sp>
        <p:nvSpPr>
          <p:cNvPr id="93" name="Shape 91"/>
          <p:cNvSpPr/>
          <p:nvPr/>
        </p:nvSpPr>
        <p:spPr>
          <a:xfrm rot="2700000">
            <a:off x="479146" y="932688"/>
            <a:ext cx="77724" cy="77724"/>
          </a:xfrm>
          <a:prstGeom prst="rect">
            <a:avLst/>
          </a:prstGeom>
          <a:solidFill>
            <a:srgbClr val="D4951A">
              <a:alpha val="30000"/>
            </a:srgbClr>
          </a:solidFill>
          <a:ln w="12700">
            <a:solidFill>
              <a:srgbClr val="D4951A"/>
            </a:solidFill>
            <a:prstDash val="solid"/>
          </a:ln>
        </p:spPr>
      </p:sp>
      <p:sp>
        <p:nvSpPr>
          <p:cNvPr id="94" name="Shape 92"/>
          <p:cNvSpPr/>
          <p:nvPr/>
        </p:nvSpPr>
        <p:spPr>
          <a:xfrm rot="2700000">
            <a:off x="596189" y="932688"/>
            <a:ext cx="77724" cy="77724"/>
          </a:xfrm>
          <a:prstGeom prst="rect">
            <a:avLst/>
          </a:prstGeom>
          <a:solidFill>
            <a:srgbClr val="D4951A">
              <a:alpha val="30000"/>
            </a:srgbClr>
          </a:solidFill>
          <a:ln w="12700">
            <a:solidFill>
              <a:srgbClr val="D4951A"/>
            </a:solidFill>
            <a:prstDash val="solid"/>
          </a:ln>
        </p:spPr>
      </p:sp>
      <p:sp>
        <p:nvSpPr>
          <p:cNvPr id="95" name="Shape 93"/>
          <p:cNvSpPr/>
          <p:nvPr/>
        </p:nvSpPr>
        <p:spPr>
          <a:xfrm rot="2700000">
            <a:off x="713232" y="932688"/>
            <a:ext cx="77724" cy="77724"/>
          </a:xfrm>
          <a:prstGeom prst="rect">
            <a:avLst/>
          </a:prstGeom>
          <a:solidFill>
            <a:srgbClr val="D4951A">
              <a:alpha val="30000"/>
            </a:srgbClr>
          </a:solidFill>
          <a:ln w="12700">
            <a:solidFill>
              <a:srgbClr val="D4951A"/>
            </a:solidFill>
            <a:prstDash val="solid"/>
          </a:ln>
        </p:spPr>
      </p:sp>
      <p:sp>
        <p:nvSpPr>
          <p:cNvPr id="96" name="Shape 94"/>
          <p:cNvSpPr/>
          <p:nvPr/>
        </p:nvSpPr>
        <p:spPr>
          <a:xfrm rot="2700000">
            <a:off x="830275" y="932688"/>
            <a:ext cx="77724" cy="77724"/>
          </a:xfrm>
          <a:prstGeom prst="rect">
            <a:avLst/>
          </a:prstGeom>
          <a:solidFill>
            <a:srgbClr val="D4951A">
              <a:alpha val="30000"/>
            </a:srgbClr>
          </a:solidFill>
          <a:ln w="12700">
            <a:solidFill>
              <a:srgbClr val="D4951A"/>
            </a:solidFill>
            <a:prstDash val="solid"/>
          </a:ln>
        </p:spPr>
      </p:sp>
      <p:sp>
        <p:nvSpPr>
          <p:cNvPr id="97" name="Shape 95"/>
          <p:cNvSpPr/>
          <p:nvPr/>
        </p:nvSpPr>
        <p:spPr>
          <a:xfrm rot="2700000">
            <a:off x="947318" y="932688"/>
            <a:ext cx="77724" cy="77724"/>
          </a:xfrm>
          <a:prstGeom prst="rect">
            <a:avLst/>
          </a:prstGeom>
          <a:solidFill>
            <a:srgbClr val="D4951A">
              <a:alpha val="30000"/>
            </a:srgbClr>
          </a:solidFill>
          <a:ln w="12700">
            <a:solidFill>
              <a:srgbClr val="D4951A"/>
            </a:solidFill>
            <a:prstDash val="solid"/>
          </a:ln>
        </p:spPr>
      </p:sp>
      <p:sp>
        <p:nvSpPr>
          <p:cNvPr id="98" name="Shape 96"/>
          <p:cNvSpPr/>
          <p:nvPr/>
        </p:nvSpPr>
        <p:spPr>
          <a:xfrm rot="2700000">
            <a:off x="1064362" y="932688"/>
            <a:ext cx="77724" cy="77724"/>
          </a:xfrm>
          <a:prstGeom prst="rect">
            <a:avLst/>
          </a:prstGeom>
          <a:solidFill>
            <a:srgbClr val="D4951A">
              <a:alpha val="30000"/>
            </a:srgbClr>
          </a:solidFill>
          <a:ln w="12700">
            <a:solidFill>
              <a:srgbClr val="D4951A"/>
            </a:solidFill>
            <a:prstDash val="solid"/>
          </a:ln>
        </p:spPr>
      </p:sp>
      <p:sp>
        <p:nvSpPr>
          <p:cNvPr id="99" name="Shape 97"/>
          <p:cNvSpPr/>
          <p:nvPr/>
        </p:nvSpPr>
        <p:spPr>
          <a:xfrm rot="2700000">
            <a:off x="1181405" y="932688"/>
            <a:ext cx="77724" cy="77724"/>
          </a:xfrm>
          <a:prstGeom prst="rect">
            <a:avLst/>
          </a:prstGeom>
          <a:solidFill>
            <a:srgbClr val="D4951A">
              <a:alpha val="30000"/>
            </a:srgbClr>
          </a:solidFill>
          <a:ln w="12700">
            <a:solidFill>
              <a:srgbClr val="D4951A"/>
            </a:solidFill>
            <a:prstDash val="solid"/>
          </a:ln>
        </p:spPr>
      </p:sp>
      <p:sp>
        <p:nvSpPr>
          <p:cNvPr id="100" name="Shape 98"/>
          <p:cNvSpPr/>
          <p:nvPr/>
        </p:nvSpPr>
        <p:spPr>
          <a:xfrm rot="2700000">
            <a:off x="1298448" y="932688"/>
            <a:ext cx="77724" cy="77724"/>
          </a:xfrm>
          <a:prstGeom prst="rect">
            <a:avLst/>
          </a:prstGeom>
          <a:solidFill>
            <a:srgbClr val="D4951A">
              <a:alpha val="30000"/>
            </a:srgbClr>
          </a:solidFill>
          <a:ln w="12700">
            <a:solidFill>
              <a:srgbClr val="D4951A"/>
            </a:solidFill>
            <a:prstDash val="solid"/>
          </a:ln>
        </p:spPr>
      </p:sp>
      <p:sp>
        <p:nvSpPr>
          <p:cNvPr id="101" name="Shape 99"/>
          <p:cNvSpPr/>
          <p:nvPr/>
        </p:nvSpPr>
        <p:spPr>
          <a:xfrm rot="2700000">
            <a:off x="1415491" y="932688"/>
            <a:ext cx="77724" cy="77724"/>
          </a:xfrm>
          <a:prstGeom prst="rect">
            <a:avLst/>
          </a:prstGeom>
          <a:solidFill>
            <a:srgbClr val="D4951A">
              <a:alpha val="30000"/>
            </a:srgbClr>
          </a:solidFill>
          <a:ln w="12700">
            <a:solidFill>
              <a:srgbClr val="D4951A"/>
            </a:solidFill>
            <a:prstDash val="solid"/>
          </a:ln>
        </p:spPr>
      </p:sp>
      <p:sp>
        <p:nvSpPr>
          <p:cNvPr id="102" name="Shape 100"/>
          <p:cNvSpPr/>
          <p:nvPr/>
        </p:nvSpPr>
        <p:spPr>
          <a:xfrm rot="2700000">
            <a:off x="1532534" y="932688"/>
            <a:ext cx="77724" cy="77724"/>
          </a:xfrm>
          <a:prstGeom prst="rect">
            <a:avLst/>
          </a:prstGeom>
          <a:solidFill>
            <a:srgbClr val="D4951A">
              <a:alpha val="30000"/>
            </a:srgbClr>
          </a:solidFill>
          <a:ln w="12700">
            <a:solidFill>
              <a:srgbClr val="D4951A"/>
            </a:solidFill>
            <a:prstDash val="solid"/>
          </a:ln>
        </p:spPr>
      </p:sp>
      <p:sp>
        <p:nvSpPr>
          <p:cNvPr id="103" name="Shape 101"/>
          <p:cNvSpPr/>
          <p:nvPr/>
        </p:nvSpPr>
        <p:spPr>
          <a:xfrm rot="2700000">
            <a:off x="1649578" y="932688"/>
            <a:ext cx="77724" cy="77724"/>
          </a:xfrm>
          <a:prstGeom prst="rect">
            <a:avLst/>
          </a:prstGeom>
          <a:solidFill>
            <a:srgbClr val="D4951A">
              <a:alpha val="30000"/>
            </a:srgbClr>
          </a:solidFill>
          <a:ln w="12700">
            <a:solidFill>
              <a:srgbClr val="D4951A"/>
            </a:solidFill>
            <a:prstDash val="solid"/>
          </a:ln>
        </p:spPr>
      </p:sp>
      <p:sp>
        <p:nvSpPr>
          <p:cNvPr id="104" name="Shape 102"/>
          <p:cNvSpPr/>
          <p:nvPr/>
        </p:nvSpPr>
        <p:spPr>
          <a:xfrm rot="2700000">
            <a:off x="1766621" y="932688"/>
            <a:ext cx="77724" cy="77724"/>
          </a:xfrm>
          <a:prstGeom prst="rect">
            <a:avLst/>
          </a:prstGeom>
          <a:solidFill>
            <a:srgbClr val="D4951A">
              <a:alpha val="30000"/>
            </a:srgbClr>
          </a:solidFill>
          <a:ln w="12700">
            <a:solidFill>
              <a:srgbClr val="D4951A"/>
            </a:solidFill>
            <a:prstDash val="solid"/>
          </a:ln>
        </p:spPr>
      </p:sp>
      <p:sp>
        <p:nvSpPr>
          <p:cNvPr id="105" name="Shape 103"/>
          <p:cNvSpPr/>
          <p:nvPr/>
        </p:nvSpPr>
        <p:spPr>
          <a:xfrm rot="2700000">
            <a:off x="1883664" y="932688"/>
            <a:ext cx="77724" cy="77724"/>
          </a:xfrm>
          <a:prstGeom prst="rect">
            <a:avLst/>
          </a:prstGeom>
          <a:solidFill>
            <a:srgbClr val="D4951A">
              <a:alpha val="30000"/>
            </a:srgbClr>
          </a:solidFill>
          <a:ln w="12700">
            <a:solidFill>
              <a:srgbClr val="D4951A"/>
            </a:solidFill>
            <a:prstDash val="solid"/>
          </a:ln>
        </p:spPr>
      </p:sp>
      <p:sp>
        <p:nvSpPr>
          <p:cNvPr id="106" name="Shape 104"/>
          <p:cNvSpPr/>
          <p:nvPr/>
        </p:nvSpPr>
        <p:spPr>
          <a:xfrm rot="2700000">
            <a:off x="2000707" y="932688"/>
            <a:ext cx="77724" cy="77724"/>
          </a:xfrm>
          <a:prstGeom prst="rect">
            <a:avLst/>
          </a:prstGeom>
          <a:solidFill>
            <a:srgbClr val="D4951A">
              <a:alpha val="30000"/>
            </a:srgbClr>
          </a:solidFill>
          <a:ln w="12700">
            <a:solidFill>
              <a:srgbClr val="D4951A"/>
            </a:solidFill>
            <a:prstDash val="solid"/>
          </a:ln>
        </p:spPr>
      </p:sp>
      <p:sp>
        <p:nvSpPr>
          <p:cNvPr id="107" name="Shape 105"/>
          <p:cNvSpPr/>
          <p:nvPr/>
        </p:nvSpPr>
        <p:spPr>
          <a:xfrm rot="2700000">
            <a:off x="2117750" y="932688"/>
            <a:ext cx="77724" cy="77724"/>
          </a:xfrm>
          <a:prstGeom prst="rect">
            <a:avLst/>
          </a:prstGeom>
          <a:solidFill>
            <a:srgbClr val="D4951A">
              <a:alpha val="30000"/>
            </a:srgbClr>
          </a:solidFill>
          <a:ln w="12700">
            <a:solidFill>
              <a:srgbClr val="D4951A"/>
            </a:solidFill>
            <a:prstDash val="solid"/>
          </a:ln>
        </p:spPr>
      </p:sp>
      <p:sp>
        <p:nvSpPr>
          <p:cNvPr id="108" name="Shape 106"/>
          <p:cNvSpPr/>
          <p:nvPr/>
        </p:nvSpPr>
        <p:spPr>
          <a:xfrm rot="2700000">
            <a:off x="2234794" y="932688"/>
            <a:ext cx="77724" cy="77724"/>
          </a:xfrm>
          <a:prstGeom prst="rect">
            <a:avLst/>
          </a:prstGeom>
          <a:solidFill>
            <a:srgbClr val="D4951A">
              <a:alpha val="30000"/>
            </a:srgbClr>
          </a:solidFill>
          <a:ln w="12700">
            <a:solidFill>
              <a:srgbClr val="D4951A"/>
            </a:solidFill>
            <a:prstDash val="solid"/>
          </a:ln>
        </p:spPr>
      </p:sp>
      <p:sp>
        <p:nvSpPr>
          <p:cNvPr id="109" name="Shape 107"/>
          <p:cNvSpPr/>
          <p:nvPr/>
        </p:nvSpPr>
        <p:spPr>
          <a:xfrm rot="2700000">
            <a:off x="2351837" y="932688"/>
            <a:ext cx="77724" cy="77724"/>
          </a:xfrm>
          <a:prstGeom prst="rect">
            <a:avLst/>
          </a:prstGeom>
          <a:solidFill>
            <a:srgbClr val="D4951A">
              <a:alpha val="30000"/>
            </a:srgbClr>
          </a:solidFill>
          <a:ln w="12700">
            <a:solidFill>
              <a:srgbClr val="D4951A"/>
            </a:solidFill>
            <a:prstDash val="solid"/>
          </a:ln>
        </p:spPr>
      </p:sp>
      <p:sp>
        <p:nvSpPr>
          <p:cNvPr id="110" name="Shape 108"/>
          <p:cNvSpPr/>
          <p:nvPr/>
        </p:nvSpPr>
        <p:spPr>
          <a:xfrm rot="2700000">
            <a:off x="2468880" y="932688"/>
            <a:ext cx="77724" cy="77724"/>
          </a:xfrm>
          <a:prstGeom prst="rect">
            <a:avLst/>
          </a:prstGeom>
          <a:solidFill>
            <a:srgbClr val="D4951A">
              <a:alpha val="30000"/>
            </a:srgbClr>
          </a:solidFill>
          <a:ln w="12700">
            <a:solidFill>
              <a:srgbClr val="D4951A"/>
            </a:solidFill>
            <a:prstDash val="solid"/>
          </a:ln>
        </p:spPr>
      </p:sp>
      <p:sp>
        <p:nvSpPr>
          <p:cNvPr id="111" name="Shape 109"/>
          <p:cNvSpPr/>
          <p:nvPr/>
        </p:nvSpPr>
        <p:spPr>
          <a:xfrm rot="2700000">
            <a:off x="2585923" y="932688"/>
            <a:ext cx="77724" cy="77724"/>
          </a:xfrm>
          <a:prstGeom prst="rect">
            <a:avLst/>
          </a:prstGeom>
          <a:solidFill>
            <a:srgbClr val="D4951A">
              <a:alpha val="30000"/>
            </a:srgbClr>
          </a:solidFill>
          <a:ln w="12700">
            <a:solidFill>
              <a:srgbClr val="D4951A"/>
            </a:solidFill>
            <a:prstDash val="solid"/>
          </a:ln>
        </p:spPr>
      </p:sp>
      <p:sp>
        <p:nvSpPr>
          <p:cNvPr id="112" name="Shape 110"/>
          <p:cNvSpPr/>
          <p:nvPr/>
        </p:nvSpPr>
        <p:spPr>
          <a:xfrm rot="2700000">
            <a:off x="2702966" y="932688"/>
            <a:ext cx="77724" cy="77724"/>
          </a:xfrm>
          <a:prstGeom prst="rect">
            <a:avLst/>
          </a:prstGeom>
          <a:solidFill>
            <a:srgbClr val="D4951A">
              <a:alpha val="30000"/>
            </a:srgbClr>
          </a:solidFill>
          <a:ln w="12700">
            <a:solidFill>
              <a:srgbClr val="D4951A"/>
            </a:solidFill>
            <a:prstDash val="solid"/>
          </a:ln>
        </p:spPr>
      </p:sp>
      <p:sp>
        <p:nvSpPr>
          <p:cNvPr id="113" name="Shape 111"/>
          <p:cNvSpPr/>
          <p:nvPr/>
        </p:nvSpPr>
        <p:spPr>
          <a:xfrm rot="2700000">
            <a:off x="2820010" y="932688"/>
            <a:ext cx="77724" cy="77724"/>
          </a:xfrm>
          <a:prstGeom prst="rect">
            <a:avLst/>
          </a:prstGeom>
          <a:solidFill>
            <a:srgbClr val="D4951A">
              <a:alpha val="30000"/>
            </a:srgbClr>
          </a:solidFill>
          <a:ln w="12700">
            <a:solidFill>
              <a:srgbClr val="D4951A"/>
            </a:solidFill>
            <a:prstDash val="solid"/>
          </a:ln>
        </p:spPr>
      </p:sp>
      <p:sp>
        <p:nvSpPr>
          <p:cNvPr id="114" name="Shape 112"/>
          <p:cNvSpPr/>
          <p:nvPr/>
        </p:nvSpPr>
        <p:spPr>
          <a:xfrm rot="2700000">
            <a:off x="2937053" y="932688"/>
            <a:ext cx="77724" cy="77724"/>
          </a:xfrm>
          <a:prstGeom prst="rect">
            <a:avLst/>
          </a:prstGeom>
          <a:solidFill>
            <a:srgbClr val="D4951A">
              <a:alpha val="30000"/>
            </a:srgbClr>
          </a:solidFill>
          <a:ln w="12700">
            <a:solidFill>
              <a:srgbClr val="D4951A"/>
            </a:solidFill>
            <a:prstDash val="solid"/>
          </a:ln>
        </p:spPr>
      </p:sp>
      <p:sp>
        <p:nvSpPr>
          <p:cNvPr id="115" name="Shape 113"/>
          <p:cNvSpPr/>
          <p:nvPr/>
        </p:nvSpPr>
        <p:spPr>
          <a:xfrm rot="2700000">
            <a:off x="3054096" y="932688"/>
            <a:ext cx="77724" cy="77724"/>
          </a:xfrm>
          <a:prstGeom prst="rect">
            <a:avLst/>
          </a:prstGeom>
          <a:solidFill>
            <a:srgbClr val="D4951A">
              <a:alpha val="30000"/>
            </a:srgbClr>
          </a:solidFill>
          <a:ln w="12700">
            <a:solidFill>
              <a:srgbClr val="D4951A"/>
            </a:solidFill>
            <a:prstDash val="solid"/>
          </a:ln>
        </p:spPr>
      </p:sp>
      <p:sp>
        <p:nvSpPr>
          <p:cNvPr id="116" name="Shape 114"/>
          <p:cNvSpPr/>
          <p:nvPr/>
        </p:nvSpPr>
        <p:spPr>
          <a:xfrm rot="2700000">
            <a:off x="3171139" y="932688"/>
            <a:ext cx="77724" cy="77724"/>
          </a:xfrm>
          <a:prstGeom prst="rect">
            <a:avLst/>
          </a:prstGeom>
          <a:solidFill>
            <a:srgbClr val="D4951A">
              <a:alpha val="30000"/>
            </a:srgbClr>
          </a:solidFill>
          <a:ln w="12700">
            <a:solidFill>
              <a:srgbClr val="D4951A"/>
            </a:solidFill>
            <a:prstDash val="solid"/>
          </a:ln>
        </p:spPr>
      </p:sp>
      <p:sp>
        <p:nvSpPr>
          <p:cNvPr id="117" name="Shape 115"/>
          <p:cNvSpPr/>
          <p:nvPr/>
        </p:nvSpPr>
        <p:spPr>
          <a:xfrm rot="2700000">
            <a:off x="3288182" y="932688"/>
            <a:ext cx="77724" cy="77724"/>
          </a:xfrm>
          <a:prstGeom prst="rect">
            <a:avLst/>
          </a:prstGeom>
          <a:solidFill>
            <a:srgbClr val="D4951A">
              <a:alpha val="30000"/>
            </a:srgbClr>
          </a:solidFill>
          <a:ln w="12700">
            <a:solidFill>
              <a:srgbClr val="D4951A"/>
            </a:solidFill>
            <a:prstDash val="solid"/>
          </a:ln>
        </p:spPr>
      </p:sp>
      <p:sp>
        <p:nvSpPr>
          <p:cNvPr id="118" name="Shape 116"/>
          <p:cNvSpPr/>
          <p:nvPr/>
        </p:nvSpPr>
        <p:spPr>
          <a:xfrm rot="2700000">
            <a:off x="3405226" y="932688"/>
            <a:ext cx="77724" cy="77724"/>
          </a:xfrm>
          <a:prstGeom prst="rect">
            <a:avLst/>
          </a:prstGeom>
          <a:solidFill>
            <a:srgbClr val="D4951A">
              <a:alpha val="30000"/>
            </a:srgbClr>
          </a:solidFill>
          <a:ln w="12700">
            <a:solidFill>
              <a:srgbClr val="D4951A"/>
            </a:solidFill>
            <a:prstDash val="solid"/>
          </a:ln>
        </p:spPr>
      </p:sp>
      <p:sp>
        <p:nvSpPr>
          <p:cNvPr id="119" name="Shape 117"/>
          <p:cNvSpPr/>
          <p:nvPr/>
        </p:nvSpPr>
        <p:spPr>
          <a:xfrm rot="2700000">
            <a:off x="3522269" y="932688"/>
            <a:ext cx="77724" cy="77724"/>
          </a:xfrm>
          <a:prstGeom prst="rect">
            <a:avLst/>
          </a:prstGeom>
          <a:solidFill>
            <a:srgbClr val="D4951A">
              <a:alpha val="30000"/>
            </a:srgbClr>
          </a:solidFill>
          <a:ln w="12700">
            <a:solidFill>
              <a:srgbClr val="D4951A"/>
            </a:solidFill>
            <a:prstDash val="solid"/>
          </a:ln>
        </p:spPr>
      </p:sp>
      <p:sp>
        <p:nvSpPr>
          <p:cNvPr id="120" name="Shape 118"/>
          <p:cNvSpPr/>
          <p:nvPr/>
        </p:nvSpPr>
        <p:spPr>
          <a:xfrm rot="2700000">
            <a:off x="3639312" y="932688"/>
            <a:ext cx="77724" cy="77724"/>
          </a:xfrm>
          <a:prstGeom prst="rect">
            <a:avLst/>
          </a:prstGeom>
          <a:solidFill>
            <a:srgbClr val="D4951A">
              <a:alpha val="30000"/>
            </a:srgbClr>
          </a:solidFill>
          <a:ln w="12700">
            <a:solidFill>
              <a:srgbClr val="D4951A"/>
            </a:solidFill>
            <a:prstDash val="solid"/>
          </a:ln>
        </p:spPr>
      </p:sp>
      <p:sp>
        <p:nvSpPr>
          <p:cNvPr id="121" name="Shape 119"/>
          <p:cNvSpPr/>
          <p:nvPr/>
        </p:nvSpPr>
        <p:spPr>
          <a:xfrm rot="2700000">
            <a:off x="3756355" y="932688"/>
            <a:ext cx="77724" cy="77724"/>
          </a:xfrm>
          <a:prstGeom prst="rect">
            <a:avLst/>
          </a:prstGeom>
          <a:solidFill>
            <a:srgbClr val="D4951A">
              <a:alpha val="30000"/>
            </a:srgbClr>
          </a:solidFill>
          <a:ln w="12700">
            <a:solidFill>
              <a:srgbClr val="D4951A"/>
            </a:solidFill>
            <a:prstDash val="solid"/>
          </a:ln>
        </p:spPr>
      </p:sp>
      <p:sp>
        <p:nvSpPr>
          <p:cNvPr id="122" name="Shape 120"/>
          <p:cNvSpPr/>
          <p:nvPr/>
        </p:nvSpPr>
        <p:spPr>
          <a:xfrm rot="2700000">
            <a:off x="3873398" y="932688"/>
            <a:ext cx="77724" cy="77724"/>
          </a:xfrm>
          <a:prstGeom prst="rect">
            <a:avLst/>
          </a:prstGeom>
          <a:solidFill>
            <a:srgbClr val="D4951A">
              <a:alpha val="30000"/>
            </a:srgbClr>
          </a:solidFill>
          <a:ln w="12700">
            <a:solidFill>
              <a:srgbClr val="D4951A"/>
            </a:solidFill>
            <a:prstDash val="solid"/>
          </a:ln>
        </p:spPr>
      </p:sp>
      <p:sp>
        <p:nvSpPr>
          <p:cNvPr id="123" name="Shape 121"/>
          <p:cNvSpPr/>
          <p:nvPr/>
        </p:nvSpPr>
        <p:spPr>
          <a:xfrm rot="2700000">
            <a:off x="3990442" y="932688"/>
            <a:ext cx="77724" cy="77724"/>
          </a:xfrm>
          <a:prstGeom prst="rect">
            <a:avLst/>
          </a:prstGeom>
          <a:solidFill>
            <a:srgbClr val="D4951A">
              <a:alpha val="30000"/>
            </a:srgbClr>
          </a:solidFill>
          <a:ln w="12700">
            <a:solidFill>
              <a:srgbClr val="D4951A"/>
            </a:solidFill>
            <a:prstDash val="solid"/>
          </a:ln>
        </p:spPr>
      </p:sp>
      <p:sp>
        <p:nvSpPr>
          <p:cNvPr id="124" name="Shape 122"/>
          <p:cNvSpPr/>
          <p:nvPr/>
        </p:nvSpPr>
        <p:spPr>
          <a:xfrm rot="2700000">
            <a:off x="4107485" y="932688"/>
            <a:ext cx="77724" cy="77724"/>
          </a:xfrm>
          <a:prstGeom prst="rect">
            <a:avLst/>
          </a:prstGeom>
          <a:solidFill>
            <a:srgbClr val="D4951A">
              <a:alpha val="30000"/>
            </a:srgbClr>
          </a:solidFill>
          <a:ln w="12700">
            <a:solidFill>
              <a:srgbClr val="D4951A"/>
            </a:solidFill>
            <a:prstDash val="solid"/>
          </a:ln>
        </p:spPr>
      </p:sp>
      <p:sp>
        <p:nvSpPr>
          <p:cNvPr id="125" name="Shape 123"/>
          <p:cNvSpPr/>
          <p:nvPr/>
        </p:nvSpPr>
        <p:spPr>
          <a:xfrm rot="2700000">
            <a:off x="4224528" y="932688"/>
            <a:ext cx="77724" cy="77724"/>
          </a:xfrm>
          <a:prstGeom prst="rect">
            <a:avLst/>
          </a:prstGeom>
          <a:solidFill>
            <a:srgbClr val="D4951A">
              <a:alpha val="30000"/>
            </a:srgbClr>
          </a:solidFill>
          <a:ln w="12700">
            <a:solidFill>
              <a:srgbClr val="D4951A"/>
            </a:solidFill>
            <a:prstDash val="solid"/>
          </a:ln>
        </p:spPr>
      </p:sp>
      <p:sp>
        <p:nvSpPr>
          <p:cNvPr id="126" name="Shape 124"/>
          <p:cNvSpPr/>
          <p:nvPr/>
        </p:nvSpPr>
        <p:spPr>
          <a:xfrm rot="2700000">
            <a:off x="4341571" y="932688"/>
            <a:ext cx="77724" cy="77724"/>
          </a:xfrm>
          <a:prstGeom prst="rect">
            <a:avLst/>
          </a:prstGeom>
          <a:solidFill>
            <a:srgbClr val="D4951A">
              <a:alpha val="30000"/>
            </a:srgbClr>
          </a:solidFill>
          <a:ln w="12700">
            <a:solidFill>
              <a:srgbClr val="D4951A"/>
            </a:solidFill>
            <a:prstDash val="solid"/>
          </a:ln>
        </p:spPr>
      </p:sp>
      <p:sp>
        <p:nvSpPr>
          <p:cNvPr id="127" name="Shape 125"/>
          <p:cNvSpPr/>
          <p:nvPr/>
        </p:nvSpPr>
        <p:spPr>
          <a:xfrm rot="2700000">
            <a:off x="4458614" y="932688"/>
            <a:ext cx="77724" cy="77724"/>
          </a:xfrm>
          <a:prstGeom prst="rect">
            <a:avLst/>
          </a:prstGeom>
          <a:solidFill>
            <a:srgbClr val="D4951A">
              <a:alpha val="30000"/>
            </a:srgbClr>
          </a:solidFill>
          <a:ln w="12700">
            <a:solidFill>
              <a:srgbClr val="D4951A"/>
            </a:solidFill>
            <a:prstDash val="solid"/>
          </a:ln>
        </p:spPr>
      </p:sp>
      <p:sp>
        <p:nvSpPr>
          <p:cNvPr id="128" name="Shape 126"/>
          <p:cNvSpPr/>
          <p:nvPr/>
        </p:nvSpPr>
        <p:spPr>
          <a:xfrm rot="2700000">
            <a:off x="4575658" y="932688"/>
            <a:ext cx="77724" cy="77724"/>
          </a:xfrm>
          <a:prstGeom prst="rect">
            <a:avLst/>
          </a:prstGeom>
          <a:solidFill>
            <a:srgbClr val="D4951A">
              <a:alpha val="30000"/>
            </a:srgbClr>
          </a:solidFill>
          <a:ln w="12700">
            <a:solidFill>
              <a:srgbClr val="D4951A"/>
            </a:solidFill>
            <a:prstDash val="solid"/>
          </a:ln>
        </p:spPr>
      </p:sp>
      <p:sp>
        <p:nvSpPr>
          <p:cNvPr id="129" name="Shape 127"/>
          <p:cNvSpPr/>
          <p:nvPr/>
        </p:nvSpPr>
        <p:spPr>
          <a:xfrm rot="2700000">
            <a:off x="4692701" y="932688"/>
            <a:ext cx="77724" cy="77724"/>
          </a:xfrm>
          <a:prstGeom prst="rect">
            <a:avLst/>
          </a:prstGeom>
          <a:solidFill>
            <a:srgbClr val="D4951A">
              <a:alpha val="30000"/>
            </a:srgbClr>
          </a:solidFill>
          <a:ln w="12700">
            <a:solidFill>
              <a:srgbClr val="D4951A"/>
            </a:solidFill>
            <a:prstDash val="solid"/>
          </a:ln>
        </p:spPr>
      </p:sp>
      <p:sp>
        <p:nvSpPr>
          <p:cNvPr id="130" name="Shape 128"/>
          <p:cNvSpPr/>
          <p:nvPr/>
        </p:nvSpPr>
        <p:spPr>
          <a:xfrm rot="2700000">
            <a:off x="4809744" y="932688"/>
            <a:ext cx="77724" cy="77724"/>
          </a:xfrm>
          <a:prstGeom prst="rect">
            <a:avLst/>
          </a:prstGeom>
          <a:solidFill>
            <a:srgbClr val="D4951A">
              <a:alpha val="30000"/>
            </a:srgbClr>
          </a:solidFill>
          <a:ln w="12700">
            <a:solidFill>
              <a:srgbClr val="D4951A"/>
            </a:solidFill>
            <a:prstDash val="solid"/>
          </a:ln>
        </p:spPr>
      </p:sp>
      <p:sp>
        <p:nvSpPr>
          <p:cNvPr id="131" name="Shape 129"/>
          <p:cNvSpPr/>
          <p:nvPr/>
        </p:nvSpPr>
        <p:spPr>
          <a:xfrm rot="2700000">
            <a:off x="4926787" y="932688"/>
            <a:ext cx="77724" cy="77724"/>
          </a:xfrm>
          <a:prstGeom prst="rect">
            <a:avLst/>
          </a:prstGeom>
          <a:solidFill>
            <a:srgbClr val="D4951A">
              <a:alpha val="30000"/>
            </a:srgbClr>
          </a:solidFill>
          <a:ln w="12700">
            <a:solidFill>
              <a:srgbClr val="D4951A"/>
            </a:solidFill>
            <a:prstDash val="solid"/>
          </a:ln>
        </p:spPr>
      </p:sp>
      <p:sp>
        <p:nvSpPr>
          <p:cNvPr id="132" name="Shape 130"/>
          <p:cNvSpPr/>
          <p:nvPr/>
        </p:nvSpPr>
        <p:spPr>
          <a:xfrm rot="2700000">
            <a:off x="5043830" y="932688"/>
            <a:ext cx="77724" cy="77724"/>
          </a:xfrm>
          <a:prstGeom prst="rect">
            <a:avLst/>
          </a:prstGeom>
          <a:solidFill>
            <a:srgbClr val="D4951A">
              <a:alpha val="30000"/>
            </a:srgbClr>
          </a:solidFill>
          <a:ln w="12700">
            <a:solidFill>
              <a:srgbClr val="D4951A"/>
            </a:solidFill>
            <a:prstDash val="solid"/>
          </a:ln>
        </p:spPr>
      </p:sp>
      <p:sp>
        <p:nvSpPr>
          <p:cNvPr id="133" name="Shape 131"/>
          <p:cNvSpPr/>
          <p:nvPr/>
        </p:nvSpPr>
        <p:spPr>
          <a:xfrm rot="2700000">
            <a:off x="5160874" y="932688"/>
            <a:ext cx="77724" cy="77724"/>
          </a:xfrm>
          <a:prstGeom prst="rect">
            <a:avLst/>
          </a:prstGeom>
          <a:solidFill>
            <a:srgbClr val="D4951A">
              <a:alpha val="30000"/>
            </a:srgbClr>
          </a:solidFill>
          <a:ln w="12700">
            <a:solidFill>
              <a:srgbClr val="D4951A"/>
            </a:solidFill>
            <a:prstDash val="solid"/>
          </a:ln>
        </p:spPr>
      </p:sp>
      <p:sp>
        <p:nvSpPr>
          <p:cNvPr id="134" name="Shape 132"/>
          <p:cNvSpPr/>
          <p:nvPr/>
        </p:nvSpPr>
        <p:spPr>
          <a:xfrm rot="2700000">
            <a:off x="5277917" y="932688"/>
            <a:ext cx="77724" cy="77724"/>
          </a:xfrm>
          <a:prstGeom prst="rect">
            <a:avLst/>
          </a:prstGeom>
          <a:solidFill>
            <a:srgbClr val="D4951A">
              <a:alpha val="30000"/>
            </a:srgbClr>
          </a:solidFill>
          <a:ln w="12700">
            <a:solidFill>
              <a:srgbClr val="D4951A"/>
            </a:solidFill>
            <a:prstDash val="solid"/>
          </a:ln>
        </p:spPr>
      </p:sp>
      <p:sp>
        <p:nvSpPr>
          <p:cNvPr id="135" name="Shape 133"/>
          <p:cNvSpPr/>
          <p:nvPr/>
        </p:nvSpPr>
        <p:spPr>
          <a:xfrm rot="2700000">
            <a:off x="5394960" y="932688"/>
            <a:ext cx="77724" cy="77724"/>
          </a:xfrm>
          <a:prstGeom prst="rect">
            <a:avLst/>
          </a:prstGeom>
          <a:solidFill>
            <a:srgbClr val="D4951A">
              <a:alpha val="30000"/>
            </a:srgbClr>
          </a:solidFill>
          <a:ln w="12700">
            <a:solidFill>
              <a:srgbClr val="D4951A"/>
            </a:solidFill>
            <a:prstDash val="solid"/>
          </a:ln>
        </p:spPr>
      </p:sp>
      <p:sp>
        <p:nvSpPr>
          <p:cNvPr id="136" name="Shape 134"/>
          <p:cNvSpPr/>
          <p:nvPr/>
        </p:nvSpPr>
        <p:spPr>
          <a:xfrm rot="2700000">
            <a:off x="5512003" y="932688"/>
            <a:ext cx="77724" cy="77724"/>
          </a:xfrm>
          <a:prstGeom prst="rect">
            <a:avLst/>
          </a:prstGeom>
          <a:solidFill>
            <a:srgbClr val="D4951A">
              <a:alpha val="30000"/>
            </a:srgbClr>
          </a:solidFill>
          <a:ln w="12700">
            <a:solidFill>
              <a:srgbClr val="D4951A"/>
            </a:solidFill>
            <a:prstDash val="solid"/>
          </a:ln>
        </p:spPr>
      </p:sp>
      <p:sp>
        <p:nvSpPr>
          <p:cNvPr id="137" name="Shape 135"/>
          <p:cNvSpPr/>
          <p:nvPr/>
        </p:nvSpPr>
        <p:spPr>
          <a:xfrm rot="2700000">
            <a:off x="5629046" y="932688"/>
            <a:ext cx="77724" cy="77724"/>
          </a:xfrm>
          <a:prstGeom prst="rect">
            <a:avLst/>
          </a:prstGeom>
          <a:solidFill>
            <a:srgbClr val="D4951A">
              <a:alpha val="30000"/>
            </a:srgbClr>
          </a:solidFill>
          <a:ln w="12700">
            <a:solidFill>
              <a:srgbClr val="D4951A"/>
            </a:solidFill>
            <a:prstDash val="solid"/>
          </a:ln>
        </p:spPr>
      </p:sp>
      <p:sp>
        <p:nvSpPr>
          <p:cNvPr id="138" name="Shape 136"/>
          <p:cNvSpPr/>
          <p:nvPr/>
        </p:nvSpPr>
        <p:spPr>
          <a:xfrm rot="2700000">
            <a:off x="5746090" y="932688"/>
            <a:ext cx="77724" cy="77724"/>
          </a:xfrm>
          <a:prstGeom prst="rect">
            <a:avLst/>
          </a:prstGeom>
          <a:solidFill>
            <a:srgbClr val="D4951A">
              <a:alpha val="30000"/>
            </a:srgbClr>
          </a:solidFill>
          <a:ln w="12700">
            <a:solidFill>
              <a:srgbClr val="D4951A"/>
            </a:solidFill>
            <a:prstDash val="solid"/>
          </a:ln>
        </p:spPr>
      </p:sp>
      <p:sp>
        <p:nvSpPr>
          <p:cNvPr id="139" name="Shape 137"/>
          <p:cNvSpPr/>
          <p:nvPr/>
        </p:nvSpPr>
        <p:spPr>
          <a:xfrm rot="2700000">
            <a:off x="5863133" y="932688"/>
            <a:ext cx="77724" cy="77724"/>
          </a:xfrm>
          <a:prstGeom prst="rect">
            <a:avLst/>
          </a:prstGeom>
          <a:solidFill>
            <a:srgbClr val="D4951A">
              <a:alpha val="30000"/>
            </a:srgbClr>
          </a:solidFill>
          <a:ln w="12700">
            <a:solidFill>
              <a:srgbClr val="D4951A"/>
            </a:solidFill>
            <a:prstDash val="solid"/>
          </a:ln>
        </p:spPr>
      </p:sp>
      <p:sp>
        <p:nvSpPr>
          <p:cNvPr id="140" name="Shape 138"/>
          <p:cNvSpPr/>
          <p:nvPr/>
        </p:nvSpPr>
        <p:spPr>
          <a:xfrm rot="2700000">
            <a:off x="5980176" y="932688"/>
            <a:ext cx="77724" cy="77724"/>
          </a:xfrm>
          <a:prstGeom prst="rect">
            <a:avLst/>
          </a:prstGeom>
          <a:solidFill>
            <a:srgbClr val="D4951A">
              <a:alpha val="30000"/>
            </a:srgbClr>
          </a:solidFill>
          <a:ln w="12700">
            <a:solidFill>
              <a:srgbClr val="D4951A"/>
            </a:solidFill>
            <a:prstDash val="solid"/>
          </a:ln>
        </p:spPr>
      </p:sp>
      <p:sp>
        <p:nvSpPr>
          <p:cNvPr id="141" name="Shape 139"/>
          <p:cNvSpPr/>
          <p:nvPr/>
        </p:nvSpPr>
        <p:spPr>
          <a:xfrm rot="2700000">
            <a:off x="6097219" y="932688"/>
            <a:ext cx="77724" cy="77724"/>
          </a:xfrm>
          <a:prstGeom prst="rect">
            <a:avLst/>
          </a:prstGeom>
          <a:solidFill>
            <a:srgbClr val="D4951A">
              <a:alpha val="30000"/>
            </a:srgbClr>
          </a:solidFill>
          <a:ln w="12700">
            <a:solidFill>
              <a:srgbClr val="D4951A"/>
            </a:solidFill>
            <a:prstDash val="solid"/>
          </a:ln>
        </p:spPr>
      </p:sp>
      <p:sp>
        <p:nvSpPr>
          <p:cNvPr id="142" name="Shape 140"/>
          <p:cNvSpPr/>
          <p:nvPr/>
        </p:nvSpPr>
        <p:spPr>
          <a:xfrm rot="2700000">
            <a:off x="6214262" y="932688"/>
            <a:ext cx="77724" cy="77724"/>
          </a:xfrm>
          <a:prstGeom prst="rect">
            <a:avLst/>
          </a:prstGeom>
          <a:solidFill>
            <a:srgbClr val="D4951A">
              <a:alpha val="30000"/>
            </a:srgbClr>
          </a:solidFill>
          <a:ln w="12700">
            <a:solidFill>
              <a:srgbClr val="D4951A"/>
            </a:solidFill>
            <a:prstDash val="solid"/>
          </a:ln>
        </p:spPr>
      </p:sp>
      <p:sp>
        <p:nvSpPr>
          <p:cNvPr id="143" name="Shape 141"/>
          <p:cNvSpPr/>
          <p:nvPr/>
        </p:nvSpPr>
        <p:spPr>
          <a:xfrm rot="2700000">
            <a:off x="6331306" y="932688"/>
            <a:ext cx="77724" cy="77724"/>
          </a:xfrm>
          <a:prstGeom prst="rect">
            <a:avLst/>
          </a:prstGeom>
          <a:solidFill>
            <a:srgbClr val="D4951A">
              <a:alpha val="30000"/>
            </a:srgbClr>
          </a:solidFill>
          <a:ln w="12700">
            <a:solidFill>
              <a:srgbClr val="D4951A"/>
            </a:solidFill>
            <a:prstDash val="solid"/>
          </a:ln>
        </p:spPr>
      </p:sp>
      <p:sp>
        <p:nvSpPr>
          <p:cNvPr id="144" name="Shape 142"/>
          <p:cNvSpPr/>
          <p:nvPr/>
        </p:nvSpPr>
        <p:spPr>
          <a:xfrm rot="2700000">
            <a:off x="6448349" y="932688"/>
            <a:ext cx="77724" cy="77724"/>
          </a:xfrm>
          <a:prstGeom prst="rect">
            <a:avLst/>
          </a:prstGeom>
          <a:solidFill>
            <a:srgbClr val="D4951A">
              <a:alpha val="30000"/>
            </a:srgbClr>
          </a:solidFill>
          <a:ln w="12700">
            <a:solidFill>
              <a:srgbClr val="D4951A"/>
            </a:solidFill>
            <a:prstDash val="solid"/>
          </a:ln>
        </p:spPr>
      </p:sp>
      <p:sp>
        <p:nvSpPr>
          <p:cNvPr id="145" name="Shape 143"/>
          <p:cNvSpPr/>
          <p:nvPr/>
        </p:nvSpPr>
        <p:spPr>
          <a:xfrm rot="2700000">
            <a:off x="6565392" y="932688"/>
            <a:ext cx="77724" cy="77724"/>
          </a:xfrm>
          <a:prstGeom prst="rect">
            <a:avLst/>
          </a:prstGeom>
          <a:solidFill>
            <a:srgbClr val="D4951A">
              <a:alpha val="30000"/>
            </a:srgbClr>
          </a:solidFill>
          <a:ln w="12700">
            <a:solidFill>
              <a:srgbClr val="D4951A"/>
            </a:solidFill>
            <a:prstDash val="solid"/>
          </a:ln>
        </p:spPr>
      </p:sp>
      <p:sp>
        <p:nvSpPr>
          <p:cNvPr id="146" name="Shape 144"/>
          <p:cNvSpPr/>
          <p:nvPr/>
        </p:nvSpPr>
        <p:spPr>
          <a:xfrm rot="2700000">
            <a:off x="6682435" y="932688"/>
            <a:ext cx="77724" cy="77724"/>
          </a:xfrm>
          <a:prstGeom prst="rect">
            <a:avLst/>
          </a:prstGeom>
          <a:solidFill>
            <a:srgbClr val="D4951A">
              <a:alpha val="30000"/>
            </a:srgbClr>
          </a:solidFill>
          <a:ln w="12700">
            <a:solidFill>
              <a:srgbClr val="D4951A"/>
            </a:solidFill>
            <a:prstDash val="solid"/>
          </a:ln>
        </p:spPr>
      </p:sp>
      <p:sp>
        <p:nvSpPr>
          <p:cNvPr id="147" name="Shape 145"/>
          <p:cNvSpPr/>
          <p:nvPr/>
        </p:nvSpPr>
        <p:spPr>
          <a:xfrm rot="2700000">
            <a:off x="6799478" y="932688"/>
            <a:ext cx="77724" cy="77724"/>
          </a:xfrm>
          <a:prstGeom prst="rect">
            <a:avLst/>
          </a:prstGeom>
          <a:solidFill>
            <a:srgbClr val="D4951A">
              <a:alpha val="30000"/>
            </a:srgbClr>
          </a:solidFill>
          <a:ln w="12700">
            <a:solidFill>
              <a:srgbClr val="D4951A"/>
            </a:solidFill>
            <a:prstDash val="solid"/>
          </a:ln>
        </p:spPr>
      </p:sp>
      <p:sp>
        <p:nvSpPr>
          <p:cNvPr id="148" name="Shape 146"/>
          <p:cNvSpPr/>
          <p:nvPr/>
        </p:nvSpPr>
        <p:spPr>
          <a:xfrm rot="2700000">
            <a:off x="6916522" y="932688"/>
            <a:ext cx="77724" cy="77724"/>
          </a:xfrm>
          <a:prstGeom prst="rect">
            <a:avLst/>
          </a:prstGeom>
          <a:solidFill>
            <a:srgbClr val="D4951A">
              <a:alpha val="30000"/>
            </a:srgbClr>
          </a:solidFill>
          <a:ln w="12700">
            <a:solidFill>
              <a:srgbClr val="D4951A"/>
            </a:solidFill>
            <a:prstDash val="solid"/>
          </a:ln>
        </p:spPr>
      </p:sp>
      <p:sp>
        <p:nvSpPr>
          <p:cNvPr id="149" name="Shape 147"/>
          <p:cNvSpPr/>
          <p:nvPr/>
        </p:nvSpPr>
        <p:spPr>
          <a:xfrm rot="2700000">
            <a:off x="7033565" y="932688"/>
            <a:ext cx="77724" cy="77724"/>
          </a:xfrm>
          <a:prstGeom prst="rect">
            <a:avLst/>
          </a:prstGeom>
          <a:solidFill>
            <a:srgbClr val="D4951A">
              <a:alpha val="30000"/>
            </a:srgbClr>
          </a:solidFill>
          <a:ln w="12700">
            <a:solidFill>
              <a:srgbClr val="D4951A"/>
            </a:solidFill>
            <a:prstDash val="solid"/>
          </a:ln>
        </p:spPr>
      </p:sp>
      <p:sp>
        <p:nvSpPr>
          <p:cNvPr id="150" name="Shape 148"/>
          <p:cNvSpPr/>
          <p:nvPr/>
        </p:nvSpPr>
        <p:spPr>
          <a:xfrm rot="2700000">
            <a:off x="7150608" y="932688"/>
            <a:ext cx="77724" cy="77724"/>
          </a:xfrm>
          <a:prstGeom prst="rect">
            <a:avLst/>
          </a:prstGeom>
          <a:solidFill>
            <a:srgbClr val="D4951A">
              <a:alpha val="30000"/>
            </a:srgbClr>
          </a:solidFill>
          <a:ln w="12700">
            <a:solidFill>
              <a:srgbClr val="D4951A"/>
            </a:solidFill>
            <a:prstDash val="solid"/>
          </a:ln>
        </p:spPr>
      </p:sp>
      <p:sp>
        <p:nvSpPr>
          <p:cNvPr id="151" name="Shape 149"/>
          <p:cNvSpPr/>
          <p:nvPr/>
        </p:nvSpPr>
        <p:spPr>
          <a:xfrm rot="2700000">
            <a:off x="7267651" y="932688"/>
            <a:ext cx="77724" cy="77724"/>
          </a:xfrm>
          <a:prstGeom prst="rect">
            <a:avLst/>
          </a:prstGeom>
          <a:solidFill>
            <a:srgbClr val="D4951A">
              <a:alpha val="30000"/>
            </a:srgbClr>
          </a:solidFill>
          <a:ln w="12700">
            <a:solidFill>
              <a:srgbClr val="D4951A"/>
            </a:solidFill>
            <a:prstDash val="solid"/>
          </a:ln>
        </p:spPr>
      </p:sp>
      <p:sp>
        <p:nvSpPr>
          <p:cNvPr id="152" name="Shape 150"/>
          <p:cNvSpPr/>
          <p:nvPr/>
        </p:nvSpPr>
        <p:spPr>
          <a:xfrm rot="2700000">
            <a:off x="7384694" y="932688"/>
            <a:ext cx="77724" cy="77724"/>
          </a:xfrm>
          <a:prstGeom prst="rect">
            <a:avLst/>
          </a:prstGeom>
          <a:solidFill>
            <a:srgbClr val="D4951A">
              <a:alpha val="30000"/>
            </a:srgbClr>
          </a:solidFill>
          <a:ln w="12700">
            <a:solidFill>
              <a:srgbClr val="D4951A"/>
            </a:solidFill>
            <a:prstDash val="solid"/>
          </a:ln>
        </p:spPr>
      </p:sp>
      <p:sp>
        <p:nvSpPr>
          <p:cNvPr id="153" name="Shape 151"/>
          <p:cNvSpPr/>
          <p:nvPr/>
        </p:nvSpPr>
        <p:spPr>
          <a:xfrm rot="2700000">
            <a:off x="7501738" y="932688"/>
            <a:ext cx="77724" cy="77724"/>
          </a:xfrm>
          <a:prstGeom prst="rect">
            <a:avLst/>
          </a:prstGeom>
          <a:solidFill>
            <a:srgbClr val="D4951A">
              <a:alpha val="30000"/>
            </a:srgbClr>
          </a:solidFill>
          <a:ln w="12700">
            <a:solidFill>
              <a:srgbClr val="D4951A"/>
            </a:solidFill>
            <a:prstDash val="solid"/>
          </a:ln>
        </p:spPr>
      </p:sp>
      <p:sp>
        <p:nvSpPr>
          <p:cNvPr id="154" name="Shape 152"/>
          <p:cNvSpPr/>
          <p:nvPr/>
        </p:nvSpPr>
        <p:spPr>
          <a:xfrm rot="2700000">
            <a:off x="7618781" y="932688"/>
            <a:ext cx="77724" cy="77724"/>
          </a:xfrm>
          <a:prstGeom prst="rect">
            <a:avLst/>
          </a:prstGeom>
          <a:solidFill>
            <a:srgbClr val="D4951A">
              <a:alpha val="30000"/>
            </a:srgbClr>
          </a:solidFill>
          <a:ln w="12700">
            <a:solidFill>
              <a:srgbClr val="D4951A"/>
            </a:solidFill>
            <a:prstDash val="solid"/>
          </a:ln>
        </p:spPr>
      </p:sp>
      <p:sp>
        <p:nvSpPr>
          <p:cNvPr id="155" name="Shape 153"/>
          <p:cNvSpPr/>
          <p:nvPr/>
        </p:nvSpPr>
        <p:spPr>
          <a:xfrm rot="2700000">
            <a:off x="7735824" y="932688"/>
            <a:ext cx="77724" cy="77724"/>
          </a:xfrm>
          <a:prstGeom prst="rect">
            <a:avLst/>
          </a:prstGeom>
          <a:solidFill>
            <a:srgbClr val="D4951A">
              <a:alpha val="30000"/>
            </a:srgbClr>
          </a:solidFill>
          <a:ln w="12700">
            <a:solidFill>
              <a:srgbClr val="D4951A"/>
            </a:solidFill>
            <a:prstDash val="solid"/>
          </a:ln>
        </p:spPr>
      </p:sp>
      <p:sp>
        <p:nvSpPr>
          <p:cNvPr id="156" name="Shape 154"/>
          <p:cNvSpPr/>
          <p:nvPr/>
        </p:nvSpPr>
        <p:spPr>
          <a:xfrm rot="2700000">
            <a:off x="7852867" y="932688"/>
            <a:ext cx="77724" cy="77724"/>
          </a:xfrm>
          <a:prstGeom prst="rect">
            <a:avLst/>
          </a:prstGeom>
          <a:solidFill>
            <a:srgbClr val="D4951A">
              <a:alpha val="30000"/>
            </a:srgbClr>
          </a:solidFill>
          <a:ln w="12700">
            <a:solidFill>
              <a:srgbClr val="D4951A"/>
            </a:solidFill>
            <a:prstDash val="solid"/>
          </a:ln>
        </p:spPr>
      </p:sp>
      <p:sp>
        <p:nvSpPr>
          <p:cNvPr id="157" name="Shape 155"/>
          <p:cNvSpPr/>
          <p:nvPr/>
        </p:nvSpPr>
        <p:spPr>
          <a:xfrm rot="2700000">
            <a:off x="7969910" y="932688"/>
            <a:ext cx="77724" cy="77724"/>
          </a:xfrm>
          <a:prstGeom prst="rect">
            <a:avLst/>
          </a:prstGeom>
          <a:solidFill>
            <a:srgbClr val="D4951A">
              <a:alpha val="30000"/>
            </a:srgbClr>
          </a:solidFill>
          <a:ln w="12700">
            <a:solidFill>
              <a:srgbClr val="D4951A"/>
            </a:solidFill>
            <a:prstDash val="solid"/>
          </a:ln>
        </p:spPr>
      </p:sp>
      <p:sp>
        <p:nvSpPr>
          <p:cNvPr id="158" name="Shape 156"/>
          <p:cNvSpPr/>
          <p:nvPr/>
        </p:nvSpPr>
        <p:spPr>
          <a:xfrm rot="2700000">
            <a:off x="8086954" y="932688"/>
            <a:ext cx="77724" cy="77724"/>
          </a:xfrm>
          <a:prstGeom prst="rect">
            <a:avLst/>
          </a:prstGeom>
          <a:solidFill>
            <a:srgbClr val="D4951A">
              <a:alpha val="30000"/>
            </a:srgbClr>
          </a:solidFill>
          <a:ln w="12700">
            <a:solidFill>
              <a:srgbClr val="D4951A"/>
            </a:solidFill>
            <a:prstDash val="solid"/>
          </a:ln>
        </p:spPr>
      </p:sp>
      <p:sp>
        <p:nvSpPr>
          <p:cNvPr id="159" name="Shape 157"/>
          <p:cNvSpPr/>
          <p:nvPr/>
        </p:nvSpPr>
        <p:spPr>
          <a:xfrm rot="2700000">
            <a:off x="8203997" y="932688"/>
            <a:ext cx="77724" cy="77724"/>
          </a:xfrm>
          <a:prstGeom prst="rect">
            <a:avLst/>
          </a:prstGeom>
          <a:solidFill>
            <a:srgbClr val="D4951A">
              <a:alpha val="30000"/>
            </a:srgbClr>
          </a:solidFill>
          <a:ln w="12700">
            <a:solidFill>
              <a:srgbClr val="D4951A"/>
            </a:solidFill>
            <a:prstDash val="solid"/>
          </a:ln>
        </p:spPr>
      </p:sp>
      <p:sp>
        <p:nvSpPr>
          <p:cNvPr id="160" name="Shape 158"/>
          <p:cNvSpPr/>
          <p:nvPr/>
        </p:nvSpPr>
        <p:spPr>
          <a:xfrm rot="2700000">
            <a:off x="8321040" y="932688"/>
            <a:ext cx="77724" cy="77724"/>
          </a:xfrm>
          <a:prstGeom prst="rect">
            <a:avLst/>
          </a:prstGeom>
          <a:solidFill>
            <a:srgbClr val="D4951A">
              <a:alpha val="30000"/>
            </a:srgbClr>
          </a:solidFill>
          <a:ln w="12700">
            <a:solidFill>
              <a:srgbClr val="D4951A"/>
            </a:solidFill>
            <a:prstDash val="solid"/>
          </a:ln>
        </p:spPr>
      </p:sp>
      <p:sp>
        <p:nvSpPr>
          <p:cNvPr id="161" name="Shape 159"/>
          <p:cNvSpPr/>
          <p:nvPr/>
        </p:nvSpPr>
        <p:spPr>
          <a:xfrm rot="2700000">
            <a:off x="8438083" y="932688"/>
            <a:ext cx="77724" cy="77724"/>
          </a:xfrm>
          <a:prstGeom prst="rect">
            <a:avLst/>
          </a:prstGeom>
          <a:solidFill>
            <a:srgbClr val="D4951A">
              <a:alpha val="30000"/>
            </a:srgbClr>
          </a:solidFill>
          <a:ln w="12700">
            <a:solidFill>
              <a:srgbClr val="D4951A"/>
            </a:solidFill>
            <a:prstDash val="solid"/>
          </a:ln>
        </p:spPr>
      </p:sp>
      <p:sp>
        <p:nvSpPr>
          <p:cNvPr id="162" name="Shape 160"/>
          <p:cNvSpPr/>
          <p:nvPr/>
        </p:nvSpPr>
        <p:spPr>
          <a:xfrm rot="2700000">
            <a:off x="8555126" y="932688"/>
            <a:ext cx="77724" cy="77724"/>
          </a:xfrm>
          <a:prstGeom prst="rect">
            <a:avLst/>
          </a:prstGeom>
          <a:solidFill>
            <a:srgbClr val="D4951A">
              <a:alpha val="30000"/>
            </a:srgbClr>
          </a:solidFill>
          <a:ln w="12700">
            <a:solidFill>
              <a:srgbClr val="D4951A"/>
            </a:solidFill>
            <a:prstDash val="solid"/>
          </a:ln>
        </p:spPr>
      </p:sp>
      <p:sp>
        <p:nvSpPr>
          <p:cNvPr id="163" name="Shape 161"/>
          <p:cNvSpPr/>
          <p:nvPr/>
        </p:nvSpPr>
        <p:spPr>
          <a:xfrm rot="2700000">
            <a:off x="8672170" y="932688"/>
            <a:ext cx="77724" cy="77724"/>
          </a:xfrm>
          <a:prstGeom prst="rect">
            <a:avLst/>
          </a:prstGeom>
          <a:solidFill>
            <a:srgbClr val="D4951A">
              <a:alpha val="30000"/>
            </a:srgbClr>
          </a:solidFill>
          <a:ln w="12700">
            <a:solidFill>
              <a:srgbClr val="D4951A"/>
            </a:solidFill>
            <a:prstDash val="solid"/>
          </a:ln>
        </p:spPr>
      </p:sp>
      <p:sp>
        <p:nvSpPr>
          <p:cNvPr id="164" name="Text 162"/>
          <p:cNvSpPr/>
          <p:nvPr/>
        </p:nvSpPr>
        <p:spPr>
          <a:xfrm>
            <a:off x="365760" y="987552"/>
            <a:ext cx="8412480" cy="384048"/>
          </a:xfrm>
          <a:prstGeom prst="rect">
            <a:avLst/>
          </a:prstGeom>
          <a:noFill/>
          <a:ln/>
        </p:spPr>
        <p:txBody>
          <a:bodyPr wrap="square" rtlCol="0" anchor="b"/>
          <a:lstStyle/>
          <a:p>
            <a:pPr indent="0" marL="0">
              <a:buNone/>
            </a:pPr>
            <a:r>
              <a:rPr lang="en-US" sz="1500" b="1" dirty="0">
                <a:solidFill>
                  <a:srgbClr val="09090F"/>
                </a:solidFill>
                <a:latin typeface="Georgia" pitchFamily="34" charset="0"/>
                <a:ea typeface="Georgia" pitchFamily="34" charset="-122"/>
                <a:cs typeface="Georgia" pitchFamily="34" charset="-120"/>
              </a:rPr>
              <a:t>✅  DEUX GVI INDÉPENDANTS — Un Dédié par Ligne de Production</a:t>
            </a:r>
            <a:endParaRPr lang="en-US" sz="1500" dirty="0"/>
          </a:p>
        </p:txBody>
      </p:sp>
      <p:sp>
        <p:nvSpPr>
          <p:cNvPr id="165" name="Text 163"/>
          <p:cNvSpPr/>
          <p:nvPr/>
        </p:nvSpPr>
        <p:spPr>
          <a:xfrm>
            <a:off x="365760" y="1371600"/>
            <a:ext cx="8412480" cy="182880"/>
          </a:xfrm>
          <a:prstGeom prst="rect">
            <a:avLst/>
          </a:prstGeom>
          <a:noFill/>
          <a:ln/>
        </p:spPr>
        <p:txBody>
          <a:bodyPr wrap="square" rtlCol="0" anchor="ctr"/>
          <a:lstStyle/>
          <a:p>
            <a:pPr indent="0" marL="0">
              <a:buNone/>
            </a:pPr>
            <a:r>
              <a:rPr lang="en-US" sz="1000" i="1" dirty="0">
                <a:solidFill>
                  <a:srgbClr val="09090F"/>
                </a:solidFill>
                <a:latin typeface="Calibri" pitchFamily="34" charset="0"/>
                <a:ea typeface="Calibri" pitchFamily="34" charset="-122"/>
                <a:cs typeface="Calibri" pitchFamily="34" charset="-120"/>
              </a:rPr>
              <a:t>Miura série LX ou Clayton Industries Série E  ·  2 400–2 600 Kg/H chacun  ·  5 bar(e)  ·  GPL avec option bi-combustible  ·  Marquage CE</a:t>
            </a:r>
            <a:endParaRPr lang="en-US" sz="1000" dirty="0"/>
          </a:p>
        </p:txBody>
      </p:sp>
      <p:sp>
        <p:nvSpPr>
          <p:cNvPr id="166" name="Shape 164"/>
          <p:cNvSpPr/>
          <p:nvPr/>
        </p:nvSpPr>
        <p:spPr>
          <a:xfrm>
            <a:off x="365760" y="1828800"/>
            <a:ext cx="1828800" cy="1005840"/>
          </a:xfrm>
          <a:prstGeom prst="rect">
            <a:avLst/>
          </a:prstGeom>
          <a:solidFill>
            <a:srgbClr val="130F0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67" name="Text 165"/>
          <p:cNvSpPr/>
          <p:nvPr/>
        </p:nvSpPr>
        <p:spPr>
          <a:xfrm>
            <a:off x="365760" y="1828800"/>
            <a:ext cx="1828800" cy="1005840"/>
          </a:xfrm>
          <a:prstGeom prst="rect">
            <a:avLst/>
          </a:prstGeom>
          <a:noFill/>
          <a:ln/>
        </p:spPr>
        <p:txBody>
          <a:bodyPr wrap="square" rtlCol="0" anchor="ctr"/>
          <a:lstStyle/>
          <a:p>
            <a:pPr algn="ctr" indent="0" marL="0">
              <a:buNone/>
            </a:pPr>
            <a:r>
              <a:rPr lang="en-US" sz="950" b="1" dirty="0">
                <a:solidFill>
                  <a:srgbClr val="1B9A8A"/>
                </a:solidFill>
                <a:latin typeface="Georgia" pitchFamily="34" charset="0"/>
                <a:ea typeface="Georgia" pitchFamily="34" charset="-122"/>
                <a:cs typeface="Georgia" pitchFamily="34" charset="-120"/>
              </a:rPr>
              <a:t>CHAUDIÈRE 1</a:t>
            </a:r>
            <a:endParaRPr lang="en-US" sz="950" dirty="0"/>
          </a:p>
          <a:p>
            <a:pPr algn="ctr" indent="0" marL="0">
              <a:buNone/>
            </a:pPr>
            <a:r>
              <a:rPr lang="en-US" sz="950" b="1" dirty="0">
                <a:solidFill>
                  <a:srgbClr val="1B9A8A"/>
                </a:solidFill>
                <a:latin typeface="Georgia" pitchFamily="34" charset="0"/>
                <a:ea typeface="Georgia" pitchFamily="34" charset="-122"/>
                <a:cs typeface="Georgia" pitchFamily="34" charset="-120"/>
              </a:rPr>
              <a:t>GVI 2 500 Kg/H</a:t>
            </a:r>
            <a:endParaRPr lang="en-US" sz="950" dirty="0"/>
          </a:p>
        </p:txBody>
      </p:sp>
      <p:sp>
        <p:nvSpPr>
          <p:cNvPr id="168" name="Shape 166"/>
          <p:cNvSpPr/>
          <p:nvPr/>
        </p:nvSpPr>
        <p:spPr>
          <a:xfrm>
            <a:off x="365760" y="3200400"/>
            <a:ext cx="1828800" cy="1005840"/>
          </a:xfrm>
          <a:prstGeom prst="rect">
            <a:avLst/>
          </a:prstGeom>
          <a:solidFill>
            <a:srgbClr val="130F0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169" name="Text 167"/>
          <p:cNvSpPr/>
          <p:nvPr/>
        </p:nvSpPr>
        <p:spPr>
          <a:xfrm>
            <a:off x="365760" y="3200400"/>
            <a:ext cx="1828800" cy="1005840"/>
          </a:xfrm>
          <a:prstGeom prst="rect">
            <a:avLst/>
          </a:prstGeom>
          <a:noFill/>
          <a:ln/>
        </p:spPr>
        <p:txBody>
          <a:bodyPr wrap="square" rtlCol="0" anchor="ctr"/>
          <a:lstStyle/>
          <a:p>
            <a:pPr algn="ctr" indent="0" marL="0">
              <a:buNone/>
            </a:pPr>
            <a:r>
              <a:rPr lang="en-US" sz="950" b="1" dirty="0">
                <a:solidFill>
                  <a:srgbClr val="E8A020"/>
                </a:solidFill>
                <a:latin typeface="Georgia" pitchFamily="34" charset="0"/>
                <a:ea typeface="Georgia" pitchFamily="34" charset="-122"/>
                <a:cs typeface="Georgia" pitchFamily="34" charset="-120"/>
              </a:rPr>
              <a:t>CHAUDIÈRE 2</a:t>
            </a:r>
            <a:endParaRPr lang="en-US" sz="950" dirty="0"/>
          </a:p>
          <a:p>
            <a:pPr algn="ctr" indent="0" marL="0">
              <a:buNone/>
            </a:pPr>
            <a:r>
              <a:rPr lang="en-US" sz="950" b="1" dirty="0">
                <a:solidFill>
                  <a:srgbClr val="E8A020"/>
                </a:solidFill>
                <a:latin typeface="Georgia" pitchFamily="34" charset="0"/>
                <a:ea typeface="Georgia" pitchFamily="34" charset="-122"/>
                <a:cs typeface="Georgia" pitchFamily="34" charset="-120"/>
              </a:rPr>
              <a:t>GVI 2 500 Kg/H</a:t>
            </a:r>
            <a:endParaRPr lang="en-US" sz="950" dirty="0"/>
          </a:p>
        </p:txBody>
      </p:sp>
      <p:sp>
        <p:nvSpPr>
          <p:cNvPr id="170" name="Shape 168"/>
          <p:cNvSpPr/>
          <p:nvPr/>
        </p:nvSpPr>
        <p:spPr>
          <a:xfrm>
            <a:off x="4754880" y="1828800"/>
            <a:ext cx="1828800" cy="1005840"/>
          </a:xfrm>
          <a:prstGeom prst="rect">
            <a:avLst/>
          </a:prstGeom>
          <a:solidFill>
            <a:srgbClr val="130F0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71" name="Text 169"/>
          <p:cNvSpPr/>
          <p:nvPr/>
        </p:nvSpPr>
        <p:spPr>
          <a:xfrm>
            <a:off x="4754880" y="1828800"/>
            <a:ext cx="1828800" cy="1005840"/>
          </a:xfrm>
          <a:prstGeom prst="rect">
            <a:avLst/>
          </a:prstGeom>
          <a:noFill/>
          <a:ln/>
        </p:spPr>
        <p:txBody>
          <a:bodyPr wrap="square" rtlCol="0" anchor="ctr"/>
          <a:lstStyle/>
          <a:p>
            <a:pPr algn="ctr" indent="0" marL="0">
              <a:buNone/>
            </a:pPr>
            <a:r>
              <a:rPr lang="en-US" sz="950" b="1" dirty="0">
                <a:solidFill>
                  <a:srgbClr val="D4951A"/>
                </a:solidFill>
                <a:latin typeface="Georgia" pitchFamily="34" charset="0"/>
                <a:ea typeface="Georgia" pitchFamily="34" charset="-122"/>
                <a:cs typeface="Georgia" pitchFamily="34" charset="-120"/>
              </a:rPr>
              <a:t>LIGNE DE</a:t>
            </a:r>
            <a:endParaRPr lang="en-US" sz="950" dirty="0"/>
          </a:p>
          <a:p>
            <a:pPr algn="ctr" indent="0" marL="0">
              <a:buNone/>
            </a:pPr>
            <a:r>
              <a:rPr lang="en-US" sz="950" b="1" dirty="0">
                <a:solidFill>
                  <a:srgbClr val="D4951A"/>
                </a:solidFill>
                <a:latin typeface="Georgia" pitchFamily="34" charset="0"/>
                <a:ea typeface="Georgia" pitchFamily="34" charset="-122"/>
                <a:cs typeface="Georgia" pitchFamily="34" charset="-120"/>
              </a:rPr>
              <a:t>PRODUCTION 1</a:t>
            </a:r>
            <a:endParaRPr lang="en-US" sz="950" dirty="0"/>
          </a:p>
          <a:p>
            <a:pPr algn="ctr" indent="0" marL="0">
              <a:buNone/>
            </a:pPr>
            <a:r>
              <a:rPr lang="en-US" sz="950" b="1" dirty="0">
                <a:solidFill>
                  <a:srgbClr val="D4951A"/>
                </a:solidFill>
                <a:latin typeface="Georgia" pitchFamily="34" charset="0"/>
                <a:ea typeface="Georgia" pitchFamily="34" charset="-122"/>
                <a:cs typeface="Georgia" pitchFamily="34" charset="-120"/>
              </a:rPr>
              <a:t>5 T/H</a:t>
            </a:r>
            <a:endParaRPr lang="en-US" sz="950" dirty="0"/>
          </a:p>
        </p:txBody>
      </p:sp>
      <p:sp>
        <p:nvSpPr>
          <p:cNvPr id="172" name="Shape 170"/>
          <p:cNvSpPr/>
          <p:nvPr/>
        </p:nvSpPr>
        <p:spPr>
          <a:xfrm>
            <a:off x="4754880" y="3200400"/>
            <a:ext cx="1828800" cy="1005840"/>
          </a:xfrm>
          <a:prstGeom prst="rect">
            <a:avLst/>
          </a:prstGeom>
          <a:solidFill>
            <a:srgbClr val="130F08"/>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173" name="Text 171"/>
          <p:cNvSpPr/>
          <p:nvPr/>
        </p:nvSpPr>
        <p:spPr>
          <a:xfrm>
            <a:off x="4754880" y="3200400"/>
            <a:ext cx="1828800" cy="1005840"/>
          </a:xfrm>
          <a:prstGeom prst="rect">
            <a:avLst/>
          </a:prstGeom>
          <a:noFill/>
          <a:ln/>
        </p:spPr>
        <p:txBody>
          <a:bodyPr wrap="square" rtlCol="0" anchor="ctr"/>
          <a:lstStyle/>
          <a:p>
            <a:pPr algn="ctr" indent="0" marL="0">
              <a:buNone/>
            </a:pPr>
            <a:r>
              <a:rPr lang="en-US" sz="950" b="1" dirty="0">
                <a:solidFill>
                  <a:srgbClr val="C0622B"/>
                </a:solidFill>
                <a:latin typeface="Georgia" pitchFamily="34" charset="0"/>
                <a:ea typeface="Georgia" pitchFamily="34" charset="-122"/>
                <a:cs typeface="Georgia" pitchFamily="34" charset="-120"/>
              </a:rPr>
              <a:t>LIGNE DE</a:t>
            </a:r>
            <a:endParaRPr lang="en-US" sz="950" dirty="0"/>
          </a:p>
          <a:p>
            <a:pPr algn="ctr" indent="0" marL="0">
              <a:buNone/>
            </a:pPr>
            <a:r>
              <a:rPr lang="en-US" sz="950" b="1" dirty="0">
                <a:solidFill>
                  <a:srgbClr val="C0622B"/>
                </a:solidFill>
                <a:latin typeface="Georgia" pitchFamily="34" charset="0"/>
                <a:ea typeface="Georgia" pitchFamily="34" charset="-122"/>
                <a:cs typeface="Georgia" pitchFamily="34" charset="-120"/>
              </a:rPr>
              <a:t>PRODUCTION 2</a:t>
            </a:r>
            <a:endParaRPr lang="en-US" sz="950" dirty="0"/>
          </a:p>
          <a:p>
            <a:pPr algn="ctr" indent="0" marL="0">
              <a:buNone/>
            </a:pPr>
            <a:r>
              <a:rPr lang="en-US" sz="950" b="1" dirty="0">
                <a:solidFill>
                  <a:srgbClr val="C0622B"/>
                </a:solidFill>
                <a:latin typeface="Georgia" pitchFamily="34" charset="0"/>
                <a:ea typeface="Georgia" pitchFamily="34" charset="-122"/>
                <a:cs typeface="Georgia" pitchFamily="34" charset="-120"/>
              </a:rPr>
              <a:t>5 T/H (Année 1)</a:t>
            </a:r>
            <a:endParaRPr lang="en-US" sz="950" dirty="0"/>
          </a:p>
        </p:txBody>
      </p:sp>
      <p:sp>
        <p:nvSpPr>
          <p:cNvPr id="174" name="Shape 172"/>
          <p:cNvSpPr/>
          <p:nvPr/>
        </p:nvSpPr>
        <p:spPr>
          <a:xfrm>
            <a:off x="2194560" y="2331720"/>
            <a:ext cx="2560320" cy="0"/>
          </a:xfrm>
          <a:prstGeom prst="line">
            <a:avLst/>
          </a:prstGeom>
          <a:noFill/>
          <a:ln w="12700">
            <a:solidFill>
              <a:srgbClr val="1B9A8A"/>
            </a:solidFill>
            <a:prstDash val="solid"/>
          </a:ln>
        </p:spPr>
      </p:sp>
      <p:sp>
        <p:nvSpPr>
          <p:cNvPr id="175" name="Text 173"/>
          <p:cNvSpPr/>
          <p:nvPr/>
        </p:nvSpPr>
        <p:spPr>
          <a:xfrm>
            <a:off x="2743200" y="2167128"/>
            <a:ext cx="1371600" cy="228600"/>
          </a:xfrm>
          <a:prstGeom prst="rect">
            <a:avLst/>
          </a:prstGeom>
          <a:noFill/>
          <a:ln/>
        </p:spPr>
        <p:txBody>
          <a:bodyPr wrap="square" rtlCol="0" anchor="ctr"/>
          <a:lstStyle/>
          <a:p>
            <a:pPr algn="ctr" indent="0" marL="0">
              <a:buNone/>
            </a:pPr>
            <a:r>
              <a:rPr lang="en-US" sz="800" b="1" dirty="0">
                <a:solidFill>
                  <a:srgbClr val="1B9A8A"/>
                </a:solidFill>
                <a:latin typeface="Calibri" pitchFamily="34" charset="0"/>
                <a:ea typeface="Calibri" pitchFamily="34" charset="-122"/>
                <a:cs typeface="Calibri" pitchFamily="34" charset="-120"/>
              </a:rPr>
              <a:t>VAPEUR →</a:t>
            </a:r>
            <a:endParaRPr lang="en-US" sz="800" dirty="0"/>
          </a:p>
        </p:txBody>
      </p:sp>
      <p:sp>
        <p:nvSpPr>
          <p:cNvPr id="176" name="Shape 174"/>
          <p:cNvSpPr/>
          <p:nvPr/>
        </p:nvSpPr>
        <p:spPr>
          <a:xfrm>
            <a:off x="2194560" y="3703320"/>
            <a:ext cx="2560320" cy="0"/>
          </a:xfrm>
          <a:prstGeom prst="line">
            <a:avLst/>
          </a:prstGeom>
          <a:noFill/>
          <a:ln w="12700">
            <a:solidFill>
              <a:srgbClr val="E8A020"/>
            </a:solidFill>
            <a:prstDash val="solid"/>
          </a:ln>
        </p:spPr>
      </p:sp>
      <p:sp>
        <p:nvSpPr>
          <p:cNvPr id="177" name="Text 175"/>
          <p:cNvSpPr/>
          <p:nvPr/>
        </p:nvSpPr>
        <p:spPr>
          <a:xfrm>
            <a:off x="2743200" y="3538728"/>
            <a:ext cx="1371600" cy="228600"/>
          </a:xfrm>
          <a:prstGeom prst="rect">
            <a:avLst/>
          </a:prstGeom>
          <a:noFill/>
          <a:ln/>
        </p:spPr>
        <p:txBody>
          <a:bodyPr wrap="square" rtlCol="0" anchor="ctr"/>
          <a:lstStyle/>
          <a:p>
            <a:pPr algn="ctr" indent="0" marL="0">
              <a:buNone/>
            </a:pPr>
            <a:r>
              <a:rPr lang="en-US" sz="800" b="1" dirty="0">
                <a:solidFill>
                  <a:srgbClr val="E8A020"/>
                </a:solidFill>
                <a:latin typeface="Calibri" pitchFamily="34" charset="0"/>
                <a:ea typeface="Calibri" pitchFamily="34" charset="-122"/>
                <a:cs typeface="Calibri" pitchFamily="34" charset="-120"/>
              </a:rPr>
              <a:t>VAPEUR →</a:t>
            </a:r>
            <a:endParaRPr lang="en-US" sz="800" dirty="0"/>
          </a:p>
        </p:txBody>
      </p:sp>
      <p:sp>
        <p:nvSpPr>
          <p:cNvPr id="178" name="Shape 176"/>
          <p:cNvSpPr/>
          <p:nvPr/>
        </p:nvSpPr>
        <p:spPr>
          <a:xfrm>
            <a:off x="6766560" y="1828800"/>
            <a:ext cx="2103120" cy="68580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79" name="Shape 177"/>
          <p:cNvSpPr/>
          <p:nvPr/>
        </p:nvSpPr>
        <p:spPr>
          <a:xfrm>
            <a:off x="6766560" y="1828800"/>
            <a:ext cx="2103120" cy="36576"/>
          </a:xfrm>
          <a:prstGeom prst="rect">
            <a:avLst/>
          </a:prstGeom>
          <a:solidFill>
            <a:srgbClr val="1B9A8A"/>
          </a:solidFill>
          <a:ln/>
        </p:spPr>
      </p:sp>
      <p:sp>
        <p:nvSpPr>
          <p:cNvPr id="180" name="Text 178"/>
          <p:cNvSpPr/>
          <p:nvPr/>
        </p:nvSpPr>
        <p:spPr>
          <a:xfrm>
            <a:off x="6876288" y="1901952"/>
            <a:ext cx="1920240" cy="237744"/>
          </a:xfrm>
          <a:prstGeom prst="rect">
            <a:avLst/>
          </a:prstGeom>
          <a:noFill/>
          <a:ln/>
        </p:spPr>
        <p:txBody>
          <a:bodyPr wrap="square" rtlCol="0" anchor="ctr"/>
          <a:lstStyle/>
          <a:p>
            <a:pPr indent="0" marL="0">
              <a:buNone/>
            </a:pPr>
            <a:r>
              <a:rPr lang="en-US" sz="900" b="1" dirty="0">
                <a:solidFill>
                  <a:srgbClr val="1B9A8A"/>
                </a:solidFill>
                <a:latin typeface="Georgia" pitchFamily="34" charset="0"/>
                <a:ea typeface="Georgia" pitchFamily="34" charset="-122"/>
                <a:cs typeface="Georgia" pitchFamily="34" charset="-120"/>
              </a:rPr>
              <a:t>Indépendance opérationnelle</a:t>
            </a:r>
            <a:endParaRPr lang="en-US" sz="900" dirty="0"/>
          </a:p>
        </p:txBody>
      </p:sp>
      <p:sp>
        <p:nvSpPr>
          <p:cNvPr id="181" name="Text 179"/>
          <p:cNvSpPr/>
          <p:nvPr/>
        </p:nvSpPr>
        <p:spPr>
          <a:xfrm>
            <a:off x="6876288" y="2139696"/>
            <a:ext cx="1920240" cy="347472"/>
          </a:xfrm>
          <a:prstGeom prst="rect">
            <a:avLst/>
          </a:prstGeom>
          <a:noFill/>
          <a:ln/>
        </p:spPr>
        <p:txBody>
          <a:bodyPr wrap="square" rtlCol="0" anchor="t"/>
          <a:lstStyle/>
          <a:p>
            <a:pPr indent="0" marL="0">
              <a:buNone/>
            </a:pPr>
            <a:r>
              <a:rPr lang="en-US" sz="780" dirty="0">
                <a:solidFill>
                  <a:srgbClr val="EDE0C8"/>
                </a:solidFill>
                <a:latin typeface="Calibri" pitchFamily="34" charset="0"/>
                <a:ea typeface="Calibri" pitchFamily="34" charset="-122"/>
                <a:cs typeface="Calibri" pitchFamily="34" charset="-120"/>
              </a:rPr>
              <a:t>Chaque ligne démarre, s'arrête et est maintenue indépendamment. La production Ligne 1 n'est jamais affectée par la maintenance de la Chaudière 2.</a:t>
            </a:r>
            <a:endParaRPr lang="en-US" sz="780" dirty="0"/>
          </a:p>
        </p:txBody>
      </p:sp>
      <p:sp>
        <p:nvSpPr>
          <p:cNvPr id="182" name="Shape 180"/>
          <p:cNvSpPr/>
          <p:nvPr/>
        </p:nvSpPr>
        <p:spPr>
          <a:xfrm>
            <a:off x="6766560" y="2578608"/>
            <a:ext cx="2103120" cy="685800"/>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83" name="Shape 181"/>
          <p:cNvSpPr/>
          <p:nvPr/>
        </p:nvSpPr>
        <p:spPr>
          <a:xfrm>
            <a:off x="6766560" y="2578608"/>
            <a:ext cx="2103120" cy="36576"/>
          </a:xfrm>
          <a:prstGeom prst="rect">
            <a:avLst/>
          </a:prstGeom>
          <a:solidFill>
            <a:srgbClr val="D4951A"/>
          </a:solidFill>
          <a:ln/>
        </p:spPr>
      </p:sp>
      <p:sp>
        <p:nvSpPr>
          <p:cNvPr id="184" name="Text 182"/>
          <p:cNvSpPr/>
          <p:nvPr/>
        </p:nvSpPr>
        <p:spPr>
          <a:xfrm>
            <a:off x="6876288" y="2651760"/>
            <a:ext cx="1920240" cy="237744"/>
          </a:xfrm>
          <a:prstGeom prst="rect">
            <a:avLst/>
          </a:prstGeom>
          <a:noFill/>
          <a:ln/>
        </p:spPr>
        <p:txBody>
          <a:bodyPr wrap="square" rtlCol="0" anchor="ctr"/>
          <a:lstStyle/>
          <a:p>
            <a:pPr indent="0" marL="0">
              <a:buNone/>
            </a:pPr>
            <a:r>
              <a:rPr lang="en-US" sz="900" b="1" dirty="0">
                <a:solidFill>
                  <a:srgbClr val="D4951A"/>
                </a:solidFill>
                <a:latin typeface="Georgia" pitchFamily="34" charset="0"/>
                <a:ea typeface="Georgia" pitchFamily="34" charset="-122"/>
                <a:cs typeface="Georgia" pitchFamily="34" charset="-120"/>
              </a:rPr>
              <a:t>Redondance N+1 intégrée</a:t>
            </a:r>
            <a:endParaRPr lang="en-US" sz="900" dirty="0"/>
          </a:p>
        </p:txBody>
      </p:sp>
      <p:sp>
        <p:nvSpPr>
          <p:cNvPr id="185" name="Text 183"/>
          <p:cNvSpPr/>
          <p:nvPr/>
        </p:nvSpPr>
        <p:spPr>
          <a:xfrm>
            <a:off x="6876288" y="2889504"/>
            <a:ext cx="1920240" cy="347472"/>
          </a:xfrm>
          <a:prstGeom prst="rect">
            <a:avLst/>
          </a:prstGeom>
          <a:noFill/>
          <a:ln/>
        </p:spPr>
        <p:txBody>
          <a:bodyPr wrap="square" rtlCol="0" anchor="t"/>
          <a:lstStyle/>
          <a:p>
            <a:pPr indent="0" marL="0">
              <a:buNone/>
            </a:pPr>
            <a:r>
              <a:rPr lang="en-US" sz="780" dirty="0">
                <a:solidFill>
                  <a:srgbClr val="EDE0C8"/>
                </a:solidFill>
                <a:latin typeface="Calibri" pitchFamily="34" charset="0"/>
                <a:ea typeface="Calibri" pitchFamily="34" charset="-122"/>
                <a:cs typeface="Calibri" pitchFamily="34" charset="-120"/>
              </a:rPr>
              <a:t>Si la Chaudière 1 déclenche, la Ligne 1 ralentit mais ne s'arrête pas si la Chaudière 2 peut alimenter temporairement via un collecteur de secours.</a:t>
            </a:r>
            <a:endParaRPr lang="en-US" sz="780" dirty="0"/>
          </a:p>
        </p:txBody>
      </p:sp>
      <p:sp>
        <p:nvSpPr>
          <p:cNvPr id="186" name="Shape 184"/>
          <p:cNvSpPr/>
          <p:nvPr/>
        </p:nvSpPr>
        <p:spPr>
          <a:xfrm>
            <a:off x="6766560" y="3328416"/>
            <a:ext cx="2103120" cy="685800"/>
          </a:xfrm>
          <a:prstGeom prst="rect">
            <a:avLst/>
          </a:prstGeom>
          <a:solidFill>
            <a:srgbClr val="14141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187" name="Shape 185"/>
          <p:cNvSpPr/>
          <p:nvPr/>
        </p:nvSpPr>
        <p:spPr>
          <a:xfrm>
            <a:off x="6766560" y="3328416"/>
            <a:ext cx="2103120" cy="36576"/>
          </a:xfrm>
          <a:prstGeom prst="rect">
            <a:avLst/>
          </a:prstGeom>
          <a:solidFill>
            <a:srgbClr val="E8A020"/>
          </a:solidFill>
          <a:ln/>
        </p:spPr>
      </p:sp>
      <p:sp>
        <p:nvSpPr>
          <p:cNvPr id="188" name="Text 186"/>
          <p:cNvSpPr/>
          <p:nvPr/>
        </p:nvSpPr>
        <p:spPr>
          <a:xfrm>
            <a:off x="6876288" y="3401568"/>
            <a:ext cx="1920240" cy="237744"/>
          </a:xfrm>
          <a:prstGeom prst="rect">
            <a:avLst/>
          </a:prstGeom>
          <a:noFill/>
          <a:ln/>
        </p:spPr>
        <p:txBody>
          <a:bodyPr wrap="square" rtlCol="0" anchor="ctr"/>
          <a:lstStyle/>
          <a:p>
            <a:pPr indent="0" marL="0">
              <a:buNone/>
            </a:pPr>
            <a:r>
              <a:rPr lang="en-US" sz="900" b="1" dirty="0">
                <a:solidFill>
                  <a:srgbClr val="E8A020"/>
                </a:solidFill>
                <a:latin typeface="Georgia" pitchFamily="34" charset="0"/>
                <a:ea typeface="Georgia" pitchFamily="34" charset="-122"/>
                <a:cs typeface="Georgia" pitchFamily="34" charset="-120"/>
              </a:rPr>
              <a:t>Efficacité à charge partielle</a:t>
            </a:r>
            <a:endParaRPr lang="en-US" sz="900" dirty="0"/>
          </a:p>
        </p:txBody>
      </p:sp>
      <p:sp>
        <p:nvSpPr>
          <p:cNvPr id="189" name="Text 187"/>
          <p:cNvSpPr/>
          <p:nvPr/>
        </p:nvSpPr>
        <p:spPr>
          <a:xfrm>
            <a:off x="6876288" y="3639312"/>
            <a:ext cx="1920240" cy="347472"/>
          </a:xfrm>
          <a:prstGeom prst="rect">
            <a:avLst/>
          </a:prstGeom>
          <a:noFill/>
          <a:ln/>
        </p:spPr>
        <p:txBody>
          <a:bodyPr wrap="square" rtlCol="0" anchor="t"/>
          <a:lstStyle/>
          <a:p>
            <a:pPr indent="0" marL="0">
              <a:buNone/>
            </a:pPr>
            <a:r>
              <a:rPr lang="en-US" sz="780" dirty="0">
                <a:solidFill>
                  <a:srgbClr val="EDE0C8"/>
                </a:solidFill>
                <a:latin typeface="Calibri" pitchFamily="34" charset="0"/>
                <a:ea typeface="Calibri" pitchFamily="34" charset="-122"/>
                <a:cs typeface="Calibri" pitchFamily="34" charset="-120"/>
              </a:rPr>
              <a:t>Lorsque seule la Ligne 1 est en production, la Chaudière 2 est hors ligne. Chaque chaudière fonctionne à son point de conception optimal.</a:t>
            </a:r>
            <a:endParaRPr lang="en-US" sz="780" dirty="0"/>
          </a:p>
        </p:txBody>
      </p:sp>
      <p:sp>
        <p:nvSpPr>
          <p:cNvPr id="190" name="Shape 188"/>
          <p:cNvSpPr/>
          <p:nvPr/>
        </p:nvSpPr>
        <p:spPr>
          <a:xfrm>
            <a:off x="6766560" y="4078224"/>
            <a:ext cx="2103120" cy="685800"/>
          </a:xfrm>
          <a:prstGeom prst="rect">
            <a:avLst/>
          </a:prstGeom>
          <a:solidFill>
            <a:srgbClr val="141418"/>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191" name="Shape 189"/>
          <p:cNvSpPr/>
          <p:nvPr/>
        </p:nvSpPr>
        <p:spPr>
          <a:xfrm>
            <a:off x="6766560" y="4078224"/>
            <a:ext cx="2103120" cy="36576"/>
          </a:xfrm>
          <a:prstGeom prst="rect">
            <a:avLst/>
          </a:prstGeom>
          <a:solidFill>
            <a:srgbClr val="C0622B"/>
          </a:solidFill>
          <a:ln/>
        </p:spPr>
      </p:sp>
      <p:sp>
        <p:nvSpPr>
          <p:cNvPr id="192" name="Text 190"/>
          <p:cNvSpPr/>
          <p:nvPr/>
        </p:nvSpPr>
        <p:spPr>
          <a:xfrm>
            <a:off x="6876288" y="4151376"/>
            <a:ext cx="1920240" cy="237744"/>
          </a:xfrm>
          <a:prstGeom prst="rect">
            <a:avLst/>
          </a:prstGeom>
          <a:noFill/>
          <a:ln/>
        </p:spPr>
        <p:txBody>
          <a:bodyPr wrap="square" rtlCol="0" anchor="ctr"/>
          <a:lstStyle/>
          <a:p>
            <a:pPr indent="0" marL="0">
              <a:buNone/>
            </a:pPr>
            <a:r>
              <a:rPr lang="en-US" sz="900" b="1" dirty="0">
                <a:solidFill>
                  <a:srgbClr val="C0622B"/>
                </a:solidFill>
                <a:latin typeface="Georgia" pitchFamily="34" charset="0"/>
                <a:ea typeface="Georgia" pitchFamily="34" charset="-122"/>
                <a:cs typeface="Georgia" pitchFamily="34" charset="-120"/>
              </a:rPr>
              <a:t>Simplification HACCP</a:t>
            </a:r>
            <a:endParaRPr lang="en-US" sz="900" dirty="0"/>
          </a:p>
        </p:txBody>
      </p:sp>
      <p:sp>
        <p:nvSpPr>
          <p:cNvPr id="193" name="Text 191"/>
          <p:cNvSpPr/>
          <p:nvPr/>
        </p:nvSpPr>
        <p:spPr>
          <a:xfrm>
            <a:off x="6876288" y="4389120"/>
            <a:ext cx="1920240" cy="347472"/>
          </a:xfrm>
          <a:prstGeom prst="rect">
            <a:avLst/>
          </a:prstGeom>
          <a:noFill/>
          <a:ln/>
        </p:spPr>
        <p:txBody>
          <a:bodyPr wrap="square" rtlCol="0" anchor="t"/>
          <a:lstStyle/>
          <a:p>
            <a:pPr indent="0" marL="0">
              <a:buNone/>
            </a:pPr>
            <a:r>
              <a:rPr lang="en-US" sz="780" dirty="0">
                <a:solidFill>
                  <a:srgbClr val="EDE0C8"/>
                </a:solidFill>
                <a:latin typeface="Calibri" pitchFamily="34" charset="0"/>
                <a:ea typeface="Calibri" pitchFamily="34" charset="-122"/>
                <a:cs typeface="Calibri" pitchFamily="34" charset="-120"/>
              </a:rPr>
              <a:t>Chaque chaudière alimente une ligne — la traçabilité est directe. En cas d'anomalie qualité vapeur, les produits concernés se limitent à une ligne.</a:t>
            </a:r>
            <a:endParaRPr lang="en-US" sz="780" dirty="0"/>
          </a:p>
        </p:txBody>
      </p:sp>
      <p:sp>
        <p:nvSpPr>
          <p:cNvPr id="194" name="Shape 192"/>
          <p:cNvSpPr/>
          <p:nvPr/>
        </p:nvSpPr>
        <p:spPr>
          <a:xfrm>
            <a:off x="365760" y="4315968"/>
            <a:ext cx="4370832" cy="475488"/>
          </a:xfrm>
          <a:prstGeom prst="rect">
            <a:avLst/>
          </a:prstGeom>
          <a:solidFill>
            <a:srgbClr val="141418"/>
          </a:solidFill>
          <a:ln w="12700">
            <a:solidFill>
              <a:srgbClr val="C0622B"/>
            </a:solidFill>
            <a:prstDash val="solid"/>
          </a:ln>
        </p:spPr>
      </p:sp>
      <p:sp>
        <p:nvSpPr>
          <p:cNvPr id="195" name="Shape 193"/>
          <p:cNvSpPr/>
          <p:nvPr/>
        </p:nvSpPr>
        <p:spPr>
          <a:xfrm>
            <a:off x="365760" y="4315968"/>
            <a:ext cx="54864" cy="475488"/>
          </a:xfrm>
          <a:prstGeom prst="rect">
            <a:avLst/>
          </a:prstGeom>
          <a:solidFill>
            <a:srgbClr val="C0622B"/>
          </a:solidFill>
          <a:ln/>
        </p:spPr>
      </p:sp>
      <p:sp>
        <p:nvSpPr>
          <p:cNvPr id="196" name="Text 194"/>
          <p:cNvSpPr/>
          <p:nvPr/>
        </p:nvSpPr>
        <p:spPr>
          <a:xfrm>
            <a:off x="512064" y="4352544"/>
            <a:ext cx="4133088" cy="402336"/>
          </a:xfrm>
          <a:prstGeom prst="rect">
            <a:avLst/>
          </a:prstGeom>
          <a:noFill/>
          <a:ln/>
        </p:spPr>
        <p:txBody>
          <a:bodyPr wrap="square" rtlCol="0" anchor="ctr"/>
          <a:lstStyle/>
          <a:p>
            <a:pPr indent="0" marL="0">
              <a:buNone/>
            </a:pPr>
            <a:r>
              <a:rPr lang="en-US" sz="950" b="1" dirty="0">
                <a:solidFill>
                  <a:srgbClr val="C0622B"/>
                </a:solidFill>
                <a:latin typeface="Calibri" pitchFamily="34" charset="0"/>
                <a:ea typeface="Calibri" pitchFamily="34" charset="-122"/>
                <a:cs typeface="Calibri" pitchFamily="34" charset="-120"/>
              </a:rPr>
              <a:t>Infrastructure GPL : </a:t>
            </a:r>
            <a:pPr indent="0" marL="0">
              <a:buNone/>
            </a:pPr>
            <a:r>
              <a:rPr lang="en-US" sz="900" dirty="0">
                <a:solidFill>
                  <a:srgbClr val="EDE0C8"/>
                </a:solidFill>
                <a:latin typeface="Calibri" pitchFamily="34" charset="0"/>
                <a:ea typeface="Calibri" pitchFamily="34" charset="-122"/>
                <a:cs typeface="Calibri" pitchFamily="34" charset="-120"/>
              </a:rPr>
              <a:t>Une cuve GPL en vrac de 15T partagée + évaporateur alimente les deux chaudières. Spécifier des brûleurs bi-combustibles (GPL + GN futur) pour se prémunir contre un changement de carburant.</a:t>
            </a:r>
            <a:endParaRPr lang="en-US" sz="950" dirty="0"/>
          </a:p>
        </p:txBody>
      </p:sp>
      <p:sp>
        <p:nvSpPr>
          <p:cNvPr id="197" name="Shape 195"/>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49" name="Shape 247"/>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50" name="Shape 248"/>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51" name="Shape 249"/>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52" name="Shape 250"/>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53" name="Shape 251"/>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54" name="Shape 252"/>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55" name="Shape 253"/>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56" name="Shape 254"/>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59" name="Shape 257"/>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60" name="Shape 258"/>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61" name="Shape 259"/>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62" name="Shape 260"/>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63" name="Shape 261"/>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64" name="Shape 262"/>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65" name="Shape 263"/>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66" name="Shape 264"/>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67" name="Shape 265"/>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68" name="Shape 266"/>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69" name="Shape 267"/>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70" name="Shape 268"/>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71" name="Shape 269"/>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72" name="Shape 270"/>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73" name="Shape 271"/>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74" name="Shape 272"/>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75" name="Text 273"/>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REGISTRE DES RISQUES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Risques clés et mesures d'atténuation — sélection et mise en service chaudière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56032" y="932688"/>
          <a:ext cx="8631936" cy="914400"/>
        </p:xfrm>
        <a:graphic>
          <a:graphicData uri="http://schemas.openxmlformats.org/drawingml/2006/table">
            <a:tbl>
              <a:tblPr/>
              <a:tblGrid>
                <a:gridCol w="2651760"/>
                <a:gridCol w="594360"/>
                <a:gridCol w="548640"/>
                <a:gridCol w="4837176"/>
              </a:tblGrid>
              <a:tr h="475488">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Risque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Proba.</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Mesure d'atténuation &amp; Responsable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Interruption approvisionnement GPL — pas de carburant de secours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Spécifier brûleur bi-combustible à l'achat. Maintenir un stock tampon min. 10T GPL sur site. Définir procédures d'urgence.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Retard livraison chaudière (délai Europe/Asie)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La chaudière est sur le chemin critique. Émettre le bon de commande en premier. GVI européens (Clayton Belgique, Miura UK) : 12–20 semaines. Suivi hebdomadaire.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Pièces GVI non disponibles au Maroc</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Négocier un kit pièces critiques 2 ans dans le contrat d'achat. Stocker localement : serpentins, injecteurs brûleur, capteurs, soupape sécurité, contrôleur BMS.</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Fournisseur GPL unique — risque prix ou approvisionnement</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Contracter avec deux fournisseurs GPL avant la mise en service. Négocier un prix fixe 1ère année pour se couvrir contre la volatilité.</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Qualité vapeur hors spec — défaillance HACCP</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FAIBLE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Produits chimiques NSF H1 dès le premier jour. Journal qualité eau quotidien. Test laboratoire vapeur indépendant trimestriel. SOP surveillance CCP en place avant premier export.</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Certificat appareil sous pression non obtenu avant mise en service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FAIBLE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Contacter immédiatement l'autorité marocaine d'inspection certifiée. Le certificat annuel est une obligation légale d'exploitation — sans certificat = illégal.</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Brûleur GPL converti terrain depuis gaz naturel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ÉLEVÉ</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FAIBLE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Spécifier dans l'appel d'offres : brûleur GPL homologué et calibré en usine — aucune conversion terrain acceptée. Exigence contractuelle obligatoire.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Chaudière surdimensionnée vs demande vapeur réelle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MOY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Obtenir le tableau de consommation vapeur FAMSUN par étape process avant émission bon de commande. Valider que 2 123 Kg/H est confirmé et complet.</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89" name="Shape 86"/>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0" name="Shape 87"/>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1" name="Shape 88"/>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2" name="Shape 89"/>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3" name="Shape 90"/>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67" name="Text 164"/>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CAHIER DES CHARGES</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Exigences obligatoires à inclure dans tout document d'appel d'offres chaudière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14400"/>
            <a:ext cx="2834640" cy="45720"/>
          </a:xfrm>
          <a:prstGeom prst="rect">
            <a:avLst/>
          </a:prstGeom>
          <a:solidFill>
            <a:srgbClr val="D4951A"/>
          </a:solidFill>
          <a:ln/>
        </p:spPr>
      </p:sp>
      <p:sp>
        <p:nvSpPr>
          <p:cNvPr id="90" name="Shape 88"/>
          <p:cNvSpPr/>
          <p:nvPr/>
        </p:nvSpPr>
        <p:spPr>
          <a:xfrm rot="2700000">
            <a:off x="1554480" y="868680"/>
            <a:ext cx="91440" cy="91440"/>
          </a:xfrm>
          <a:prstGeom prst="rect">
            <a:avLst/>
          </a:prstGeom>
          <a:solidFill>
            <a:srgbClr val="D4951A"/>
          </a:solidFill>
          <a:ln w="12700">
            <a:solidFill>
              <a:srgbClr val="09090F"/>
            </a:solidFill>
            <a:prstDash val="solid"/>
          </a:ln>
        </p:spPr>
      </p:sp>
      <p:sp>
        <p:nvSpPr>
          <p:cNvPr id="91" name="Text 89"/>
          <p:cNvSpPr/>
          <p:nvPr/>
        </p:nvSpPr>
        <p:spPr>
          <a:xfrm>
            <a:off x="365760" y="969264"/>
            <a:ext cx="2651760" cy="365760"/>
          </a:xfrm>
          <a:prstGeom prst="rect">
            <a:avLst/>
          </a:prstGeom>
          <a:noFill/>
          <a:ln/>
        </p:spPr>
        <p:txBody>
          <a:bodyPr wrap="square" rtlCol="0" anchor="ctr"/>
          <a:lstStyle/>
          <a:p>
            <a:pPr indent="0" marL="0">
              <a:buNone/>
            </a:pPr>
            <a:r>
              <a:rPr lang="en-US" sz="1000" b="1" dirty="0">
                <a:solidFill>
                  <a:srgbClr val="D4951A"/>
                </a:solidFill>
                <a:latin typeface="Georgia" pitchFamily="34" charset="0"/>
                <a:ea typeface="Georgia" pitchFamily="34" charset="-122"/>
                <a:cs typeface="Georgia" pitchFamily="34" charset="-120"/>
              </a:rPr>
              <a:t>SPÉCIFICATIONS TECHNIQUES OBLIGATOIRES</a:t>
            </a:r>
            <a:endParaRPr lang="en-US" sz="1000" dirty="0"/>
          </a:p>
        </p:txBody>
      </p:sp>
      <p:sp>
        <p:nvSpPr>
          <p:cNvPr id="92" name="Shape 90"/>
          <p:cNvSpPr/>
          <p:nvPr/>
        </p:nvSpPr>
        <p:spPr>
          <a:xfrm rot="2700000">
            <a:off x="10973" y="1371600"/>
            <a:ext cx="77724" cy="77724"/>
          </a:xfrm>
          <a:prstGeom prst="rect">
            <a:avLst/>
          </a:prstGeom>
          <a:solidFill>
            <a:srgbClr val="D4951A">
              <a:alpha val="18000"/>
            </a:srgbClr>
          </a:solidFill>
          <a:ln w="12700">
            <a:solidFill>
              <a:srgbClr val="D4951A"/>
            </a:solidFill>
            <a:prstDash val="solid"/>
          </a:ln>
        </p:spPr>
      </p:sp>
      <p:sp>
        <p:nvSpPr>
          <p:cNvPr id="93" name="Shape 91"/>
          <p:cNvSpPr/>
          <p:nvPr/>
        </p:nvSpPr>
        <p:spPr>
          <a:xfrm rot="2700000">
            <a:off x="128016" y="1371600"/>
            <a:ext cx="77724" cy="77724"/>
          </a:xfrm>
          <a:prstGeom prst="rect">
            <a:avLst/>
          </a:prstGeom>
          <a:solidFill>
            <a:srgbClr val="D4951A">
              <a:alpha val="18000"/>
            </a:srgbClr>
          </a:solidFill>
          <a:ln w="12700">
            <a:solidFill>
              <a:srgbClr val="D4951A"/>
            </a:solidFill>
            <a:prstDash val="solid"/>
          </a:ln>
        </p:spPr>
      </p:sp>
      <p:sp>
        <p:nvSpPr>
          <p:cNvPr id="94" name="Shape 92"/>
          <p:cNvSpPr/>
          <p:nvPr/>
        </p:nvSpPr>
        <p:spPr>
          <a:xfrm rot="2700000">
            <a:off x="245059" y="1371600"/>
            <a:ext cx="77724" cy="77724"/>
          </a:xfrm>
          <a:prstGeom prst="rect">
            <a:avLst/>
          </a:prstGeom>
          <a:solidFill>
            <a:srgbClr val="D4951A">
              <a:alpha val="18000"/>
            </a:srgbClr>
          </a:solidFill>
          <a:ln w="12700">
            <a:solidFill>
              <a:srgbClr val="D4951A"/>
            </a:solidFill>
            <a:prstDash val="solid"/>
          </a:ln>
        </p:spPr>
      </p:sp>
      <p:sp>
        <p:nvSpPr>
          <p:cNvPr id="95" name="Shape 93"/>
          <p:cNvSpPr/>
          <p:nvPr/>
        </p:nvSpPr>
        <p:spPr>
          <a:xfrm rot="2700000">
            <a:off x="362102" y="1371600"/>
            <a:ext cx="77724" cy="77724"/>
          </a:xfrm>
          <a:prstGeom prst="rect">
            <a:avLst/>
          </a:prstGeom>
          <a:solidFill>
            <a:srgbClr val="D4951A">
              <a:alpha val="18000"/>
            </a:srgbClr>
          </a:solidFill>
          <a:ln w="12700">
            <a:solidFill>
              <a:srgbClr val="D4951A"/>
            </a:solidFill>
            <a:prstDash val="solid"/>
          </a:ln>
        </p:spPr>
      </p:sp>
      <p:sp>
        <p:nvSpPr>
          <p:cNvPr id="96" name="Shape 94"/>
          <p:cNvSpPr/>
          <p:nvPr/>
        </p:nvSpPr>
        <p:spPr>
          <a:xfrm rot="2700000">
            <a:off x="479146" y="1371600"/>
            <a:ext cx="77724" cy="77724"/>
          </a:xfrm>
          <a:prstGeom prst="rect">
            <a:avLst/>
          </a:prstGeom>
          <a:solidFill>
            <a:srgbClr val="D4951A">
              <a:alpha val="18000"/>
            </a:srgbClr>
          </a:solidFill>
          <a:ln w="12700">
            <a:solidFill>
              <a:srgbClr val="D4951A"/>
            </a:solidFill>
            <a:prstDash val="solid"/>
          </a:ln>
        </p:spPr>
      </p:sp>
      <p:sp>
        <p:nvSpPr>
          <p:cNvPr id="97" name="Shape 95"/>
          <p:cNvSpPr/>
          <p:nvPr/>
        </p:nvSpPr>
        <p:spPr>
          <a:xfrm rot="2700000">
            <a:off x="596189" y="1371600"/>
            <a:ext cx="77724" cy="77724"/>
          </a:xfrm>
          <a:prstGeom prst="rect">
            <a:avLst/>
          </a:prstGeom>
          <a:solidFill>
            <a:srgbClr val="D4951A">
              <a:alpha val="18000"/>
            </a:srgbClr>
          </a:solidFill>
          <a:ln w="12700">
            <a:solidFill>
              <a:srgbClr val="D4951A"/>
            </a:solidFill>
            <a:prstDash val="solid"/>
          </a:ln>
        </p:spPr>
      </p:sp>
      <p:sp>
        <p:nvSpPr>
          <p:cNvPr id="98" name="Shape 96"/>
          <p:cNvSpPr/>
          <p:nvPr/>
        </p:nvSpPr>
        <p:spPr>
          <a:xfrm rot="2700000">
            <a:off x="713232" y="1371600"/>
            <a:ext cx="77724" cy="77724"/>
          </a:xfrm>
          <a:prstGeom prst="rect">
            <a:avLst/>
          </a:prstGeom>
          <a:solidFill>
            <a:srgbClr val="D4951A">
              <a:alpha val="18000"/>
            </a:srgbClr>
          </a:solidFill>
          <a:ln w="12700">
            <a:solidFill>
              <a:srgbClr val="D4951A"/>
            </a:solidFill>
            <a:prstDash val="solid"/>
          </a:ln>
        </p:spPr>
      </p:sp>
      <p:sp>
        <p:nvSpPr>
          <p:cNvPr id="99" name="Shape 97"/>
          <p:cNvSpPr/>
          <p:nvPr/>
        </p:nvSpPr>
        <p:spPr>
          <a:xfrm rot="2700000">
            <a:off x="830275" y="1371600"/>
            <a:ext cx="77724" cy="77724"/>
          </a:xfrm>
          <a:prstGeom prst="rect">
            <a:avLst/>
          </a:prstGeom>
          <a:solidFill>
            <a:srgbClr val="D4951A">
              <a:alpha val="18000"/>
            </a:srgbClr>
          </a:solidFill>
          <a:ln w="12700">
            <a:solidFill>
              <a:srgbClr val="D4951A"/>
            </a:solidFill>
            <a:prstDash val="solid"/>
          </a:ln>
        </p:spPr>
      </p:sp>
      <p:sp>
        <p:nvSpPr>
          <p:cNvPr id="100" name="Shape 98"/>
          <p:cNvSpPr/>
          <p:nvPr/>
        </p:nvSpPr>
        <p:spPr>
          <a:xfrm rot="2700000">
            <a:off x="947318" y="1371600"/>
            <a:ext cx="77724" cy="77724"/>
          </a:xfrm>
          <a:prstGeom prst="rect">
            <a:avLst/>
          </a:prstGeom>
          <a:solidFill>
            <a:srgbClr val="D4951A">
              <a:alpha val="18000"/>
            </a:srgbClr>
          </a:solidFill>
          <a:ln w="12700">
            <a:solidFill>
              <a:srgbClr val="D4951A"/>
            </a:solidFill>
            <a:prstDash val="solid"/>
          </a:ln>
        </p:spPr>
      </p:sp>
      <p:sp>
        <p:nvSpPr>
          <p:cNvPr id="101" name="Shape 99"/>
          <p:cNvSpPr/>
          <p:nvPr/>
        </p:nvSpPr>
        <p:spPr>
          <a:xfrm rot="2700000">
            <a:off x="1064362" y="1371600"/>
            <a:ext cx="77724" cy="77724"/>
          </a:xfrm>
          <a:prstGeom prst="rect">
            <a:avLst/>
          </a:prstGeom>
          <a:solidFill>
            <a:srgbClr val="D4951A">
              <a:alpha val="18000"/>
            </a:srgbClr>
          </a:solidFill>
          <a:ln w="12700">
            <a:solidFill>
              <a:srgbClr val="D4951A"/>
            </a:solidFill>
            <a:prstDash val="solid"/>
          </a:ln>
        </p:spPr>
      </p:sp>
      <p:sp>
        <p:nvSpPr>
          <p:cNvPr id="102" name="Shape 100"/>
          <p:cNvSpPr/>
          <p:nvPr/>
        </p:nvSpPr>
        <p:spPr>
          <a:xfrm rot="2700000">
            <a:off x="1181405" y="1371600"/>
            <a:ext cx="77724" cy="77724"/>
          </a:xfrm>
          <a:prstGeom prst="rect">
            <a:avLst/>
          </a:prstGeom>
          <a:solidFill>
            <a:srgbClr val="D4951A">
              <a:alpha val="18000"/>
            </a:srgbClr>
          </a:solidFill>
          <a:ln w="12700">
            <a:solidFill>
              <a:srgbClr val="D4951A"/>
            </a:solidFill>
            <a:prstDash val="solid"/>
          </a:ln>
        </p:spPr>
      </p:sp>
      <p:sp>
        <p:nvSpPr>
          <p:cNvPr id="103" name="Shape 101"/>
          <p:cNvSpPr/>
          <p:nvPr/>
        </p:nvSpPr>
        <p:spPr>
          <a:xfrm rot="2700000">
            <a:off x="1298448" y="1371600"/>
            <a:ext cx="77724" cy="77724"/>
          </a:xfrm>
          <a:prstGeom prst="rect">
            <a:avLst/>
          </a:prstGeom>
          <a:solidFill>
            <a:srgbClr val="D4951A">
              <a:alpha val="18000"/>
            </a:srgbClr>
          </a:solidFill>
          <a:ln w="12700">
            <a:solidFill>
              <a:srgbClr val="D4951A"/>
            </a:solidFill>
            <a:prstDash val="solid"/>
          </a:ln>
        </p:spPr>
      </p:sp>
      <p:sp>
        <p:nvSpPr>
          <p:cNvPr id="104" name="Shape 102"/>
          <p:cNvSpPr/>
          <p:nvPr/>
        </p:nvSpPr>
        <p:spPr>
          <a:xfrm rot="2700000">
            <a:off x="1415491" y="1371600"/>
            <a:ext cx="77724" cy="77724"/>
          </a:xfrm>
          <a:prstGeom prst="rect">
            <a:avLst/>
          </a:prstGeom>
          <a:solidFill>
            <a:srgbClr val="D4951A">
              <a:alpha val="18000"/>
            </a:srgbClr>
          </a:solidFill>
          <a:ln w="12700">
            <a:solidFill>
              <a:srgbClr val="D4951A"/>
            </a:solidFill>
            <a:prstDash val="solid"/>
          </a:ln>
        </p:spPr>
      </p:sp>
      <p:sp>
        <p:nvSpPr>
          <p:cNvPr id="105" name="Shape 103"/>
          <p:cNvSpPr/>
          <p:nvPr/>
        </p:nvSpPr>
        <p:spPr>
          <a:xfrm rot="2700000">
            <a:off x="1532534" y="1371600"/>
            <a:ext cx="77724" cy="77724"/>
          </a:xfrm>
          <a:prstGeom prst="rect">
            <a:avLst/>
          </a:prstGeom>
          <a:solidFill>
            <a:srgbClr val="D4951A">
              <a:alpha val="18000"/>
            </a:srgbClr>
          </a:solidFill>
          <a:ln w="12700">
            <a:solidFill>
              <a:srgbClr val="D4951A"/>
            </a:solidFill>
            <a:prstDash val="solid"/>
          </a:ln>
        </p:spPr>
      </p:sp>
      <p:sp>
        <p:nvSpPr>
          <p:cNvPr id="106" name="Shape 104"/>
          <p:cNvSpPr/>
          <p:nvPr/>
        </p:nvSpPr>
        <p:spPr>
          <a:xfrm rot="2700000">
            <a:off x="1649578" y="1371600"/>
            <a:ext cx="77724" cy="77724"/>
          </a:xfrm>
          <a:prstGeom prst="rect">
            <a:avLst/>
          </a:prstGeom>
          <a:solidFill>
            <a:srgbClr val="D4951A">
              <a:alpha val="18000"/>
            </a:srgbClr>
          </a:solidFill>
          <a:ln w="12700">
            <a:solidFill>
              <a:srgbClr val="D4951A"/>
            </a:solidFill>
            <a:prstDash val="solid"/>
          </a:ln>
        </p:spPr>
      </p:sp>
      <p:sp>
        <p:nvSpPr>
          <p:cNvPr id="107" name="Shape 105"/>
          <p:cNvSpPr/>
          <p:nvPr/>
        </p:nvSpPr>
        <p:spPr>
          <a:xfrm rot="2700000">
            <a:off x="1766621" y="1371600"/>
            <a:ext cx="77724" cy="77724"/>
          </a:xfrm>
          <a:prstGeom prst="rect">
            <a:avLst/>
          </a:prstGeom>
          <a:solidFill>
            <a:srgbClr val="D4951A">
              <a:alpha val="18000"/>
            </a:srgbClr>
          </a:solidFill>
          <a:ln w="12700">
            <a:solidFill>
              <a:srgbClr val="D4951A"/>
            </a:solidFill>
            <a:prstDash val="solid"/>
          </a:ln>
        </p:spPr>
      </p:sp>
      <p:sp>
        <p:nvSpPr>
          <p:cNvPr id="108" name="Shape 106"/>
          <p:cNvSpPr/>
          <p:nvPr/>
        </p:nvSpPr>
        <p:spPr>
          <a:xfrm rot="2700000">
            <a:off x="1883664" y="1371600"/>
            <a:ext cx="77724" cy="77724"/>
          </a:xfrm>
          <a:prstGeom prst="rect">
            <a:avLst/>
          </a:prstGeom>
          <a:solidFill>
            <a:srgbClr val="D4951A">
              <a:alpha val="18000"/>
            </a:srgbClr>
          </a:solidFill>
          <a:ln w="12700">
            <a:solidFill>
              <a:srgbClr val="D4951A"/>
            </a:solidFill>
            <a:prstDash val="solid"/>
          </a:ln>
        </p:spPr>
      </p:sp>
      <p:sp>
        <p:nvSpPr>
          <p:cNvPr id="109" name="Shape 107"/>
          <p:cNvSpPr/>
          <p:nvPr/>
        </p:nvSpPr>
        <p:spPr>
          <a:xfrm rot="2700000">
            <a:off x="2000707" y="1371600"/>
            <a:ext cx="77724" cy="77724"/>
          </a:xfrm>
          <a:prstGeom prst="rect">
            <a:avLst/>
          </a:prstGeom>
          <a:solidFill>
            <a:srgbClr val="D4951A">
              <a:alpha val="18000"/>
            </a:srgbClr>
          </a:solidFill>
          <a:ln w="12700">
            <a:solidFill>
              <a:srgbClr val="D4951A"/>
            </a:solidFill>
            <a:prstDash val="solid"/>
          </a:ln>
        </p:spPr>
      </p:sp>
      <p:sp>
        <p:nvSpPr>
          <p:cNvPr id="110" name="Shape 108"/>
          <p:cNvSpPr/>
          <p:nvPr/>
        </p:nvSpPr>
        <p:spPr>
          <a:xfrm rot="2700000">
            <a:off x="2117750" y="1371600"/>
            <a:ext cx="77724" cy="77724"/>
          </a:xfrm>
          <a:prstGeom prst="rect">
            <a:avLst/>
          </a:prstGeom>
          <a:solidFill>
            <a:srgbClr val="D4951A">
              <a:alpha val="18000"/>
            </a:srgbClr>
          </a:solidFill>
          <a:ln w="12700">
            <a:solidFill>
              <a:srgbClr val="D4951A"/>
            </a:solidFill>
            <a:prstDash val="solid"/>
          </a:ln>
        </p:spPr>
      </p:sp>
      <p:sp>
        <p:nvSpPr>
          <p:cNvPr id="111" name="Shape 109"/>
          <p:cNvSpPr/>
          <p:nvPr/>
        </p:nvSpPr>
        <p:spPr>
          <a:xfrm rot="2700000">
            <a:off x="2234794" y="1371600"/>
            <a:ext cx="77724" cy="77724"/>
          </a:xfrm>
          <a:prstGeom prst="rect">
            <a:avLst/>
          </a:prstGeom>
          <a:solidFill>
            <a:srgbClr val="D4951A">
              <a:alpha val="18000"/>
            </a:srgbClr>
          </a:solidFill>
          <a:ln w="12700">
            <a:solidFill>
              <a:srgbClr val="D4951A"/>
            </a:solidFill>
            <a:prstDash val="solid"/>
          </a:ln>
        </p:spPr>
      </p:sp>
      <p:sp>
        <p:nvSpPr>
          <p:cNvPr id="112" name="Shape 110"/>
          <p:cNvSpPr/>
          <p:nvPr/>
        </p:nvSpPr>
        <p:spPr>
          <a:xfrm rot="2700000">
            <a:off x="2351837" y="1371600"/>
            <a:ext cx="77724" cy="77724"/>
          </a:xfrm>
          <a:prstGeom prst="rect">
            <a:avLst/>
          </a:prstGeom>
          <a:solidFill>
            <a:srgbClr val="D4951A">
              <a:alpha val="18000"/>
            </a:srgbClr>
          </a:solidFill>
          <a:ln w="12700">
            <a:solidFill>
              <a:srgbClr val="D4951A"/>
            </a:solidFill>
            <a:prstDash val="solid"/>
          </a:ln>
        </p:spPr>
      </p:sp>
      <p:sp>
        <p:nvSpPr>
          <p:cNvPr id="113" name="Shape 111"/>
          <p:cNvSpPr/>
          <p:nvPr/>
        </p:nvSpPr>
        <p:spPr>
          <a:xfrm rot="2700000">
            <a:off x="2468880" y="1371600"/>
            <a:ext cx="77724" cy="77724"/>
          </a:xfrm>
          <a:prstGeom prst="rect">
            <a:avLst/>
          </a:prstGeom>
          <a:solidFill>
            <a:srgbClr val="D4951A">
              <a:alpha val="18000"/>
            </a:srgbClr>
          </a:solidFill>
          <a:ln w="12700">
            <a:solidFill>
              <a:srgbClr val="D4951A"/>
            </a:solidFill>
            <a:prstDash val="solid"/>
          </a:ln>
        </p:spPr>
      </p:sp>
      <p:sp>
        <p:nvSpPr>
          <p:cNvPr id="114" name="Shape 112"/>
          <p:cNvSpPr/>
          <p:nvPr/>
        </p:nvSpPr>
        <p:spPr>
          <a:xfrm rot="2700000">
            <a:off x="2585923" y="1371600"/>
            <a:ext cx="77724" cy="77724"/>
          </a:xfrm>
          <a:prstGeom prst="rect">
            <a:avLst/>
          </a:prstGeom>
          <a:solidFill>
            <a:srgbClr val="D4951A">
              <a:alpha val="18000"/>
            </a:srgbClr>
          </a:solidFill>
          <a:ln w="12700">
            <a:solidFill>
              <a:srgbClr val="D4951A"/>
            </a:solidFill>
            <a:prstDash val="solid"/>
          </a:ln>
        </p:spPr>
      </p:sp>
      <p:sp>
        <p:nvSpPr>
          <p:cNvPr id="115" name="Shape 113"/>
          <p:cNvSpPr/>
          <p:nvPr/>
        </p:nvSpPr>
        <p:spPr>
          <a:xfrm rot="2700000">
            <a:off x="2702966" y="1371600"/>
            <a:ext cx="77724" cy="77724"/>
          </a:xfrm>
          <a:prstGeom prst="rect">
            <a:avLst/>
          </a:prstGeom>
          <a:solidFill>
            <a:srgbClr val="D4951A">
              <a:alpha val="18000"/>
            </a:srgbClr>
          </a:solidFill>
          <a:ln w="12700">
            <a:solidFill>
              <a:srgbClr val="D4951A"/>
            </a:solidFill>
            <a:prstDash val="solid"/>
          </a:ln>
        </p:spPr>
      </p:sp>
      <p:sp>
        <p:nvSpPr>
          <p:cNvPr id="116" name="Shape 114"/>
          <p:cNvSpPr/>
          <p:nvPr/>
        </p:nvSpPr>
        <p:spPr>
          <a:xfrm rot="2700000">
            <a:off x="2820010" y="1371600"/>
            <a:ext cx="77724" cy="77724"/>
          </a:xfrm>
          <a:prstGeom prst="rect">
            <a:avLst/>
          </a:prstGeom>
          <a:solidFill>
            <a:srgbClr val="D4951A">
              <a:alpha val="18000"/>
            </a:srgbClr>
          </a:solidFill>
          <a:ln w="12700">
            <a:solidFill>
              <a:srgbClr val="D4951A"/>
            </a:solidFill>
            <a:prstDash val="solid"/>
          </a:ln>
        </p:spPr>
      </p:sp>
      <p:sp>
        <p:nvSpPr>
          <p:cNvPr id="117" name="Shape 115"/>
          <p:cNvSpPr/>
          <p:nvPr/>
        </p:nvSpPr>
        <p:spPr>
          <a:xfrm rot="2700000">
            <a:off x="2937053" y="1371600"/>
            <a:ext cx="77724" cy="77724"/>
          </a:xfrm>
          <a:prstGeom prst="rect">
            <a:avLst/>
          </a:prstGeom>
          <a:solidFill>
            <a:srgbClr val="D4951A">
              <a:alpha val="18000"/>
            </a:srgbClr>
          </a:solidFill>
          <a:ln w="12700">
            <a:solidFill>
              <a:srgbClr val="D4951A"/>
            </a:solidFill>
            <a:prstDash val="solid"/>
          </a:ln>
        </p:spPr>
      </p:sp>
      <p:sp>
        <p:nvSpPr>
          <p:cNvPr id="118" name="Text 116"/>
          <p:cNvSpPr/>
          <p:nvPr/>
        </p:nvSpPr>
        <p:spPr>
          <a:xfrm>
            <a:off x="365760" y="1444752"/>
            <a:ext cx="2670048" cy="3364992"/>
          </a:xfrm>
          <a:prstGeom prst="rect">
            <a:avLst/>
          </a:prstGeom>
          <a:noFill/>
          <a:ln/>
        </p:spPr>
        <p:txBody>
          <a:bodyPr wrap="square" rtlCol="0" anchor="t"/>
          <a:lstStyle/>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Puissance nominale : 2 400–2 600 Kg/H minimum</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Pression de service : 5 bar(e) de conception</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Type vapeur : Saturée sèche, titre ≥0,95</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Carburant : GPL principal, bi-combustible (GPL + GN) recommandé</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Efficacité thermique : ≥90% PCI en GPL</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Marquage CE sous Directive EP 2014/68/UE — obligatoire</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PMS et code de conception estampillés sur l'appareil</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Soupape de sécurité : réglée en usine, débit ≥ puissance totale</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Détecteur bas niveau eau : testé indépendamment</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Purge fumées automatique : 4× volume foyer avant allumage</a:t>
            </a:r>
            <a:endParaRPr lang="en-US" sz="880" dirty="0"/>
          </a:p>
        </p:txBody>
      </p:sp>
      <p:sp>
        <p:nvSpPr>
          <p:cNvPr id="119" name="Shape 117"/>
          <p:cNvSpPr/>
          <p:nvPr/>
        </p:nvSpPr>
        <p:spPr>
          <a:xfrm>
            <a:off x="3200400"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0" name="Shape 118"/>
          <p:cNvSpPr/>
          <p:nvPr/>
        </p:nvSpPr>
        <p:spPr>
          <a:xfrm>
            <a:off x="3200400" y="914400"/>
            <a:ext cx="2834640" cy="45720"/>
          </a:xfrm>
          <a:prstGeom prst="rect">
            <a:avLst/>
          </a:prstGeom>
          <a:solidFill>
            <a:srgbClr val="1B9A8A"/>
          </a:solidFill>
          <a:ln/>
        </p:spPr>
      </p:sp>
      <p:sp>
        <p:nvSpPr>
          <p:cNvPr id="121" name="Shape 119"/>
          <p:cNvSpPr/>
          <p:nvPr/>
        </p:nvSpPr>
        <p:spPr>
          <a:xfrm rot="2700000">
            <a:off x="4498848" y="868680"/>
            <a:ext cx="91440" cy="91440"/>
          </a:xfrm>
          <a:prstGeom prst="rect">
            <a:avLst/>
          </a:prstGeom>
          <a:solidFill>
            <a:srgbClr val="1B9A8A"/>
          </a:solidFill>
          <a:ln w="12700">
            <a:solidFill>
              <a:srgbClr val="09090F"/>
            </a:solidFill>
            <a:prstDash val="solid"/>
          </a:ln>
        </p:spPr>
      </p:sp>
      <p:sp>
        <p:nvSpPr>
          <p:cNvPr id="122" name="Text 120"/>
          <p:cNvSpPr/>
          <p:nvPr/>
        </p:nvSpPr>
        <p:spPr>
          <a:xfrm>
            <a:off x="3310128" y="969264"/>
            <a:ext cx="2651760" cy="365760"/>
          </a:xfrm>
          <a:prstGeom prst="rect">
            <a:avLst/>
          </a:prstGeom>
          <a:noFill/>
          <a:ln/>
        </p:spPr>
        <p:txBody>
          <a:bodyPr wrap="square" rtlCol="0" anchor="ctr"/>
          <a:lstStyle/>
          <a:p>
            <a:pPr indent="0" marL="0">
              <a:buNone/>
            </a:pPr>
            <a:r>
              <a:rPr lang="en-US" sz="1000" b="1" dirty="0">
                <a:solidFill>
                  <a:srgbClr val="1B9A8A"/>
                </a:solidFill>
                <a:latin typeface="Georgia" pitchFamily="34" charset="0"/>
                <a:ea typeface="Georgia" pitchFamily="34" charset="-122"/>
                <a:cs typeface="Georgia" pitchFamily="34" charset="-120"/>
              </a:rPr>
              <a:t>EXIGENCES SÉCURITÉ ALIMENTAIRE OBLIGATOIRES</a:t>
            </a:r>
            <a:endParaRPr lang="en-US" sz="1000" dirty="0"/>
          </a:p>
        </p:txBody>
      </p:sp>
      <p:sp>
        <p:nvSpPr>
          <p:cNvPr id="123" name="Shape 121"/>
          <p:cNvSpPr/>
          <p:nvPr/>
        </p:nvSpPr>
        <p:spPr>
          <a:xfrm rot="2700000">
            <a:off x="10973" y="1371600"/>
            <a:ext cx="77724" cy="77724"/>
          </a:xfrm>
          <a:prstGeom prst="rect">
            <a:avLst/>
          </a:prstGeom>
          <a:solidFill>
            <a:srgbClr val="1B9A8A">
              <a:alpha val="18000"/>
            </a:srgbClr>
          </a:solidFill>
          <a:ln w="12700">
            <a:solidFill>
              <a:srgbClr val="1B9A8A"/>
            </a:solidFill>
            <a:prstDash val="solid"/>
          </a:ln>
        </p:spPr>
      </p:sp>
      <p:sp>
        <p:nvSpPr>
          <p:cNvPr id="124" name="Shape 122"/>
          <p:cNvSpPr/>
          <p:nvPr/>
        </p:nvSpPr>
        <p:spPr>
          <a:xfrm rot="2700000">
            <a:off x="128016" y="1371600"/>
            <a:ext cx="77724" cy="77724"/>
          </a:xfrm>
          <a:prstGeom prst="rect">
            <a:avLst/>
          </a:prstGeom>
          <a:solidFill>
            <a:srgbClr val="1B9A8A">
              <a:alpha val="18000"/>
            </a:srgbClr>
          </a:solidFill>
          <a:ln w="12700">
            <a:solidFill>
              <a:srgbClr val="1B9A8A"/>
            </a:solidFill>
            <a:prstDash val="solid"/>
          </a:ln>
        </p:spPr>
      </p:sp>
      <p:sp>
        <p:nvSpPr>
          <p:cNvPr id="125" name="Shape 123"/>
          <p:cNvSpPr/>
          <p:nvPr/>
        </p:nvSpPr>
        <p:spPr>
          <a:xfrm rot="2700000">
            <a:off x="245059" y="1371600"/>
            <a:ext cx="77724" cy="77724"/>
          </a:xfrm>
          <a:prstGeom prst="rect">
            <a:avLst/>
          </a:prstGeom>
          <a:solidFill>
            <a:srgbClr val="1B9A8A">
              <a:alpha val="18000"/>
            </a:srgbClr>
          </a:solidFill>
          <a:ln w="12700">
            <a:solidFill>
              <a:srgbClr val="1B9A8A"/>
            </a:solidFill>
            <a:prstDash val="solid"/>
          </a:ln>
        </p:spPr>
      </p:sp>
      <p:sp>
        <p:nvSpPr>
          <p:cNvPr id="126" name="Shape 124"/>
          <p:cNvSpPr/>
          <p:nvPr/>
        </p:nvSpPr>
        <p:spPr>
          <a:xfrm rot="2700000">
            <a:off x="362102" y="1371600"/>
            <a:ext cx="77724" cy="77724"/>
          </a:xfrm>
          <a:prstGeom prst="rect">
            <a:avLst/>
          </a:prstGeom>
          <a:solidFill>
            <a:srgbClr val="1B9A8A">
              <a:alpha val="18000"/>
            </a:srgbClr>
          </a:solidFill>
          <a:ln w="12700">
            <a:solidFill>
              <a:srgbClr val="1B9A8A"/>
            </a:solidFill>
            <a:prstDash val="solid"/>
          </a:ln>
        </p:spPr>
      </p:sp>
      <p:sp>
        <p:nvSpPr>
          <p:cNvPr id="127" name="Shape 125"/>
          <p:cNvSpPr/>
          <p:nvPr/>
        </p:nvSpPr>
        <p:spPr>
          <a:xfrm rot="2700000">
            <a:off x="479146" y="1371600"/>
            <a:ext cx="77724" cy="77724"/>
          </a:xfrm>
          <a:prstGeom prst="rect">
            <a:avLst/>
          </a:prstGeom>
          <a:solidFill>
            <a:srgbClr val="1B9A8A">
              <a:alpha val="18000"/>
            </a:srgbClr>
          </a:solidFill>
          <a:ln w="12700">
            <a:solidFill>
              <a:srgbClr val="1B9A8A"/>
            </a:solidFill>
            <a:prstDash val="solid"/>
          </a:ln>
        </p:spPr>
      </p:sp>
      <p:sp>
        <p:nvSpPr>
          <p:cNvPr id="128" name="Shape 126"/>
          <p:cNvSpPr/>
          <p:nvPr/>
        </p:nvSpPr>
        <p:spPr>
          <a:xfrm rot="2700000">
            <a:off x="596189" y="1371600"/>
            <a:ext cx="77724" cy="77724"/>
          </a:xfrm>
          <a:prstGeom prst="rect">
            <a:avLst/>
          </a:prstGeom>
          <a:solidFill>
            <a:srgbClr val="1B9A8A">
              <a:alpha val="18000"/>
            </a:srgbClr>
          </a:solidFill>
          <a:ln w="12700">
            <a:solidFill>
              <a:srgbClr val="1B9A8A"/>
            </a:solidFill>
            <a:prstDash val="solid"/>
          </a:ln>
        </p:spPr>
      </p:sp>
      <p:sp>
        <p:nvSpPr>
          <p:cNvPr id="129" name="Shape 127"/>
          <p:cNvSpPr/>
          <p:nvPr/>
        </p:nvSpPr>
        <p:spPr>
          <a:xfrm rot="2700000">
            <a:off x="713232" y="1371600"/>
            <a:ext cx="77724" cy="77724"/>
          </a:xfrm>
          <a:prstGeom prst="rect">
            <a:avLst/>
          </a:prstGeom>
          <a:solidFill>
            <a:srgbClr val="1B9A8A">
              <a:alpha val="18000"/>
            </a:srgbClr>
          </a:solidFill>
          <a:ln w="12700">
            <a:solidFill>
              <a:srgbClr val="1B9A8A"/>
            </a:solidFill>
            <a:prstDash val="solid"/>
          </a:ln>
        </p:spPr>
      </p:sp>
      <p:sp>
        <p:nvSpPr>
          <p:cNvPr id="130" name="Shape 128"/>
          <p:cNvSpPr/>
          <p:nvPr/>
        </p:nvSpPr>
        <p:spPr>
          <a:xfrm rot="2700000">
            <a:off x="830275" y="1371600"/>
            <a:ext cx="77724" cy="77724"/>
          </a:xfrm>
          <a:prstGeom prst="rect">
            <a:avLst/>
          </a:prstGeom>
          <a:solidFill>
            <a:srgbClr val="1B9A8A">
              <a:alpha val="18000"/>
            </a:srgbClr>
          </a:solidFill>
          <a:ln w="12700">
            <a:solidFill>
              <a:srgbClr val="1B9A8A"/>
            </a:solidFill>
            <a:prstDash val="solid"/>
          </a:ln>
        </p:spPr>
      </p:sp>
      <p:sp>
        <p:nvSpPr>
          <p:cNvPr id="131" name="Shape 129"/>
          <p:cNvSpPr/>
          <p:nvPr/>
        </p:nvSpPr>
        <p:spPr>
          <a:xfrm rot="2700000">
            <a:off x="947318" y="1371600"/>
            <a:ext cx="77724" cy="77724"/>
          </a:xfrm>
          <a:prstGeom prst="rect">
            <a:avLst/>
          </a:prstGeom>
          <a:solidFill>
            <a:srgbClr val="1B9A8A">
              <a:alpha val="18000"/>
            </a:srgbClr>
          </a:solidFill>
          <a:ln w="12700">
            <a:solidFill>
              <a:srgbClr val="1B9A8A"/>
            </a:solidFill>
            <a:prstDash val="solid"/>
          </a:ln>
        </p:spPr>
      </p:sp>
      <p:sp>
        <p:nvSpPr>
          <p:cNvPr id="132" name="Shape 130"/>
          <p:cNvSpPr/>
          <p:nvPr/>
        </p:nvSpPr>
        <p:spPr>
          <a:xfrm rot="2700000">
            <a:off x="1064362" y="1371600"/>
            <a:ext cx="77724" cy="77724"/>
          </a:xfrm>
          <a:prstGeom prst="rect">
            <a:avLst/>
          </a:prstGeom>
          <a:solidFill>
            <a:srgbClr val="1B9A8A">
              <a:alpha val="18000"/>
            </a:srgbClr>
          </a:solidFill>
          <a:ln w="12700">
            <a:solidFill>
              <a:srgbClr val="1B9A8A"/>
            </a:solidFill>
            <a:prstDash val="solid"/>
          </a:ln>
        </p:spPr>
      </p:sp>
      <p:sp>
        <p:nvSpPr>
          <p:cNvPr id="133" name="Shape 131"/>
          <p:cNvSpPr/>
          <p:nvPr/>
        </p:nvSpPr>
        <p:spPr>
          <a:xfrm rot="2700000">
            <a:off x="1181405" y="1371600"/>
            <a:ext cx="77724" cy="77724"/>
          </a:xfrm>
          <a:prstGeom prst="rect">
            <a:avLst/>
          </a:prstGeom>
          <a:solidFill>
            <a:srgbClr val="1B9A8A">
              <a:alpha val="18000"/>
            </a:srgbClr>
          </a:solidFill>
          <a:ln w="12700">
            <a:solidFill>
              <a:srgbClr val="1B9A8A"/>
            </a:solidFill>
            <a:prstDash val="solid"/>
          </a:ln>
        </p:spPr>
      </p:sp>
      <p:sp>
        <p:nvSpPr>
          <p:cNvPr id="134" name="Shape 132"/>
          <p:cNvSpPr/>
          <p:nvPr/>
        </p:nvSpPr>
        <p:spPr>
          <a:xfrm rot="2700000">
            <a:off x="1298448" y="1371600"/>
            <a:ext cx="77724" cy="77724"/>
          </a:xfrm>
          <a:prstGeom prst="rect">
            <a:avLst/>
          </a:prstGeom>
          <a:solidFill>
            <a:srgbClr val="1B9A8A">
              <a:alpha val="18000"/>
            </a:srgbClr>
          </a:solidFill>
          <a:ln w="12700">
            <a:solidFill>
              <a:srgbClr val="1B9A8A"/>
            </a:solidFill>
            <a:prstDash val="solid"/>
          </a:ln>
        </p:spPr>
      </p:sp>
      <p:sp>
        <p:nvSpPr>
          <p:cNvPr id="135" name="Shape 133"/>
          <p:cNvSpPr/>
          <p:nvPr/>
        </p:nvSpPr>
        <p:spPr>
          <a:xfrm rot="2700000">
            <a:off x="1415491" y="1371600"/>
            <a:ext cx="77724" cy="77724"/>
          </a:xfrm>
          <a:prstGeom prst="rect">
            <a:avLst/>
          </a:prstGeom>
          <a:solidFill>
            <a:srgbClr val="1B9A8A">
              <a:alpha val="18000"/>
            </a:srgbClr>
          </a:solidFill>
          <a:ln w="12700">
            <a:solidFill>
              <a:srgbClr val="1B9A8A"/>
            </a:solidFill>
            <a:prstDash val="solid"/>
          </a:ln>
        </p:spPr>
      </p:sp>
      <p:sp>
        <p:nvSpPr>
          <p:cNvPr id="136" name="Shape 134"/>
          <p:cNvSpPr/>
          <p:nvPr/>
        </p:nvSpPr>
        <p:spPr>
          <a:xfrm rot="2700000">
            <a:off x="1532534" y="1371600"/>
            <a:ext cx="77724" cy="77724"/>
          </a:xfrm>
          <a:prstGeom prst="rect">
            <a:avLst/>
          </a:prstGeom>
          <a:solidFill>
            <a:srgbClr val="1B9A8A">
              <a:alpha val="18000"/>
            </a:srgbClr>
          </a:solidFill>
          <a:ln w="12700">
            <a:solidFill>
              <a:srgbClr val="1B9A8A"/>
            </a:solidFill>
            <a:prstDash val="solid"/>
          </a:ln>
        </p:spPr>
      </p:sp>
      <p:sp>
        <p:nvSpPr>
          <p:cNvPr id="137" name="Shape 135"/>
          <p:cNvSpPr/>
          <p:nvPr/>
        </p:nvSpPr>
        <p:spPr>
          <a:xfrm rot="2700000">
            <a:off x="1649578" y="1371600"/>
            <a:ext cx="77724" cy="77724"/>
          </a:xfrm>
          <a:prstGeom prst="rect">
            <a:avLst/>
          </a:prstGeom>
          <a:solidFill>
            <a:srgbClr val="1B9A8A">
              <a:alpha val="18000"/>
            </a:srgbClr>
          </a:solidFill>
          <a:ln w="12700">
            <a:solidFill>
              <a:srgbClr val="1B9A8A"/>
            </a:solidFill>
            <a:prstDash val="solid"/>
          </a:ln>
        </p:spPr>
      </p:sp>
      <p:sp>
        <p:nvSpPr>
          <p:cNvPr id="138" name="Shape 136"/>
          <p:cNvSpPr/>
          <p:nvPr/>
        </p:nvSpPr>
        <p:spPr>
          <a:xfrm rot="2700000">
            <a:off x="1766621" y="1371600"/>
            <a:ext cx="77724" cy="77724"/>
          </a:xfrm>
          <a:prstGeom prst="rect">
            <a:avLst/>
          </a:prstGeom>
          <a:solidFill>
            <a:srgbClr val="1B9A8A">
              <a:alpha val="18000"/>
            </a:srgbClr>
          </a:solidFill>
          <a:ln w="12700">
            <a:solidFill>
              <a:srgbClr val="1B9A8A"/>
            </a:solidFill>
            <a:prstDash val="solid"/>
          </a:ln>
        </p:spPr>
      </p:sp>
      <p:sp>
        <p:nvSpPr>
          <p:cNvPr id="139" name="Shape 137"/>
          <p:cNvSpPr/>
          <p:nvPr/>
        </p:nvSpPr>
        <p:spPr>
          <a:xfrm rot="2700000">
            <a:off x="1883664" y="1371600"/>
            <a:ext cx="77724" cy="77724"/>
          </a:xfrm>
          <a:prstGeom prst="rect">
            <a:avLst/>
          </a:prstGeom>
          <a:solidFill>
            <a:srgbClr val="1B9A8A">
              <a:alpha val="18000"/>
            </a:srgbClr>
          </a:solidFill>
          <a:ln w="12700">
            <a:solidFill>
              <a:srgbClr val="1B9A8A"/>
            </a:solidFill>
            <a:prstDash val="solid"/>
          </a:ln>
        </p:spPr>
      </p:sp>
      <p:sp>
        <p:nvSpPr>
          <p:cNvPr id="140" name="Shape 138"/>
          <p:cNvSpPr/>
          <p:nvPr/>
        </p:nvSpPr>
        <p:spPr>
          <a:xfrm rot="2700000">
            <a:off x="2000707" y="1371600"/>
            <a:ext cx="77724" cy="77724"/>
          </a:xfrm>
          <a:prstGeom prst="rect">
            <a:avLst/>
          </a:prstGeom>
          <a:solidFill>
            <a:srgbClr val="1B9A8A">
              <a:alpha val="18000"/>
            </a:srgbClr>
          </a:solidFill>
          <a:ln w="12700">
            <a:solidFill>
              <a:srgbClr val="1B9A8A"/>
            </a:solidFill>
            <a:prstDash val="solid"/>
          </a:ln>
        </p:spPr>
      </p:sp>
      <p:sp>
        <p:nvSpPr>
          <p:cNvPr id="141" name="Shape 139"/>
          <p:cNvSpPr/>
          <p:nvPr/>
        </p:nvSpPr>
        <p:spPr>
          <a:xfrm rot="2700000">
            <a:off x="2117750" y="1371600"/>
            <a:ext cx="77724" cy="77724"/>
          </a:xfrm>
          <a:prstGeom prst="rect">
            <a:avLst/>
          </a:prstGeom>
          <a:solidFill>
            <a:srgbClr val="1B9A8A">
              <a:alpha val="18000"/>
            </a:srgbClr>
          </a:solidFill>
          <a:ln w="12700">
            <a:solidFill>
              <a:srgbClr val="1B9A8A"/>
            </a:solidFill>
            <a:prstDash val="solid"/>
          </a:ln>
        </p:spPr>
      </p:sp>
      <p:sp>
        <p:nvSpPr>
          <p:cNvPr id="142" name="Shape 140"/>
          <p:cNvSpPr/>
          <p:nvPr/>
        </p:nvSpPr>
        <p:spPr>
          <a:xfrm rot="2700000">
            <a:off x="2234794" y="1371600"/>
            <a:ext cx="77724" cy="77724"/>
          </a:xfrm>
          <a:prstGeom prst="rect">
            <a:avLst/>
          </a:prstGeom>
          <a:solidFill>
            <a:srgbClr val="1B9A8A">
              <a:alpha val="18000"/>
            </a:srgbClr>
          </a:solidFill>
          <a:ln w="12700">
            <a:solidFill>
              <a:srgbClr val="1B9A8A"/>
            </a:solidFill>
            <a:prstDash val="solid"/>
          </a:ln>
        </p:spPr>
      </p:sp>
      <p:sp>
        <p:nvSpPr>
          <p:cNvPr id="143" name="Shape 141"/>
          <p:cNvSpPr/>
          <p:nvPr/>
        </p:nvSpPr>
        <p:spPr>
          <a:xfrm rot="2700000">
            <a:off x="2351837" y="1371600"/>
            <a:ext cx="77724" cy="77724"/>
          </a:xfrm>
          <a:prstGeom prst="rect">
            <a:avLst/>
          </a:prstGeom>
          <a:solidFill>
            <a:srgbClr val="1B9A8A">
              <a:alpha val="18000"/>
            </a:srgbClr>
          </a:solidFill>
          <a:ln w="12700">
            <a:solidFill>
              <a:srgbClr val="1B9A8A"/>
            </a:solidFill>
            <a:prstDash val="solid"/>
          </a:ln>
        </p:spPr>
      </p:sp>
      <p:sp>
        <p:nvSpPr>
          <p:cNvPr id="144" name="Shape 142"/>
          <p:cNvSpPr/>
          <p:nvPr/>
        </p:nvSpPr>
        <p:spPr>
          <a:xfrm rot="2700000">
            <a:off x="2468880" y="1371600"/>
            <a:ext cx="77724" cy="77724"/>
          </a:xfrm>
          <a:prstGeom prst="rect">
            <a:avLst/>
          </a:prstGeom>
          <a:solidFill>
            <a:srgbClr val="1B9A8A">
              <a:alpha val="18000"/>
            </a:srgbClr>
          </a:solidFill>
          <a:ln w="12700">
            <a:solidFill>
              <a:srgbClr val="1B9A8A"/>
            </a:solidFill>
            <a:prstDash val="solid"/>
          </a:ln>
        </p:spPr>
      </p:sp>
      <p:sp>
        <p:nvSpPr>
          <p:cNvPr id="145" name="Shape 143"/>
          <p:cNvSpPr/>
          <p:nvPr/>
        </p:nvSpPr>
        <p:spPr>
          <a:xfrm rot="2700000">
            <a:off x="2585923" y="1371600"/>
            <a:ext cx="77724" cy="77724"/>
          </a:xfrm>
          <a:prstGeom prst="rect">
            <a:avLst/>
          </a:prstGeom>
          <a:solidFill>
            <a:srgbClr val="1B9A8A">
              <a:alpha val="18000"/>
            </a:srgbClr>
          </a:solidFill>
          <a:ln w="12700">
            <a:solidFill>
              <a:srgbClr val="1B9A8A"/>
            </a:solidFill>
            <a:prstDash val="solid"/>
          </a:ln>
        </p:spPr>
      </p:sp>
      <p:sp>
        <p:nvSpPr>
          <p:cNvPr id="146" name="Shape 144"/>
          <p:cNvSpPr/>
          <p:nvPr/>
        </p:nvSpPr>
        <p:spPr>
          <a:xfrm rot="2700000">
            <a:off x="2702966" y="1371600"/>
            <a:ext cx="77724" cy="77724"/>
          </a:xfrm>
          <a:prstGeom prst="rect">
            <a:avLst/>
          </a:prstGeom>
          <a:solidFill>
            <a:srgbClr val="1B9A8A">
              <a:alpha val="18000"/>
            </a:srgbClr>
          </a:solidFill>
          <a:ln w="12700">
            <a:solidFill>
              <a:srgbClr val="1B9A8A"/>
            </a:solidFill>
            <a:prstDash val="solid"/>
          </a:ln>
        </p:spPr>
      </p:sp>
      <p:sp>
        <p:nvSpPr>
          <p:cNvPr id="147" name="Shape 145"/>
          <p:cNvSpPr/>
          <p:nvPr/>
        </p:nvSpPr>
        <p:spPr>
          <a:xfrm rot="2700000">
            <a:off x="2820010" y="1371600"/>
            <a:ext cx="77724" cy="77724"/>
          </a:xfrm>
          <a:prstGeom prst="rect">
            <a:avLst/>
          </a:prstGeom>
          <a:solidFill>
            <a:srgbClr val="1B9A8A">
              <a:alpha val="18000"/>
            </a:srgbClr>
          </a:solidFill>
          <a:ln w="12700">
            <a:solidFill>
              <a:srgbClr val="1B9A8A"/>
            </a:solidFill>
            <a:prstDash val="solid"/>
          </a:ln>
        </p:spPr>
      </p:sp>
      <p:sp>
        <p:nvSpPr>
          <p:cNvPr id="148" name="Shape 146"/>
          <p:cNvSpPr/>
          <p:nvPr/>
        </p:nvSpPr>
        <p:spPr>
          <a:xfrm rot="2700000">
            <a:off x="2937053" y="1371600"/>
            <a:ext cx="77724" cy="77724"/>
          </a:xfrm>
          <a:prstGeom prst="rect">
            <a:avLst/>
          </a:prstGeom>
          <a:solidFill>
            <a:srgbClr val="1B9A8A">
              <a:alpha val="18000"/>
            </a:srgbClr>
          </a:solidFill>
          <a:ln w="12700">
            <a:solidFill>
              <a:srgbClr val="1B9A8A"/>
            </a:solidFill>
            <a:prstDash val="solid"/>
          </a:ln>
        </p:spPr>
      </p:sp>
      <p:sp>
        <p:nvSpPr>
          <p:cNvPr id="149" name="Text 147"/>
          <p:cNvSpPr/>
          <p:nvPr/>
        </p:nvSpPr>
        <p:spPr>
          <a:xfrm>
            <a:off x="3310128" y="1444752"/>
            <a:ext cx="2670048" cy="3364992"/>
          </a:xfrm>
          <a:prstGeom prst="rect">
            <a:avLst/>
          </a:prstGeom>
          <a:noFill/>
          <a:ln/>
        </p:spPr>
        <p:txBody>
          <a:bodyPr wrap="square" rtlCol="0" anchor="t"/>
          <a:lstStyle/>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Produits chimiques traitement eau certifiés NSF H1 — certificat fournisseur requis</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Aucun raccord en alliage cuivre ou zinc dans le circuit vapeur</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Point de prélèvement vapeur avec vanne d'isolement</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Dispositif de surveillance qualité condensats</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Tous instruments prêts pour étalonnage avec provision certificat</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GTC avec sortie journalisation données (4–20 mA ou Modbus TCP)</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Modèle de journal d'exploitation quotidien inclus dans documents mise en service</a:t>
            </a:r>
            <a:endParaRPr lang="en-US" sz="880" dirty="0"/>
          </a:p>
        </p:txBody>
      </p:sp>
      <p:sp>
        <p:nvSpPr>
          <p:cNvPr id="150" name="Shape 148"/>
          <p:cNvSpPr/>
          <p:nvPr/>
        </p:nvSpPr>
        <p:spPr>
          <a:xfrm>
            <a:off x="6144768"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51" name="Shape 149"/>
          <p:cNvSpPr/>
          <p:nvPr/>
        </p:nvSpPr>
        <p:spPr>
          <a:xfrm>
            <a:off x="6144768" y="914400"/>
            <a:ext cx="2834640" cy="45720"/>
          </a:xfrm>
          <a:prstGeom prst="rect">
            <a:avLst/>
          </a:prstGeom>
          <a:solidFill>
            <a:srgbClr val="C0622B"/>
          </a:solidFill>
          <a:ln/>
        </p:spPr>
      </p:sp>
      <p:sp>
        <p:nvSpPr>
          <p:cNvPr id="152" name="Shape 150"/>
          <p:cNvSpPr/>
          <p:nvPr/>
        </p:nvSpPr>
        <p:spPr>
          <a:xfrm rot="2700000">
            <a:off x="7443216" y="868680"/>
            <a:ext cx="91440" cy="91440"/>
          </a:xfrm>
          <a:prstGeom prst="rect">
            <a:avLst/>
          </a:prstGeom>
          <a:solidFill>
            <a:srgbClr val="C0622B"/>
          </a:solidFill>
          <a:ln w="12700">
            <a:solidFill>
              <a:srgbClr val="09090F"/>
            </a:solidFill>
            <a:prstDash val="solid"/>
          </a:ln>
        </p:spPr>
      </p:sp>
      <p:sp>
        <p:nvSpPr>
          <p:cNvPr id="153" name="Text 151"/>
          <p:cNvSpPr/>
          <p:nvPr/>
        </p:nvSpPr>
        <p:spPr>
          <a:xfrm>
            <a:off x="6254496" y="969264"/>
            <a:ext cx="2651760" cy="365760"/>
          </a:xfrm>
          <a:prstGeom prst="rect">
            <a:avLst/>
          </a:prstGeom>
          <a:noFill/>
          <a:ln/>
        </p:spPr>
        <p:txBody>
          <a:bodyPr wrap="square" rtlCol="0" anchor="ctr"/>
          <a:lstStyle/>
          <a:p>
            <a:pPr indent="0" marL="0">
              <a:buNone/>
            </a:pPr>
            <a:r>
              <a:rPr lang="en-US" sz="1000" b="1" dirty="0">
                <a:solidFill>
                  <a:srgbClr val="C0622B"/>
                </a:solidFill>
                <a:latin typeface="Georgia" pitchFamily="34" charset="0"/>
                <a:ea typeface="Georgia" pitchFamily="34" charset="-122"/>
                <a:cs typeface="Georgia" pitchFamily="34" charset="-120"/>
              </a:rPr>
              <a:t>PÉRIMÈTRE DE FOURNITURE OBLIGATOIRE</a:t>
            </a:r>
            <a:endParaRPr lang="en-US" sz="1000" dirty="0"/>
          </a:p>
        </p:txBody>
      </p:sp>
      <p:sp>
        <p:nvSpPr>
          <p:cNvPr id="154" name="Shape 152"/>
          <p:cNvSpPr/>
          <p:nvPr/>
        </p:nvSpPr>
        <p:spPr>
          <a:xfrm rot="2700000">
            <a:off x="10973" y="1371600"/>
            <a:ext cx="77724" cy="77724"/>
          </a:xfrm>
          <a:prstGeom prst="rect">
            <a:avLst/>
          </a:prstGeom>
          <a:solidFill>
            <a:srgbClr val="C0622B">
              <a:alpha val="18000"/>
            </a:srgbClr>
          </a:solidFill>
          <a:ln w="12700">
            <a:solidFill>
              <a:srgbClr val="C0622B"/>
            </a:solidFill>
            <a:prstDash val="solid"/>
          </a:ln>
        </p:spPr>
      </p:sp>
      <p:sp>
        <p:nvSpPr>
          <p:cNvPr id="155" name="Shape 153"/>
          <p:cNvSpPr/>
          <p:nvPr/>
        </p:nvSpPr>
        <p:spPr>
          <a:xfrm rot="2700000">
            <a:off x="128016" y="1371600"/>
            <a:ext cx="77724" cy="77724"/>
          </a:xfrm>
          <a:prstGeom prst="rect">
            <a:avLst/>
          </a:prstGeom>
          <a:solidFill>
            <a:srgbClr val="C0622B">
              <a:alpha val="18000"/>
            </a:srgbClr>
          </a:solidFill>
          <a:ln w="12700">
            <a:solidFill>
              <a:srgbClr val="C0622B"/>
            </a:solidFill>
            <a:prstDash val="solid"/>
          </a:ln>
        </p:spPr>
      </p:sp>
      <p:sp>
        <p:nvSpPr>
          <p:cNvPr id="156" name="Shape 154"/>
          <p:cNvSpPr/>
          <p:nvPr/>
        </p:nvSpPr>
        <p:spPr>
          <a:xfrm rot="2700000">
            <a:off x="245059" y="1371600"/>
            <a:ext cx="77724" cy="77724"/>
          </a:xfrm>
          <a:prstGeom prst="rect">
            <a:avLst/>
          </a:prstGeom>
          <a:solidFill>
            <a:srgbClr val="C0622B">
              <a:alpha val="18000"/>
            </a:srgbClr>
          </a:solidFill>
          <a:ln w="12700">
            <a:solidFill>
              <a:srgbClr val="C0622B"/>
            </a:solidFill>
            <a:prstDash val="solid"/>
          </a:ln>
        </p:spPr>
      </p:sp>
      <p:sp>
        <p:nvSpPr>
          <p:cNvPr id="157" name="Shape 155"/>
          <p:cNvSpPr/>
          <p:nvPr/>
        </p:nvSpPr>
        <p:spPr>
          <a:xfrm rot="2700000">
            <a:off x="362102" y="1371600"/>
            <a:ext cx="77724" cy="77724"/>
          </a:xfrm>
          <a:prstGeom prst="rect">
            <a:avLst/>
          </a:prstGeom>
          <a:solidFill>
            <a:srgbClr val="C0622B">
              <a:alpha val="18000"/>
            </a:srgbClr>
          </a:solidFill>
          <a:ln w="12700">
            <a:solidFill>
              <a:srgbClr val="C0622B"/>
            </a:solidFill>
            <a:prstDash val="solid"/>
          </a:ln>
        </p:spPr>
      </p:sp>
      <p:sp>
        <p:nvSpPr>
          <p:cNvPr id="158" name="Shape 156"/>
          <p:cNvSpPr/>
          <p:nvPr/>
        </p:nvSpPr>
        <p:spPr>
          <a:xfrm rot="2700000">
            <a:off x="479146" y="1371600"/>
            <a:ext cx="77724" cy="77724"/>
          </a:xfrm>
          <a:prstGeom prst="rect">
            <a:avLst/>
          </a:prstGeom>
          <a:solidFill>
            <a:srgbClr val="C0622B">
              <a:alpha val="18000"/>
            </a:srgbClr>
          </a:solidFill>
          <a:ln w="12700">
            <a:solidFill>
              <a:srgbClr val="C0622B"/>
            </a:solidFill>
            <a:prstDash val="solid"/>
          </a:ln>
        </p:spPr>
      </p:sp>
      <p:sp>
        <p:nvSpPr>
          <p:cNvPr id="159" name="Shape 157"/>
          <p:cNvSpPr/>
          <p:nvPr/>
        </p:nvSpPr>
        <p:spPr>
          <a:xfrm rot="2700000">
            <a:off x="596189" y="1371600"/>
            <a:ext cx="77724" cy="77724"/>
          </a:xfrm>
          <a:prstGeom prst="rect">
            <a:avLst/>
          </a:prstGeom>
          <a:solidFill>
            <a:srgbClr val="C0622B">
              <a:alpha val="18000"/>
            </a:srgbClr>
          </a:solidFill>
          <a:ln w="12700">
            <a:solidFill>
              <a:srgbClr val="C0622B"/>
            </a:solidFill>
            <a:prstDash val="solid"/>
          </a:ln>
        </p:spPr>
      </p:sp>
      <p:sp>
        <p:nvSpPr>
          <p:cNvPr id="160" name="Shape 158"/>
          <p:cNvSpPr/>
          <p:nvPr/>
        </p:nvSpPr>
        <p:spPr>
          <a:xfrm rot="2700000">
            <a:off x="713232" y="1371600"/>
            <a:ext cx="77724" cy="77724"/>
          </a:xfrm>
          <a:prstGeom prst="rect">
            <a:avLst/>
          </a:prstGeom>
          <a:solidFill>
            <a:srgbClr val="C0622B">
              <a:alpha val="18000"/>
            </a:srgbClr>
          </a:solidFill>
          <a:ln w="12700">
            <a:solidFill>
              <a:srgbClr val="C0622B"/>
            </a:solidFill>
            <a:prstDash val="solid"/>
          </a:ln>
        </p:spPr>
      </p:sp>
      <p:sp>
        <p:nvSpPr>
          <p:cNvPr id="161" name="Shape 159"/>
          <p:cNvSpPr/>
          <p:nvPr/>
        </p:nvSpPr>
        <p:spPr>
          <a:xfrm rot="2700000">
            <a:off x="830275" y="1371600"/>
            <a:ext cx="77724" cy="77724"/>
          </a:xfrm>
          <a:prstGeom prst="rect">
            <a:avLst/>
          </a:prstGeom>
          <a:solidFill>
            <a:srgbClr val="C0622B">
              <a:alpha val="18000"/>
            </a:srgbClr>
          </a:solidFill>
          <a:ln w="12700">
            <a:solidFill>
              <a:srgbClr val="C0622B"/>
            </a:solidFill>
            <a:prstDash val="solid"/>
          </a:ln>
        </p:spPr>
      </p:sp>
      <p:sp>
        <p:nvSpPr>
          <p:cNvPr id="162" name="Shape 160"/>
          <p:cNvSpPr/>
          <p:nvPr/>
        </p:nvSpPr>
        <p:spPr>
          <a:xfrm rot="2700000">
            <a:off x="947318" y="1371600"/>
            <a:ext cx="77724" cy="77724"/>
          </a:xfrm>
          <a:prstGeom prst="rect">
            <a:avLst/>
          </a:prstGeom>
          <a:solidFill>
            <a:srgbClr val="C0622B">
              <a:alpha val="18000"/>
            </a:srgbClr>
          </a:solidFill>
          <a:ln w="12700">
            <a:solidFill>
              <a:srgbClr val="C0622B"/>
            </a:solidFill>
            <a:prstDash val="solid"/>
          </a:ln>
        </p:spPr>
      </p:sp>
      <p:sp>
        <p:nvSpPr>
          <p:cNvPr id="163" name="Shape 161"/>
          <p:cNvSpPr/>
          <p:nvPr/>
        </p:nvSpPr>
        <p:spPr>
          <a:xfrm rot="2700000">
            <a:off x="1064362" y="1371600"/>
            <a:ext cx="77724" cy="77724"/>
          </a:xfrm>
          <a:prstGeom prst="rect">
            <a:avLst/>
          </a:prstGeom>
          <a:solidFill>
            <a:srgbClr val="C0622B">
              <a:alpha val="18000"/>
            </a:srgbClr>
          </a:solidFill>
          <a:ln w="12700">
            <a:solidFill>
              <a:srgbClr val="C0622B"/>
            </a:solidFill>
            <a:prstDash val="solid"/>
          </a:ln>
        </p:spPr>
      </p:sp>
      <p:sp>
        <p:nvSpPr>
          <p:cNvPr id="164" name="Shape 162"/>
          <p:cNvSpPr/>
          <p:nvPr/>
        </p:nvSpPr>
        <p:spPr>
          <a:xfrm rot="2700000">
            <a:off x="1181405" y="1371600"/>
            <a:ext cx="77724" cy="77724"/>
          </a:xfrm>
          <a:prstGeom prst="rect">
            <a:avLst/>
          </a:prstGeom>
          <a:solidFill>
            <a:srgbClr val="C0622B">
              <a:alpha val="18000"/>
            </a:srgbClr>
          </a:solidFill>
          <a:ln w="12700">
            <a:solidFill>
              <a:srgbClr val="C0622B"/>
            </a:solidFill>
            <a:prstDash val="solid"/>
          </a:ln>
        </p:spPr>
      </p:sp>
      <p:sp>
        <p:nvSpPr>
          <p:cNvPr id="165" name="Shape 163"/>
          <p:cNvSpPr/>
          <p:nvPr/>
        </p:nvSpPr>
        <p:spPr>
          <a:xfrm rot="2700000">
            <a:off x="1298448" y="1371600"/>
            <a:ext cx="77724" cy="77724"/>
          </a:xfrm>
          <a:prstGeom prst="rect">
            <a:avLst/>
          </a:prstGeom>
          <a:solidFill>
            <a:srgbClr val="C0622B">
              <a:alpha val="18000"/>
            </a:srgbClr>
          </a:solidFill>
          <a:ln w="12700">
            <a:solidFill>
              <a:srgbClr val="C0622B"/>
            </a:solidFill>
            <a:prstDash val="solid"/>
          </a:ln>
        </p:spPr>
      </p:sp>
      <p:sp>
        <p:nvSpPr>
          <p:cNvPr id="166" name="Shape 164"/>
          <p:cNvSpPr/>
          <p:nvPr/>
        </p:nvSpPr>
        <p:spPr>
          <a:xfrm rot="2700000">
            <a:off x="1415491" y="1371600"/>
            <a:ext cx="77724" cy="77724"/>
          </a:xfrm>
          <a:prstGeom prst="rect">
            <a:avLst/>
          </a:prstGeom>
          <a:solidFill>
            <a:srgbClr val="C0622B">
              <a:alpha val="18000"/>
            </a:srgbClr>
          </a:solidFill>
          <a:ln w="12700">
            <a:solidFill>
              <a:srgbClr val="C0622B"/>
            </a:solidFill>
            <a:prstDash val="solid"/>
          </a:ln>
        </p:spPr>
      </p:sp>
      <p:sp>
        <p:nvSpPr>
          <p:cNvPr id="167" name="Shape 165"/>
          <p:cNvSpPr/>
          <p:nvPr/>
        </p:nvSpPr>
        <p:spPr>
          <a:xfrm rot="2700000">
            <a:off x="1532534" y="1371600"/>
            <a:ext cx="77724" cy="77724"/>
          </a:xfrm>
          <a:prstGeom prst="rect">
            <a:avLst/>
          </a:prstGeom>
          <a:solidFill>
            <a:srgbClr val="C0622B">
              <a:alpha val="18000"/>
            </a:srgbClr>
          </a:solidFill>
          <a:ln w="12700">
            <a:solidFill>
              <a:srgbClr val="C0622B"/>
            </a:solidFill>
            <a:prstDash val="solid"/>
          </a:ln>
        </p:spPr>
      </p:sp>
      <p:sp>
        <p:nvSpPr>
          <p:cNvPr id="168" name="Shape 166"/>
          <p:cNvSpPr/>
          <p:nvPr/>
        </p:nvSpPr>
        <p:spPr>
          <a:xfrm rot="2700000">
            <a:off x="1649578" y="1371600"/>
            <a:ext cx="77724" cy="77724"/>
          </a:xfrm>
          <a:prstGeom prst="rect">
            <a:avLst/>
          </a:prstGeom>
          <a:solidFill>
            <a:srgbClr val="C0622B">
              <a:alpha val="18000"/>
            </a:srgbClr>
          </a:solidFill>
          <a:ln w="12700">
            <a:solidFill>
              <a:srgbClr val="C0622B"/>
            </a:solidFill>
            <a:prstDash val="solid"/>
          </a:ln>
        </p:spPr>
      </p:sp>
      <p:sp>
        <p:nvSpPr>
          <p:cNvPr id="169" name="Shape 167"/>
          <p:cNvSpPr/>
          <p:nvPr/>
        </p:nvSpPr>
        <p:spPr>
          <a:xfrm rot="2700000">
            <a:off x="1766621" y="1371600"/>
            <a:ext cx="77724" cy="77724"/>
          </a:xfrm>
          <a:prstGeom prst="rect">
            <a:avLst/>
          </a:prstGeom>
          <a:solidFill>
            <a:srgbClr val="C0622B">
              <a:alpha val="18000"/>
            </a:srgbClr>
          </a:solidFill>
          <a:ln w="12700">
            <a:solidFill>
              <a:srgbClr val="C0622B"/>
            </a:solidFill>
            <a:prstDash val="solid"/>
          </a:ln>
        </p:spPr>
      </p:sp>
      <p:sp>
        <p:nvSpPr>
          <p:cNvPr id="170" name="Shape 168"/>
          <p:cNvSpPr/>
          <p:nvPr/>
        </p:nvSpPr>
        <p:spPr>
          <a:xfrm rot="2700000">
            <a:off x="1883664" y="1371600"/>
            <a:ext cx="77724" cy="77724"/>
          </a:xfrm>
          <a:prstGeom prst="rect">
            <a:avLst/>
          </a:prstGeom>
          <a:solidFill>
            <a:srgbClr val="C0622B">
              <a:alpha val="18000"/>
            </a:srgbClr>
          </a:solidFill>
          <a:ln w="12700">
            <a:solidFill>
              <a:srgbClr val="C0622B"/>
            </a:solidFill>
            <a:prstDash val="solid"/>
          </a:ln>
        </p:spPr>
      </p:sp>
      <p:sp>
        <p:nvSpPr>
          <p:cNvPr id="171" name="Shape 169"/>
          <p:cNvSpPr/>
          <p:nvPr/>
        </p:nvSpPr>
        <p:spPr>
          <a:xfrm rot="2700000">
            <a:off x="2000707" y="1371600"/>
            <a:ext cx="77724" cy="77724"/>
          </a:xfrm>
          <a:prstGeom prst="rect">
            <a:avLst/>
          </a:prstGeom>
          <a:solidFill>
            <a:srgbClr val="C0622B">
              <a:alpha val="18000"/>
            </a:srgbClr>
          </a:solidFill>
          <a:ln w="12700">
            <a:solidFill>
              <a:srgbClr val="C0622B"/>
            </a:solidFill>
            <a:prstDash val="solid"/>
          </a:ln>
        </p:spPr>
      </p:sp>
      <p:sp>
        <p:nvSpPr>
          <p:cNvPr id="172" name="Shape 170"/>
          <p:cNvSpPr/>
          <p:nvPr/>
        </p:nvSpPr>
        <p:spPr>
          <a:xfrm rot="2700000">
            <a:off x="2117750" y="1371600"/>
            <a:ext cx="77724" cy="77724"/>
          </a:xfrm>
          <a:prstGeom prst="rect">
            <a:avLst/>
          </a:prstGeom>
          <a:solidFill>
            <a:srgbClr val="C0622B">
              <a:alpha val="18000"/>
            </a:srgbClr>
          </a:solidFill>
          <a:ln w="12700">
            <a:solidFill>
              <a:srgbClr val="C0622B"/>
            </a:solidFill>
            <a:prstDash val="solid"/>
          </a:ln>
        </p:spPr>
      </p:sp>
      <p:sp>
        <p:nvSpPr>
          <p:cNvPr id="173" name="Shape 171"/>
          <p:cNvSpPr/>
          <p:nvPr/>
        </p:nvSpPr>
        <p:spPr>
          <a:xfrm rot="2700000">
            <a:off x="2234794" y="1371600"/>
            <a:ext cx="77724" cy="77724"/>
          </a:xfrm>
          <a:prstGeom prst="rect">
            <a:avLst/>
          </a:prstGeom>
          <a:solidFill>
            <a:srgbClr val="C0622B">
              <a:alpha val="18000"/>
            </a:srgbClr>
          </a:solidFill>
          <a:ln w="12700">
            <a:solidFill>
              <a:srgbClr val="C0622B"/>
            </a:solidFill>
            <a:prstDash val="solid"/>
          </a:ln>
        </p:spPr>
      </p:sp>
      <p:sp>
        <p:nvSpPr>
          <p:cNvPr id="174" name="Shape 172"/>
          <p:cNvSpPr/>
          <p:nvPr/>
        </p:nvSpPr>
        <p:spPr>
          <a:xfrm rot="2700000">
            <a:off x="2351837" y="1371600"/>
            <a:ext cx="77724" cy="77724"/>
          </a:xfrm>
          <a:prstGeom prst="rect">
            <a:avLst/>
          </a:prstGeom>
          <a:solidFill>
            <a:srgbClr val="C0622B">
              <a:alpha val="18000"/>
            </a:srgbClr>
          </a:solidFill>
          <a:ln w="12700">
            <a:solidFill>
              <a:srgbClr val="C0622B"/>
            </a:solidFill>
            <a:prstDash val="solid"/>
          </a:ln>
        </p:spPr>
      </p:sp>
      <p:sp>
        <p:nvSpPr>
          <p:cNvPr id="175" name="Shape 173"/>
          <p:cNvSpPr/>
          <p:nvPr/>
        </p:nvSpPr>
        <p:spPr>
          <a:xfrm rot="2700000">
            <a:off x="2468880" y="1371600"/>
            <a:ext cx="77724" cy="77724"/>
          </a:xfrm>
          <a:prstGeom prst="rect">
            <a:avLst/>
          </a:prstGeom>
          <a:solidFill>
            <a:srgbClr val="C0622B">
              <a:alpha val="18000"/>
            </a:srgbClr>
          </a:solidFill>
          <a:ln w="12700">
            <a:solidFill>
              <a:srgbClr val="C0622B"/>
            </a:solidFill>
            <a:prstDash val="solid"/>
          </a:ln>
        </p:spPr>
      </p:sp>
      <p:sp>
        <p:nvSpPr>
          <p:cNvPr id="176" name="Shape 174"/>
          <p:cNvSpPr/>
          <p:nvPr/>
        </p:nvSpPr>
        <p:spPr>
          <a:xfrm rot="2700000">
            <a:off x="2585923" y="1371600"/>
            <a:ext cx="77724" cy="77724"/>
          </a:xfrm>
          <a:prstGeom prst="rect">
            <a:avLst/>
          </a:prstGeom>
          <a:solidFill>
            <a:srgbClr val="C0622B">
              <a:alpha val="18000"/>
            </a:srgbClr>
          </a:solidFill>
          <a:ln w="12700">
            <a:solidFill>
              <a:srgbClr val="C0622B"/>
            </a:solidFill>
            <a:prstDash val="solid"/>
          </a:ln>
        </p:spPr>
      </p:sp>
      <p:sp>
        <p:nvSpPr>
          <p:cNvPr id="177" name="Shape 175"/>
          <p:cNvSpPr/>
          <p:nvPr/>
        </p:nvSpPr>
        <p:spPr>
          <a:xfrm rot="2700000">
            <a:off x="2702966" y="1371600"/>
            <a:ext cx="77724" cy="77724"/>
          </a:xfrm>
          <a:prstGeom prst="rect">
            <a:avLst/>
          </a:prstGeom>
          <a:solidFill>
            <a:srgbClr val="C0622B">
              <a:alpha val="18000"/>
            </a:srgbClr>
          </a:solidFill>
          <a:ln w="12700">
            <a:solidFill>
              <a:srgbClr val="C0622B"/>
            </a:solidFill>
            <a:prstDash val="solid"/>
          </a:ln>
        </p:spPr>
      </p:sp>
      <p:sp>
        <p:nvSpPr>
          <p:cNvPr id="178" name="Shape 176"/>
          <p:cNvSpPr/>
          <p:nvPr/>
        </p:nvSpPr>
        <p:spPr>
          <a:xfrm rot="2700000">
            <a:off x="2820010" y="1371600"/>
            <a:ext cx="77724" cy="77724"/>
          </a:xfrm>
          <a:prstGeom prst="rect">
            <a:avLst/>
          </a:prstGeom>
          <a:solidFill>
            <a:srgbClr val="C0622B">
              <a:alpha val="18000"/>
            </a:srgbClr>
          </a:solidFill>
          <a:ln w="12700">
            <a:solidFill>
              <a:srgbClr val="C0622B"/>
            </a:solidFill>
            <a:prstDash val="solid"/>
          </a:ln>
        </p:spPr>
      </p:sp>
      <p:sp>
        <p:nvSpPr>
          <p:cNvPr id="179" name="Shape 177"/>
          <p:cNvSpPr/>
          <p:nvPr/>
        </p:nvSpPr>
        <p:spPr>
          <a:xfrm rot="2700000">
            <a:off x="2937053" y="1371600"/>
            <a:ext cx="77724" cy="77724"/>
          </a:xfrm>
          <a:prstGeom prst="rect">
            <a:avLst/>
          </a:prstGeom>
          <a:solidFill>
            <a:srgbClr val="C0622B">
              <a:alpha val="18000"/>
            </a:srgbClr>
          </a:solidFill>
          <a:ln w="12700">
            <a:solidFill>
              <a:srgbClr val="C0622B"/>
            </a:solidFill>
            <a:prstDash val="solid"/>
          </a:ln>
        </p:spPr>
      </p:sp>
      <p:sp>
        <p:nvSpPr>
          <p:cNvPr id="180" name="Text 178"/>
          <p:cNvSpPr/>
          <p:nvPr/>
        </p:nvSpPr>
        <p:spPr>
          <a:xfrm>
            <a:off x="6254496" y="1444752"/>
            <a:ext cx="2670048" cy="3364992"/>
          </a:xfrm>
          <a:prstGeom prst="rect">
            <a:avLst/>
          </a:prstGeom>
          <a:noFill/>
          <a:ln/>
        </p:spPr>
        <p:txBody>
          <a:bodyPr wrap="square" rtlCol="0" anchor="t"/>
          <a:lstStyle/>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Package traitement eau complet (adoucisseur + désaérateur + dosage)</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Périmètre stockage GPL en vrac ou documentation d'interface</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Mise en service complète par ingénieur constructeur — non sous-traitée</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Analyse combustion GPL à la mise en service — ingénieur certifié</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Formation opérateurs : minimum 2 jours, en français ou anglais</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Kit pièces de rechange : stock critique 2 ans fourni en offre</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Manuel O&amp;M en français ou anglais — obligatoire</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Déclaration de Conformité CE remise à la livraison</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Certificat épreuve appareil sous pression en usine + sur site</a:t>
            </a:r>
            <a:endParaRPr lang="en-US" sz="880" dirty="0"/>
          </a:p>
        </p:txBody>
      </p:sp>
      <p:sp>
        <p:nvSpPr>
          <p:cNvPr id="181" name="Shape 17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49" name="Shape 24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50" name="Shape 24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51" name="Shape 24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52" name="Shape 25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53" name="Shape 25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54" name="Shape 25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55" name="Shape 25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56" name="Shape 25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59" name="Text 25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800" b="1" spc="80" kern="0" dirty="0">
                <a:solidFill>
                  <a:srgbClr val="D4951A"/>
                </a:solidFill>
                <a:latin typeface="Georgia" pitchFamily="34" charset="0"/>
                <a:ea typeface="Georgia" pitchFamily="34" charset="-122"/>
                <a:cs typeface="Georgia" pitchFamily="34" charset="-120"/>
              </a:rPr>
              <a:t>FEUILLE DE ROUTE DE MISE EN ŒUVRE</a:t>
            </a:r>
            <a:endParaRPr lang="en-US" sz="18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De la décision à la première vapeur — jalons du chemin critique</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2834640" cy="1965960"/>
          </a:xfrm>
          <a:prstGeom prst="rect">
            <a:avLst/>
          </a:prstGeom>
          <a:solidFill>
            <a:srgbClr val="141418"/>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530352" cy="1965960"/>
          </a:xfrm>
          <a:prstGeom prst="rect">
            <a:avLst/>
          </a:prstGeom>
          <a:solidFill>
            <a:srgbClr val="C0622B"/>
          </a:solidFill>
          <a:ln/>
        </p:spPr>
      </p:sp>
      <p:sp>
        <p:nvSpPr>
          <p:cNvPr id="90" name="Shape 88"/>
          <p:cNvSpPr/>
          <p:nvPr/>
        </p:nvSpPr>
        <p:spPr>
          <a:xfrm rot="2700000">
            <a:off x="457200" y="1847088"/>
            <a:ext cx="128016" cy="128016"/>
          </a:xfrm>
          <a:prstGeom prst="rect">
            <a:avLst/>
          </a:prstGeom>
          <a:solidFill>
            <a:srgbClr val="09090F"/>
          </a:solidFill>
          <a:ln w="12700">
            <a:solidFill>
              <a:srgbClr val="09090F"/>
            </a:solidFill>
            <a:prstDash val="solid"/>
          </a:ln>
        </p:spPr>
      </p:sp>
      <p:sp>
        <p:nvSpPr>
          <p:cNvPr id="91" name="Text 89"/>
          <p:cNvSpPr/>
          <p:nvPr/>
        </p:nvSpPr>
        <p:spPr>
          <a:xfrm>
            <a:off x="256032"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01</a:t>
            </a:r>
            <a:endParaRPr lang="en-US" sz="2200" dirty="0"/>
          </a:p>
        </p:txBody>
      </p:sp>
      <p:sp>
        <p:nvSpPr>
          <p:cNvPr id="92" name="Text 90"/>
          <p:cNvSpPr/>
          <p:nvPr/>
        </p:nvSpPr>
        <p:spPr>
          <a:xfrm>
            <a:off x="859536" y="987552"/>
            <a:ext cx="2176272" cy="438912"/>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Valider la</a:t>
            </a:r>
            <a:endParaRPr lang="en-US" sz="1100" dirty="0"/>
          </a:p>
          <a:p>
            <a:pPr indent="0" marL="0">
              <a:buNone/>
            </a:pPr>
            <a:r>
              <a:rPr lang="en-US" sz="1100" b="1" dirty="0">
                <a:solidFill>
                  <a:srgbClr val="C0622B"/>
                </a:solidFill>
                <a:latin typeface="Georgia" pitchFamily="34" charset="0"/>
                <a:ea typeface="Georgia" pitchFamily="34" charset="-122"/>
                <a:cs typeface="Georgia" pitchFamily="34" charset="-120"/>
              </a:rPr>
              <a:t>Demande Vapeur</a:t>
            </a:r>
            <a:endParaRPr lang="en-US" sz="1100" dirty="0"/>
          </a:p>
        </p:txBody>
      </p:sp>
      <p:sp>
        <p:nvSpPr>
          <p:cNvPr id="93" name="Text 91"/>
          <p:cNvSpPr/>
          <p:nvPr/>
        </p:nvSpPr>
        <p:spPr>
          <a:xfrm>
            <a:off x="859536"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MAINTENANT — 2 semaines</a:t>
            </a:r>
            <a:endParaRPr lang="en-US" sz="750" dirty="0"/>
          </a:p>
        </p:txBody>
      </p:sp>
      <p:sp>
        <p:nvSpPr>
          <p:cNvPr id="94" name="Text 92"/>
          <p:cNvSpPr/>
          <p:nvPr/>
        </p:nvSpPr>
        <p:spPr>
          <a:xfrm>
            <a:off x="859536"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Obtenir le tableau consommation vapeur FAMSUN par étape process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Vérifier que 2 123 Kg/H est le total confirmé — pas une estimation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la pression d'entrée conditionneur FAMSUN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la demande vapeur sécheur, CIP, traçage thermique séparément</a:t>
            </a:r>
            <a:endParaRPr lang="en-US" sz="800" dirty="0"/>
          </a:p>
        </p:txBody>
      </p:sp>
      <p:sp>
        <p:nvSpPr>
          <p:cNvPr id="95" name="Shape 93"/>
          <p:cNvSpPr/>
          <p:nvPr/>
        </p:nvSpPr>
        <p:spPr>
          <a:xfrm>
            <a:off x="3200400" y="932688"/>
            <a:ext cx="2834640" cy="1965960"/>
          </a:xfrm>
          <a:prstGeom prst="rect">
            <a:avLst/>
          </a:prstGeom>
          <a:solidFill>
            <a:srgbClr val="14141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96" name="Shape 94"/>
          <p:cNvSpPr/>
          <p:nvPr/>
        </p:nvSpPr>
        <p:spPr>
          <a:xfrm>
            <a:off x="3200400" y="932688"/>
            <a:ext cx="530352" cy="1965960"/>
          </a:xfrm>
          <a:prstGeom prst="rect">
            <a:avLst/>
          </a:prstGeom>
          <a:solidFill>
            <a:srgbClr val="E8A020"/>
          </a:solidFill>
          <a:ln/>
        </p:spPr>
      </p:sp>
      <p:sp>
        <p:nvSpPr>
          <p:cNvPr id="97" name="Shape 95"/>
          <p:cNvSpPr/>
          <p:nvPr/>
        </p:nvSpPr>
        <p:spPr>
          <a:xfrm rot="2700000">
            <a:off x="3401568" y="1847088"/>
            <a:ext cx="128016" cy="128016"/>
          </a:xfrm>
          <a:prstGeom prst="rect">
            <a:avLst/>
          </a:prstGeom>
          <a:solidFill>
            <a:srgbClr val="09090F"/>
          </a:solidFill>
          <a:ln w="12700">
            <a:solidFill>
              <a:srgbClr val="09090F"/>
            </a:solidFill>
            <a:prstDash val="solid"/>
          </a:ln>
        </p:spPr>
      </p:sp>
      <p:sp>
        <p:nvSpPr>
          <p:cNvPr id="98" name="Text 96"/>
          <p:cNvSpPr/>
          <p:nvPr/>
        </p:nvSpPr>
        <p:spPr>
          <a:xfrm>
            <a:off x="3200400"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02</a:t>
            </a:r>
            <a:endParaRPr lang="en-US" sz="2200" dirty="0"/>
          </a:p>
        </p:txBody>
      </p:sp>
      <p:sp>
        <p:nvSpPr>
          <p:cNvPr id="99" name="Text 97"/>
          <p:cNvSpPr/>
          <p:nvPr/>
        </p:nvSpPr>
        <p:spPr>
          <a:xfrm>
            <a:off x="3803904" y="987552"/>
            <a:ext cx="2176272" cy="43891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Confirmer</a:t>
            </a:r>
            <a:endParaRPr lang="en-US" sz="1100" dirty="0"/>
          </a:p>
          <a:p>
            <a:pPr indent="0" marL="0">
              <a:buNone/>
            </a:pPr>
            <a:r>
              <a:rPr lang="en-US" sz="1100" b="1" dirty="0">
                <a:solidFill>
                  <a:srgbClr val="E8A020"/>
                </a:solidFill>
                <a:latin typeface="Georgia" pitchFamily="34" charset="0"/>
                <a:ea typeface="Georgia" pitchFamily="34" charset="-122"/>
                <a:cs typeface="Georgia" pitchFamily="34" charset="-120"/>
              </a:rPr>
              <a:t>Infrastructure GPL</a:t>
            </a:r>
            <a:endParaRPr lang="en-US" sz="1100" dirty="0"/>
          </a:p>
        </p:txBody>
      </p:sp>
      <p:sp>
        <p:nvSpPr>
          <p:cNvPr id="100" name="Text 98"/>
          <p:cNvSpPr/>
          <p:nvPr/>
        </p:nvSpPr>
        <p:spPr>
          <a:xfrm>
            <a:off x="3803904"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MAINTENANT — 2 semaines</a:t>
            </a:r>
            <a:endParaRPr lang="en-US" sz="750" dirty="0"/>
          </a:p>
        </p:txBody>
      </p:sp>
      <p:sp>
        <p:nvSpPr>
          <p:cNvPr id="101" name="Text 99"/>
          <p:cNvSpPr/>
          <p:nvPr/>
        </p:nvSpPr>
        <p:spPr>
          <a:xfrm>
            <a:off x="3803904"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fournisseur GPL et logistique livraison sur site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Confirmer accès site pour installation cuve 15T en vrac</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Mobiliser équipe génie civil pour merlon GPL et détection gaz</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Décision : brûleur bi-combustible maintenant ou GPL uniquement ?</a:t>
            </a:r>
            <a:endParaRPr lang="en-US" sz="800" dirty="0"/>
          </a:p>
        </p:txBody>
      </p:sp>
      <p:sp>
        <p:nvSpPr>
          <p:cNvPr id="102" name="Shape 100"/>
          <p:cNvSpPr/>
          <p:nvPr/>
        </p:nvSpPr>
        <p:spPr>
          <a:xfrm>
            <a:off x="6144768" y="932688"/>
            <a:ext cx="2834640" cy="1965960"/>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3" name="Shape 101"/>
          <p:cNvSpPr/>
          <p:nvPr/>
        </p:nvSpPr>
        <p:spPr>
          <a:xfrm>
            <a:off x="6144768" y="932688"/>
            <a:ext cx="530352" cy="1965960"/>
          </a:xfrm>
          <a:prstGeom prst="rect">
            <a:avLst/>
          </a:prstGeom>
          <a:solidFill>
            <a:srgbClr val="D4951A"/>
          </a:solidFill>
          <a:ln/>
        </p:spPr>
      </p:sp>
      <p:sp>
        <p:nvSpPr>
          <p:cNvPr id="104" name="Shape 102"/>
          <p:cNvSpPr/>
          <p:nvPr/>
        </p:nvSpPr>
        <p:spPr>
          <a:xfrm rot="2700000">
            <a:off x="6345936" y="1847088"/>
            <a:ext cx="128016" cy="128016"/>
          </a:xfrm>
          <a:prstGeom prst="rect">
            <a:avLst/>
          </a:prstGeom>
          <a:solidFill>
            <a:srgbClr val="09090F"/>
          </a:solidFill>
          <a:ln w="12700">
            <a:solidFill>
              <a:srgbClr val="09090F"/>
            </a:solidFill>
            <a:prstDash val="solid"/>
          </a:ln>
        </p:spPr>
      </p:sp>
      <p:sp>
        <p:nvSpPr>
          <p:cNvPr id="105" name="Text 103"/>
          <p:cNvSpPr/>
          <p:nvPr/>
        </p:nvSpPr>
        <p:spPr>
          <a:xfrm>
            <a:off x="6144768"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03</a:t>
            </a:r>
            <a:endParaRPr lang="en-US" sz="2200" dirty="0"/>
          </a:p>
        </p:txBody>
      </p:sp>
      <p:sp>
        <p:nvSpPr>
          <p:cNvPr id="106" name="Text 104"/>
          <p:cNvSpPr/>
          <p:nvPr/>
        </p:nvSpPr>
        <p:spPr>
          <a:xfrm>
            <a:off x="6748272" y="987552"/>
            <a:ext cx="2176272" cy="438912"/>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Émettre AO</a:t>
            </a:r>
            <a:endParaRPr lang="en-US" sz="1100" dirty="0"/>
          </a:p>
          <a:p>
            <a:pPr indent="0" marL="0">
              <a:buNone/>
            </a:pPr>
            <a:r>
              <a:rPr lang="en-US" sz="1100" b="1" dirty="0">
                <a:solidFill>
                  <a:srgbClr val="D4951A"/>
                </a:solidFill>
                <a:latin typeface="Georgia" pitchFamily="34" charset="0"/>
                <a:ea typeface="Georgia" pitchFamily="34" charset="-122"/>
                <a:cs typeface="Georgia" pitchFamily="34" charset="-120"/>
              </a:rPr>
              <a:t>&amp; Sélectionner</a:t>
            </a:r>
            <a:endParaRPr lang="en-US" sz="1100" dirty="0"/>
          </a:p>
        </p:txBody>
      </p:sp>
      <p:sp>
        <p:nvSpPr>
          <p:cNvPr id="107" name="Text 105"/>
          <p:cNvSpPr/>
          <p:nvPr/>
        </p:nvSpPr>
        <p:spPr>
          <a:xfrm>
            <a:off x="6748272"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Semaines 2–6</a:t>
            </a:r>
            <a:endParaRPr lang="en-US" sz="750" dirty="0"/>
          </a:p>
        </p:txBody>
      </p:sp>
      <p:sp>
        <p:nvSpPr>
          <p:cNvPr id="108" name="Text 106"/>
          <p:cNvSpPr/>
          <p:nvPr/>
        </p:nvSpPr>
        <p:spPr>
          <a:xfrm>
            <a:off x="6748272"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Émettre RFQ à Miura (bureau UE), Clayton Industries, Cleaver-Brooks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Obligatoire : marquage CE, homologation GPL, compatibilité NSF H1</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Demander alternatives GVI et tubes de fumée pour comparaison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Évaluer sur TCO 5 ans, pas uniquement sur le prix d'achat</a:t>
            </a:r>
            <a:endParaRPr lang="en-US" sz="800" dirty="0"/>
          </a:p>
        </p:txBody>
      </p:sp>
      <p:sp>
        <p:nvSpPr>
          <p:cNvPr id="109" name="Shape 107"/>
          <p:cNvSpPr/>
          <p:nvPr/>
        </p:nvSpPr>
        <p:spPr>
          <a:xfrm>
            <a:off x="256032" y="2980944"/>
            <a:ext cx="2834640" cy="196596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10" name="Shape 108"/>
          <p:cNvSpPr/>
          <p:nvPr/>
        </p:nvSpPr>
        <p:spPr>
          <a:xfrm>
            <a:off x="256032" y="2980944"/>
            <a:ext cx="530352" cy="1965960"/>
          </a:xfrm>
          <a:prstGeom prst="rect">
            <a:avLst/>
          </a:prstGeom>
          <a:solidFill>
            <a:srgbClr val="1B9A8A"/>
          </a:solidFill>
          <a:ln/>
        </p:spPr>
      </p:sp>
      <p:sp>
        <p:nvSpPr>
          <p:cNvPr id="111" name="Shape 109"/>
          <p:cNvSpPr/>
          <p:nvPr/>
        </p:nvSpPr>
        <p:spPr>
          <a:xfrm rot="2700000">
            <a:off x="457200" y="3895344"/>
            <a:ext cx="128016" cy="128016"/>
          </a:xfrm>
          <a:prstGeom prst="rect">
            <a:avLst/>
          </a:prstGeom>
          <a:solidFill>
            <a:srgbClr val="09090F"/>
          </a:solidFill>
          <a:ln w="12700">
            <a:solidFill>
              <a:srgbClr val="09090F"/>
            </a:solidFill>
            <a:prstDash val="solid"/>
          </a:ln>
        </p:spPr>
      </p:sp>
      <p:sp>
        <p:nvSpPr>
          <p:cNvPr id="112" name="Text 110"/>
          <p:cNvSpPr/>
          <p:nvPr/>
        </p:nvSpPr>
        <p:spPr>
          <a:xfrm>
            <a:off x="256032"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04</a:t>
            </a:r>
            <a:endParaRPr lang="en-US" sz="2200" dirty="0"/>
          </a:p>
        </p:txBody>
      </p:sp>
      <p:sp>
        <p:nvSpPr>
          <p:cNvPr id="113" name="Text 111"/>
          <p:cNvSpPr/>
          <p:nvPr/>
        </p:nvSpPr>
        <p:spPr>
          <a:xfrm>
            <a:off x="859536" y="3035808"/>
            <a:ext cx="2176272" cy="438912"/>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Passer</a:t>
            </a:r>
            <a:endParaRPr lang="en-US" sz="1100" dirty="0"/>
          </a:p>
          <a:p>
            <a:pPr indent="0" marL="0">
              <a:buNone/>
            </a:pPr>
            <a:r>
              <a:rPr lang="en-US" sz="1100" b="1" dirty="0">
                <a:solidFill>
                  <a:srgbClr val="1B9A8A"/>
                </a:solidFill>
                <a:latin typeface="Georgia" pitchFamily="34" charset="0"/>
                <a:ea typeface="Georgia" pitchFamily="34" charset="-122"/>
                <a:cs typeface="Georgia" pitchFamily="34" charset="-120"/>
              </a:rPr>
              <a:t>Commande &amp; Suivre</a:t>
            </a:r>
            <a:endParaRPr lang="en-US" sz="1100" dirty="0"/>
          </a:p>
        </p:txBody>
      </p:sp>
      <p:sp>
        <p:nvSpPr>
          <p:cNvPr id="114" name="Text 112"/>
          <p:cNvSpPr/>
          <p:nvPr/>
        </p:nvSpPr>
        <p:spPr>
          <a:xfrm>
            <a:off x="859536"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Semaines 6–8</a:t>
            </a:r>
            <a:endParaRPr lang="en-US" sz="750" dirty="0"/>
          </a:p>
        </p:txBody>
      </p:sp>
      <p:sp>
        <p:nvSpPr>
          <p:cNvPr id="115" name="Text 113"/>
          <p:cNvSpPr/>
          <p:nvPr/>
        </p:nvSpPr>
        <p:spPr>
          <a:xfrm>
            <a:off x="859536"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Émettre BC — la chaudière est sur le chemin critique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Demander la date de Réception Usine (FAT) au fabricant</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Contacter immédiatement l'autorité marocaine d'inspection APS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Lancer la procédure d'achat du package traitement eau en parallèle</a:t>
            </a:r>
            <a:endParaRPr lang="en-US" sz="800" dirty="0"/>
          </a:p>
        </p:txBody>
      </p:sp>
      <p:sp>
        <p:nvSpPr>
          <p:cNvPr id="116" name="Shape 114"/>
          <p:cNvSpPr/>
          <p:nvPr/>
        </p:nvSpPr>
        <p:spPr>
          <a:xfrm>
            <a:off x="3200400" y="2980944"/>
            <a:ext cx="2834640" cy="1965960"/>
          </a:xfrm>
          <a:prstGeom prst="rect">
            <a:avLst/>
          </a:prstGeom>
          <a:solidFill>
            <a:srgbClr val="141418"/>
          </a:solidFill>
          <a:ln w="12700">
            <a:solidFill>
              <a:srgbClr val="1A5FA8"/>
            </a:solidFill>
            <a:prstDash val="solid"/>
          </a:ln>
          <a:effectLst>
            <a:outerShdw sx="100000" sy="100000" kx="0" ky="0" algn="bl" rotWithShape="0" blurRad="76200" dist="25400" dir="8100000">
              <a:srgbClr val="000000">
                <a:alpha val="30000"/>
              </a:srgbClr>
            </a:outerShdw>
          </a:effectLst>
        </p:spPr>
      </p:sp>
      <p:sp>
        <p:nvSpPr>
          <p:cNvPr id="117" name="Shape 115"/>
          <p:cNvSpPr/>
          <p:nvPr/>
        </p:nvSpPr>
        <p:spPr>
          <a:xfrm>
            <a:off x="3200400" y="2980944"/>
            <a:ext cx="530352" cy="1965960"/>
          </a:xfrm>
          <a:prstGeom prst="rect">
            <a:avLst/>
          </a:prstGeom>
          <a:solidFill>
            <a:srgbClr val="1A5FA8"/>
          </a:solidFill>
          <a:ln/>
        </p:spPr>
      </p:sp>
      <p:sp>
        <p:nvSpPr>
          <p:cNvPr id="118" name="Shape 116"/>
          <p:cNvSpPr/>
          <p:nvPr/>
        </p:nvSpPr>
        <p:spPr>
          <a:xfrm rot="2700000">
            <a:off x="3401568" y="3895344"/>
            <a:ext cx="128016" cy="128016"/>
          </a:xfrm>
          <a:prstGeom prst="rect">
            <a:avLst/>
          </a:prstGeom>
          <a:solidFill>
            <a:srgbClr val="09090F"/>
          </a:solidFill>
          <a:ln w="12700">
            <a:solidFill>
              <a:srgbClr val="09090F"/>
            </a:solidFill>
            <a:prstDash val="solid"/>
          </a:ln>
        </p:spPr>
      </p:sp>
      <p:sp>
        <p:nvSpPr>
          <p:cNvPr id="119" name="Text 117"/>
          <p:cNvSpPr/>
          <p:nvPr/>
        </p:nvSpPr>
        <p:spPr>
          <a:xfrm>
            <a:off x="3200400"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05</a:t>
            </a:r>
            <a:endParaRPr lang="en-US" sz="2200" dirty="0"/>
          </a:p>
        </p:txBody>
      </p:sp>
      <p:sp>
        <p:nvSpPr>
          <p:cNvPr id="120" name="Text 118"/>
          <p:cNvSpPr/>
          <p:nvPr/>
        </p:nvSpPr>
        <p:spPr>
          <a:xfrm>
            <a:off x="3803904" y="3035808"/>
            <a:ext cx="2176272" cy="438912"/>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Installer &amp;</a:t>
            </a:r>
            <a:endParaRPr lang="en-US" sz="1100" dirty="0"/>
          </a:p>
          <a:p>
            <a:pPr indent="0" marL="0">
              <a:buNone/>
            </a:pPr>
            <a:r>
              <a:rPr lang="en-US" sz="1100" b="1" dirty="0">
                <a:solidFill>
                  <a:srgbClr val="1A5FA8"/>
                </a:solidFill>
                <a:latin typeface="Georgia" pitchFamily="34" charset="0"/>
                <a:ea typeface="Georgia" pitchFamily="34" charset="-122"/>
                <a:cs typeface="Georgia" pitchFamily="34" charset="-120"/>
              </a:rPr>
              <a:t>Mettre en Service</a:t>
            </a:r>
            <a:endParaRPr lang="en-US" sz="1100" dirty="0"/>
          </a:p>
        </p:txBody>
      </p:sp>
      <p:sp>
        <p:nvSpPr>
          <p:cNvPr id="121" name="Text 119"/>
          <p:cNvSpPr/>
          <p:nvPr/>
        </p:nvSpPr>
        <p:spPr>
          <a:xfrm>
            <a:off x="3803904"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Selon planning Gantt</a:t>
            </a:r>
            <a:endParaRPr lang="en-US" sz="750" dirty="0"/>
          </a:p>
        </p:txBody>
      </p:sp>
      <p:sp>
        <p:nvSpPr>
          <p:cNvPr id="122" name="Text 120"/>
          <p:cNvSpPr/>
          <p:nvPr/>
        </p:nvSpPr>
        <p:spPr>
          <a:xfrm>
            <a:off x="3803904"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Génie civil salle chaudière terminé avant livraison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Séquence mise en service : utilités en premier — chaudière avant extrudeur</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Analyse combustion GPL par ingénieur certifié</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Test soupape sécurité, test détecteur bas niveau eau — documentés</a:t>
            </a:r>
            <a:endParaRPr lang="en-US" sz="800" dirty="0"/>
          </a:p>
        </p:txBody>
      </p:sp>
      <p:sp>
        <p:nvSpPr>
          <p:cNvPr id="123" name="Shape 121"/>
          <p:cNvSpPr/>
          <p:nvPr/>
        </p:nvSpPr>
        <p:spPr>
          <a:xfrm>
            <a:off x="6144768" y="2980944"/>
            <a:ext cx="2834640" cy="1965960"/>
          </a:xfrm>
          <a:prstGeom prst="rect">
            <a:avLst/>
          </a:prstGeom>
          <a:solidFill>
            <a:srgbClr val="141418"/>
          </a:solidFill>
          <a:ln w="12700">
            <a:solidFill>
              <a:srgbClr val="3DAF7A"/>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6144768" y="2980944"/>
            <a:ext cx="530352" cy="1965960"/>
          </a:xfrm>
          <a:prstGeom prst="rect">
            <a:avLst/>
          </a:prstGeom>
          <a:solidFill>
            <a:srgbClr val="3DAF7A"/>
          </a:solidFill>
          <a:ln/>
        </p:spPr>
      </p:sp>
      <p:sp>
        <p:nvSpPr>
          <p:cNvPr id="125" name="Shape 123"/>
          <p:cNvSpPr/>
          <p:nvPr/>
        </p:nvSpPr>
        <p:spPr>
          <a:xfrm rot="2700000">
            <a:off x="6345936" y="3895344"/>
            <a:ext cx="128016" cy="128016"/>
          </a:xfrm>
          <a:prstGeom prst="rect">
            <a:avLst/>
          </a:prstGeom>
          <a:solidFill>
            <a:srgbClr val="09090F"/>
          </a:solidFill>
          <a:ln w="12700">
            <a:solidFill>
              <a:srgbClr val="09090F"/>
            </a:solidFill>
            <a:prstDash val="solid"/>
          </a:ln>
        </p:spPr>
      </p:sp>
      <p:sp>
        <p:nvSpPr>
          <p:cNvPr id="126" name="Text 124"/>
          <p:cNvSpPr/>
          <p:nvPr/>
        </p:nvSpPr>
        <p:spPr>
          <a:xfrm>
            <a:off x="6144768"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06</a:t>
            </a:r>
            <a:endParaRPr lang="en-US" sz="2200" dirty="0"/>
          </a:p>
        </p:txBody>
      </p:sp>
      <p:sp>
        <p:nvSpPr>
          <p:cNvPr id="127" name="Text 125"/>
          <p:cNvSpPr/>
          <p:nvPr/>
        </p:nvSpPr>
        <p:spPr>
          <a:xfrm>
            <a:off x="6748272" y="3035808"/>
            <a:ext cx="2176272" cy="438912"/>
          </a:xfrm>
          <a:prstGeom prst="rect">
            <a:avLst/>
          </a:prstGeom>
          <a:noFill/>
          <a:ln/>
        </p:spPr>
        <p:txBody>
          <a:bodyPr wrap="square" rtlCol="0" anchor="ctr"/>
          <a:lstStyle/>
          <a:p>
            <a:pPr indent="0" marL="0">
              <a:buNone/>
            </a:pPr>
            <a:r>
              <a:rPr lang="en-US" sz="1100" b="1" dirty="0">
                <a:solidFill>
                  <a:srgbClr val="3DAF7A"/>
                </a:solidFill>
                <a:latin typeface="Georgia" pitchFamily="34" charset="0"/>
                <a:ea typeface="Georgia" pitchFamily="34" charset="-122"/>
                <a:cs typeface="Georgia" pitchFamily="34" charset="-120"/>
              </a:rPr>
              <a:t>Validation</a:t>
            </a:r>
            <a:endParaRPr lang="en-US" sz="1100" dirty="0"/>
          </a:p>
          <a:p>
            <a:pPr indent="0" marL="0">
              <a:buNone/>
            </a:pPr>
            <a:r>
              <a:rPr lang="en-US" sz="1100" b="1" dirty="0">
                <a:solidFill>
                  <a:srgbClr val="3DAF7A"/>
                </a:solidFill>
                <a:latin typeface="Georgia" pitchFamily="34" charset="0"/>
                <a:ea typeface="Georgia" pitchFamily="34" charset="-122"/>
                <a:cs typeface="Georgia" pitchFamily="34" charset="-120"/>
              </a:rPr>
              <a:t>Sécurité Alim.</a:t>
            </a:r>
            <a:endParaRPr lang="en-US" sz="1100" dirty="0"/>
          </a:p>
        </p:txBody>
      </p:sp>
      <p:sp>
        <p:nvSpPr>
          <p:cNvPr id="128" name="Text 126"/>
          <p:cNvSpPr/>
          <p:nvPr/>
        </p:nvSpPr>
        <p:spPr>
          <a:xfrm>
            <a:off x="6748272"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Post mise en service</a:t>
            </a:r>
            <a:endParaRPr lang="en-US" sz="750" dirty="0"/>
          </a:p>
        </p:txBody>
      </p:sp>
      <p:sp>
        <p:nvSpPr>
          <p:cNvPr id="129" name="Text 127"/>
          <p:cNvSpPr/>
          <p:nvPr/>
        </p:nvSpPr>
        <p:spPr>
          <a:xfrm>
            <a:off x="6748272"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Premier prélèvement qualité vapeur envoyé en laboratoire accrédité</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Plan HACCP : vapeur conditionneur documentée comme CCP</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Système journal d'exploitation chaudière opérationnel</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Inspection annuelle appareil sous pression planifiée et réservée</a:t>
            </a:r>
            <a:endParaRPr lang="en-US" sz="800" dirty="0"/>
          </a:p>
        </p:txBody>
      </p:sp>
      <p:sp>
        <p:nvSpPr>
          <p:cNvPr id="130" name="Shape 128"/>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8" name="Text 206"/>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50A"/>
          </a:solidFill>
          <a:ln/>
        </p:spPr>
      </p:sp>
      <p:sp>
        <p:nvSpPr>
          <p:cNvPr id="3" name="Shape 1"/>
          <p:cNvSpPr/>
          <p:nvPr/>
        </p:nvSpPr>
        <p:spPr>
          <a:xfrm>
            <a:off x="0" y="0"/>
            <a:ext cx="64008" cy="960120"/>
          </a:xfrm>
          <a:prstGeom prst="rect">
            <a:avLst/>
          </a:prstGeom>
          <a:solidFill>
            <a:srgbClr val="D4951A"/>
          </a:solidFill>
          <a:ln/>
        </p:spPr>
      </p:sp>
      <p:sp>
        <p:nvSpPr>
          <p:cNvPr id="4" name="Shape 2"/>
          <p:cNvSpPr/>
          <p:nvPr/>
        </p:nvSpPr>
        <p:spPr>
          <a:xfrm rot="2700000">
            <a:off x="10973" y="841248"/>
            <a:ext cx="77724" cy="77724"/>
          </a:xfrm>
          <a:prstGeom prst="rect">
            <a:avLst/>
          </a:prstGeom>
          <a:solidFill>
            <a:srgbClr val="D4951A">
              <a:alpha val="45000"/>
            </a:srgbClr>
          </a:solidFill>
          <a:ln w="12700">
            <a:solidFill>
              <a:srgbClr val="D4951A"/>
            </a:solidFill>
            <a:prstDash val="solid"/>
          </a:ln>
        </p:spPr>
      </p:sp>
      <p:sp>
        <p:nvSpPr>
          <p:cNvPr id="5" name="Shape 3"/>
          <p:cNvSpPr/>
          <p:nvPr/>
        </p:nvSpPr>
        <p:spPr>
          <a:xfrm rot="2700000">
            <a:off x="128016" y="841248"/>
            <a:ext cx="77724" cy="77724"/>
          </a:xfrm>
          <a:prstGeom prst="rect">
            <a:avLst/>
          </a:prstGeom>
          <a:solidFill>
            <a:srgbClr val="D4951A">
              <a:alpha val="45000"/>
            </a:srgbClr>
          </a:solidFill>
          <a:ln w="12700">
            <a:solidFill>
              <a:srgbClr val="D4951A"/>
            </a:solidFill>
            <a:prstDash val="solid"/>
          </a:ln>
        </p:spPr>
      </p:sp>
      <p:sp>
        <p:nvSpPr>
          <p:cNvPr id="6" name="Shape 4"/>
          <p:cNvSpPr/>
          <p:nvPr/>
        </p:nvSpPr>
        <p:spPr>
          <a:xfrm rot="2700000">
            <a:off x="245059" y="841248"/>
            <a:ext cx="77724" cy="77724"/>
          </a:xfrm>
          <a:prstGeom prst="rect">
            <a:avLst/>
          </a:prstGeom>
          <a:solidFill>
            <a:srgbClr val="D4951A">
              <a:alpha val="45000"/>
            </a:srgbClr>
          </a:solidFill>
          <a:ln w="12700">
            <a:solidFill>
              <a:srgbClr val="D4951A"/>
            </a:solidFill>
            <a:prstDash val="solid"/>
          </a:ln>
        </p:spPr>
      </p:sp>
      <p:sp>
        <p:nvSpPr>
          <p:cNvPr id="7" name="Shape 5"/>
          <p:cNvSpPr/>
          <p:nvPr/>
        </p:nvSpPr>
        <p:spPr>
          <a:xfrm rot="2700000">
            <a:off x="362102" y="841248"/>
            <a:ext cx="77724" cy="77724"/>
          </a:xfrm>
          <a:prstGeom prst="rect">
            <a:avLst/>
          </a:prstGeom>
          <a:solidFill>
            <a:srgbClr val="D4951A">
              <a:alpha val="45000"/>
            </a:srgbClr>
          </a:solidFill>
          <a:ln w="12700">
            <a:solidFill>
              <a:srgbClr val="D4951A"/>
            </a:solidFill>
            <a:prstDash val="solid"/>
          </a:ln>
        </p:spPr>
      </p:sp>
      <p:sp>
        <p:nvSpPr>
          <p:cNvPr id="8" name="Shape 6"/>
          <p:cNvSpPr/>
          <p:nvPr/>
        </p:nvSpPr>
        <p:spPr>
          <a:xfrm rot="2700000">
            <a:off x="479146" y="841248"/>
            <a:ext cx="77724" cy="77724"/>
          </a:xfrm>
          <a:prstGeom prst="rect">
            <a:avLst/>
          </a:prstGeom>
          <a:solidFill>
            <a:srgbClr val="D4951A">
              <a:alpha val="45000"/>
            </a:srgbClr>
          </a:solidFill>
          <a:ln w="12700">
            <a:solidFill>
              <a:srgbClr val="D4951A"/>
            </a:solidFill>
            <a:prstDash val="solid"/>
          </a:ln>
        </p:spPr>
      </p:sp>
      <p:sp>
        <p:nvSpPr>
          <p:cNvPr id="9" name="Shape 7"/>
          <p:cNvSpPr/>
          <p:nvPr/>
        </p:nvSpPr>
        <p:spPr>
          <a:xfrm rot="2700000">
            <a:off x="596189" y="841248"/>
            <a:ext cx="77724" cy="77724"/>
          </a:xfrm>
          <a:prstGeom prst="rect">
            <a:avLst/>
          </a:prstGeom>
          <a:solidFill>
            <a:srgbClr val="D4951A">
              <a:alpha val="45000"/>
            </a:srgbClr>
          </a:solidFill>
          <a:ln w="12700">
            <a:solidFill>
              <a:srgbClr val="D4951A"/>
            </a:solidFill>
            <a:prstDash val="solid"/>
          </a:ln>
        </p:spPr>
      </p:sp>
      <p:sp>
        <p:nvSpPr>
          <p:cNvPr id="10" name="Shape 8"/>
          <p:cNvSpPr/>
          <p:nvPr/>
        </p:nvSpPr>
        <p:spPr>
          <a:xfrm rot="2700000">
            <a:off x="713232" y="841248"/>
            <a:ext cx="77724" cy="77724"/>
          </a:xfrm>
          <a:prstGeom prst="rect">
            <a:avLst/>
          </a:prstGeom>
          <a:solidFill>
            <a:srgbClr val="D4951A">
              <a:alpha val="45000"/>
            </a:srgbClr>
          </a:solidFill>
          <a:ln w="12700">
            <a:solidFill>
              <a:srgbClr val="D4951A"/>
            </a:solidFill>
            <a:prstDash val="solid"/>
          </a:ln>
        </p:spPr>
      </p:sp>
      <p:sp>
        <p:nvSpPr>
          <p:cNvPr id="11" name="Shape 9"/>
          <p:cNvSpPr/>
          <p:nvPr/>
        </p:nvSpPr>
        <p:spPr>
          <a:xfrm rot="2700000">
            <a:off x="830275" y="841248"/>
            <a:ext cx="77724" cy="77724"/>
          </a:xfrm>
          <a:prstGeom prst="rect">
            <a:avLst/>
          </a:prstGeom>
          <a:solidFill>
            <a:srgbClr val="D4951A">
              <a:alpha val="45000"/>
            </a:srgbClr>
          </a:solidFill>
          <a:ln w="12700">
            <a:solidFill>
              <a:srgbClr val="D4951A"/>
            </a:solidFill>
            <a:prstDash val="solid"/>
          </a:ln>
        </p:spPr>
      </p:sp>
      <p:sp>
        <p:nvSpPr>
          <p:cNvPr id="12" name="Shape 10"/>
          <p:cNvSpPr/>
          <p:nvPr/>
        </p:nvSpPr>
        <p:spPr>
          <a:xfrm rot="2700000">
            <a:off x="947318" y="841248"/>
            <a:ext cx="77724" cy="77724"/>
          </a:xfrm>
          <a:prstGeom prst="rect">
            <a:avLst/>
          </a:prstGeom>
          <a:solidFill>
            <a:srgbClr val="D4951A">
              <a:alpha val="45000"/>
            </a:srgbClr>
          </a:solidFill>
          <a:ln w="12700">
            <a:solidFill>
              <a:srgbClr val="D4951A"/>
            </a:solidFill>
            <a:prstDash val="solid"/>
          </a:ln>
        </p:spPr>
      </p:sp>
      <p:sp>
        <p:nvSpPr>
          <p:cNvPr id="13" name="Shape 11"/>
          <p:cNvSpPr/>
          <p:nvPr/>
        </p:nvSpPr>
        <p:spPr>
          <a:xfrm rot="2700000">
            <a:off x="1064362" y="841248"/>
            <a:ext cx="77724" cy="77724"/>
          </a:xfrm>
          <a:prstGeom prst="rect">
            <a:avLst/>
          </a:prstGeom>
          <a:solidFill>
            <a:srgbClr val="D4951A">
              <a:alpha val="45000"/>
            </a:srgbClr>
          </a:solidFill>
          <a:ln w="12700">
            <a:solidFill>
              <a:srgbClr val="D4951A"/>
            </a:solidFill>
            <a:prstDash val="solid"/>
          </a:ln>
        </p:spPr>
      </p:sp>
      <p:sp>
        <p:nvSpPr>
          <p:cNvPr id="14" name="Shape 12"/>
          <p:cNvSpPr/>
          <p:nvPr/>
        </p:nvSpPr>
        <p:spPr>
          <a:xfrm rot="2700000">
            <a:off x="1181405" y="841248"/>
            <a:ext cx="77724" cy="77724"/>
          </a:xfrm>
          <a:prstGeom prst="rect">
            <a:avLst/>
          </a:prstGeom>
          <a:solidFill>
            <a:srgbClr val="D4951A">
              <a:alpha val="45000"/>
            </a:srgbClr>
          </a:solidFill>
          <a:ln w="12700">
            <a:solidFill>
              <a:srgbClr val="D4951A"/>
            </a:solidFill>
            <a:prstDash val="solid"/>
          </a:ln>
        </p:spPr>
      </p:sp>
      <p:sp>
        <p:nvSpPr>
          <p:cNvPr id="15" name="Shape 13"/>
          <p:cNvSpPr/>
          <p:nvPr/>
        </p:nvSpPr>
        <p:spPr>
          <a:xfrm rot="2700000">
            <a:off x="1298448" y="841248"/>
            <a:ext cx="77724" cy="77724"/>
          </a:xfrm>
          <a:prstGeom prst="rect">
            <a:avLst/>
          </a:prstGeom>
          <a:solidFill>
            <a:srgbClr val="D4951A">
              <a:alpha val="45000"/>
            </a:srgbClr>
          </a:solidFill>
          <a:ln w="12700">
            <a:solidFill>
              <a:srgbClr val="D4951A"/>
            </a:solidFill>
            <a:prstDash val="solid"/>
          </a:ln>
        </p:spPr>
      </p:sp>
      <p:sp>
        <p:nvSpPr>
          <p:cNvPr id="16" name="Shape 14"/>
          <p:cNvSpPr/>
          <p:nvPr/>
        </p:nvSpPr>
        <p:spPr>
          <a:xfrm rot="2700000">
            <a:off x="1415491" y="841248"/>
            <a:ext cx="77724" cy="77724"/>
          </a:xfrm>
          <a:prstGeom prst="rect">
            <a:avLst/>
          </a:prstGeom>
          <a:solidFill>
            <a:srgbClr val="D4951A">
              <a:alpha val="45000"/>
            </a:srgbClr>
          </a:solidFill>
          <a:ln w="12700">
            <a:solidFill>
              <a:srgbClr val="D4951A"/>
            </a:solidFill>
            <a:prstDash val="solid"/>
          </a:ln>
        </p:spPr>
      </p:sp>
      <p:sp>
        <p:nvSpPr>
          <p:cNvPr id="17" name="Shape 15"/>
          <p:cNvSpPr/>
          <p:nvPr/>
        </p:nvSpPr>
        <p:spPr>
          <a:xfrm rot="2700000">
            <a:off x="1532534" y="841248"/>
            <a:ext cx="77724" cy="77724"/>
          </a:xfrm>
          <a:prstGeom prst="rect">
            <a:avLst/>
          </a:prstGeom>
          <a:solidFill>
            <a:srgbClr val="D4951A">
              <a:alpha val="45000"/>
            </a:srgbClr>
          </a:solidFill>
          <a:ln w="12700">
            <a:solidFill>
              <a:srgbClr val="D4951A"/>
            </a:solidFill>
            <a:prstDash val="solid"/>
          </a:ln>
        </p:spPr>
      </p:sp>
      <p:sp>
        <p:nvSpPr>
          <p:cNvPr id="18" name="Shape 16"/>
          <p:cNvSpPr/>
          <p:nvPr/>
        </p:nvSpPr>
        <p:spPr>
          <a:xfrm rot="2700000">
            <a:off x="1649578" y="841248"/>
            <a:ext cx="77724" cy="77724"/>
          </a:xfrm>
          <a:prstGeom prst="rect">
            <a:avLst/>
          </a:prstGeom>
          <a:solidFill>
            <a:srgbClr val="D4951A">
              <a:alpha val="45000"/>
            </a:srgbClr>
          </a:solidFill>
          <a:ln w="12700">
            <a:solidFill>
              <a:srgbClr val="D4951A"/>
            </a:solidFill>
            <a:prstDash val="solid"/>
          </a:ln>
        </p:spPr>
      </p:sp>
      <p:sp>
        <p:nvSpPr>
          <p:cNvPr id="19" name="Shape 17"/>
          <p:cNvSpPr/>
          <p:nvPr/>
        </p:nvSpPr>
        <p:spPr>
          <a:xfrm rot="2700000">
            <a:off x="1766621" y="841248"/>
            <a:ext cx="77724" cy="77724"/>
          </a:xfrm>
          <a:prstGeom prst="rect">
            <a:avLst/>
          </a:prstGeom>
          <a:solidFill>
            <a:srgbClr val="D4951A">
              <a:alpha val="45000"/>
            </a:srgbClr>
          </a:solidFill>
          <a:ln w="12700">
            <a:solidFill>
              <a:srgbClr val="D4951A"/>
            </a:solidFill>
            <a:prstDash val="solid"/>
          </a:ln>
        </p:spPr>
      </p:sp>
      <p:sp>
        <p:nvSpPr>
          <p:cNvPr id="20" name="Shape 18"/>
          <p:cNvSpPr/>
          <p:nvPr/>
        </p:nvSpPr>
        <p:spPr>
          <a:xfrm rot="2700000">
            <a:off x="1883664" y="841248"/>
            <a:ext cx="77724" cy="77724"/>
          </a:xfrm>
          <a:prstGeom prst="rect">
            <a:avLst/>
          </a:prstGeom>
          <a:solidFill>
            <a:srgbClr val="D4951A">
              <a:alpha val="45000"/>
            </a:srgbClr>
          </a:solidFill>
          <a:ln w="12700">
            <a:solidFill>
              <a:srgbClr val="D4951A"/>
            </a:solidFill>
            <a:prstDash val="solid"/>
          </a:ln>
        </p:spPr>
      </p:sp>
      <p:sp>
        <p:nvSpPr>
          <p:cNvPr id="21" name="Shape 19"/>
          <p:cNvSpPr/>
          <p:nvPr/>
        </p:nvSpPr>
        <p:spPr>
          <a:xfrm rot="2700000">
            <a:off x="2000707" y="841248"/>
            <a:ext cx="77724" cy="77724"/>
          </a:xfrm>
          <a:prstGeom prst="rect">
            <a:avLst/>
          </a:prstGeom>
          <a:solidFill>
            <a:srgbClr val="D4951A">
              <a:alpha val="45000"/>
            </a:srgbClr>
          </a:solidFill>
          <a:ln w="12700">
            <a:solidFill>
              <a:srgbClr val="D4951A"/>
            </a:solidFill>
            <a:prstDash val="solid"/>
          </a:ln>
        </p:spPr>
      </p:sp>
      <p:sp>
        <p:nvSpPr>
          <p:cNvPr id="22" name="Shape 20"/>
          <p:cNvSpPr/>
          <p:nvPr/>
        </p:nvSpPr>
        <p:spPr>
          <a:xfrm rot="2700000">
            <a:off x="2117750" y="841248"/>
            <a:ext cx="77724" cy="77724"/>
          </a:xfrm>
          <a:prstGeom prst="rect">
            <a:avLst/>
          </a:prstGeom>
          <a:solidFill>
            <a:srgbClr val="D4951A">
              <a:alpha val="45000"/>
            </a:srgbClr>
          </a:solidFill>
          <a:ln w="12700">
            <a:solidFill>
              <a:srgbClr val="D4951A"/>
            </a:solidFill>
            <a:prstDash val="solid"/>
          </a:ln>
        </p:spPr>
      </p:sp>
      <p:sp>
        <p:nvSpPr>
          <p:cNvPr id="23" name="Shape 21"/>
          <p:cNvSpPr/>
          <p:nvPr/>
        </p:nvSpPr>
        <p:spPr>
          <a:xfrm rot="2700000">
            <a:off x="2234794" y="841248"/>
            <a:ext cx="77724" cy="77724"/>
          </a:xfrm>
          <a:prstGeom prst="rect">
            <a:avLst/>
          </a:prstGeom>
          <a:solidFill>
            <a:srgbClr val="D4951A">
              <a:alpha val="45000"/>
            </a:srgbClr>
          </a:solidFill>
          <a:ln w="12700">
            <a:solidFill>
              <a:srgbClr val="D4951A"/>
            </a:solidFill>
            <a:prstDash val="solid"/>
          </a:ln>
        </p:spPr>
      </p:sp>
      <p:sp>
        <p:nvSpPr>
          <p:cNvPr id="24" name="Shape 22"/>
          <p:cNvSpPr/>
          <p:nvPr/>
        </p:nvSpPr>
        <p:spPr>
          <a:xfrm rot="2700000">
            <a:off x="2351837" y="841248"/>
            <a:ext cx="77724" cy="77724"/>
          </a:xfrm>
          <a:prstGeom prst="rect">
            <a:avLst/>
          </a:prstGeom>
          <a:solidFill>
            <a:srgbClr val="D4951A">
              <a:alpha val="45000"/>
            </a:srgbClr>
          </a:solidFill>
          <a:ln w="12700">
            <a:solidFill>
              <a:srgbClr val="D4951A"/>
            </a:solidFill>
            <a:prstDash val="solid"/>
          </a:ln>
        </p:spPr>
      </p:sp>
      <p:sp>
        <p:nvSpPr>
          <p:cNvPr id="25" name="Shape 23"/>
          <p:cNvSpPr/>
          <p:nvPr/>
        </p:nvSpPr>
        <p:spPr>
          <a:xfrm rot="2700000">
            <a:off x="2468880" y="841248"/>
            <a:ext cx="77724" cy="77724"/>
          </a:xfrm>
          <a:prstGeom prst="rect">
            <a:avLst/>
          </a:prstGeom>
          <a:solidFill>
            <a:srgbClr val="D4951A">
              <a:alpha val="45000"/>
            </a:srgbClr>
          </a:solidFill>
          <a:ln w="12700">
            <a:solidFill>
              <a:srgbClr val="D4951A"/>
            </a:solidFill>
            <a:prstDash val="solid"/>
          </a:ln>
        </p:spPr>
      </p:sp>
      <p:sp>
        <p:nvSpPr>
          <p:cNvPr id="26" name="Shape 24"/>
          <p:cNvSpPr/>
          <p:nvPr/>
        </p:nvSpPr>
        <p:spPr>
          <a:xfrm rot="2700000">
            <a:off x="2585923" y="841248"/>
            <a:ext cx="77724" cy="77724"/>
          </a:xfrm>
          <a:prstGeom prst="rect">
            <a:avLst/>
          </a:prstGeom>
          <a:solidFill>
            <a:srgbClr val="D4951A">
              <a:alpha val="45000"/>
            </a:srgbClr>
          </a:solidFill>
          <a:ln w="12700">
            <a:solidFill>
              <a:srgbClr val="D4951A"/>
            </a:solidFill>
            <a:prstDash val="solid"/>
          </a:ln>
        </p:spPr>
      </p:sp>
      <p:sp>
        <p:nvSpPr>
          <p:cNvPr id="27" name="Shape 25"/>
          <p:cNvSpPr/>
          <p:nvPr/>
        </p:nvSpPr>
        <p:spPr>
          <a:xfrm rot="2700000">
            <a:off x="2702966" y="841248"/>
            <a:ext cx="77724" cy="77724"/>
          </a:xfrm>
          <a:prstGeom prst="rect">
            <a:avLst/>
          </a:prstGeom>
          <a:solidFill>
            <a:srgbClr val="D4951A">
              <a:alpha val="45000"/>
            </a:srgbClr>
          </a:solidFill>
          <a:ln w="12700">
            <a:solidFill>
              <a:srgbClr val="D4951A"/>
            </a:solidFill>
            <a:prstDash val="solid"/>
          </a:ln>
        </p:spPr>
      </p:sp>
      <p:sp>
        <p:nvSpPr>
          <p:cNvPr id="28" name="Shape 26"/>
          <p:cNvSpPr/>
          <p:nvPr/>
        </p:nvSpPr>
        <p:spPr>
          <a:xfrm rot="2700000">
            <a:off x="2820010" y="841248"/>
            <a:ext cx="77724" cy="77724"/>
          </a:xfrm>
          <a:prstGeom prst="rect">
            <a:avLst/>
          </a:prstGeom>
          <a:solidFill>
            <a:srgbClr val="D4951A">
              <a:alpha val="45000"/>
            </a:srgbClr>
          </a:solidFill>
          <a:ln w="12700">
            <a:solidFill>
              <a:srgbClr val="D4951A"/>
            </a:solidFill>
            <a:prstDash val="solid"/>
          </a:ln>
        </p:spPr>
      </p:sp>
      <p:sp>
        <p:nvSpPr>
          <p:cNvPr id="29" name="Shape 27"/>
          <p:cNvSpPr/>
          <p:nvPr/>
        </p:nvSpPr>
        <p:spPr>
          <a:xfrm rot="2700000">
            <a:off x="2937053" y="841248"/>
            <a:ext cx="77724" cy="77724"/>
          </a:xfrm>
          <a:prstGeom prst="rect">
            <a:avLst/>
          </a:prstGeom>
          <a:solidFill>
            <a:srgbClr val="D4951A">
              <a:alpha val="45000"/>
            </a:srgbClr>
          </a:solidFill>
          <a:ln w="12700">
            <a:solidFill>
              <a:srgbClr val="D4951A"/>
            </a:solidFill>
            <a:prstDash val="solid"/>
          </a:ln>
        </p:spPr>
      </p:sp>
      <p:sp>
        <p:nvSpPr>
          <p:cNvPr id="30" name="Shape 28"/>
          <p:cNvSpPr/>
          <p:nvPr/>
        </p:nvSpPr>
        <p:spPr>
          <a:xfrm rot="2700000">
            <a:off x="3054096" y="841248"/>
            <a:ext cx="77724" cy="77724"/>
          </a:xfrm>
          <a:prstGeom prst="rect">
            <a:avLst/>
          </a:prstGeom>
          <a:solidFill>
            <a:srgbClr val="D4951A">
              <a:alpha val="45000"/>
            </a:srgbClr>
          </a:solidFill>
          <a:ln w="12700">
            <a:solidFill>
              <a:srgbClr val="D4951A"/>
            </a:solidFill>
            <a:prstDash val="solid"/>
          </a:ln>
        </p:spPr>
      </p:sp>
      <p:sp>
        <p:nvSpPr>
          <p:cNvPr id="31" name="Shape 29"/>
          <p:cNvSpPr/>
          <p:nvPr/>
        </p:nvSpPr>
        <p:spPr>
          <a:xfrm rot="2700000">
            <a:off x="3171139" y="841248"/>
            <a:ext cx="77724" cy="77724"/>
          </a:xfrm>
          <a:prstGeom prst="rect">
            <a:avLst/>
          </a:prstGeom>
          <a:solidFill>
            <a:srgbClr val="D4951A">
              <a:alpha val="45000"/>
            </a:srgbClr>
          </a:solidFill>
          <a:ln w="12700">
            <a:solidFill>
              <a:srgbClr val="D4951A"/>
            </a:solidFill>
            <a:prstDash val="solid"/>
          </a:ln>
        </p:spPr>
      </p:sp>
      <p:sp>
        <p:nvSpPr>
          <p:cNvPr id="32" name="Shape 30"/>
          <p:cNvSpPr/>
          <p:nvPr/>
        </p:nvSpPr>
        <p:spPr>
          <a:xfrm rot="2700000">
            <a:off x="3288182" y="841248"/>
            <a:ext cx="77724" cy="77724"/>
          </a:xfrm>
          <a:prstGeom prst="rect">
            <a:avLst/>
          </a:prstGeom>
          <a:solidFill>
            <a:srgbClr val="D4951A">
              <a:alpha val="45000"/>
            </a:srgbClr>
          </a:solidFill>
          <a:ln w="12700">
            <a:solidFill>
              <a:srgbClr val="D4951A"/>
            </a:solidFill>
            <a:prstDash val="solid"/>
          </a:ln>
        </p:spPr>
      </p:sp>
      <p:sp>
        <p:nvSpPr>
          <p:cNvPr id="33" name="Shape 31"/>
          <p:cNvSpPr/>
          <p:nvPr/>
        </p:nvSpPr>
        <p:spPr>
          <a:xfrm rot="2700000">
            <a:off x="3405226" y="841248"/>
            <a:ext cx="77724" cy="77724"/>
          </a:xfrm>
          <a:prstGeom prst="rect">
            <a:avLst/>
          </a:prstGeom>
          <a:solidFill>
            <a:srgbClr val="D4951A">
              <a:alpha val="45000"/>
            </a:srgbClr>
          </a:solidFill>
          <a:ln w="12700">
            <a:solidFill>
              <a:srgbClr val="D4951A"/>
            </a:solidFill>
            <a:prstDash val="solid"/>
          </a:ln>
        </p:spPr>
      </p:sp>
      <p:sp>
        <p:nvSpPr>
          <p:cNvPr id="34" name="Shape 32"/>
          <p:cNvSpPr/>
          <p:nvPr/>
        </p:nvSpPr>
        <p:spPr>
          <a:xfrm rot="2700000">
            <a:off x="3522269" y="841248"/>
            <a:ext cx="77724" cy="77724"/>
          </a:xfrm>
          <a:prstGeom prst="rect">
            <a:avLst/>
          </a:prstGeom>
          <a:solidFill>
            <a:srgbClr val="D4951A">
              <a:alpha val="45000"/>
            </a:srgbClr>
          </a:solidFill>
          <a:ln w="12700">
            <a:solidFill>
              <a:srgbClr val="D4951A"/>
            </a:solidFill>
            <a:prstDash val="solid"/>
          </a:ln>
        </p:spPr>
      </p:sp>
      <p:sp>
        <p:nvSpPr>
          <p:cNvPr id="35" name="Shape 33"/>
          <p:cNvSpPr/>
          <p:nvPr/>
        </p:nvSpPr>
        <p:spPr>
          <a:xfrm rot="2700000">
            <a:off x="3639312" y="841248"/>
            <a:ext cx="77724" cy="77724"/>
          </a:xfrm>
          <a:prstGeom prst="rect">
            <a:avLst/>
          </a:prstGeom>
          <a:solidFill>
            <a:srgbClr val="D4951A">
              <a:alpha val="45000"/>
            </a:srgbClr>
          </a:solidFill>
          <a:ln w="12700">
            <a:solidFill>
              <a:srgbClr val="D4951A"/>
            </a:solidFill>
            <a:prstDash val="solid"/>
          </a:ln>
        </p:spPr>
      </p:sp>
      <p:sp>
        <p:nvSpPr>
          <p:cNvPr id="36" name="Shape 34"/>
          <p:cNvSpPr/>
          <p:nvPr/>
        </p:nvSpPr>
        <p:spPr>
          <a:xfrm rot="2700000">
            <a:off x="3756355" y="841248"/>
            <a:ext cx="77724" cy="77724"/>
          </a:xfrm>
          <a:prstGeom prst="rect">
            <a:avLst/>
          </a:prstGeom>
          <a:solidFill>
            <a:srgbClr val="D4951A">
              <a:alpha val="45000"/>
            </a:srgbClr>
          </a:solidFill>
          <a:ln w="12700">
            <a:solidFill>
              <a:srgbClr val="D4951A"/>
            </a:solidFill>
            <a:prstDash val="solid"/>
          </a:ln>
        </p:spPr>
      </p:sp>
      <p:sp>
        <p:nvSpPr>
          <p:cNvPr id="37" name="Shape 35"/>
          <p:cNvSpPr/>
          <p:nvPr/>
        </p:nvSpPr>
        <p:spPr>
          <a:xfrm rot="2700000">
            <a:off x="3873398" y="841248"/>
            <a:ext cx="77724" cy="77724"/>
          </a:xfrm>
          <a:prstGeom prst="rect">
            <a:avLst/>
          </a:prstGeom>
          <a:solidFill>
            <a:srgbClr val="D4951A">
              <a:alpha val="45000"/>
            </a:srgbClr>
          </a:solidFill>
          <a:ln w="12700">
            <a:solidFill>
              <a:srgbClr val="D4951A"/>
            </a:solidFill>
            <a:prstDash val="solid"/>
          </a:ln>
        </p:spPr>
      </p:sp>
      <p:sp>
        <p:nvSpPr>
          <p:cNvPr id="38" name="Shape 36"/>
          <p:cNvSpPr/>
          <p:nvPr/>
        </p:nvSpPr>
        <p:spPr>
          <a:xfrm rot="2700000">
            <a:off x="3990442" y="841248"/>
            <a:ext cx="77724" cy="77724"/>
          </a:xfrm>
          <a:prstGeom prst="rect">
            <a:avLst/>
          </a:prstGeom>
          <a:solidFill>
            <a:srgbClr val="D4951A">
              <a:alpha val="45000"/>
            </a:srgbClr>
          </a:solidFill>
          <a:ln w="12700">
            <a:solidFill>
              <a:srgbClr val="D4951A"/>
            </a:solidFill>
            <a:prstDash val="solid"/>
          </a:ln>
        </p:spPr>
      </p:sp>
      <p:sp>
        <p:nvSpPr>
          <p:cNvPr id="39" name="Shape 37"/>
          <p:cNvSpPr/>
          <p:nvPr/>
        </p:nvSpPr>
        <p:spPr>
          <a:xfrm rot="2700000">
            <a:off x="4107485" y="841248"/>
            <a:ext cx="77724" cy="77724"/>
          </a:xfrm>
          <a:prstGeom prst="rect">
            <a:avLst/>
          </a:prstGeom>
          <a:solidFill>
            <a:srgbClr val="D4951A">
              <a:alpha val="45000"/>
            </a:srgbClr>
          </a:solidFill>
          <a:ln w="12700">
            <a:solidFill>
              <a:srgbClr val="D4951A"/>
            </a:solidFill>
            <a:prstDash val="solid"/>
          </a:ln>
        </p:spPr>
      </p:sp>
      <p:sp>
        <p:nvSpPr>
          <p:cNvPr id="40" name="Shape 38"/>
          <p:cNvSpPr/>
          <p:nvPr/>
        </p:nvSpPr>
        <p:spPr>
          <a:xfrm rot="2700000">
            <a:off x="4224528" y="841248"/>
            <a:ext cx="77724" cy="77724"/>
          </a:xfrm>
          <a:prstGeom prst="rect">
            <a:avLst/>
          </a:prstGeom>
          <a:solidFill>
            <a:srgbClr val="D4951A">
              <a:alpha val="45000"/>
            </a:srgbClr>
          </a:solidFill>
          <a:ln w="12700">
            <a:solidFill>
              <a:srgbClr val="D4951A"/>
            </a:solidFill>
            <a:prstDash val="solid"/>
          </a:ln>
        </p:spPr>
      </p:sp>
      <p:sp>
        <p:nvSpPr>
          <p:cNvPr id="41" name="Shape 39"/>
          <p:cNvSpPr/>
          <p:nvPr/>
        </p:nvSpPr>
        <p:spPr>
          <a:xfrm rot="2700000">
            <a:off x="4341571" y="841248"/>
            <a:ext cx="77724" cy="77724"/>
          </a:xfrm>
          <a:prstGeom prst="rect">
            <a:avLst/>
          </a:prstGeom>
          <a:solidFill>
            <a:srgbClr val="D4951A">
              <a:alpha val="45000"/>
            </a:srgbClr>
          </a:solidFill>
          <a:ln w="12700">
            <a:solidFill>
              <a:srgbClr val="D4951A"/>
            </a:solidFill>
            <a:prstDash val="solid"/>
          </a:ln>
        </p:spPr>
      </p:sp>
      <p:sp>
        <p:nvSpPr>
          <p:cNvPr id="42" name="Shape 40"/>
          <p:cNvSpPr/>
          <p:nvPr/>
        </p:nvSpPr>
        <p:spPr>
          <a:xfrm rot="2700000">
            <a:off x="4458614" y="841248"/>
            <a:ext cx="77724" cy="77724"/>
          </a:xfrm>
          <a:prstGeom prst="rect">
            <a:avLst/>
          </a:prstGeom>
          <a:solidFill>
            <a:srgbClr val="D4951A">
              <a:alpha val="45000"/>
            </a:srgbClr>
          </a:solidFill>
          <a:ln w="12700">
            <a:solidFill>
              <a:srgbClr val="D4951A"/>
            </a:solidFill>
            <a:prstDash val="solid"/>
          </a:ln>
        </p:spPr>
      </p:sp>
      <p:sp>
        <p:nvSpPr>
          <p:cNvPr id="43" name="Shape 41"/>
          <p:cNvSpPr/>
          <p:nvPr/>
        </p:nvSpPr>
        <p:spPr>
          <a:xfrm rot="2700000">
            <a:off x="4575658" y="841248"/>
            <a:ext cx="77724" cy="77724"/>
          </a:xfrm>
          <a:prstGeom prst="rect">
            <a:avLst/>
          </a:prstGeom>
          <a:solidFill>
            <a:srgbClr val="D4951A">
              <a:alpha val="45000"/>
            </a:srgbClr>
          </a:solidFill>
          <a:ln w="12700">
            <a:solidFill>
              <a:srgbClr val="D4951A"/>
            </a:solidFill>
            <a:prstDash val="solid"/>
          </a:ln>
        </p:spPr>
      </p:sp>
      <p:sp>
        <p:nvSpPr>
          <p:cNvPr id="44" name="Shape 42"/>
          <p:cNvSpPr/>
          <p:nvPr/>
        </p:nvSpPr>
        <p:spPr>
          <a:xfrm rot="2700000">
            <a:off x="4692701" y="841248"/>
            <a:ext cx="77724" cy="77724"/>
          </a:xfrm>
          <a:prstGeom prst="rect">
            <a:avLst/>
          </a:prstGeom>
          <a:solidFill>
            <a:srgbClr val="D4951A">
              <a:alpha val="45000"/>
            </a:srgbClr>
          </a:solidFill>
          <a:ln w="12700">
            <a:solidFill>
              <a:srgbClr val="D4951A"/>
            </a:solidFill>
            <a:prstDash val="solid"/>
          </a:ln>
        </p:spPr>
      </p:sp>
      <p:sp>
        <p:nvSpPr>
          <p:cNvPr id="45" name="Shape 43"/>
          <p:cNvSpPr/>
          <p:nvPr/>
        </p:nvSpPr>
        <p:spPr>
          <a:xfrm rot="2700000">
            <a:off x="4809744" y="841248"/>
            <a:ext cx="77724" cy="77724"/>
          </a:xfrm>
          <a:prstGeom prst="rect">
            <a:avLst/>
          </a:prstGeom>
          <a:solidFill>
            <a:srgbClr val="D4951A">
              <a:alpha val="45000"/>
            </a:srgbClr>
          </a:solidFill>
          <a:ln w="12700">
            <a:solidFill>
              <a:srgbClr val="D4951A"/>
            </a:solidFill>
            <a:prstDash val="solid"/>
          </a:ln>
        </p:spPr>
      </p:sp>
      <p:sp>
        <p:nvSpPr>
          <p:cNvPr id="46" name="Shape 44"/>
          <p:cNvSpPr/>
          <p:nvPr/>
        </p:nvSpPr>
        <p:spPr>
          <a:xfrm rot="2700000">
            <a:off x="4926787" y="841248"/>
            <a:ext cx="77724" cy="77724"/>
          </a:xfrm>
          <a:prstGeom prst="rect">
            <a:avLst/>
          </a:prstGeom>
          <a:solidFill>
            <a:srgbClr val="D4951A">
              <a:alpha val="45000"/>
            </a:srgbClr>
          </a:solidFill>
          <a:ln w="12700">
            <a:solidFill>
              <a:srgbClr val="D4951A"/>
            </a:solidFill>
            <a:prstDash val="solid"/>
          </a:ln>
        </p:spPr>
      </p:sp>
      <p:sp>
        <p:nvSpPr>
          <p:cNvPr id="47" name="Shape 45"/>
          <p:cNvSpPr/>
          <p:nvPr/>
        </p:nvSpPr>
        <p:spPr>
          <a:xfrm rot="2700000">
            <a:off x="5043830" y="841248"/>
            <a:ext cx="77724" cy="77724"/>
          </a:xfrm>
          <a:prstGeom prst="rect">
            <a:avLst/>
          </a:prstGeom>
          <a:solidFill>
            <a:srgbClr val="D4951A">
              <a:alpha val="45000"/>
            </a:srgbClr>
          </a:solidFill>
          <a:ln w="12700">
            <a:solidFill>
              <a:srgbClr val="D4951A"/>
            </a:solidFill>
            <a:prstDash val="solid"/>
          </a:ln>
        </p:spPr>
      </p:sp>
      <p:sp>
        <p:nvSpPr>
          <p:cNvPr id="48" name="Shape 46"/>
          <p:cNvSpPr/>
          <p:nvPr/>
        </p:nvSpPr>
        <p:spPr>
          <a:xfrm rot="2700000">
            <a:off x="5160874" y="841248"/>
            <a:ext cx="77724" cy="77724"/>
          </a:xfrm>
          <a:prstGeom prst="rect">
            <a:avLst/>
          </a:prstGeom>
          <a:solidFill>
            <a:srgbClr val="D4951A">
              <a:alpha val="45000"/>
            </a:srgbClr>
          </a:solidFill>
          <a:ln w="12700">
            <a:solidFill>
              <a:srgbClr val="D4951A"/>
            </a:solidFill>
            <a:prstDash val="solid"/>
          </a:ln>
        </p:spPr>
      </p:sp>
      <p:sp>
        <p:nvSpPr>
          <p:cNvPr id="49" name="Shape 47"/>
          <p:cNvSpPr/>
          <p:nvPr/>
        </p:nvSpPr>
        <p:spPr>
          <a:xfrm rot="2700000">
            <a:off x="5277917" y="841248"/>
            <a:ext cx="77724" cy="77724"/>
          </a:xfrm>
          <a:prstGeom prst="rect">
            <a:avLst/>
          </a:prstGeom>
          <a:solidFill>
            <a:srgbClr val="D4951A">
              <a:alpha val="45000"/>
            </a:srgbClr>
          </a:solidFill>
          <a:ln w="12700">
            <a:solidFill>
              <a:srgbClr val="D4951A"/>
            </a:solidFill>
            <a:prstDash val="solid"/>
          </a:ln>
        </p:spPr>
      </p:sp>
      <p:sp>
        <p:nvSpPr>
          <p:cNvPr id="50" name="Shape 48"/>
          <p:cNvSpPr/>
          <p:nvPr/>
        </p:nvSpPr>
        <p:spPr>
          <a:xfrm rot="2700000">
            <a:off x="5394960" y="841248"/>
            <a:ext cx="77724" cy="77724"/>
          </a:xfrm>
          <a:prstGeom prst="rect">
            <a:avLst/>
          </a:prstGeom>
          <a:solidFill>
            <a:srgbClr val="D4951A">
              <a:alpha val="45000"/>
            </a:srgbClr>
          </a:solidFill>
          <a:ln w="12700">
            <a:solidFill>
              <a:srgbClr val="D4951A"/>
            </a:solidFill>
            <a:prstDash val="solid"/>
          </a:ln>
        </p:spPr>
      </p:sp>
      <p:sp>
        <p:nvSpPr>
          <p:cNvPr id="51" name="Shape 49"/>
          <p:cNvSpPr/>
          <p:nvPr/>
        </p:nvSpPr>
        <p:spPr>
          <a:xfrm rot="2700000">
            <a:off x="5512003" y="841248"/>
            <a:ext cx="77724" cy="77724"/>
          </a:xfrm>
          <a:prstGeom prst="rect">
            <a:avLst/>
          </a:prstGeom>
          <a:solidFill>
            <a:srgbClr val="D4951A">
              <a:alpha val="45000"/>
            </a:srgbClr>
          </a:solidFill>
          <a:ln w="12700">
            <a:solidFill>
              <a:srgbClr val="D4951A"/>
            </a:solidFill>
            <a:prstDash val="solid"/>
          </a:ln>
        </p:spPr>
      </p:sp>
      <p:sp>
        <p:nvSpPr>
          <p:cNvPr id="52" name="Shape 50"/>
          <p:cNvSpPr/>
          <p:nvPr/>
        </p:nvSpPr>
        <p:spPr>
          <a:xfrm rot="2700000">
            <a:off x="5629046" y="841248"/>
            <a:ext cx="77724" cy="77724"/>
          </a:xfrm>
          <a:prstGeom prst="rect">
            <a:avLst/>
          </a:prstGeom>
          <a:solidFill>
            <a:srgbClr val="D4951A">
              <a:alpha val="45000"/>
            </a:srgbClr>
          </a:solidFill>
          <a:ln w="12700">
            <a:solidFill>
              <a:srgbClr val="D4951A"/>
            </a:solidFill>
            <a:prstDash val="solid"/>
          </a:ln>
        </p:spPr>
      </p:sp>
      <p:sp>
        <p:nvSpPr>
          <p:cNvPr id="53" name="Shape 51"/>
          <p:cNvSpPr/>
          <p:nvPr/>
        </p:nvSpPr>
        <p:spPr>
          <a:xfrm rot="2700000">
            <a:off x="5746090" y="841248"/>
            <a:ext cx="77724" cy="77724"/>
          </a:xfrm>
          <a:prstGeom prst="rect">
            <a:avLst/>
          </a:prstGeom>
          <a:solidFill>
            <a:srgbClr val="D4951A">
              <a:alpha val="45000"/>
            </a:srgbClr>
          </a:solidFill>
          <a:ln w="12700">
            <a:solidFill>
              <a:srgbClr val="D4951A"/>
            </a:solidFill>
            <a:prstDash val="solid"/>
          </a:ln>
        </p:spPr>
      </p:sp>
      <p:sp>
        <p:nvSpPr>
          <p:cNvPr id="54" name="Shape 52"/>
          <p:cNvSpPr/>
          <p:nvPr/>
        </p:nvSpPr>
        <p:spPr>
          <a:xfrm rot="2700000">
            <a:off x="5863133" y="841248"/>
            <a:ext cx="77724" cy="77724"/>
          </a:xfrm>
          <a:prstGeom prst="rect">
            <a:avLst/>
          </a:prstGeom>
          <a:solidFill>
            <a:srgbClr val="D4951A">
              <a:alpha val="45000"/>
            </a:srgbClr>
          </a:solidFill>
          <a:ln w="12700">
            <a:solidFill>
              <a:srgbClr val="D4951A"/>
            </a:solidFill>
            <a:prstDash val="solid"/>
          </a:ln>
        </p:spPr>
      </p:sp>
      <p:sp>
        <p:nvSpPr>
          <p:cNvPr id="55" name="Shape 53"/>
          <p:cNvSpPr/>
          <p:nvPr/>
        </p:nvSpPr>
        <p:spPr>
          <a:xfrm rot="2700000">
            <a:off x="5980176" y="841248"/>
            <a:ext cx="77724" cy="77724"/>
          </a:xfrm>
          <a:prstGeom prst="rect">
            <a:avLst/>
          </a:prstGeom>
          <a:solidFill>
            <a:srgbClr val="D4951A">
              <a:alpha val="45000"/>
            </a:srgbClr>
          </a:solidFill>
          <a:ln w="12700">
            <a:solidFill>
              <a:srgbClr val="D4951A"/>
            </a:solidFill>
            <a:prstDash val="solid"/>
          </a:ln>
        </p:spPr>
      </p:sp>
      <p:sp>
        <p:nvSpPr>
          <p:cNvPr id="56" name="Shape 54"/>
          <p:cNvSpPr/>
          <p:nvPr/>
        </p:nvSpPr>
        <p:spPr>
          <a:xfrm rot="2700000">
            <a:off x="6097219" y="841248"/>
            <a:ext cx="77724" cy="77724"/>
          </a:xfrm>
          <a:prstGeom prst="rect">
            <a:avLst/>
          </a:prstGeom>
          <a:solidFill>
            <a:srgbClr val="D4951A">
              <a:alpha val="45000"/>
            </a:srgbClr>
          </a:solidFill>
          <a:ln w="12700">
            <a:solidFill>
              <a:srgbClr val="D4951A"/>
            </a:solidFill>
            <a:prstDash val="solid"/>
          </a:ln>
        </p:spPr>
      </p:sp>
      <p:sp>
        <p:nvSpPr>
          <p:cNvPr id="57" name="Shape 55"/>
          <p:cNvSpPr/>
          <p:nvPr/>
        </p:nvSpPr>
        <p:spPr>
          <a:xfrm rot="2700000">
            <a:off x="6214262" y="841248"/>
            <a:ext cx="77724" cy="77724"/>
          </a:xfrm>
          <a:prstGeom prst="rect">
            <a:avLst/>
          </a:prstGeom>
          <a:solidFill>
            <a:srgbClr val="D4951A">
              <a:alpha val="45000"/>
            </a:srgbClr>
          </a:solidFill>
          <a:ln w="12700">
            <a:solidFill>
              <a:srgbClr val="D4951A"/>
            </a:solidFill>
            <a:prstDash val="solid"/>
          </a:ln>
        </p:spPr>
      </p:sp>
      <p:sp>
        <p:nvSpPr>
          <p:cNvPr id="58" name="Shape 56"/>
          <p:cNvSpPr/>
          <p:nvPr/>
        </p:nvSpPr>
        <p:spPr>
          <a:xfrm rot="2700000">
            <a:off x="6331306" y="841248"/>
            <a:ext cx="77724" cy="77724"/>
          </a:xfrm>
          <a:prstGeom prst="rect">
            <a:avLst/>
          </a:prstGeom>
          <a:solidFill>
            <a:srgbClr val="D4951A">
              <a:alpha val="45000"/>
            </a:srgbClr>
          </a:solidFill>
          <a:ln w="12700">
            <a:solidFill>
              <a:srgbClr val="D4951A"/>
            </a:solidFill>
            <a:prstDash val="solid"/>
          </a:ln>
        </p:spPr>
      </p:sp>
      <p:sp>
        <p:nvSpPr>
          <p:cNvPr id="59" name="Shape 57"/>
          <p:cNvSpPr/>
          <p:nvPr/>
        </p:nvSpPr>
        <p:spPr>
          <a:xfrm rot="2700000">
            <a:off x="6448349" y="841248"/>
            <a:ext cx="77724" cy="77724"/>
          </a:xfrm>
          <a:prstGeom prst="rect">
            <a:avLst/>
          </a:prstGeom>
          <a:solidFill>
            <a:srgbClr val="D4951A">
              <a:alpha val="45000"/>
            </a:srgbClr>
          </a:solidFill>
          <a:ln w="12700">
            <a:solidFill>
              <a:srgbClr val="D4951A"/>
            </a:solidFill>
            <a:prstDash val="solid"/>
          </a:ln>
        </p:spPr>
      </p:sp>
      <p:sp>
        <p:nvSpPr>
          <p:cNvPr id="60" name="Shape 58"/>
          <p:cNvSpPr/>
          <p:nvPr/>
        </p:nvSpPr>
        <p:spPr>
          <a:xfrm rot="2700000">
            <a:off x="6565392" y="841248"/>
            <a:ext cx="77724" cy="77724"/>
          </a:xfrm>
          <a:prstGeom prst="rect">
            <a:avLst/>
          </a:prstGeom>
          <a:solidFill>
            <a:srgbClr val="D4951A">
              <a:alpha val="45000"/>
            </a:srgbClr>
          </a:solidFill>
          <a:ln w="12700">
            <a:solidFill>
              <a:srgbClr val="D4951A"/>
            </a:solidFill>
            <a:prstDash val="solid"/>
          </a:ln>
        </p:spPr>
      </p:sp>
      <p:sp>
        <p:nvSpPr>
          <p:cNvPr id="61" name="Shape 59"/>
          <p:cNvSpPr/>
          <p:nvPr/>
        </p:nvSpPr>
        <p:spPr>
          <a:xfrm rot="2700000">
            <a:off x="6682435" y="841248"/>
            <a:ext cx="77724" cy="77724"/>
          </a:xfrm>
          <a:prstGeom prst="rect">
            <a:avLst/>
          </a:prstGeom>
          <a:solidFill>
            <a:srgbClr val="D4951A">
              <a:alpha val="45000"/>
            </a:srgbClr>
          </a:solidFill>
          <a:ln w="12700">
            <a:solidFill>
              <a:srgbClr val="D4951A"/>
            </a:solidFill>
            <a:prstDash val="solid"/>
          </a:ln>
        </p:spPr>
      </p:sp>
      <p:sp>
        <p:nvSpPr>
          <p:cNvPr id="62" name="Shape 60"/>
          <p:cNvSpPr/>
          <p:nvPr/>
        </p:nvSpPr>
        <p:spPr>
          <a:xfrm rot="2700000">
            <a:off x="6799478" y="841248"/>
            <a:ext cx="77724" cy="77724"/>
          </a:xfrm>
          <a:prstGeom prst="rect">
            <a:avLst/>
          </a:prstGeom>
          <a:solidFill>
            <a:srgbClr val="D4951A">
              <a:alpha val="45000"/>
            </a:srgbClr>
          </a:solidFill>
          <a:ln w="12700">
            <a:solidFill>
              <a:srgbClr val="D4951A"/>
            </a:solidFill>
            <a:prstDash val="solid"/>
          </a:ln>
        </p:spPr>
      </p:sp>
      <p:sp>
        <p:nvSpPr>
          <p:cNvPr id="63" name="Shape 61"/>
          <p:cNvSpPr/>
          <p:nvPr/>
        </p:nvSpPr>
        <p:spPr>
          <a:xfrm rot="2700000">
            <a:off x="6916522" y="841248"/>
            <a:ext cx="77724" cy="77724"/>
          </a:xfrm>
          <a:prstGeom prst="rect">
            <a:avLst/>
          </a:prstGeom>
          <a:solidFill>
            <a:srgbClr val="D4951A">
              <a:alpha val="45000"/>
            </a:srgbClr>
          </a:solidFill>
          <a:ln w="12700">
            <a:solidFill>
              <a:srgbClr val="D4951A"/>
            </a:solidFill>
            <a:prstDash val="solid"/>
          </a:ln>
        </p:spPr>
      </p:sp>
      <p:sp>
        <p:nvSpPr>
          <p:cNvPr id="64" name="Shape 62"/>
          <p:cNvSpPr/>
          <p:nvPr/>
        </p:nvSpPr>
        <p:spPr>
          <a:xfrm rot="2700000">
            <a:off x="7033565" y="841248"/>
            <a:ext cx="77724" cy="77724"/>
          </a:xfrm>
          <a:prstGeom prst="rect">
            <a:avLst/>
          </a:prstGeom>
          <a:solidFill>
            <a:srgbClr val="D4951A">
              <a:alpha val="45000"/>
            </a:srgbClr>
          </a:solidFill>
          <a:ln w="12700">
            <a:solidFill>
              <a:srgbClr val="D4951A"/>
            </a:solidFill>
            <a:prstDash val="solid"/>
          </a:ln>
        </p:spPr>
      </p:sp>
      <p:sp>
        <p:nvSpPr>
          <p:cNvPr id="65" name="Shape 63"/>
          <p:cNvSpPr/>
          <p:nvPr/>
        </p:nvSpPr>
        <p:spPr>
          <a:xfrm rot="2700000">
            <a:off x="7150608" y="841248"/>
            <a:ext cx="77724" cy="77724"/>
          </a:xfrm>
          <a:prstGeom prst="rect">
            <a:avLst/>
          </a:prstGeom>
          <a:solidFill>
            <a:srgbClr val="D4951A">
              <a:alpha val="45000"/>
            </a:srgbClr>
          </a:solidFill>
          <a:ln w="12700">
            <a:solidFill>
              <a:srgbClr val="D4951A"/>
            </a:solidFill>
            <a:prstDash val="solid"/>
          </a:ln>
        </p:spPr>
      </p:sp>
      <p:sp>
        <p:nvSpPr>
          <p:cNvPr id="66" name="Shape 64"/>
          <p:cNvSpPr/>
          <p:nvPr/>
        </p:nvSpPr>
        <p:spPr>
          <a:xfrm rot="2700000">
            <a:off x="7267651" y="841248"/>
            <a:ext cx="77724" cy="77724"/>
          </a:xfrm>
          <a:prstGeom prst="rect">
            <a:avLst/>
          </a:prstGeom>
          <a:solidFill>
            <a:srgbClr val="D4951A">
              <a:alpha val="45000"/>
            </a:srgbClr>
          </a:solidFill>
          <a:ln w="12700">
            <a:solidFill>
              <a:srgbClr val="D4951A"/>
            </a:solidFill>
            <a:prstDash val="solid"/>
          </a:ln>
        </p:spPr>
      </p:sp>
      <p:sp>
        <p:nvSpPr>
          <p:cNvPr id="67" name="Shape 65"/>
          <p:cNvSpPr/>
          <p:nvPr/>
        </p:nvSpPr>
        <p:spPr>
          <a:xfrm rot="2700000">
            <a:off x="7384694" y="841248"/>
            <a:ext cx="77724" cy="77724"/>
          </a:xfrm>
          <a:prstGeom prst="rect">
            <a:avLst/>
          </a:prstGeom>
          <a:solidFill>
            <a:srgbClr val="D4951A">
              <a:alpha val="45000"/>
            </a:srgbClr>
          </a:solidFill>
          <a:ln w="12700">
            <a:solidFill>
              <a:srgbClr val="D4951A"/>
            </a:solidFill>
            <a:prstDash val="solid"/>
          </a:ln>
        </p:spPr>
      </p:sp>
      <p:sp>
        <p:nvSpPr>
          <p:cNvPr id="68" name="Shape 66"/>
          <p:cNvSpPr/>
          <p:nvPr/>
        </p:nvSpPr>
        <p:spPr>
          <a:xfrm rot="2700000">
            <a:off x="7501738" y="841248"/>
            <a:ext cx="77724" cy="77724"/>
          </a:xfrm>
          <a:prstGeom prst="rect">
            <a:avLst/>
          </a:prstGeom>
          <a:solidFill>
            <a:srgbClr val="D4951A">
              <a:alpha val="45000"/>
            </a:srgbClr>
          </a:solidFill>
          <a:ln w="12700">
            <a:solidFill>
              <a:srgbClr val="D4951A"/>
            </a:solidFill>
            <a:prstDash val="solid"/>
          </a:ln>
        </p:spPr>
      </p:sp>
      <p:sp>
        <p:nvSpPr>
          <p:cNvPr id="69" name="Shape 67"/>
          <p:cNvSpPr/>
          <p:nvPr/>
        </p:nvSpPr>
        <p:spPr>
          <a:xfrm rot="2700000">
            <a:off x="7618781" y="841248"/>
            <a:ext cx="77724" cy="77724"/>
          </a:xfrm>
          <a:prstGeom prst="rect">
            <a:avLst/>
          </a:prstGeom>
          <a:solidFill>
            <a:srgbClr val="D4951A">
              <a:alpha val="45000"/>
            </a:srgbClr>
          </a:solidFill>
          <a:ln w="12700">
            <a:solidFill>
              <a:srgbClr val="D4951A"/>
            </a:solidFill>
            <a:prstDash val="solid"/>
          </a:ln>
        </p:spPr>
      </p:sp>
      <p:sp>
        <p:nvSpPr>
          <p:cNvPr id="70" name="Shape 68"/>
          <p:cNvSpPr/>
          <p:nvPr/>
        </p:nvSpPr>
        <p:spPr>
          <a:xfrm rot="2700000">
            <a:off x="7735824" y="841248"/>
            <a:ext cx="77724" cy="77724"/>
          </a:xfrm>
          <a:prstGeom prst="rect">
            <a:avLst/>
          </a:prstGeom>
          <a:solidFill>
            <a:srgbClr val="D4951A">
              <a:alpha val="45000"/>
            </a:srgbClr>
          </a:solidFill>
          <a:ln w="12700">
            <a:solidFill>
              <a:srgbClr val="D4951A"/>
            </a:solidFill>
            <a:prstDash val="solid"/>
          </a:ln>
        </p:spPr>
      </p:sp>
      <p:sp>
        <p:nvSpPr>
          <p:cNvPr id="71" name="Shape 69"/>
          <p:cNvSpPr/>
          <p:nvPr/>
        </p:nvSpPr>
        <p:spPr>
          <a:xfrm rot="2700000">
            <a:off x="7852867" y="841248"/>
            <a:ext cx="77724" cy="77724"/>
          </a:xfrm>
          <a:prstGeom prst="rect">
            <a:avLst/>
          </a:prstGeom>
          <a:solidFill>
            <a:srgbClr val="D4951A">
              <a:alpha val="45000"/>
            </a:srgbClr>
          </a:solidFill>
          <a:ln w="12700">
            <a:solidFill>
              <a:srgbClr val="D4951A"/>
            </a:solidFill>
            <a:prstDash val="solid"/>
          </a:ln>
        </p:spPr>
      </p:sp>
      <p:sp>
        <p:nvSpPr>
          <p:cNvPr id="72" name="Shape 70"/>
          <p:cNvSpPr/>
          <p:nvPr/>
        </p:nvSpPr>
        <p:spPr>
          <a:xfrm rot="2700000">
            <a:off x="7969910" y="841248"/>
            <a:ext cx="77724" cy="77724"/>
          </a:xfrm>
          <a:prstGeom prst="rect">
            <a:avLst/>
          </a:prstGeom>
          <a:solidFill>
            <a:srgbClr val="D4951A">
              <a:alpha val="45000"/>
            </a:srgbClr>
          </a:solidFill>
          <a:ln w="12700">
            <a:solidFill>
              <a:srgbClr val="D4951A"/>
            </a:solidFill>
            <a:prstDash val="solid"/>
          </a:ln>
        </p:spPr>
      </p:sp>
      <p:sp>
        <p:nvSpPr>
          <p:cNvPr id="73" name="Shape 71"/>
          <p:cNvSpPr/>
          <p:nvPr/>
        </p:nvSpPr>
        <p:spPr>
          <a:xfrm rot="2700000">
            <a:off x="8086954" y="841248"/>
            <a:ext cx="77724" cy="77724"/>
          </a:xfrm>
          <a:prstGeom prst="rect">
            <a:avLst/>
          </a:prstGeom>
          <a:solidFill>
            <a:srgbClr val="D4951A">
              <a:alpha val="45000"/>
            </a:srgbClr>
          </a:solidFill>
          <a:ln w="12700">
            <a:solidFill>
              <a:srgbClr val="D4951A"/>
            </a:solidFill>
            <a:prstDash val="solid"/>
          </a:ln>
        </p:spPr>
      </p:sp>
      <p:sp>
        <p:nvSpPr>
          <p:cNvPr id="74" name="Shape 72"/>
          <p:cNvSpPr/>
          <p:nvPr/>
        </p:nvSpPr>
        <p:spPr>
          <a:xfrm rot="2700000">
            <a:off x="8203997" y="841248"/>
            <a:ext cx="77724" cy="77724"/>
          </a:xfrm>
          <a:prstGeom prst="rect">
            <a:avLst/>
          </a:prstGeom>
          <a:solidFill>
            <a:srgbClr val="D4951A">
              <a:alpha val="45000"/>
            </a:srgbClr>
          </a:solidFill>
          <a:ln w="12700">
            <a:solidFill>
              <a:srgbClr val="D4951A"/>
            </a:solidFill>
            <a:prstDash val="solid"/>
          </a:ln>
        </p:spPr>
      </p:sp>
      <p:sp>
        <p:nvSpPr>
          <p:cNvPr id="75" name="Shape 73"/>
          <p:cNvSpPr/>
          <p:nvPr/>
        </p:nvSpPr>
        <p:spPr>
          <a:xfrm rot="2700000">
            <a:off x="8321040" y="841248"/>
            <a:ext cx="77724" cy="77724"/>
          </a:xfrm>
          <a:prstGeom prst="rect">
            <a:avLst/>
          </a:prstGeom>
          <a:solidFill>
            <a:srgbClr val="D4951A">
              <a:alpha val="45000"/>
            </a:srgbClr>
          </a:solidFill>
          <a:ln w="12700">
            <a:solidFill>
              <a:srgbClr val="D4951A"/>
            </a:solidFill>
            <a:prstDash val="solid"/>
          </a:ln>
        </p:spPr>
      </p:sp>
      <p:sp>
        <p:nvSpPr>
          <p:cNvPr id="76" name="Shape 74"/>
          <p:cNvSpPr/>
          <p:nvPr/>
        </p:nvSpPr>
        <p:spPr>
          <a:xfrm rot="2700000">
            <a:off x="8438083" y="841248"/>
            <a:ext cx="77724" cy="77724"/>
          </a:xfrm>
          <a:prstGeom prst="rect">
            <a:avLst/>
          </a:prstGeom>
          <a:solidFill>
            <a:srgbClr val="D4951A">
              <a:alpha val="45000"/>
            </a:srgbClr>
          </a:solidFill>
          <a:ln w="12700">
            <a:solidFill>
              <a:srgbClr val="D4951A"/>
            </a:solidFill>
            <a:prstDash val="solid"/>
          </a:ln>
        </p:spPr>
      </p:sp>
      <p:sp>
        <p:nvSpPr>
          <p:cNvPr id="77" name="Shape 75"/>
          <p:cNvSpPr/>
          <p:nvPr/>
        </p:nvSpPr>
        <p:spPr>
          <a:xfrm rot="2700000">
            <a:off x="8555126" y="841248"/>
            <a:ext cx="77724" cy="77724"/>
          </a:xfrm>
          <a:prstGeom prst="rect">
            <a:avLst/>
          </a:prstGeom>
          <a:solidFill>
            <a:srgbClr val="D4951A">
              <a:alpha val="45000"/>
            </a:srgbClr>
          </a:solidFill>
          <a:ln w="12700">
            <a:solidFill>
              <a:srgbClr val="D4951A"/>
            </a:solidFill>
            <a:prstDash val="solid"/>
          </a:ln>
        </p:spPr>
      </p:sp>
      <p:sp>
        <p:nvSpPr>
          <p:cNvPr id="78" name="Shape 76"/>
          <p:cNvSpPr/>
          <p:nvPr/>
        </p:nvSpPr>
        <p:spPr>
          <a:xfrm rot="2700000">
            <a:off x="8672170" y="841248"/>
            <a:ext cx="77724" cy="77724"/>
          </a:xfrm>
          <a:prstGeom prst="rect">
            <a:avLst/>
          </a:prstGeom>
          <a:solidFill>
            <a:srgbClr val="D4951A">
              <a:alpha val="45000"/>
            </a:srgbClr>
          </a:solidFill>
          <a:ln w="12700">
            <a:solidFill>
              <a:srgbClr val="D4951A"/>
            </a:solidFill>
            <a:prstDash val="solid"/>
          </a:ln>
        </p:spPr>
      </p:sp>
      <p:sp>
        <p:nvSpPr>
          <p:cNvPr id="79" name="Shape 77"/>
          <p:cNvSpPr/>
          <p:nvPr/>
        </p:nvSpPr>
        <p:spPr>
          <a:xfrm rot="2700000">
            <a:off x="8789213" y="841248"/>
            <a:ext cx="77724" cy="77724"/>
          </a:xfrm>
          <a:prstGeom prst="rect">
            <a:avLst/>
          </a:prstGeom>
          <a:solidFill>
            <a:srgbClr val="D4951A">
              <a:alpha val="45000"/>
            </a:srgbClr>
          </a:solidFill>
          <a:ln w="12700">
            <a:solidFill>
              <a:srgbClr val="D4951A"/>
            </a:solidFill>
            <a:prstDash val="solid"/>
          </a:ln>
        </p:spPr>
      </p:sp>
      <p:sp>
        <p:nvSpPr>
          <p:cNvPr id="80" name="Shape 78"/>
          <p:cNvSpPr/>
          <p:nvPr/>
        </p:nvSpPr>
        <p:spPr>
          <a:xfrm rot="2700000">
            <a:off x="8906256" y="841248"/>
            <a:ext cx="77724" cy="77724"/>
          </a:xfrm>
          <a:prstGeom prst="rect">
            <a:avLst/>
          </a:prstGeom>
          <a:solidFill>
            <a:srgbClr val="D4951A">
              <a:alpha val="45000"/>
            </a:srgbClr>
          </a:solidFill>
          <a:ln w="12700">
            <a:solidFill>
              <a:srgbClr val="D4951A"/>
            </a:solidFill>
            <a:prstDash val="solid"/>
          </a:ln>
        </p:spPr>
      </p:sp>
      <p:sp>
        <p:nvSpPr>
          <p:cNvPr id="81" name="Shape 79"/>
          <p:cNvSpPr/>
          <p:nvPr/>
        </p:nvSpPr>
        <p:spPr>
          <a:xfrm rot="2700000">
            <a:off x="9023299" y="841248"/>
            <a:ext cx="77724" cy="77724"/>
          </a:xfrm>
          <a:prstGeom prst="rect">
            <a:avLst/>
          </a:prstGeom>
          <a:solidFill>
            <a:srgbClr val="D4951A">
              <a:alpha val="45000"/>
            </a:srgbClr>
          </a:solidFill>
          <a:ln w="12700">
            <a:solidFill>
              <a:srgbClr val="D4951A"/>
            </a:solidFill>
            <a:prstDash val="solid"/>
          </a:ln>
        </p:spPr>
      </p:sp>
      <p:sp>
        <p:nvSpPr>
          <p:cNvPr id="82" name="Text 80"/>
          <p:cNvSpPr/>
          <p:nvPr/>
        </p:nvSpPr>
        <p:spPr>
          <a:xfrm>
            <a:off x="201168" y="0"/>
            <a:ext cx="8595360" cy="960120"/>
          </a:xfrm>
          <a:prstGeom prst="rect">
            <a:avLst/>
          </a:prstGeom>
          <a:noFill/>
          <a:ln/>
        </p:spPr>
        <p:txBody>
          <a:bodyPr wrap="square" rtlCol="0" anchor="ctr"/>
          <a:lstStyle/>
          <a:p>
            <a:pPr indent="0" marL="0">
              <a:buNone/>
            </a:pPr>
            <a:r>
              <a:rPr lang="en-US" sz="1900" b="1" spc="80" kern="0" dirty="0">
                <a:solidFill>
                  <a:srgbClr val="D4951A"/>
                </a:solidFill>
                <a:latin typeface="Georgia" pitchFamily="34" charset="0"/>
                <a:ea typeface="Georgia" pitchFamily="34" charset="-122"/>
                <a:cs typeface="Georgia" pitchFamily="34" charset="-120"/>
              </a:rPr>
              <a:t>DÉCISIONS REQUISES DE LA DIRECTION</a:t>
            </a:r>
            <a:endParaRPr lang="en-US" sz="1900" dirty="0"/>
          </a:p>
        </p:txBody>
      </p:sp>
      <p:sp>
        <p:nvSpPr>
          <p:cNvPr id="83" name="Shape 81"/>
          <p:cNvSpPr/>
          <p:nvPr/>
        </p:nvSpPr>
        <p:spPr>
          <a:xfrm rot="2700000">
            <a:off x="8613648" y="182880"/>
            <a:ext cx="82296" cy="82296"/>
          </a:xfrm>
          <a:prstGeom prst="rect">
            <a:avLst/>
          </a:prstGeom>
          <a:solidFill>
            <a:srgbClr val="D4951A"/>
          </a:solidFill>
          <a:ln w="12700">
            <a:solidFill>
              <a:srgbClr val="05050A"/>
            </a:solidFill>
            <a:prstDash val="solid"/>
          </a:ln>
        </p:spPr>
      </p:sp>
      <p:sp>
        <p:nvSpPr>
          <p:cNvPr id="84" name="Shape 82"/>
          <p:cNvSpPr/>
          <p:nvPr/>
        </p:nvSpPr>
        <p:spPr>
          <a:xfrm rot="2700000">
            <a:off x="8485632" y="182880"/>
            <a:ext cx="82296" cy="82296"/>
          </a:xfrm>
          <a:prstGeom prst="rect">
            <a:avLst/>
          </a:prstGeom>
          <a:solidFill>
            <a:srgbClr val="1B9A8A"/>
          </a:solidFill>
          <a:ln w="12700">
            <a:solidFill>
              <a:srgbClr val="05050A"/>
            </a:solidFill>
            <a:prstDash val="solid"/>
          </a:ln>
        </p:spPr>
      </p:sp>
      <p:sp>
        <p:nvSpPr>
          <p:cNvPr id="85" name="Shape 83"/>
          <p:cNvSpPr/>
          <p:nvPr/>
        </p:nvSpPr>
        <p:spPr>
          <a:xfrm rot="2700000">
            <a:off x="8357616" y="182880"/>
            <a:ext cx="82296" cy="82296"/>
          </a:xfrm>
          <a:prstGeom prst="rect">
            <a:avLst/>
          </a:prstGeom>
          <a:solidFill>
            <a:srgbClr val="D4951A"/>
          </a:solidFill>
          <a:ln w="12700">
            <a:solidFill>
              <a:srgbClr val="05050A"/>
            </a:solidFill>
            <a:prstDash val="solid"/>
          </a:ln>
        </p:spPr>
      </p:sp>
      <p:sp>
        <p:nvSpPr>
          <p:cNvPr id="86" name="Shape 84"/>
          <p:cNvSpPr/>
          <p:nvPr/>
        </p:nvSpPr>
        <p:spPr>
          <a:xfrm rot="2700000">
            <a:off x="8229600" y="182880"/>
            <a:ext cx="82296" cy="82296"/>
          </a:xfrm>
          <a:prstGeom prst="rect">
            <a:avLst/>
          </a:prstGeom>
          <a:solidFill>
            <a:srgbClr val="1B9A8A"/>
          </a:solidFill>
          <a:ln w="12700">
            <a:solidFill>
              <a:srgbClr val="05050A"/>
            </a:solidFill>
            <a:prstDash val="solid"/>
          </a:ln>
        </p:spPr>
      </p:sp>
      <p:sp>
        <p:nvSpPr>
          <p:cNvPr id="87" name="Shape 85"/>
          <p:cNvSpPr/>
          <p:nvPr/>
        </p:nvSpPr>
        <p:spPr>
          <a:xfrm rot="2700000">
            <a:off x="8101584" y="182880"/>
            <a:ext cx="82296" cy="82296"/>
          </a:xfrm>
          <a:prstGeom prst="rect">
            <a:avLst/>
          </a:prstGeom>
          <a:solidFill>
            <a:srgbClr val="D4951A"/>
          </a:solidFill>
          <a:ln w="12700">
            <a:solidFill>
              <a:srgbClr val="05050A"/>
            </a:solidFill>
            <a:prstDash val="solid"/>
          </a:ln>
        </p:spPr>
      </p:sp>
      <p:sp>
        <p:nvSpPr>
          <p:cNvPr id="88" name="Shape 86"/>
          <p:cNvSpPr/>
          <p:nvPr/>
        </p:nvSpPr>
        <p:spPr>
          <a:xfrm>
            <a:off x="256032" y="1042416"/>
            <a:ext cx="8631936" cy="512064"/>
          </a:xfrm>
          <a:prstGeom prst="rect">
            <a:avLst/>
          </a:prstGeom>
          <a:solidFill>
            <a:srgbClr val="130F08"/>
          </a:solidFill>
          <a:ln w="12700">
            <a:solidFill>
              <a:srgbClr val="1E1E26"/>
            </a:solidFill>
            <a:prstDash val="solid"/>
          </a:ln>
        </p:spPr>
      </p:sp>
      <p:sp>
        <p:nvSpPr>
          <p:cNvPr id="89" name="Shape 87"/>
          <p:cNvSpPr/>
          <p:nvPr/>
        </p:nvSpPr>
        <p:spPr>
          <a:xfrm>
            <a:off x="256032" y="1042416"/>
            <a:ext cx="960120" cy="512064"/>
          </a:xfrm>
          <a:prstGeom prst="rect">
            <a:avLst/>
          </a:prstGeom>
          <a:solidFill>
            <a:srgbClr val="D94040"/>
          </a:solidFill>
          <a:ln/>
        </p:spPr>
      </p:sp>
      <p:sp>
        <p:nvSpPr>
          <p:cNvPr id="90" name="Text 88"/>
          <p:cNvSpPr/>
          <p:nvPr/>
        </p:nvSpPr>
        <p:spPr>
          <a:xfrm>
            <a:off x="256032" y="1042416"/>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IMMÉDIAT</a:t>
            </a:r>
            <a:endParaRPr lang="en-US" sz="750" dirty="0"/>
          </a:p>
        </p:txBody>
      </p:sp>
      <p:sp>
        <p:nvSpPr>
          <p:cNvPr id="91" name="Text 89"/>
          <p:cNvSpPr/>
          <p:nvPr/>
        </p:nvSpPr>
        <p:spPr>
          <a:xfrm>
            <a:off x="1298448" y="1042416"/>
            <a:ext cx="1371600" cy="512064"/>
          </a:xfrm>
          <a:prstGeom prst="rect">
            <a:avLst/>
          </a:prstGeom>
          <a:noFill/>
          <a:ln/>
        </p:spPr>
        <p:txBody>
          <a:bodyPr wrap="square" rtlCol="0" anchor="ctr"/>
          <a:lstStyle/>
          <a:p>
            <a:pPr indent="0" marL="0">
              <a:buNone/>
            </a:pPr>
            <a:r>
              <a:rPr lang="en-US" sz="850" b="1" dirty="0">
                <a:solidFill>
                  <a:srgbClr val="D94040"/>
                </a:solidFill>
                <a:latin typeface="Calibri" pitchFamily="34" charset="0"/>
                <a:ea typeface="Calibri" pitchFamily="34" charset="-122"/>
                <a:cs typeface="Calibri" pitchFamily="34" charset="-120"/>
              </a:rPr>
              <a:t>Ingénierie + Achats</a:t>
            </a:r>
            <a:endParaRPr lang="en-US" sz="850" dirty="0"/>
          </a:p>
        </p:txBody>
      </p:sp>
      <p:sp>
        <p:nvSpPr>
          <p:cNvPr id="92" name="Text 90"/>
          <p:cNvSpPr/>
          <p:nvPr/>
        </p:nvSpPr>
        <p:spPr>
          <a:xfrm>
            <a:off x="2743200" y="1069848"/>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Confirmer le GPL comme carburant et lancer la conception cuve GPL + contrat fournisseur</a:t>
            </a:r>
            <a:endParaRPr lang="en-US" sz="950" dirty="0"/>
          </a:p>
        </p:txBody>
      </p:sp>
      <p:sp>
        <p:nvSpPr>
          <p:cNvPr id="93" name="Text 91"/>
          <p:cNvSpPr/>
          <p:nvPr/>
        </p:nvSpPr>
        <p:spPr>
          <a:xfrm>
            <a:off x="2743200" y="1316736"/>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Pourquoi : L'AO chaudière ne peut être émis sans le carburant spécifié. La cuve GPL a un délai de 8–14 semaines.</a:t>
            </a:r>
            <a:endParaRPr lang="en-US" sz="850" dirty="0"/>
          </a:p>
        </p:txBody>
      </p:sp>
      <p:sp>
        <p:nvSpPr>
          <p:cNvPr id="94" name="Shape 92"/>
          <p:cNvSpPr/>
          <p:nvPr/>
        </p:nvSpPr>
        <p:spPr>
          <a:xfrm>
            <a:off x="256032" y="1609344"/>
            <a:ext cx="8631936" cy="512064"/>
          </a:xfrm>
          <a:prstGeom prst="rect">
            <a:avLst/>
          </a:prstGeom>
          <a:solidFill>
            <a:srgbClr val="111115"/>
          </a:solidFill>
          <a:ln w="12700">
            <a:solidFill>
              <a:srgbClr val="1E1E26"/>
            </a:solidFill>
            <a:prstDash val="solid"/>
          </a:ln>
        </p:spPr>
      </p:sp>
      <p:sp>
        <p:nvSpPr>
          <p:cNvPr id="95" name="Shape 93"/>
          <p:cNvSpPr/>
          <p:nvPr/>
        </p:nvSpPr>
        <p:spPr>
          <a:xfrm>
            <a:off x="256032" y="1609344"/>
            <a:ext cx="960120" cy="512064"/>
          </a:xfrm>
          <a:prstGeom prst="rect">
            <a:avLst/>
          </a:prstGeom>
          <a:solidFill>
            <a:srgbClr val="D94040"/>
          </a:solidFill>
          <a:ln/>
        </p:spPr>
      </p:sp>
      <p:sp>
        <p:nvSpPr>
          <p:cNvPr id="96" name="Text 94"/>
          <p:cNvSpPr/>
          <p:nvPr/>
        </p:nvSpPr>
        <p:spPr>
          <a:xfrm>
            <a:off x="256032" y="1609344"/>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IMMÉDIAT</a:t>
            </a:r>
            <a:endParaRPr lang="en-US" sz="750" dirty="0"/>
          </a:p>
        </p:txBody>
      </p:sp>
      <p:sp>
        <p:nvSpPr>
          <p:cNvPr id="97" name="Text 95"/>
          <p:cNvSpPr/>
          <p:nvPr/>
        </p:nvSpPr>
        <p:spPr>
          <a:xfrm>
            <a:off x="1298448" y="1609344"/>
            <a:ext cx="1371600" cy="512064"/>
          </a:xfrm>
          <a:prstGeom prst="rect">
            <a:avLst/>
          </a:prstGeom>
          <a:noFill/>
          <a:ln/>
        </p:spPr>
        <p:txBody>
          <a:bodyPr wrap="square" rtlCol="0" anchor="ctr"/>
          <a:lstStyle/>
          <a:p>
            <a:pPr indent="0" marL="0">
              <a:buNone/>
            </a:pPr>
            <a:r>
              <a:rPr lang="en-US" sz="850" b="1" dirty="0">
                <a:solidFill>
                  <a:srgbClr val="D94040"/>
                </a:solidFill>
                <a:latin typeface="Calibri" pitchFamily="34" charset="0"/>
                <a:ea typeface="Calibri" pitchFamily="34" charset="-122"/>
                <a:cs typeface="Calibri" pitchFamily="34" charset="-120"/>
              </a:rPr>
              <a:t>Ingénierie</a:t>
            </a:r>
            <a:endParaRPr lang="en-US" sz="850" dirty="0"/>
          </a:p>
        </p:txBody>
      </p:sp>
      <p:sp>
        <p:nvSpPr>
          <p:cNvPr id="98" name="Text 96"/>
          <p:cNvSpPr/>
          <p:nvPr/>
        </p:nvSpPr>
        <p:spPr>
          <a:xfrm>
            <a:off x="2743200" y="1636776"/>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Obtenir le tableau de consommation vapeur FAMSUN — valider 2 123 Kg/H avant commande</a:t>
            </a:r>
            <a:endParaRPr lang="en-US" sz="950" dirty="0"/>
          </a:p>
        </p:txBody>
      </p:sp>
      <p:sp>
        <p:nvSpPr>
          <p:cNvPr id="99" name="Text 97"/>
          <p:cNvSpPr/>
          <p:nvPr/>
        </p:nvSpPr>
        <p:spPr>
          <a:xfrm>
            <a:off x="2743200" y="1883664"/>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Pourquoi : Si la demande réelle diffère du chiffre contractuel, vous risquez de commander la mauvaise taille.</a:t>
            </a:r>
            <a:endParaRPr lang="en-US" sz="850" dirty="0"/>
          </a:p>
        </p:txBody>
      </p:sp>
      <p:sp>
        <p:nvSpPr>
          <p:cNvPr id="100" name="Shape 98"/>
          <p:cNvSpPr/>
          <p:nvPr/>
        </p:nvSpPr>
        <p:spPr>
          <a:xfrm>
            <a:off x="256032" y="2176272"/>
            <a:ext cx="8631936" cy="512064"/>
          </a:xfrm>
          <a:prstGeom prst="rect">
            <a:avLst/>
          </a:prstGeom>
          <a:solidFill>
            <a:srgbClr val="130F08"/>
          </a:solidFill>
          <a:ln w="12700">
            <a:solidFill>
              <a:srgbClr val="1E1E26"/>
            </a:solidFill>
            <a:prstDash val="solid"/>
          </a:ln>
        </p:spPr>
      </p:sp>
      <p:sp>
        <p:nvSpPr>
          <p:cNvPr id="101" name="Shape 99"/>
          <p:cNvSpPr/>
          <p:nvPr/>
        </p:nvSpPr>
        <p:spPr>
          <a:xfrm>
            <a:off x="256032" y="2176272"/>
            <a:ext cx="960120" cy="512064"/>
          </a:xfrm>
          <a:prstGeom prst="rect">
            <a:avLst/>
          </a:prstGeom>
          <a:solidFill>
            <a:srgbClr val="D94040"/>
          </a:solidFill>
          <a:ln/>
        </p:spPr>
      </p:sp>
      <p:sp>
        <p:nvSpPr>
          <p:cNvPr id="102" name="Text 100"/>
          <p:cNvSpPr/>
          <p:nvPr/>
        </p:nvSpPr>
        <p:spPr>
          <a:xfrm>
            <a:off x="256032" y="2176272"/>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IMMÉDIAT</a:t>
            </a:r>
            <a:endParaRPr lang="en-US" sz="750" dirty="0"/>
          </a:p>
        </p:txBody>
      </p:sp>
      <p:sp>
        <p:nvSpPr>
          <p:cNvPr id="103" name="Text 101"/>
          <p:cNvSpPr/>
          <p:nvPr/>
        </p:nvSpPr>
        <p:spPr>
          <a:xfrm>
            <a:off x="1298448" y="2176272"/>
            <a:ext cx="1371600" cy="512064"/>
          </a:xfrm>
          <a:prstGeom prst="rect">
            <a:avLst/>
          </a:prstGeom>
          <a:noFill/>
          <a:ln/>
        </p:spPr>
        <p:txBody>
          <a:bodyPr wrap="square" rtlCol="0" anchor="ctr"/>
          <a:lstStyle/>
          <a:p>
            <a:pPr indent="0" marL="0">
              <a:buNone/>
            </a:pPr>
            <a:r>
              <a:rPr lang="en-US" sz="850" b="1" dirty="0">
                <a:solidFill>
                  <a:srgbClr val="D94040"/>
                </a:solidFill>
                <a:latin typeface="Calibri" pitchFamily="34" charset="0"/>
                <a:ea typeface="Calibri" pitchFamily="34" charset="-122"/>
                <a:cs typeface="Calibri" pitchFamily="34" charset="-120"/>
              </a:rPr>
              <a:t>Direction</a:t>
            </a:r>
            <a:endParaRPr lang="en-US" sz="850" dirty="0"/>
          </a:p>
        </p:txBody>
      </p:sp>
      <p:sp>
        <p:nvSpPr>
          <p:cNvPr id="104" name="Text 102"/>
          <p:cNvSpPr/>
          <p:nvPr/>
        </p:nvSpPr>
        <p:spPr>
          <a:xfrm>
            <a:off x="2743200" y="2203704"/>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Approuver la stratégie deux chaudières (une par ligne) vs une seule unité partagée</a:t>
            </a:r>
            <a:endParaRPr lang="en-US" sz="950" dirty="0"/>
          </a:p>
        </p:txBody>
      </p:sp>
      <p:sp>
        <p:nvSpPr>
          <p:cNvPr id="105" name="Text 103"/>
          <p:cNvSpPr/>
          <p:nvPr/>
        </p:nvSpPr>
        <p:spPr>
          <a:xfrm>
            <a:off x="2743200" y="2450592"/>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Pourquoi : C'est une décision CAPEX. Deux unités coûtent plus cher mais sont fortement recommandées pour la résilience opérationnelle et l'indépendance Ligne 2.</a:t>
            </a:r>
            <a:endParaRPr lang="en-US" sz="850" dirty="0"/>
          </a:p>
        </p:txBody>
      </p:sp>
      <p:sp>
        <p:nvSpPr>
          <p:cNvPr id="106" name="Shape 104"/>
          <p:cNvSpPr/>
          <p:nvPr/>
        </p:nvSpPr>
        <p:spPr>
          <a:xfrm>
            <a:off x="256032" y="2743200"/>
            <a:ext cx="8631936" cy="512064"/>
          </a:xfrm>
          <a:prstGeom prst="rect">
            <a:avLst/>
          </a:prstGeom>
          <a:solidFill>
            <a:srgbClr val="111115"/>
          </a:solidFill>
          <a:ln w="12700">
            <a:solidFill>
              <a:srgbClr val="1E1E26"/>
            </a:solidFill>
            <a:prstDash val="solid"/>
          </a:ln>
        </p:spPr>
      </p:sp>
      <p:sp>
        <p:nvSpPr>
          <p:cNvPr id="107" name="Shape 105"/>
          <p:cNvSpPr/>
          <p:nvPr/>
        </p:nvSpPr>
        <p:spPr>
          <a:xfrm>
            <a:off x="256032" y="2743200"/>
            <a:ext cx="960120" cy="512064"/>
          </a:xfrm>
          <a:prstGeom prst="rect">
            <a:avLst/>
          </a:prstGeom>
          <a:solidFill>
            <a:srgbClr val="C0622B"/>
          </a:solidFill>
          <a:ln/>
        </p:spPr>
      </p:sp>
      <p:sp>
        <p:nvSpPr>
          <p:cNvPr id="108" name="Text 106"/>
          <p:cNvSpPr/>
          <p:nvPr/>
        </p:nvSpPr>
        <p:spPr>
          <a:xfrm>
            <a:off x="256032" y="2743200"/>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SEMAINE 1–2</a:t>
            </a:r>
            <a:endParaRPr lang="en-US" sz="750" dirty="0"/>
          </a:p>
        </p:txBody>
      </p:sp>
      <p:sp>
        <p:nvSpPr>
          <p:cNvPr id="109" name="Text 107"/>
          <p:cNvSpPr/>
          <p:nvPr/>
        </p:nvSpPr>
        <p:spPr>
          <a:xfrm>
            <a:off x="1298448" y="2743200"/>
            <a:ext cx="1371600" cy="512064"/>
          </a:xfrm>
          <a:prstGeom prst="rect">
            <a:avLst/>
          </a:prstGeom>
          <a:noFill/>
          <a:ln/>
        </p:spPr>
        <p:txBody>
          <a:bodyPr wrap="square" rtlCol="0" anchor="ctr"/>
          <a:lstStyle/>
          <a:p>
            <a:pPr indent="0" marL="0">
              <a:buNone/>
            </a:pPr>
            <a:r>
              <a:rPr lang="en-US" sz="850" b="1" dirty="0">
                <a:solidFill>
                  <a:srgbClr val="C0622B"/>
                </a:solidFill>
                <a:latin typeface="Calibri" pitchFamily="34" charset="0"/>
                <a:ea typeface="Calibri" pitchFamily="34" charset="-122"/>
                <a:cs typeface="Calibri" pitchFamily="34" charset="-120"/>
              </a:rPr>
              <a:t>Achats</a:t>
            </a:r>
            <a:endParaRPr lang="en-US" sz="850" dirty="0"/>
          </a:p>
        </p:txBody>
      </p:sp>
      <p:sp>
        <p:nvSpPr>
          <p:cNvPr id="110" name="Text 108"/>
          <p:cNvSpPr/>
          <p:nvPr/>
        </p:nvSpPr>
        <p:spPr>
          <a:xfrm>
            <a:off x="2743200" y="2770632"/>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Approuver la direction technologique GVI et émettre RFQ à Miura, Clayton, Cleaver-Brooks</a:t>
            </a:r>
            <a:endParaRPr lang="en-US" sz="950" dirty="0"/>
          </a:p>
        </p:txBody>
      </p:sp>
      <p:sp>
        <p:nvSpPr>
          <p:cNvPr id="111" name="Text 109"/>
          <p:cNvSpPr/>
          <p:nvPr/>
        </p:nvSpPr>
        <p:spPr>
          <a:xfrm>
            <a:off x="2743200" y="3017520"/>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Pourquoi : Minimum trois fournisseurs nécessaires. La chaudière est sur le chemin critique — tout retard ici retarde la première production.</a:t>
            </a:r>
            <a:endParaRPr lang="en-US" sz="850" dirty="0"/>
          </a:p>
        </p:txBody>
      </p:sp>
      <p:sp>
        <p:nvSpPr>
          <p:cNvPr id="112" name="Shape 110"/>
          <p:cNvSpPr/>
          <p:nvPr/>
        </p:nvSpPr>
        <p:spPr>
          <a:xfrm>
            <a:off x="256032" y="3310128"/>
            <a:ext cx="8631936" cy="512064"/>
          </a:xfrm>
          <a:prstGeom prst="rect">
            <a:avLst/>
          </a:prstGeom>
          <a:solidFill>
            <a:srgbClr val="130F08"/>
          </a:solidFill>
          <a:ln w="12700">
            <a:solidFill>
              <a:srgbClr val="1E1E26"/>
            </a:solidFill>
            <a:prstDash val="solid"/>
          </a:ln>
        </p:spPr>
      </p:sp>
      <p:sp>
        <p:nvSpPr>
          <p:cNvPr id="113" name="Shape 111"/>
          <p:cNvSpPr/>
          <p:nvPr/>
        </p:nvSpPr>
        <p:spPr>
          <a:xfrm>
            <a:off x="256032" y="3310128"/>
            <a:ext cx="960120" cy="512064"/>
          </a:xfrm>
          <a:prstGeom prst="rect">
            <a:avLst/>
          </a:prstGeom>
          <a:solidFill>
            <a:srgbClr val="C0622B"/>
          </a:solidFill>
          <a:ln/>
        </p:spPr>
      </p:sp>
      <p:sp>
        <p:nvSpPr>
          <p:cNvPr id="114" name="Text 112"/>
          <p:cNvSpPr/>
          <p:nvPr/>
        </p:nvSpPr>
        <p:spPr>
          <a:xfrm>
            <a:off x="256032" y="3310128"/>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SEMAINE 1–2</a:t>
            </a:r>
            <a:endParaRPr lang="en-US" sz="750" dirty="0"/>
          </a:p>
        </p:txBody>
      </p:sp>
      <p:sp>
        <p:nvSpPr>
          <p:cNvPr id="115" name="Text 113"/>
          <p:cNvSpPr/>
          <p:nvPr/>
        </p:nvSpPr>
        <p:spPr>
          <a:xfrm>
            <a:off x="1298448" y="3310128"/>
            <a:ext cx="1371600" cy="512064"/>
          </a:xfrm>
          <a:prstGeom prst="rect">
            <a:avLst/>
          </a:prstGeom>
          <a:noFill/>
          <a:ln/>
        </p:spPr>
        <p:txBody>
          <a:bodyPr wrap="square" rtlCol="0" anchor="ctr"/>
          <a:lstStyle/>
          <a:p>
            <a:pPr indent="0" marL="0">
              <a:buNone/>
            </a:pPr>
            <a:r>
              <a:rPr lang="en-US" sz="850" b="1" dirty="0">
                <a:solidFill>
                  <a:srgbClr val="C0622B"/>
                </a:solidFill>
                <a:latin typeface="Calibri" pitchFamily="34" charset="0"/>
                <a:ea typeface="Calibri" pitchFamily="34" charset="-122"/>
                <a:cs typeface="Calibri" pitchFamily="34" charset="-120"/>
              </a:rPr>
              <a:t>Ingénierie</a:t>
            </a:r>
            <a:endParaRPr lang="en-US" sz="850" dirty="0"/>
          </a:p>
        </p:txBody>
      </p:sp>
      <p:sp>
        <p:nvSpPr>
          <p:cNvPr id="116" name="Text 114"/>
          <p:cNvSpPr/>
          <p:nvPr/>
        </p:nvSpPr>
        <p:spPr>
          <a:xfrm>
            <a:off x="2743200" y="3337560"/>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Spécifier le brûleur bi-combustible (GPL + Gaz Naturel) comme option préférée dans l'AO</a:t>
            </a:r>
            <a:endParaRPr lang="en-US" sz="950" dirty="0"/>
          </a:p>
        </p:txBody>
      </p:sp>
      <p:sp>
        <p:nvSpPr>
          <p:cNvPr id="117" name="Text 115"/>
          <p:cNvSpPr/>
          <p:nvPr/>
        </p:nvSpPr>
        <p:spPr>
          <a:xfrm>
            <a:off x="2743200" y="3584448"/>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Pourquoi : Le raccordement au réseau gaz sur site est possible dans 3–5 ans. Le bi-combustible évite un remplacement complet du brûleur ultérieurement.</a:t>
            </a:r>
            <a:endParaRPr lang="en-US" sz="850" dirty="0"/>
          </a:p>
        </p:txBody>
      </p:sp>
      <p:sp>
        <p:nvSpPr>
          <p:cNvPr id="118" name="Shape 116"/>
          <p:cNvSpPr/>
          <p:nvPr/>
        </p:nvSpPr>
        <p:spPr>
          <a:xfrm>
            <a:off x="256032" y="3877056"/>
            <a:ext cx="8631936" cy="512064"/>
          </a:xfrm>
          <a:prstGeom prst="rect">
            <a:avLst/>
          </a:prstGeom>
          <a:solidFill>
            <a:srgbClr val="111115"/>
          </a:solidFill>
          <a:ln w="12700">
            <a:solidFill>
              <a:srgbClr val="1E1E26"/>
            </a:solidFill>
            <a:prstDash val="solid"/>
          </a:ln>
        </p:spPr>
      </p:sp>
      <p:sp>
        <p:nvSpPr>
          <p:cNvPr id="119" name="Shape 117"/>
          <p:cNvSpPr/>
          <p:nvPr/>
        </p:nvSpPr>
        <p:spPr>
          <a:xfrm>
            <a:off x="256032" y="3877056"/>
            <a:ext cx="960120" cy="512064"/>
          </a:xfrm>
          <a:prstGeom prst="rect">
            <a:avLst/>
          </a:prstGeom>
          <a:solidFill>
            <a:srgbClr val="D4951A"/>
          </a:solidFill>
          <a:ln/>
        </p:spPr>
      </p:sp>
      <p:sp>
        <p:nvSpPr>
          <p:cNvPr id="120" name="Text 118"/>
          <p:cNvSpPr/>
          <p:nvPr/>
        </p:nvSpPr>
        <p:spPr>
          <a:xfrm>
            <a:off x="256032" y="3877056"/>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SEMAINE 2–4</a:t>
            </a:r>
            <a:endParaRPr lang="en-US" sz="750" dirty="0"/>
          </a:p>
        </p:txBody>
      </p:sp>
      <p:sp>
        <p:nvSpPr>
          <p:cNvPr id="121" name="Text 119"/>
          <p:cNvSpPr/>
          <p:nvPr/>
        </p:nvSpPr>
        <p:spPr>
          <a:xfrm>
            <a:off x="1298448" y="3877056"/>
            <a:ext cx="1371600" cy="512064"/>
          </a:xfrm>
          <a:prstGeom prst="rect">
            <a:avLst/>
          </a:prstGeom>
          <a:noFill/>
          <a:ln/>
        </p:spPr>
        <p:txBody>
          <a:bodyPr wrap="square" rtlCol="0" anchor="ctr"/>
          <a:lstStyle/>
          <a:p>
            <a:pPr indent="0" marL="0">
              <a:buNone/>
            </a:pPr>
            <a:r>
              <a:rPr lang="en-US" sz="850" b="1" dirty="0">
                <a:solidFill>
                  <a:srgbClr val="D4951A"/>
                </a:solidFill>
                <a:latin typeface="Calibri" pitchFamily="34" charset="0"/>
                <a:ea typeface="Calibri" pitchFamily="34" charset="-122"/>
                <a:cs typeface="Calibri" pitchFamily="34" charset="-120"/>
              </a:rPr>
              <a:t>Ingénierie + Qualité</a:t>
            </a:r>
            <a:endParaRPr lang="en-US" sz="850" dirty="0"/>
          </a:p>
        </p:txBody>
      </p:sp>
      <p:sp>
        <p:nvSpPr>
          <p:cNvPr id="122" name="Text 120"/>
          <p:cNvSpPr/>
          <p:nvPr/>
        </p:nvSpPr>
        <p:spPr>
          <a:xfrm>
            <a:off x="2743200" y="3904488"/>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Sélectionner un fournisseur de produits chimiques traitement eau chaudière certifiés NSF H1</a:t>
            </a:r>
            <a:endParaRPr lang="en-US" sz="950" dirty="0"/>
          </a:p>
        </p:txBody>
      </p:sp>
      <p:sp>
        <p:nvSpPr>
          <p:cNvPr id="123" name="Text 121"/>
          <p:cNvSpPr/>
          <p:nvPr/>
        </p:nvSpPr>
        <p:spPr>
          <a:xfrm>
            <a:off x="2743200" y="4151376"/>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Pourquoi : Le traitement eau homologué alimentaire est obligatoire pour export UE et USA. Les produits industriels standard ne sont pas acceptables.</a:t>
            </a:r>
            <a:endParaRPr lang="en-US" sz="850" dirty="0"/>
          </a:p>
        </p:txBody>
      </p:sp>
      <p:sp>
        <p:nvSpPr>
          <p:cNvPr id="124" name="Shape 122"/>
          <p:cNvSpPr/>
          <p:nvPr/>
        </p:nvSpPr>
        <p:spPr>
          <a:xfrm>
            <a:off x="256032" y="4443984"/>
            <a:ext cx="8631936" cy="512064"/>
          </a:xfrm>
          <a:prstGeom prst="rect">
            <a:avLst/>
          </a:prstGeom>
          <a:solidFill>
            <a:srgbClr val="130F08"/>
          </a:solidFill>
          <a:ln w="12700">
            <a:solidFill>
              <a:srgbClr val="1E1E26"/>
            </a:solidFill>
            <a:prstDash val="solid"/>
          </a:ln>
        </p:spPr>
      </p:sp>
      <p:sp>
        <p:nvSpPr>
          <p:cNvPr id="125" name="Shape 123"/>
          <p:cNvSpPr/>
          <p:nvPr/>
        </p:nvSpPr>
        <p:spPr>
          <a:xfrm>
            <a:off x="256032" y="4443984"/>
            <a:ext cx="960120" cy="512064"/>
          </a:xfrm>
          <a:prstGeom prst="rect">
            <a:avLst/>
          </a:prstGeom>
          <a:solidFill>
            <a:srgbClr val="D4951A"/>
          </a:solidFill>
          <a:ln/>
        </p:spPr>
      </p:sp>
      <p:sp>
        <p:nvSpPr>
          <p:cNvPr id="126" name="Text 124"/>
          <p:cNvSpPr/>
          <p:nvPr/>
        </p:nvSpPr>
        <p:spPr>
          <a:xfrm>
            <a:off x="256032" y="4443984"/>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SEMAINE 2–4</a:t>
            </a:r>
            <a:endParaRPr lang="en-US" sz="750" dirty="0"/>
          </a:p>
        </p:txBody>
      </p:sp>
      <p:sp>
        <p:nvSpPr>
          <p:cNvPr id="127" name="Text 125"/>
          <p:cNvSpPr/>
          <p:nvPr/>
        </p:nvSpPr>
        <p:spPr>
          <a:xfrm>
            <a:off x="1298448" y="4443984"/>
            <a:ext cx="1371600" cy="512064"/>
          </a:xfrm>
          <a:prstGeom prst="rect">
            <a:avLst/>
          </a:prstGeom>
          <a:noFill/>
          <a:ln/>
        </p:spPr>
        <p:txBody>
          <a:bodyPr wrap="square" rtlCol="0" anchor="ctr"/>
          <a:lstStyle/>
          <a:p>
            <a:pPr indent="0" marL="0">
              <a:buNone/>
            </a:pPr>
            <a:r>
              <a:rPr lang="en-US" sz="850" b="1" dirty="0">
                <a:solidFill>
                  <a:srgbClr val="D4951A"/>
                </a:solidFill>
                <a:latin typeface="Calibri" pitchFamily="34" charset="0"/>
                <a:ea typeface="Calibri" pitchFamily="34" charset="-122"/>
                <a:cs typeface="Calibri" pitchFamily="34" charset="-120"/>
              </a:rPr>
              <a:t>Réglementaire / Ingénierie</a:t>
            </a:r>
            <a:endParaRPr lang="en-US" sz="850" dirty="0"/>
          </a:p>
        </p:txBody>
      </p:sp>
      <p:sp>
        <p:nvSpPr>
          <p:cNvPr id="128" name="Text 126"/>
          <p:cNvSpPr/>
          <p:nvPr/>
        </p:nvSpPr>
        <p:spPr>
          <a:xfrm>
            <a:off x="2743200" y="4471416"/>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Identifier et contacter l'autorité marocaine certifiée d'inspection des appareils sous pression</a:t>
            </a:r>
            <a:endParaRPr lang="en-US" sz="950" dirty="0"/>
          </a:p>
        </p:txBody>
      </p:sp>
      <p:sp>
        <p:nvSpPr>
          <p:cNvPr id="129" name="Text 127"/>
          <p:cNvSpPr/>
          <p:nvPr/>
        </p:nvSpPr>
        <p:spPr>
          <a:xfrm>
            <a:off x="2743200" y="4718304"/>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Pourquoi : Le certificat annuel est une obligation légale d'exploitation. La chaudière ne peut pas être mise en service sans ce certificat.</a:t>
            </a:r>
            <a:endParaRPr lang="en-US" sz="850" dirty="0"/>
          </a:p>
        </p:txBody>
      </p:sp>
      <p:sp>
        <p:nvSpPr>
          <p:cNvPr id="130" name="Shape 128"/>
          <p:cNvSpPr/>
          <p:nvPr/>
        </p:nvSpPr>
        <p:spPr>
          <a:xfrm rot="2700000">
            <a:off x="10973" y="4809744"/>
            <a:ext cx="77724" cy="77724"/>
          </a:xfrm>
          <a:prstGeom prst="rect">
            <a:avLst/>
          </a:prstGeom>
          <a:solidFill>
            <a:srgbClr val="D4951A">
              <a:alpha val="20000"/>
            </a:srgbClr>
          </a:solidFill>
          <a:ln w="12700">
            <a:solidFill>
              <a:srgbClr val="D4951A"/>
            </a:solidFill>
            <a:prstDash val="solid"/>
          </a:ln>
        </p:spPr>
      </p:sp>
      <p:sp>
        <p:nvSpPr>
          <p:cNvPr id="131" name="Shape 129"/>
          <p:cNvSpPr/>
          <p:nvPr/>
        </p:nvSpPr>
        <p:spPr>
          <a:xfrm rot="2700000">
            <a:off x="128016" y="4809744"/>
            <a:ext cx="77724" cy="77724"/>
          </a:xfrm>
          <a:prstGeom prst="rect">
            <a:avLst/>
          </a:prstGeom>
          <a:solidFill>
            <a:srgbClr val="D4951A">
              <a:alpha val="20000"/>
            </a:srgbClr>
          </a:solidFill>
          <a:ln w="12700">
            <a:solidFill>
              <a:srgbClr val="D4951A"/>
            </a:solidFill>
            <a:prstDash val="solid"/>
          </a:ln>
        </p:spPr>
      </p:sp>
      <p:sp>
        <p:nvSpPr>
          <p:cNvPr id="132" name="Shape 130"/>
          <p:cNvSpPr/>
          <p:nvPr/>
        </p:nvSpPr>
        <p:spPr>
          <a:xfrm rot="2700000">
            <a:off x="245059" y="4809744"/>
            <a:ext cx="77724" cy="77724"/>
          </a:xfrm>
          <a:prstGeom prst="rect">
            <a:avLst/>
          </a:prstGeom>
          <a:solidFill>
            <a:srgbClr val="D4951A">
              <a:alpha val="20000"/>
            </a:srgbClr>
          </a:solidFill>
          <a:ln w="12700">
            <a:solidFill>
              <a:srgbClr val="D4951A"/>
            </a:solidFill>
            <a:prstDash val="solid"/>
          </a:ln>
        </p:spPr>
      </p:sp>
      <p:sp>
        <p:nvSpPr>
          <p:cNvPr id="133" name="Shape 131"/>
          <p:cNvSpPr/>
          <p:nvPr/>
        </p:nvSpPr>
        <p:spPr>
          <a:xfrm rot="2700000">
            <a:off x="362102" y="4809744"/>
            <a:ext cx="77724" cy="77724"/>
          </a:xfrm>
          <a:prstGeom prst="rect">
            <a:avLst/>
          </a:prstGeom>
          <a:solidFill>
            <a:srgbClr val="D4951A">
              <a:alpha val="20000"/>
            </a:srgbClr>
          </a:solidFill>
          <a:ln w="12700">
            <a:solidFill>
              <a:srgbClr val="D4951A"/>
            </a:solidFill>
            <a:prstDash val="solid"/>
          </a:ln>
        </p:spPr>
      </p:sp>
      <p:sp>
        <p:nvSpPr>
          <p:cNvPr id="134" name="Shape 132"/>
          <p:cNvSpPr/>
          <p:nvPr/>
        </p:nvSpPr>
        <p:spPr>
          <a:xfrm rot="2700000">
            <a:off x="479146" y="4809744"/>
            <a:ext cx="77724" cy="77724"/>
          </a:xfrm>
          <a:prstGeom prst="rect">
            <a:avLst/>
          </a:prstGeom>
          <a:solidFill>
            <a:srgbClr val="D4951A">
              <a:alpha val="20000"/>
            </a:srgbClr>
          </a:solidFill>
          <a:ln w="12700">
            <a:solidFill>
              <a:srgbClr val="D4951A"/>
            </a:solidFill>
            <a:prstDash val="solid"/>
          </a:ln>
        </p:spPr>
      </p:sp>
      <p:sp>
        <p:nvSpPr>
          <p:cNvPr id="135" name="Shape 133"/>
          <p:cNvSpPr/>
          <p:nvPr/>
        </p:nvSpPr>
        <p:spPr>
          <a:xfrm rot="2700000">
            <a:off x="596189" y="4809744"/>
            <a:ext cx="77724" cy="77724"/>
          </a:xfrm>
          <a:prstGeom prst="rect">
            <a:avLst/>
          </a:prstGeom>
          <a:solidFill>
            <a:srgbClr val="D4951A">
              <a:alpha val="20000"/>
            </a:srgbClr>
          </a:solidFill>
          <a:ln w="12700">
            <a:solidFill>
              <a:srgbClr val="D4951A"/>
            </a:solidFill>
            <a:prstDash val="solid"/>
          </a:ln>
        </p:spPr>
      </p:sp>
      <p:sp>
        <p:nvSpPr>
          <p:cNvPr id="136" name="Shape 134"/>
          <p:cNvSpPr/>
          <p:nvPr/>
        </p:nvSpPr>
        <p:spPr>
          <a:xfrm rot="2700000">
            <a:off x="713232" y="4809744"/>
            <a:ext cx="77724" cy="77724"/>
          </a:xfrm>
          <a:prstGeom prst="rect">
            <a:avLst/>
          </a:prstGeom>
          <a:solidFill>
            <a:srgbClr val="D4951A">
              <a:alpha val="20000"/>
            </a:srgbClr>
          </a:solidFill>
          <a:ln w="12700">
            <a:solidFill>
              <a:srgbClr val="D4951A"/>
            </a:solidFill>
            <a:prstDash val="solid"/>
          </a:ln>
        </p:spPr>
      </p:sp>
      <p:sp>
        <p:nvSpPr>
          <p:cNvPr id="137" name="Shape 135"/>
          <p:cNvSpPr/>
          <p:nvPr/>
        </p:nvSpPr>
        <p:spPr>
          <a:xfrm rot="2700000">
            <a:off x="830275" y="4809744"/>
            <a:ext cx="77724" cy="77724"/>
          </a:xfrm>
          <a:prstGeom prst="rect">
            <a:avLst/>
          </a:prstGeom>
          <a:solidFill>
            <a:srgbClr val="D4951A">
              <a:alpha val="20000"/>
            </a:srgbClr>
          </a:solidFill>
          <a:ln w="12700">
            <a:solidFill>
              <a:srgbClr val="D4951A"/>
            </a:solidFill>
            <a:prstDash val="solid"/>
          </a:ln>
        </p:spPr>
      </p:sp>
      <p:sp>
        <p:nvSpPr>
          <p:cNvPr id="138" name="Shape 136"/>
          <p:cNvSpPr/>
          <p:nvPr/>
        </p:nvSpPr>
        <p:spPr>
          <a:xfrm rot="2700000">
            <a:off x="947318" y="4809744"/>
            <a:ext cx="77724" cy="77724"/>
          </a:xfrm>
          <a:prstGeom prst="rect">
            <a:avLst/>
          </a:prstGeom>
          <a:solidFill>
            <a:srgbClr val="D4951A">
              <a:alpha val="20000"/>
            </a:srgbClr>
          </a:solidFill>
          <a:ln w="12700">
            <a:solidFill>
              <a:srgbClr val="D4951A"/>
            </a:solidFill>
            <a:prstDash val="solid"/>
          </a:ln>
        </p:spPr>
      </p:sp>
      <p:sp>
        <p:nvSpPr>
          <p:cNvPr id="139" name="Shape 137"/>
          <p:cNvSpPr/>
          <p:nvPr/>
        </p:nvSpPr>
        <p:spPr>
          <a:xfrm rot="2700000">
            <a:off x="1064362" y="4809744"/>
            <a:ext cx="77724" cy="77724"/>
          </a:xfrm>
          <a:prstGeom prst="rect">
            <a:avLst/>
          </a:prstGeom>
          <a:solidFill>
            <a:srgbClr val="D4951A">
              <a:alpha val="20000"/>
            </a:srgbClr>
          </a:solidFill>
          <a:ln w="12700">
            <a:solidFill>
              <a:srgbClr val="D4951A"/>
            </a:solidFill>
            <a:prstDash val="solid"/>
          </a:ln>
        </p:spPr>
      </p:sp>
      <p:sp>
        <p:nvSpPr>
          <p:cNvPr id="140" name="Shape 138"/>
          <p:cNvSpPr/>
          <p:nvPr/>
        </p:nvSpPr>
        <p:spPr>
          <a:xfrm rot="2700000">
            <a:off x="1181405" y="4809744"/>
            <a:ext cx="77724" cy="77724"/>
          </a:xfrm>
          <a:prstGeom prst="rect">
            <a:avLst/>
          </a:prstGeom>
          <a:solidFill>
            <a:srgbClr val="D4951A">
              <a:alpha val="20000"/>
            </a:srgbClr>
          </a:solidFill>
          <a:ln w="12700">
            <a:solidFill>
              <a:srgbClr val="D4951A"/>
            </a:solidFill>
            <a:prstDash val="solid"/>
          </a:ln>
        </p:spPr>
      </p:sp>
      <p:sp>
        <p:nvSpPr>
          <p:cNvPr id="141" name="Shape 139"/>
          <p:cNvSpPr/>
          <p:nvPr/>
        </p:nvSpPr>
        <p:spPr>
          <a:xfrm rot="2700000">
            <a:off x="1298448" y="4809744"/>
            <a:ext cx="77724" cy="77724"/>
          </a:xfrm>
          <a:prstGeom prst="rect">
            <a:avLst/>
          </a:prstGeom>
          <a:solidFill>
            <a:srgbClr val="D4951A">
              <a:alpha val="20000"/>
            </a:srgbClr>
          </a:solidFill>
          <a:ln w="12700">
            <a:solidFill>
              <a:srgbClr val="D4951A"/>
            </a:solidFill>
            <a:prstDash val="solid"/>
          </a:ln>
        </p:spPr>
      </p:sp>
      <p:sp>
        <p:nvSpPr>
          <p:cNvPr id="142" name="Shape 140"/>
          <p:cNvSpPr/>
          <p:nvPr/>
        </p:nvSpPr>
        <p:spPr>
          <a:xfrm rot="2700000">
            <a:off x="1415491" y="4809744"/>
            <a:ext cx="77724" cy="77724"/>
          </a:xfrm>
          <a:prstGeom prst="rect">
            <a:avLst/>
          </a:prstGeom>
          <a:solidFill>
            <a:srgbClr val="D4951A">
              <a:alpha val="20000"/>
            </a:srgbClr>
          </a:solidFill>
          <a:ln w="12700">
            <a:solidFill>
              <a:srgbClr val="D4951A"/>
            </a:solidFill>
            <a:prstDash val="solid"/>
          </a:ln>
        </p:spPr>
      </p:sp>
      <p:sp>
        <p:nvSpPr>
          <p:cNvPr id="143" name="Shape 141"/>
          <p:cNvSpPr/>
          <p:nvPr/>
        </p:nvSpPr>
        <p:spPr>
          <a:xfrm rot="2700000">
            <a:off x="1532534" y="4809744"/>
            <a:ext cx="77724" cy="77724"/>
          </a:xfrm>
          <a:prstGeom prst="rect">
            <a:avLst/>
          </a:prstGeom>
          <a:solidFill>
            <a:srgbClr val="D4951A">
              <a:alpha val="20000"/>
            </a:srgbClr>
          </a:solidFill>
          <a:ln w="12700">
            <a:solidFill>
              <a:srgbClr val="D4951A"/>
            </a:solidFill>
            <a:prstDash val="solid"/>
          </a:ln>
        </p:spPr>
      </p:sp>
      <p:sp>
        <p:nvSpPr>
          <p:cNvPr id="144" name="Shape 142"/>
          <p:cNvSpPr/>
          <p:nvPr/>
        </p:nvSpPr>
        <p:spPr>
          <a:xfrm rot="2700000">
            <a:off x="1649578" y="4809744"/>
            <a:ext cx="77724" cy="77724"/>
          </a:xfrm>
          <a:prstGeom prst="rect">
            <a:avLst/>
          </a:prstGeom>
          <a:solidFill>
            <a:srgbClr val="D4951A">
              <a:alpha val="20000"/>
            </a:srgbClr>
          </a:solidFill>
          <a:ln w="12700">
            <a:solidFill>
              <a:srgbClr val="D4951A"/>
            </a:solidFill>
            <a:prstDash val="solid"/>
          </a:ln>
        </p:spPr>
      </p:sp>
      <p:sp>
        <p:nvSpPr>
          <p:cNvPr id="145" name="Shape 143"/>
          <p:cNvSpPr/>
          <p:nvPr/>
        </p:nvSpPr>
        <p:spPr>
          <a:xfrm rot="2700000">
            <a:off x="1766621" y="4809744"/>
            <a:ext cx="77724" cy="77724"/>
          </a:xfrm>
          <a:prstGeom prst="rect">
            <a:avLst/>
          </a:prstGeom>
          <a:solidFill>
            <a:srgbClr val="D4951A">
              <a:alpha val="20000"/>
            </a:srgbClr>
          </a:solidFill>
          <a:ln w="12700">
            <a:solidFill>
              <a:srgbClr val="D4951A"/>
            </a:solidFill>
            <a:prstDash val="solid"/>
          </a:ln>
        </p:spPr>
      </p:sp>
      <p:sp>
        <p:nvSpPr>
          <p:cNvPr id="146" name="Shape 144"/>
          <p:cNvSpPr/>
          <p:nvPr/>
        </p:nvSpPr>
        <p:spPr>
          <a:xfrm rot="2700000">
            <a:off x="1883664" y="4809744"/>
            <a:ext cx="77724" cy="77724"/>
          </a:xfrm>
          <a:prstGeom prst="rect">
            <a:avLst/>
          </a:prstGeom>
          <a:solidFill>
            <a:srgbClr val="D4951A">
              <a:alpha val="20000"/>
            </a:srgbClr>
          </a:solidFill>
          <a:ln w="12700">
            <a:solidFill>
              <a:srgbClr val="D4951A"/>
            </a:solidFill>
            <a:prstDash val="solid"/>
          </a:ln>
        </p:spPr>
      </p:sp>
      <p:sp>
        <p:nvSpPr>
          <p:cNvPr id="147" name="Shape 145"/>
          <p:cNvSpPr/>
          <p:nvPr/>
        </p:nvSpPr>
        <p:spPr>
          <a:xfrm rot="2700000">
            <a:off x="2000707" y="4809744"/>
            <a:ext cx="77724" cy="77724"/>
          </a:xfrm>
          <a:prstGeom prst="rect">
            <a:avLst/>
          </a:prstGeom>
          <a:solidFill>
            <a:srgbClr val="D4951A">
              <a:alpha val="20000"/>
            </a:srgbClr>
          </a:solidFill>
          <a:ln w="12700">
            <a:solidFill>
              <a:srgbClr val="D4951A"/>
            </a:solidFill>
            <a:prstDash val="solid"/>
          </a:ln>
        </p:spPr>
      </p:sp>
      <p:sp>
        <p:nvSpPr>
          <p:cNvPr id="148" name="Shape 146"/>
          <p:cNvSpPr/>
          <p:nvPr/>
        </p:nvSpPr>
        <p:spPr>
          <a:xfrm rot="2700000">
            <a:off x="2117750" y="4809744"/>
            <a:ext cx="77724" cy="77724"/>
          </a:xfrm>
          <a:prstGeom prst="rect">
            <a:avLst/>
          </a:prstGeom>
          <a:solidFill>
            <a:srgbClr val="D4951A">
              <a:alpha val="20000"/>
            </a:srgbClr>
          </a:solidFill>
          <a:ln w="12700">
            <a:solidFill>
              <a:srgbClr val="D4951A"/>
            </a:solidFill>
            <a:prstDash val="solid"/>
          </a:ln>
        </p:spPr>
      </p:sp>
      <p:sp>
        <p:nvSpPr>
          <p:cNvPr id="149" name="Shape 147"/>
          <p:cNvSpPr/>
          <p:nvPr/>
        </p:nvSpPr>
        <p:spPr>
          <a:xfrm rot="2700000">
            <a:off x="2234794" y="4809744"/>
            <a:ext cx="77724" cy="77724"/>
          </a:xfrm>
          <a:prstGeom prst="rect">
            <a:avLst/>
          </a:prstGeom>
          <a:solidFill>
            <a:srgbClr val="D4951A">
              <a:alpha val="20000"/>
            </a:srgbClr>
          </a:solidFill>
          <a:ln w="12700">
            <a:solidFill>
              <a:srgbClr val="D4951A"/>
            </a:solidFill>
            <a:prstDash val="solid"/>
          </a:ln>
        </p:spPr>
      </p:sp>
      <p:sp>
        <p:nvSpPr>
          <p:cNvPr id="150" name="Shape 148"/>
          <p:cNvSpPr/>
          <p:nvPr/>
        </p:nvSpPr>
        <p:spPr>
          <a:xfrm rot="2700000">
            <a:off x="2351837" y="4809744"/>
            <a:ext cx="77724" cy="77724"/>
          </a:xfrm>
          <a:prstGeom prst="rect">
            <a:avLst/>
          </a:prstGeom>
          <a:solidFill>
            <a:srgbClr val="D4951A">
              <a:alpha val="20000"/>
            </a:srgbClr>
          </a:solidFill>
          <a:ln w="12700">
            <a:solidFill>
              <a:srgbClr val="D4951A"/>
            </a:solidFill>
            <a:prstDash val="solid"/>
          </a:ln>
        </p:spPr>
      </p:sp>
      <p:sp>
        <p:nvSpPr>
          <p:cNvPr id="151" name="Shape 149"/>
          <p:cNvSpPr/>
          <p:nvPr/>
        </p:nvSpPr>
        <p:spPr>
          <a:xfrm rot="2700000">
            <a:off x="2468880" y="4809744"/>
            <a:ext cx="77724" cy="77724"/>
          </a:xfrm>
          <a:prstGeom prst="rect">
            <a:avLst/>
          </a:prstGeom>
          <a:solidFill>
            <a:srgbClr val="D4951A">
              <a:alpha val="20000"/>
            </a:srgbClr>
          </a:solidFill>
          <a:ln w="12700">
            <a:solidFill>
              <a:srgbClr val="D4951A"/>
            </a:solidFill>
            <a:prstDash val="solid"/>
          </a:ln>
        </p:spPr>
      </p:sp>
      <p:sp>
        <p:nvSpPr>
          <p:cNvPr id="152" name="Shape 150"/>
          <p:cNvSpPr/>
          <p:nvPr/>
        </p:nvSpPr>
        <p:spPr>
          <a:xfrm rot="2700000">
            <a:off x="2585923" y="4809744"/>
            <a:ext cx="77724" cy="77724"/>
          </a:xfrm>
          <a:prstGeom prst="rect">
            <a:avLst/>
          </a:prstGeom>
          <a:solidFill>
            <a:srgbClr val="D4951A">
              <a:alpha val="20000"/>
            </a:srgbClr>
          </a:solidFill>
          <a:ln w="12700">
            <a:solidFill>
              <a:srgbClr val="D4951A"/>
            </a:solidFill>
            <a:prstDash val="solid"/>
          </a:ln>
        </p:spPr>
      </p:sp>
      <p:sp>
        <p:nvSpPr>
          <p:cNvPr id="153" name="Shape 151"/>
          <p:cNvSpPr/>
          <p:nvPr/>
        </p:nvSpPr>
        <p:spPr>
          <a:xfrm rot="2700000">
            <a:off x="2702966" y="4809744"/>
            <a:ext cx="77724" cy="77724"/>
          </a:xfrm>
          <a:prstGeom prst="rect">
            <a:avLst/>
          </a:prstGeom>
          <a:solidFill>
            <a:srgbClr val="D4951A">
              <a:alpha val="20000"/>
            </a:srgbClr>
          </a:solidFill>
          <a:ln w="12700">
            <a:solidFill>
              <a:srgbClr val="D4951A"/>
            </a:solidFill>
            <a:prstDash val="solid"/>
          </a:ln>
        </p:spPr>
      </p:sp>
      <p:sp>
        <p:nvSpPr>
          <p:cNvPr id="154" name="Shape 152"/>
          <p:cNvSpPr/>
          <p:nvPr/>
        </p:nvSpPr>
        <p:spPr>
          <a:xfrm rot="2700000">
            <a:off x="2820010" y="4809744"/>
            <a:ext cx="77724" cy="77724"/>
          </a:xfrm>
          <a:prstGeom prst="rect">
            <a:avLst/>
          </a:prstGeom>
          <a:solidFill>
            <a:srgbClr val="D4951A">
              <a:alpha val="20000"/>
            </a:srgbClr>
          </a:solidFill>
          <a:ln w="12700">
            <a:solidFill>
              <a:srgbClr val="D4951A"/>
            </a:solidFill>
            <a:prstDash val="solid"/>
          </a:ln>
        </p:spPr>
      </p:sp>
      <p:sp>
        <p:nvSpPr>
          <p:cNvPr id="155" name="Shape 153"/>
          <p:cNvSpPr/>
          <p:nvPr/>
        </p:nvSpPr>
        <p:spPr>
          <a:xfrm rot="2700000">
            <a:off x="2937053" y="4809744"/>
            <a:ext cx="77724" cy="77724"/>
          </a:xfrm>
          <a:prstGeom prst="rect">
            <a:avLst/>
          </a:prstGeom>
          <a:solidFill>
            <a:srgbClr val="D4951A">
              <a:alpha val="20000"/>
            </a:srgbClr>
          </a:solidFill>
          <a:ln w="12700">
            <a:solidFill>
              <a:srgbClr val="D4951A"/>
            </a:solidFill>
            <a:prstDash val="solid"/>
          </a:ln>
        </p:spPr>
      </p:sp>
      <p:sp>
        <p:nvSpPr>
          <p:cNvPr id="156" name="Shape 154"/>
          <p:cNvSpPr/>
          <p:nvPr/>
        </p:nvSpPr>
        <p:spPr>
          <a:xfrm rot="2700000">
            <a:off x="3054096" y="4809744"/>
            <a:ext cx="77724" cy="77724"/>
          </a:xfrm>
          <a:prstGeom prst="rect">
            <a:avLst/>
          </a:prstGeom>
          <a:solidFill>
            <a:srgbClr val="D4951A">
              <a:alpha val="20000"/>
            </a:srgbClr>
          </a:solidFill>
          <a:ln w="12700">
            <a:solidFill>
              <a:srgbClr val="D4951A"/>
            </a:solidFill>
            <a:prstDash val="solid"/>
          </a:ln>
        </p:spPr>
      </p:sp>
      <p:sp>
        <p:nvSpPr>
          <p:cNvPr id="157" name="Shape 155"/>
          <p:cNvSpPr/>
          <p:nvPr/>
        </p:nvSpPr>
        <p:spPr>
          <a:xfrm rot="2700000">
            <a:off x="3171139" y="4809744"/>
            <a:ext cx="77724" cy="77724"/>
          </a:xfrm>
          <a:prstGeom prst="rect">
            <a:avLst/>
          </a:prstGeom>
          <a:solidFill>
            <a:srgbClr val="D4951A">
              <a:alpha val="20000"/>
            </a:srgbClr>
          </a:solidFill>
          <a:ln w="12700">
            <a:solidFill>
              <a:srgbClr val="D4951A"/>
            </a:solidFill>
            <a:prstDash val="solid"/>
          </a:ln>
        </p:spPr>
      </p:sp>
      <p:sp>
        <p:nvSpPr>
          <p:cNvPr id="158" name="Shape 156"/>
          <p:cNvSpPr/>
          <p:nvPr/>
        </p:nvSpPr>
        <p:spPr>
          <a:xfrm rot="2700000">
            <a:off x="3288182" y="4809744"/>
            <a:ext cx="77724" cy="77724"/>
          </a:xfrm>
          <a:prstGeom prst="rect">
            <a:avLst/>
          </a:prstGeom>
          <a:solidFill>
            <a:srgbClr val="D4951A">
              <a:alpha val="20000"/>
            </a:srgbClr>
          </a:solidFill>
          <a:ln w="12700">
            <a:solidFill>
              <a:srgbClr val="D4951A"/>
            </a:solidFill>
            <a:prstDash val="solid"/>
          </a:ln>
        </p:spPr>
      </p:sp>
      <p:sp>
        <p:nvSpPr>
          <p:cNvPr id="159" name="Shape 157"/>
          <p:cNvSpPr/>
          <p:nvPr/>
        </p:nvSpPr>
        <p:spPr>
          <a:xfrm rot="2700000">
            <a:off x="3405226" y="4809744"/>
            <a:ext cx="77724" cy="77724"/>
          </a:xfrm>
          <a:prstGeom prst="rect">
            <a:avLst/>
          </a:prstGeom>
          <a:solidFill>
            <a:srgbClr val="D4951A">
              <a:alpha val="20000"/>
            </a:srgbClr>
          </a:solidFill>
          <a:ln w="12700">
            <a:solidFill>
              <a:srgbClr val="D4951A"/>
            </a:solidFill>
            <a:prstDash val="solid"/>
          </a:ln>
        </p:spPr>
      </p:sp>
      <p:sp>
        <p:nvSpPr>
          <p:cNvPr id="160" name="Shape 158"/>
          <p:cNvSpPr/>
          <p:nvPr/>
        </p:nvSpPr>
        <p:spPr>
          <a:xfrm rot="2700000">
            <a:off x="3522269" y="4809744"/>
            <a:ext cx="77724" cy="77724"/>
          </a:xfrm>
          <a:prstGeom prst="rect">
            <a:avLst/>
          </a:prstGeom>
          <a:solidFill>
            <a:srgbClr val="D4951A">
              <a:alpha val="20000"/>
            </a:srgbClr>
          </a:solidFill>
          <a:ln w="12700">
            <a:solidFill>
              <a:srgbClr val="D4951A"/>
            </a:solidFill>
            <a:prstDash val="solid"/>
          </a:ln>
        </p:spPr>
      </p:sp>
      <p:sp>
        <p:nvSpPr>
          <p:cNvPr id="161" name="Shape 159"/>
          <p:cNvSpPr/>
          <p:nvPr/>
        </p:nvSpPr>
        <p:spPr>
          <a:xfrm rot="2700000">
            <a:off x="3639312" y="4809744"/>
            <a:ext cx="77724" cy="77724"/>
          </a:xfrm>
          <a:prstGeom prst="rect">
            <a:avLst/>
          </a:prstGeom>
          <a:solidFill>
            <a:srgbClr val="D4951A">
              <a:alpha val="20000"/>
            </a:srgbClr>
          </a:solidFill>
          <a:ln w="12700">
            <a:solidFill>
              <a:srgbClr val="D4951A"/>
            </a:solidFill>
            <a:prstDash val="solid"/>
          </a:ln>
        </p:spPr>
      </p:sp>
      <p:sp>
        <p:nvSpPr>
          <p:cNvPr id="162" name="Shape 160"/>
          <p:cNvSpPr/>
          <p:nvPr/>
        </p:nvSpPr>
        <p:spPr>
          <a:xfrm rot="2700000">
            <a:off x="3756355" y="4809744"/>
            <a:ext cx="77724" cy="77724"/>
          </a:xfrm>
          <a:prstGeom prst="rect">
            <a:avLst/>
          </a:prstGeom>
          <a:solidFill>
            <a:srgbClr val="D4951A">
              <a:alpha val="20000"/>
            </a:srgbClr>
          </a:solidFill>
          <a:ln w="12700">
            <a:solidFill>
              <a:srgbClr val="D4951A"/>
            </a:solidFill>
            <a:prstDash val="solid"/>
          </a:ln>
        </p:spPr>
      </p:sp>
      <p:sp>
        <p:nvSpPr>
          <p:cNvPr id="163" name="Shape 161"/>
          <p:cNvSpPr/>
          <p:nvPr/>
        </p:nvSpPr>
        <p:spPr>
          <a:xfrm rot="2700000">
            <a:off x="3873398" y="4809744"/>
            <a:ext cx="77724" cy="77724"/>
          </a:xfrm>
          <a:prstGeom prst="rect">
            <a:avLst/>
          </a:prstGeom>
          <a:solidFill>
            <a:srgbClr val="D4951A">
              <a:alpha val="20000"/>
            </a:srgbClr>
          </a:solidFill>
          <a:ln w="12700">
            <a:solidFill>
              <a:srgbClr val="D4951A"/>
            </a:solidFill>
            <a:prstDash val="solid"/>
          </a:ln>
        </p:spPr>
      </p:sp>
      <p:sp>
        <p:nvSpPr>
          <p:cNvPr id="164" name="Shape 162"/>
          <p:cNvSpPr/>
          <p:nvPr/>
        </p:nvSpPr>
        <p:spPr>
          <a:xfrm rot="2700000">
            <a:off x="3990442" y="4809744"/>
            <a:ext cx="77724" cy="77724"/>
          </a:xfrm>
          <a:prstGeom prst="rect">
            <a:avLst/>
          </a:prstGeom>
          <a:solidFill>
            <a:srgbClr val="D4951A">
              <a:alpha val="20000"/>
            </a:srgbClr>
          </a:solidFill>
          <a:ln w="12700">
            <a:solidFill>
              <a:srgbClr val="D4951A"/>
            </a:solidFill>
            <a:prstDash val="solid"/>
          </a:ln>
        </p:spPr>
      </p:sp>
      <p:sp>
        <p:nvSpPr>
          <p:cNvPr id="165" name="Shape 163"/>
          <p:cNvSpPr/>
          <p:nvPr/>
        </p:nvSpPr>
        <p:spPr>
          <a:xfrm rot="2700000">
            <a:off x="4107485" y="4809744"/>
            <a:ext cx="77724" cy="77724"/>
          </a:xfrm>
          <a:prstGeom prst="rect">
            <a:avLst/>
          </a:prstGeom>
          <a:solidFill>
            <a:srgbClr val="D4951A">
              <a:alpha val="20000"/>
            </a:srgbClr>
          </a:solidFill>
          <a:ln w="12700">
            <a:solidFill>
              <a:srgbClr val="D4951A"/>
            </a:solidFill>
            <a:prstDash val="solid"/>
          </a:ln>
        </p:spPr>
      </p:sp>
      <p:sp>
        <p:nvSpPr>
          <p:cNvPr id="166" name="Shape 164"/>
          <p:cNvSpPr/>
          <p:nvPr/>
        </p:nvSpPr>
        <p:spPr>
          <a:xfrm rot="2700000">
            <a:off x="4224528" y="4809744"/>
            <a:ext cx="77724" cy="77724"/>
          </a:xfrm>
          <a:prstGeom prst="rect">
            <a:avLst/>
          </a:prstGeom>
          <a:solidFill>
            <a:srgbClr val="D4951A">
              <a:alpha val="20000"/>
            </a:srgbClr>
          </a:solidFill>
          <a:ln w="12700">
            <a:solidFill>
              <a:srgbClr val="D4951A"/>
            </a:solidFill>
            <a:prstDash val="solid"/>
          </a:ln>
        </p:spPr>
      </p:sp>
      <p:sp>
        <p:nvSpPr>
          <p:cNvPr id="167" name="Shape 165"/>
          <p:cNvSpPr/>
          <p:nvPr/>
        </p:nvSpPr>
        <p:spPr>
          <a:xfrm rot="2700000">
            <a:off x="4341571" y="4809744"/>
            <a:ext cx="77724" cy="77724"/>
          </a:xfrm>
          <a:prstGeom prst="rect">
            <a:avLst/>
          </a:prstGeom>
          <a:solidFill>
            <a:srgbClr val="D4951A">
              <a:alpha val="20000"/>
            </a:srgbClr>
          </a:solidFill>
          <a:ln w="12700">
            <a:solidFill>
              <a:srgbClr val="D4951A"/>
            </a:solidFill>
            <a:prstDash val="solid"/>
          </a:ln>
        </p:spPr>
      </p:sp>
      <p:sp>
        <p:nvSpPr>
          <p:cNvPr id="168" name="Shape 166"/>
          <p:cNvSpPr/>
          <p:nvPr/>
        </p:nvSpPr>
        <p:spPr>
          <a:xfrm rot="2700000">
            <a:off x="4458614" y="4809744"/>
            <a:ext cx="77724" cy="77724"/>
          </a:xfrm>
          <a:prstGeom prst="rect">
            <a:avLst/>
          </a:prstGeom>
          <a:solidFill>
            <a:srgbClr val="D4951A">
              <a:alpha val="20000"/>
            </a:srgbClr>
          </a:solidFill>
          <a:ln w="12700">
            <a:solidFill>
              <a:srgbClr val="D4951A"/>
            </a:solidFill>
            <a:prstDash val="solid"/>
          </a:ln>
        </p:spPr>
      </p:sp>
      <p:sp>
        <p:nvSpPr>
          <p:cNvPr id="169" name="Shape 167"/>
          <p:cNvSpPr/>
          <p:nvPr/>
        </p:nvSpPr>
        <p:spPr>
          <a:xfrm rot="2700000">
            <a:off x="4575658" y="4809744"/>
            <a:ext cx="77724" cy="77724"/>
          </a:xfrm>
          <a:prstGeom prst="rect">
            <a:avLst/>
          </a:prstGeom>
          <a:solidFill>
            <a:srgbClr val="D4951A">
              <a:alpha val="20000"/>
            </a:srgbClr>
          </a:solidFill>
          <a:ln w="12700">
            <a:solidFill>
              <a:srgbClr val="D4951A"/>
            </a:solidFill>
            <a:prstDash val="solid"/>
          </a:ln>
        </p:spPr>
      </p:sp>
      <p:sp>
        <p:nvSpPr>
          <p:cNvPr id="170" name="Shape 168"/>
          <p:cNvSpPr/>
          <p:nvPr/>
        </p:nvSpPr>
        <p:spPr>
          <a:xfrm rot="2700000">
            <a:off x="4692701" y="4809744"/>
            <a:ext cx="77724" cy="77724"/>
          </a:xfrm>
          <a:prstGeom prst="rect">
            <a:avLst/>
          </a:prstGeom>
          <a:solidFill>
            <a:srgbClr val="D4951A">
              <a:alpha val="20000"/>
            </a:srgbClr>
          </a:solidFill>
          <a:ln w="12700">
            <a:solidFill>
              <a:srgbClr val="D4951A"/>
            </a:solidFill>
            <a:prstDash val="solid"/>
          </a:ln>
        </p:spPr>
      </p:sp>
      <p:sp>
        <p:nvSpPr>
          <p:cNvPr id="171" name="Shape 169"/>
          <p:cNvSpPr/>
          <p:nvPr/>
        </p:nvSpPr>
        <p:spPr>
          <a:xfrm rot="2700000">
            <a:off x="4809744" y="4809744"/>
            <a:ext cx="77724" cy="77724"/>
          </a:xfrm>
          <a:prstGeom prst="rect">
            <a:avLst/>
          </a:prstGeom>
          <a:solidFill>
            <a:srgbClr val="D4951A">
              <a:alpha val="20000"/>
            </a:srgbClr>
          </a:solidFill>
          <a:ln w="12700">
            <a:solidFill>
              <a:srgbClr val="D4951A"/>
            </a:solidFill>
            <a:prstDash val="solid"/>
          </a:ln>
        </p:spPr>
      </p:sp>
      <p:sp>
        <p:nvSpPr>
          <p:cNvPr id="172" name="Shape 170"/>
          <p:cNvSpPr/>
          <p:nvPr/>
        </p:nvSpPr>
        <p:spPr>
          <a:xfrm rot="2700000">
            <a:off x="4926787" y="4809744"/>
            <a:ext cx="77724" cy="77724"/>
          </a:xfrm>
          <a:prstGeom prst="rect">
            <a:avLst/>
          </a:prstGeom>
          <a:solidFill>
            <a:srgbClr val="D4951A">
              <a:alpha val="20000"/>
            </a:srgbClr>
          </a:solidFill>
          <a:ln w="12700">
            <a:solidFill>
              <a:srgbClr val="D4951A"/>
            </a:solidFill>
            <a:prstDash val="solid"/>
          </a:ln>
        </p:spPr>
      </p:sp>
      <p:sp>
        <p:nvSpPr>
          <p:cNvPr id="173" name="Shape 171"/>
          <p:cNvSpPr/>
          <p:nvPr/>
        </p:nvSpPr>
        <p:spPr>
          <a:xfrm rot="2700000">
            <a:off x="5043830" y="4809744"/>
            <a:ext cx="77724" cy="77724"/>
          </a:xfrm>
          <a:prstGeom prst="rect">
            <a:avLst/>
          </a:prstGeom>
          <a:solidFill>
            <a:srgbClr val="D4951A">
              <a:alpha val="20000"/>
            </a:srgbClr>
          </a:solidFill>
          <a:ln w="12700">
            <a:solidFill>
              <a:srgbClr val="D4951A"/>
            </a:solidFill>
            <a:prstDash val="solid"/>
          </a:ln>
        </p:spPr>
      </p:sp>
      <p:sp>
        <p:nvSpPr>
          <p:cNvPr id="174" name="Shape 172"/>
          <p:cNvSpPr/>
          <p:nvPr/>
        </p:nvSpPr>
        <p:spPr>
          <a:xfrm rot="2700000">
            <a:off x="5160874" y="4809744"/>
            <a:ext cx="77724" cy="77724"/>
          </a:xfrm>
          <a:prstGeom prst="rect">
            <a:avLst/>
          </a:prstGeom>
          <a:solidFill>
            <a:srgbClr val="D4951A">
              <a:alpha val="20000"/>
            </a:srgbClr>
          </a:solidFill>
          <a:ln w="12700">
            <a:solidFill>
              <a:srgbClr val="D4951A"/>
            </a:solidFill>
            <a:prstDash val="solid"/>
          </a:ln>
        </p:spPr>
      </p:sp>
      <p:sp>
        <p:nvSpPr>
          <p:cNvPr id="175" name="Shape 173"/>
          <p:cNvSpPr/>
          <p:nvPr/>
        </p:nvSpPr>
        <p:spPr>
          <a:xfrm rot="2700000">
            <a:off x="5277917" y="4809744"/>
            <a:ext cx="77724" cy="77724"/>
          </a:xfrm>
          <a:prstGeom prst="rect">
            <a:avLst/>
          </a:prstGeom>
          <a:solidFill>
            <a:srgbClr val="D4951A">
              <a:alpha val="20000"/>
            </a:srgbClr>
          </a:solidFill>
          <a:ln w="12700">
            <a:solidFill>
              <a:srgbClr val="D4951A"/>
            </a:solidFill>
            <a:prstDash val="solid"/>
          </a:ln>
        </p:spPr>
      </p:sp>
      <p:sp>
        <p:nvSpPr>
          <p:cNvPr id="176" name="Shape 174"/>
          <p:cNvSpPr/>
          <p:nvPr/>
        </p:nvSpPr>
        <p:spPr>
          <a:xfrm rot="2700000">
            <a:off x="5394960" y="4809744"/>
            <a:ext cx="77724" cy="77724"/>
          </a:xfrm>
          <a:prstGeom prst="rect">
            <a:avLst/>
          </a:prstGeom>
          <a:solidFill>
            <a:srgbClr val="D4951A">
              <a:alpha val="20000"/>
            </a:srgbClr>
          </a:solidFill>
          <a:ln w="12700">
            <a:solidFill>
              <a:srgbClr val="D4951A"/>
            </a:solidFill>
            <a:prstDash val="solid"/>
          </a:ln>
        </p:spPr>
      </p:sp>
      <p:sp>
        <p:nvSpPr>
          <p:cNvPr id="177" name="Shape 175"/>
          <p:cNvSpPr/>
          <p:nvPr/>
        </p:nvSpPr>
        <p:spPr>
          <a:xfrm rot="2700000">
            <a:off x="5512003" y="4809744"/>
            <a:ext cx="77724" cy="77724"/>
          </a:xfrm>
          <a:prstGeom prst="rect">
            <a:avLst/>
          </a:prstGeom>
          <a:solidFill>
            <a:srgbClr val="D4951A">
              <a:alpha val="20000"/>
            </a:srgbClr>
          </a:solidFill>
          <a:ln w="12700">
            <a:solidFill>
              <a:srgbClr val="D4951A"/>
            </a:solidFill>
            <a:prstDash val="solid"/>
          </a:ln>
        </p:spPr>
      </p:sp>
      <p:sp>
        <p:nvSpPr>
          <p:cNvPr id="178" name="Shape 176"/>
          <p:cNvSpPr/>
          <p:nvPr/>
        </p:nvSpPr>
        <p:spPr>
          <a:xfrm rot="2700000">
            <a:off x="5629046" y="4809744"/>
            <a:ext cx="77724" cy="77724"/>
          </a:xfrm>
          <a:prstGeom prst="rect">
            <a:avLst/>
          </a:prstGeom>
          <a:solidFill>
            <a:srgbClr val="D4951A">
              <a:alpha val="20000"/>
            </a:srgbClr>
          </a:solidFill>
          <a:ln w="12700">
            <a:solidFill>
              <a:srgbClr val="D4951A"/>
            </a:solidFill>
            <a:prstDash val="solid"/>
          </a:ln>
        </p:spPr>
      </p:sp>
      <p:sp>
        <p:nvSpPr>
          <p:cNvPr id="179" name="Shape 177"/>
          <p:cNvSpPr/>
          <p:nvPr/>
        </p:nvSpPr>
        <p:spPr>
          <a:xfrm rot="2700000">
            <a:off x="5746090" y="4809744"/>
            <a:ext cx="77724" cy="77724"/>
          </a:xfrm>
          <a:prstGeom prst="rect">
            <a:avLst/>
          </a:prstGeom>
          <a:solidFill>
            <a:srgbClr val="D4951A">
              <a:alpha val="20000"/>
            </a:srgbClr>
          </a:solidFill>
          <a:ln w="12700">
            <a:solidFill>
              <a:srgbClr val="D4951A"/>
            </a:solidFill>
            <a:prstDash val="solid"/>
          </a:ln>
        </p:spPr>
      </p:sp>
      <p:sp>
        <p:nvSpPr>
          <p:cNvPr id="180" name="Shape 178"/>
          <p:cNvSpPr/>
          <p:nvPr/>
        </p:nvSpPr>
        <p:spPr>
          <a:xfrm rot="2700000">
            <a:off x="5863133" y="4809744"/>
            <a:ext cx="77724" cy="77724"/>
          </a:xfrm>
          <a:prstGeom prst="rect">
            <a:avLst/>
          </a:prstGeom>
          <a:solidFill>
            <a:srgbClr val="D4951A">
              <a:alpha val="20000"/>
            </a:srgbClr>
          </a:solidFill>
          <a:ln w="12700">
            <a:solidFill>
              <a:srgbClr val="D4951A"/>
            </a:solidFill>
            <a:prstDash val="solid"/>
          </a:ln>
        </p:spPr>
      </p:sp>
      <p:sp>
        <p:nvSpPr>
          <p:cNvPr id="181" name="Shape 179"/>
          <p:cNvSpPr/>
          <p:nvPr/>
        </p:nvSpPr>
        <p:spPr>
          <a:xfrm rot="2700000">
            <a:off x="5980176" y="4809744"/>
            <a:ext cx="77724" cy="77724"/>
          </a:xfrm>
          <a:prstGeom prst="rect">
            <a:avLst/>
          </a:prstGeom>
          <a:solidFill>
            <a:srgbClr val="D4951A">
              <a:alpha val="20000"/>
            </a:srgbClr>
          </a:solidFill>
          <a:ln w="12700">
            <a:solidFill>
              <a:srgbClr val="D4951A"/>
            </a:solidFill>
            <a:prstDash val="solid"/>
          </a:ln>
        </p:spPr>
      </p:sp>
      <p:sp>
        <p:nvSpPr>
          <p:cNvPr id="182" name="Shape 180"/>
          <p:cNvSpPr/>
          <p:nvPr/>
        </p:nvSpPr>
        <p:spPr>
          <a:xfrm rot="2700000">
            <a:off x="6097219" y="4809744"/>
            <a:ext cx="77724" cy="77724"/>
          </a:xfrm>
          <a:prstGeom prst="rect">
            <a:avLst/>
          </a:prstGeom>
          <a:solidFill>
            <a:srgbClr val="D4951A">
              <a:alpha val="20000"/>
            </a:srgbClr>
          </a:solidFill>
          <a:ln w="12700">
            <a:solidFill>
              <a:srgbClr val="D4951A"/>
            </a:solidFill>
            <a:prstDash val="solid"/>
          </a:ln>
        </p:spPr>
      </p:sp>
      <p:sp>
        <p:nvSpPr>
          <p:cNvPr id="183" name="Shape 181"/>
          <p:cNvSpPr/>
          <p:nvPr/>
        </p:nvSpPr>
        <p:spPr>
          <a:xfrm rot="2700000">
            <a:off x="6214262" y="4809744"/>
            <a:ext cx="77724" cy="77724"/>
          </a:xfrm>
          <a:prstGeom prst="rect">
            <a:avLst/>
          </a:prstGeom>
          <a:solidFill>
            <a:srgbClr val="D4951A">
              <a:alpha val="20000"/>
            </a:srgbClr>
          </a:solidFill>
          <a:ln w="12700">
            <a:solidFill>
              <a:srgbClr val="D4951A"/>
            </a:solidFill>
            <a:prstDash val="solid"/>
          </a:ln>
        </p:spPr>
      </p:sp>
      <p:sp>
        <p:nvSpPr>
          <p:cNvPr id="184" name="Shape 182"/>
          <p:cNvSpPr/>
          <p:nvPr/>
        </p:nvSpPr>
        <p:spPr>
          <a:xfrm rot="2700000">
            <a:off x="6331306" y="4809744"/>
            <a:ext cx="77724" cy="77724"/>
          </a:xfrm>
          <a:prstGeom prst="rect">
            <a:avLst/>
          </a:prstGeom>
          <a:solidFill>
            <a:srgbClr val="D4951A">
              <a:alpha val="20000"/>
            </a:srgbClr>
          </a:solidFill>
          <a:ln w="12700">
            <a:solidFill>
              <a:srgbClr val="D4951A"/>
            </a:solidFill>
            <a:prstDash val="solid"/>
          </a:ln>
        </p:spPr>
      </p:sp>
      <p:sp>
        <p:nvSpPr>
          <p:cNvPr id="185" name="Shape 183"/>
          <p:cNvSpPr/>
          <p:nvPr/>
        </p:nvSpPr>
        <p:spPr>
          <a:xfrm rot="2700000">
            <a:off x="6448349" y="4809744"/>
            <a:ext cx="77724" cy="77724"/>
          </a:xfrm>
          <a:prstGeom prst="rect">
            <a:avLst/>
          </a:prstGeom>
          <a:solidFill>
            <a:srgbClr val="D4951A">
              <a:alpha val="20000"/>
            </a:srgbClr>
          </a:solidFill>
          <a:ln w="12700">
            <a:solidFill>
              <a:srgbClr val="D4951A"/>
            </a:solidFill>
            <a:prstDash val="solid"/>
          </a:ln>
        </p:spPr>
      </p:sp>
      <p:sp>
        <p:nvSpPr>
          <p:cNvPr id="186" name="Shape 184"/>
          <p:cNvSpPr/>
          <p:nvPr/>
        </p:nvSpPr>
        <p:spPr>
          <a:xfrm rot="2700000">
            <a:off x="6565392" y="4809744"/>
            <a:ext cx="77724" cy="77724"/>
          </a:xfrm>
          <a:prstGeom prst="rect">
            <a:avLst/>
          </a:prstGeom>
          <a:solidFill>
            <a:srgbClr val="D4951A">
              <a:alpha val="20000"/>
            </a:srgbClr>
          </a:solidFill>
          <a:ln w="12700">
            <a:solidFill>
              <a:srgbClr val="D4951A"/>
            </a:solidFill>
            <a:prstDash val="solid"/>
          </a:ln>
        </p:spPr>
      </p:sp>
      <p:sp>
        <p:nvSpPr>
          <p:cNvPr id="187" name="Shape 185"/>
          <p:cNvSpPr/>
          <p:nvPr/>
        </p:nvSpPr>
        <p:spPr>
          <a:xfrm rot="2700000">
            <a:off x="6682435" y="4809744"/>
            <a:ext cx="77724" cy="77724"/>
          </a:xfrm>
          <a:prstGeom prst="rect">
            <a:avLst/>
          </a:prstGeom>
          <a:solidFill>
            <a:srgbClr val="D4951A">
              <a:alpha val="20000"/>
            </a:srgbClr>
          </a:solidFill>
          <a:ln w="12700">
            <a:solidFill>
              <a:srgbClr val="D4951A"/>
            </a:solidFill>
            <a:prstDash val="solid"/>
          </a:ln>
        </p:spPr>
      </p:sp>
      <p:sp>
        <p:nvSpPr>
          <p:cNvPr id="188" name="Shape 186"/>
          <p:cNvSpPr/>
          <p:nvPr/>
        </p:nvSpPr>
        <p:spPr>
          <a:xfrm rot="2700000">
            <a:off x="6799478" y="4809744"/>
            <a:ext cx="77724" cy="77724"/>
          </a:xfrm>
          <a:prstGeom prst="rect">
            <a:avLst/>
          </a:prstGeom>
          <a:solidFill>
            <a:srgbClr val="D4951A">
              <a:alpha val="20000"/>
            </a:srgbClr>
          </a:solidFill>
          <a:ln w="12700">
            <a:solidFill>
              <a:srgbClr val="D4951A"/>
            </a:solidFill>
            <a:prstDash val="solid"/>
          </a:ln>
        </p:spPr>
      </p:sp>
      <p:sp>
        <p:nvSpPr>
          <p:cNvPr id="189" name="Shape 187"/>
          <p:cNvSpPr/>
          <p:nvPr/>
        </p:nvSpPr>
        <p:spPr>
          <a:xfrm rot="2700000">
            <a:off x="6916522" y="4809744"/>
            <a:ext cx="77724" cy="77724"/>
          </a:xfrm>
          <a:prstGeom prst="rect">
            <a:avLst/>
          </a:prstGeom>
          <a:solidFill>
            <a:srgbClr val="D4951A">
              <a:alpha val="20000"/>
            </a:srgbClr>
          </a:solidFill>
          <a:ln w="12700">
            <a:solidFill>
              <a:srgbClr val="D4951A"/>
            </a:solidFill>
            <a:prstDash val="solid"/>
          </a:ln>
        </p:spPr>
      </p:sp>
      <p:sp>
        <p:nvSpPr>
          <p:cNvPr id="190" name="Shape 188"/>
          <p:cNvSpPr/>
          <p:nvPr/>
        </p:nvSpPr>
        <p:spPr>
          <a:xfrm rot="2700000">
            <a:off x="7033565" y="4809744"/>
            <a:ext cx="77724" cy="77724"/>
          </a:xfrm>
          <a:prstGeom prst="rect">
            <a:avLst/>
          </a:prstGeom>
          <a:solidFill>
            <a:srgbClr val="D4951A">
              <a:alpha val="20000"/>
            </a:srgbClr>
          </a:solidFill>
          <a:ln w="12700">
            <a:solidFill>
              <a:srgbClr val="D4951A"/>
            </a:solidFill>
            <a:prstDash val="solid"/>
          </a:ln>
        </p:spPr>
      </p:sp>
      <p:sp>
        <p:nvSpPr>
          <p:cNvPr id="191" name="Shape 189"/>
          <p:cNvSpPr/>
          <p:nvPr/>
        </p:nvSpPr>
        <p:spPr>
          <a:xfrm rot="2700000">
            <a:off x="7150608" y="4809744"/>
            <a:ext cx="77724" cy="77724"/>
          </a:xfrm>
          <a:prstGeom prst="rect">
            <a:avLst/>
          </a:prstGeom>
          <a:solidFill>
            <a:srgbClr val="D4951A">
              <a:alpha val="20000"/>
            </a:srgbClr>
          </a:solidFill>
          <a:ln w="12700">
            <a:solidFill>
              <a:srgbClr val="D4951A"/>
            </a:solidFill>
            <a:prstDash val="solid"/>
          </a:ln>
        </p:spPr>
      </p:sp>
      <p:sp>
        <p:nvSpPr>
          <p:cNvPr id="192" name="Shape 190"/>
          <p:cNvSpPr/>
          <p:nvPr/>
        </p:nvSpPr>
        <p:spPr>
          <a:xfrm rot="2700000">
            <a:off x="7267651" y="4809744"/>
            <a:ext cx="77724" cy="77724"/>
          </a:xfrm>
          <a:prstGeom prst="rect">
            <a:avLst/>
          </a:prstGeom>
          <a:solidFill>
            <a:srgbClr val="D4951A">
              <a:alpha val="20000"/>
            </a:srgbClr>
          </a:solidFill>
          <a:ln w="12700">
            <a:solidFill>
              <a:srgbClr val="D4951A"/>
            </a:solidFill>
            <a:prstDash val="solid"/>
          </a:ln>
        </p:spPr>
      </p:sp>
      <p:sp>
        <p:nvSpPr>
          <p:cNvPr id="193" name="Shape 191"/>
          <p:cNvSpPr/>
          <p:nvPr/>
        </p:nvSpPr>
        <p:spPr>
          <a:xfrm rot="2700000">
            <a:off x="7384694" y="4809744"/>
            <a:ext cx="77724" cy="77724"/>
          </a:xfrm>
          <a:prstGeom prst="rect">
            <a:avLst/>
          </a:prstGeom>
          <a:solidFill>
            <a:srgbClr val="D4951A">
              <a:alpha val="20000"/>
            </a:srgbClr>
          </a:solidFill>
          <a:ln w="12700">
            <a:solidFill>
              <a:srgbClr val="D4951A"/>
            </a:solidFill>
            <a:prstDash val="solid"/>
          </a:ln>
        </p:spPr>
      </p:sp>
      <p:sp>
        <p:nvSpPr>
          <p:cNvPr id="194" name="Shape 192"/>
          <p:cNvSpPr/>
          <p:nvPr/>
        </p:nvSpPr>
        <p:spPr>
          <a:xfrm rot="2700000">
            <a:off x="7501738" y="4809744"/>
            <a:ext cx="77724" cy="77724"/>
          </a:xfrm>
          <a:prstGeom prst="rect">
            <a:avLst/>
          </a:prstGeom>
          <a:solidFill>
            <a:srgbClr val="D4951A">
              <a:alpha val="20000"/>
            </a:srgbClr>
          </a:solidFill>
          <a:ln w="12700">
            <a:solidFill>
              <a:srgbClr val="D4951A"/>
            </a:solidFill>
            <a:prstDash val="solid"/>
          </a:ln>
        </p:spPr>
      </p:sp>
      <p:sp>
        <p:nvSpPr>
          <p:cNvPr id="195" name="Shape 193"/>
          <p:cNvSpPr/>
          <p:nvPr/>
        </p:nvSpPr>
        <p:spPr>
          <a:xfrm rot="2700000">
            <a:off x="7618781" y="4809744"/>
            <a:ext cx="77724" cy="77724"/>
          </a:xfrm>
          <a:prstGeom prst="rect">
            <a:avLst/>
          </a:prstGeom>
          <a:solidFill>
            <a:srgbClr val="D4951A">
              <a:alpha val="20000"/>
            </a:srgbClr>
          </a:solidFill>
          <a:ln w="12700">
            <a:solidFill>
              <a:srgbClr val="D4951A"/>
            </a:solidFill>
            <a:prstDash val="solid"/>
          </a:ln>
        </p:spPr>
      </p:sp>
      <p:sp>
        <p:nvSpPr>
          <p:cNvPr id="196" name="Shape 194"/>
          <p:cNvSpPr/>
          <p:nvPr/>
        </p:nvSpPr>
        <p:spPr>
          <a:xfrm rot="2700000">
            <a:off x="7735824" y="4809744"/>
            <a:ext cx="77724" cy="77724"/>
          </a:xfrm>
          <a:prstGeom prst="rect">
            <a:avLst/>
          </a:prstGeom>
          <a:solidFill>
            <a:srgbClr val="D4951A">
              <a:alpha val="20000"/>
            </a:srgbClr>
          </a:solidFill>
          <a:ln w="12700">
            <a:solidFill>
              <a:srgbClr val="D4951A"/>
            </a:solidFill>
            <a:prstDash val="solid"/>
          </a:ln>
        </p:spPr>
      </p:sp>
      <p:sp>
        <p:nvSpPr>
          <p:cNvPr id="197" name="Shape 195"/>
          <p:cNvSpPr/>
          <p:nvPr/>
        </p:nvSpPr>
        <p:spPr>
          <a:xfrm rot="2700000">
            <a:off x="7852867" y="4809744"/>
            <a:ext cx="77724" cy="77724"/>
          </a:xfrm>
          <a:prstGeom prst="rect">
            <a:avLst/>
          </a:prstGeom>
          <a:solidFill>
            <a:srgbClr val="D4951A">
              <a:alpha val="20000"/>
            </a:srgbClr>
          </a:solidFill>
          <a:ln w="12700">
            <a:solidFill>
              <a:srgbClr val="D4951A"/>
            </a:solidFill>
            <a:prstDash val="solid"/>
          </a:ln>
        </p:spPr>
      </p:sp>
      <p:sp>
        <p:nvSpPr>
          <p:cNvPr id="198" name="Shape 196"/>
          <p:cNvSpPr/>
          <p:nvPr/>
        </p:nvSpPr>
        <p:spPr>
          <a:xfrm rot="2700000">
            <a:off x="7969910" y="4809744"/>
            <a:ext cx="77724" cy="77724"/>
          </a:xfrm>
          <a:prstGeom prst="rect">
            <a:avLst/>
          </a:prstGeom>
          <a:solidFill>
            <a:srgbClr val="D4951A">
              <a:alpha val="20000"/>
            </a:srgbClr>
          </a:solidFill>
          <a:ln w="12700">
            <a:solidFill>
              <a:srgbClr val="D4951A"/>
            </a:solidFill>
            <a:prstDash val="solid"/>
          </a:ln>
        </p:spPr>
      </p:sp>
      <p:sp>
        <p:nvSpPr>
          <p:cNvPr id="199" name="Shape 197"/>
          <p:cNvSpPr/>
          <p:nvPr/>
        </p:nvSpPr>
        <p:spPr>
          <a:xfrm rot="2700000">
            <a:off x="8086954" y="4809744"/>
            <a:ext cx="77724" cy="77724"/>
          </a:xfrm>
          <a:prstGeom prst="rect">
            <a:avLst/>
          </a:prstGeom>
          <a:solidFill>
            <a:srgbClr val="D4951A">
              <a:alpha val="20000"/>
            </a:srgbClr>
          </a:solidFill>
          <a:ln w="12700">
            <a:solidFill>
              <a:srgbClr val="D4951A"/>
            </a:solidFill>
            <a:prstDash val="solid"/>
          </a:ln>
        </p:spPr>
      </p:sp>
      <p:sp>
        <p:nvSpPr>
          <p:cNvPr id="200" name="Shape 198"/>
          <p:cNvSpPr/>
          <p:nvPr/>
        </p:nvSpPr>
        <p:spPr>
          <a:xfrm rot="2700000">
            <a:off x="8203997" y="4809744"/>
            <a:ext cx="77724" cy="77724"/>
          </a:xfrm>
          <a:prstGeom prst="rect">
            <a:avLst/>
          </a:prstGeom>
          <a:solidFill>
            <a:srgbClr val="D4951A">
              <a:alpha val="20000"/>
            </a:srgbClr>
          </a:solidFill>
          <a:ln w="12700">
            <a:solidFill>
              <a:srgbClr val="D4951A"/>
            </a:solidFill>
            <a:prstDash val="solid"/>
          </a:ln>
        </p:spPr>
      </p:sp>
      <p:sp>
        <p:nvSpPr>
          <p:cNvPr id="201" name="Shape 199"/>
          <p:cNvSpPr/>
          <p:nvPr/>
        </p:nvSpPr>
        <p:spPr>
          <a:xfrm rot="2700000">
            <a:off x="8321040" y="4809744"/>
            <a:ext cx="77724" cy="77724"/>
          </a:xfrm>
          <a:prstGeom prst="rect">
            <a:avLst/>
          </a:prstGeom>
          <a:solidFill>
            <a:srgbClr val="D4951A">
              <a:alpha val="20000"/>
            </a:srgbClr>
          </a:solidFill>
          <a:ln w="12700">
            <a:solidFill>
              <a:srgbClr val="D4951A"/>
            </a:solidFill>
            <a:prstDash val="solid"/>
          </a:ln>
        </p:spPr>
      </p:sp>
      <p:sp>
        <p:nvSpPr>
          <p:cNvPr id="202" name="Shape 200"/>
          <p:cNvSpPr/>
          <p:nvPr/>
        </p:nvSpPr>
        <p:spPr>
          <a:xfrm rot="2700000">
            <a:off x="8438083" y="4809744"/>
            <a:ext cx="77724" cy="77724"/>
          </a:xfrm>
          <a:prstGeom prst="rect">
            <a:avLst/>
          </a:prstGeom>
          <a:solidFill>
            <a:srgbClr val="D4951A">
              <a:alpha val="20000"/>
            </a:srgbClr>
          </a:solidFill>
          <a:ln w="12700">
            <a:solidFill>
              <a:srgbClr val="D4951A"/>
            </a:solidFill>
            <a:prstDash val="solid"/>
          </a:ln>
        </p:spPr>
      </p:sp>
      <p:sp>
        <p:nvSpPr>
          <p:cNvPr id="203" name="Shape 201"/>
          <p:cNvSpPr/>
          <p:nvPr/>
        </p:nvSpPr>
        <p:spPr>
          <a:xfrm rot="2700000">
            <a:off x="8555126" y="4809744"/>
            <a:ext cx="77724" cy="77724"/>
          </a:xfrm>
          <a:prstGeom prst="rect">
            <a:avLst/>
          </a:prstGeom>
          <a:solidFill>
            <a:srgbClr val="D4951A">
              <a:alpha val="20000"/>
            </a:srgbClr>
          </a:solidFill>
          <a:ln w="12700">
            <a:solidFill>
              <a:srgbClr val="D4951A"/>
            </a:solidFill>
            <a:prstDash val="solid"/>
          </a:ln>
        </p:spPr>
      </p:sp>
      <p:sp>
        <p:nvSpPr>
          <p:cNvPr id="204" name="Shape 202"/>
          <p:cNvSpPr/>
          <p:nvPr/>
        </p:nvSpPr>
        <p:spPr>
          <a:xfrm rot="2700000">
            <a:off x="8672170" y="4809744"/>
            <a:ext cx="77724" cy="77724"/>
          </a:xfrm>
          <a:prstGeom prst="rect">
            <a:avLst/>
          </a:prstGeom>
          <a:solidFill>
            <a:srgbClr val="D4951A">
              <a:alpha val="20000"/>
            </a:srgbClr>
          </a:solidFill>
          <a:ln w="12700">
            <a:solidFill>
              <a:srgbClr val="D4951A"/>
            </a:solidFill>
            <a:prstDash val="solid"/>
          </a:ln>
        </p:spPr>
      </p:sp>
      <p:sp>
        <p:nvSpPr>
          <p:cNvPr id="205" name="Shape 203"/>
          <p:cNvSpPr/>
          <p:nvPr/>
        </p:nvSpPr>
        <p:spPr>
          <a:xfrm rot="2700000">
            <a:off x="8789213" y="4809744"/>
            <a:ext cx="77724" cy="77724"/>
          </a:xfrm>
          <a:prstGeom prst="rect">
            <a:avLst/>
          </a:prstGeom>
          <a:solidFill>
            <a:srgbClr val="D4951A">
              <a:alpha val="20000"/>
            </a:srgbClr>
          </a:solidFill>
          <a:ln w="12700">
            <a:solidFill>
              <a:srgbClr val="D4951A"/>
            </a:solidFill>
            <a:prstDash val="solid"/>
          </a:ln>
        </p:spPr>
      </p:sp>
      <p:sp>
        <p:nvSpPr>
          <p:cNvPr id="206" name="Shape 204"/>
          <p:cNvSpPr/>
          <p:nvPr/>
        </p:nvSpPr>
        <p:spPr>
          <a:xfrm rot="2700000">
            <a:off x="8906256" y="4809744"/>
            <a:ext cx="77724" cy="77724"/>
          </a:xfrm>
          <a:prstGeom prst="rect">
            <a:avLst/>
          </a:prstGeom>
          <a:solidFill>
            <a:srgbClr val="D4951A">
              <a:alpha val="20000"/>
            </a:srgbClr>
          </a:solidFill>
          <a:ln w="12700">
            <a:solidFill>
              <a:srgbClr val="D4951A"/>
            </a:solidFill>
            <a:prstDash val="solid"/>
          </a:ln>
        </p:spPr>
      </p:sp>
      <p:sp>
        <p:nvSpPr>
          <p:cNvPr id="207" name="Shape 205"/>
          <p:cNvSpPr/>
          <p:nvPr/>
        </p:nvSpPr>
        <p:spPr>
          <a:xfrm rot="2700000">
            <a:off x="9023299" y="4809744"/>
            <a:ext cx="77724" cy="77724"/>
          </a:xfrm>
          <a:prstGeom prst="rect">
            <a:avLst/>
          </a:prstGeom>
          <a:solidFill>
            <a:srgbClr val="D4951A">
              <a:alpha val="20000"/>
            </a:srgbClr>
          </a:solidFill>
          <a:ln w="12700">
            <a:solidFill>
              <a:srgbClr val="D4951A"/>
            </a:solidFill>
            <a:prstDash val="solid"/>
          </a:ln>
        </p:spPr>
      </p:sp>
      <p:sp>
        <p:nvSpPr>
          <p:cNvPr id="208" name="Text 206"/>
          <p:cNvSpPr/>
          <p:nvPr/>
        </p:nvSpPr>
        <p:spPr>
          <a:xfrm>
            <a:off x="274320" y="4864608"/>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SÉLECTION CHAUDIÈRE — NOTE DE DÉCISION DIRECTION  ·  CONFIDENTIEL</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Sélection de la Chaudière — Pet Factory Maroc — Note de Décision Direction</dc:title>
  <dc:subject>PptxGenJS Presentation</dc:subject>
  <dc:creator>PptxGenJS</dc:creator>
  <cp:lastModifiedBy>PptxGenJS</cp:lastModifiedBy>
  <cp:revision>1</cp:revision>
  <dcterms:created xsi:type="dcterms:W3CDTF">2026-05-06T18:55:31Z</dcterms:created>
  <dcterms:modified xsi:type="dcterms:W3CDTF">2026-05-06T18:55:31Z</dcterms:modified>
</cp:coreProperties>
</file>