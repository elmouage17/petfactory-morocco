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0E0A04"/>
          </a:solidFill>
          <a:ln/>
        </p:spPr>
      </p:sp>
      <p:sp>
        <p:nvSpPr>
          <p:cNvPr id="3" name="Shape 1"/>
          <p:cNvSpPr/>
          <p:nvPr/>
        </p:nvSpPr>
        <p:spPr>
          <a:xfrm rot="2700000">
            <a:off x="9144" y="-36576"/>
            <a:ext cx="219456" cy="219456"/>
          </a:xfrm>
          <a:prstGeom prst="rect">
            <a:avLst/>
          </a:prstGeom>
          <a:solidFill>
            <a:srgbClr val="D4951A">
              <a:alpha val="58000"/>
            </a:srgbClr>
          </a:solidFill>
          <a:ln w="12700">
            <a:solidFill>
              <a:srgbClr val="0E0A04"/>
            </a:solidFill>
            <a:prstDash val="solid"/>
          </a:ln>
        </p:spPr>
      </p:sp>
      <p:sp>
        <p:nvSpPr>
          <p:cNvPr id="4" name="Shape 2"/>
          <p:cNvSpPr/>
          <p:nvPr/>
        </p:nvSpPr>
        <p:spPr>
          <a:xfrm rot="2700000">
            <a:off x="429768" y="-36576"/>
            <a:ext cx="109728" cy="109728"/>
          </a:xfrm>
          <a:prstGeom prst="rect">
            <a:avLst/>
          </a:prstGeom>
          <a:solidFill>
            <a:srgbClr val="C0622B">
              <a:alpha val="58000"/>
            </a:srgbClr>
          </a:solidFill>
          <a:ln w="12700">
            <a:solidFill>
              <a:srgbClr val="0E0A04"/>
            </a:solidFill>
            <a:prstDash val="solid"/>
          </a:ln>
        </p:spPr>
      </p:sp>
      <p:sp>
        <p:nvSpPr>
          <p:cNvPr id="5" name="Shape 3"/>
          <p:cNvSpPr/>
          <p:nvPr/>
        </p:nvSpPr>
        <p:spPr>
          <a:xfrm rot="2700000">
            <a:off x="850392" y="-36576"/>
            <a:ext cx="109728" cy="109728"/>
          </a:xfrm>
          <a:prstGeom prst="rect">
            <a:avLst/>
          </a:prstGeom>
          <a:solidFill>
            <a:srgbClr val="1B9A8A">
              <a:alpha val="58000"/>
            </a:srgbClr>
          </a:solidFill>
          <a:ln w="12700">
            <a:solidFill>
              <a:srgbClr val="0E0A04"/>
            </a:solidFill>
            <a:prstDash val="solid"/>
          </a:ln>
        </p:spPr>
      </p:sp>
      <p:sp>
        <p:nvSpPr>
          <p:cNvPr id="6" name="Shape 4"/>
          <p:cNvSpPr/>
          <p:nvPr/>
        </p:nvSpPr>
        <p:spPr>
          <a:xfrm rot="2700000">
            <a:off x="1271016" y="-36576"/>
            <a:ext cx="155448" cy="155448"/>
          </a:xfrm>
          <a:prstGeom prst="rect">
            <a:avLst/>
          </a:prstGeom>
          <a:solidFill>
            <a:srgbClr val="D8C9A8">
              <a:alpha val="58000"/>
            </a:srgbClr>
          </a:solidFill>
          <a:ln w="12700">
            <a:solidFill>
              <a:srgbClr val="0E0A04"/>
            </a:solidFill>
            <a:prstDash val="solid"/>
          </a:ln>
        </p:spPr>
      </p:sp>
      <p:sp>
        <p:nvSpPr>
          <p:cNvPr id="7" name="Shape 5"/>
          <p:cNvSpPr/>
          <p:nvPr/>
        </p:nvSpPr>
        <p:spPr>
          <a:xfrm rot="2700000">
            <a:off x="1691640" y="-36576"/>
            <a:ext cx="109728" cy="109728"/>
          </a:xfrm>
          <a:prstGeom prst="rect">
            <a:avLst/>
          </a:prstGeom>
          <a:solidFill>
            <a:srgbClr val="8B2252">
              <a:alpha val="58000"/>
            </a:srgbClr>
          </a:solidFill>
          <a:ln w="12700">
            <a:solidFill>
              <a:srgbClr val="0E0A04"/>
            </a:solidFill>
            <a:prstDash val="solid"/>
          </a:ln>
        </p:spPr>
      </p:sp>
      <p:sp>
        <p:nvSpPr>
          <p:cNvPr id="8" name="Shape 6"/>
          <p:cNvSpPr/>
          <p:nvPr/>
        </p:nvSpPr>
        <p:spPr>
          <a:xfrm rot="2700000">
            <a:off x="2112264" y="-36576"/>
            <a:ext cx="219456" cy="219456"/>
          </a:xfrm>
          <a:prstGeom prst="rect">
            <a:avLst/>
          </a:prstGeom>
          <a:solidFill>
            <a:srgbClr val="6B4C20">
              <a:alpha val="58000"/>
            </a:srgbClr>
          </a:solidFill>
          <a:ln w="12700">
            <a:solidFill>
              <a:srgbClr val="0E0A04"/>
            </a:solidFill>
            <a:prstDash val="solid"/>
          </a:ln>
        </p:spPr>
      </p:sp>
      <p:sp>
        <p:nvSpPr>
          <p:cNvPr id="9" name="Shape 7"/>
          <p:cNvSpPr/>
          <p:nvPr/>
        </p:nvSpPr>
        <p:spPr>
          <a:xfrm rot="2700000">
            <a:off x="2532888" y="-36576"/>
            <a:ext cx="155448" cy="155448"/>
          </a:xfrm>
          <a:prstGeom prst="rect">
            <a:avLst/>
          </a:prstGeom>
          <a:solidFill>
            <a:srgbClr val="3D2208">
              <a:alpha val="58000"/>
            </a:srgbClr>
          </a:solidFill>
          <a:ln w="12700">
            <a:solidFill>
              <a:srgbClr val="0E0A04"/>
            </a:solidFill>
            <a:prstDash val="solid"/>
          </a:ln>
        </p:spPr>
      </p:sp>
      <p:sp>
        <p:nvSpPr>
          <p:cNvPr id="10" name="Shape 8"/>
          <p:cNvSpPr/>
          <p:nvPr/>
        </p:nvSpPr>
        <p:spPr>
          <a:xfrm rot="2700000">
            <a:off x="2953512" y="-36576"/>
            <a:ext cx="109728" cy="109728"/>
          </a:xfrm>
          <a:prstGeom prst="rect">
            <a:avLst/>
          </a:prstGeom>
          <a:solidFill>
            <a:srgbClr val="D4951A">
              <a:alpha val="58000"/>
            </a:srgbClr>
          </a:solidFill>
          <a:ln w="12700">
            <a:solidFill>
              <a:srgbClr val="0E0A04"/>
            </a:solidFill>
            <a:prstDash val="solid"/>
          </a:ln>
        </p:spPr>
      </p:sp>
      <p:sp>
        <p:nvSpPr>
          <p:cNvPr id="11" name="Shape 9"/>
          <p:cNvSpPr/>
          <p:nvPr/>
        </p:nvSpPr>
        <p:spPr>
          <a:xfrm rot="2700000">
            <a:off x="3374136" y="-36576"/>
            <a:ext cx="109728" cy="109728"/>
          </a:xfrm>
          <a:prstGeom prst="rect">
            <a:avLst/>
          </a:prstGeom>
          <a:solidFill>
            <a:srgbClr val="C0622B">
              <a:alpha val="58000"/>
            </a:srgbClr>
          </a:solidFill>
          <a:ln w="12700">
            <a:solidFill>
              <a:srgbClr val="0E0A04"/>
            </a:solidFill>
            <a:prstDash val="solid"/>
          </a:ln>
        </p:spPr>
      </p:sp>
      <p:sp>
        <p:nvSpPr>
          <p:cNvPr id="12" name="Shape 10"/>
          <p:cNvSpPr/>
          <p:nvPr/>
        </p:nvSpPr>
        <p:spPr>
          <a:xfrm rot="2700000">
            <a:off x="9144" y="237744"/>
            <a:ext cx="109728" cy="109728"/>
          </a:xfrm>
          <a:prstGeom prst="rect">
            <a:avLst/>
          </a:prstGeom>
          <a:solidFill>
            <a:srgbClr val="D8C9A8">
              <a:alpha val="49000"/>
            </a:srgbClr>
          </a:solidFill>
          <a:ln w="12700">
            <a:solidFill>
              <a:srgbClr val="0E0A04"/>
            </a:solidFill>
            <a:prstDash val="solid"/>
          </a:ln>
        </p:spPr>
      </p:sp>
      <p:sp>
        <p:nvSpPr>
          <p:cNvPr id="13" name="Shape 11"/>
          <p:cNvSpPr/>
          <p:nvPr/>
        </p:nvSpPr>
        <p:spPr>
          <a:xfrm rot="2700000">
            <a:off x="429768" y="237744"/>
            <a:ext cx="109728" cy="109728"/>
          </a:xfrm>
          <a:prstGeom prst="rect">
            <a:avLst/>
          </a:prstGeom>
          <a:solidFill>
            <a:srgbClr val="8B2252">
              <a:alpha val="49000"/>
            </a:srgbClr>
          </a:solidFill>
          <a:ln w="12700">
            <a:solidFill>
              <a:srgbClr val="0E0A04"/>
            </a:solidFill>
            <a:prstDash val="solid"/>
          </a:ln>
        </p:spPr>
      </p:sp>
      <p:sp>
        <p:nvSpPr>
          <p:cNvPr id="14" name="Shape 12"/>
          <p:cNvSpPr/>
          <p:nvPr/>
        </p:nvSpPr>
        <p:spPr>
          <a:xfrm rot="2700000">
            <a:off x="850392" y="237744"/>
            <a:ext cx="155448" cy="155448"/>
          </a:xfrm>
          <a:prstGeom prst="rect">
            <a:avLst/>
          </a:prstGeom>
          <a:solidFill>
            <a:srgbClr val="6B4C20">
              <a:alpha val="49000"/>
            </a:srgbClr>
          </a:solidFill>
          <a:ln w="12700">
            <a:solidFill>
              <a:srgbClr val="0E0A04"/>
            </a:solidFill>
            <a:prstDash val="solid"/>
          </a:ln>
        </p:spPr>
      </p:sp>
      <p:sp>
        <p:nvSpPr>
          <p:cNvPr id="15" name="Shape 13"/>
          <p:cNvSpPr/>
          <p:nvPr/>
        </p:nvSpPr>
        <p:spPr>
          <a:xfrm rot="2700000">
            <a:off x="1271016" y="237744"/>
            <a:ext cx="109728" cy="109728"/>
          </a:xfrm>
          <a:prstGeom prst="rect">
            <a:avLst/>
          </a:prstGeom>
          <a:solidFill>
            <a:srgbClr val="3D2208">
              <a:alpha val="49000"/>
            </a:srgbClr>
          </a:solidFill>
          <a:ln w="12700">
            <a:solidFill>
              <a:srgbClr val="0E0A04"/>
            </a:solidFill>
            <a:prstDash val="solid"/>
          </a:ln>
        </p:spPr>
      </p:sp>
      <p:sp>
        <p:nvSpPr>
          <p:cNvPr id="16" name="Shape 14"/>
          <p:cNvSpPr/>
          <p:nvPr/>
        </p:nvSpPr>
        <p:spPr>
          <a:xfrm rot="2700000">
            <a:off x="1691640" y="237744"/>
            <a:ext cx="219456" cy="219456"/>
          </a:xfrm>
          <a:prstGeom prst="rect">
            <a:avLst/>
          </a:prstGeom>
          <a:solidFill>
            <a:srgbClr val="D4951A">
              <a:alpha val="49000"/>
            </a:srgbClr>
          </a:solidFill>
          <a:ln w="12700">
            <a:solidFill>
              <a:srgbClr val="0E0A04"/>
            </a:solidFill>
            <a:prstDash val="solid"/>
          </a:ln>
        </p:spPr>
      </p:sp>
      <p:sp>
        <p:nvSpPr>
          <p:cNvPr id="17" name="Shape 15"/>
          <p:cNvSpPr/>
          <p:nvPr/>
        </p:nvSpPr>
        <p:spPr>
          <a:xfrm rot="2700000">
            <a:off x="2112264" y="237744"/>
            <a:ext cx="155448" cy="155448"/>
          </a:xfrm>
          <a:prstGeom prst="rect">
            <a:avLst/>
          </a:prstGeom>
          <a:solidFill>
            <a:srgbClr val="C0622B">
              <a:alpha val="49000"/>
            </a:srgbClr>
          </a:solidFill>
          <a:ln w="12700">
            <a:solidFill>
              <a:srgbClr val="0E0A04"/>
            </a:solidFill>
            <a:prstDash val="solid"/>
          </a:ln>
        </p:spPr>
      </p:sp>
      <p:sp>
        <p:nvSpPr>
          <p:cNvPr id="18" name="Shape 16"/>
          <p:cNvSpPr/>
          <p:nvPr/>
        </p:nvSpPr>
        <p:spPr>
          <a:xfrm rot="2700000">
            <a:off x="2532888" y="237744"/>
            <a:ext cx="109728" cy="109728"/>
          </a:xfrm>
          <a:prstGeom prst="rect">
            <a:avLst/>
          </a:prstGeom>
          <a:solidFill>
            <a:srgbClr val="1B9A8A">
              <a:alpha val="49000"/>
            </a:srgbClr>
          </a:solidFill>
          <a:ln w="12700">
            <a:solidFill>
              <a:srgbClr val="0E0A04"/>
            </a:solidFill>
            <a:prstDash val="solid"/>
          </a:ln>
        </p:spPr>
      </p:sp>
      <p:sp>
        <p:nvSpPr>
          <p:cNvPr id="19" name="Shape 17"/>
          <p:cNvSpPr/>
          <p:nvPr/>
        </p:nvSpPr>
        <p:spPr>
          <a:xfrm rot="2700000">
            <a:off x="2953512" y="237744"/>
            <a:ext cx="109728" cy="109728"/>
          </a:xfrm>
          <a:prstGeom prst="rect">
            <a:avLst/>
          </a:prstGeom>
          <a:solidFill>
            <a:srgbClr val="D8C9A8">
              <a:alpha val="49000"/>
            </a:srgbClr>
          </a:solidFill>
          <a:ln w="12700">
            <a:solidFill>
              <a:srgbClr val="0E0A04"/>
            </a:solidFill>
            <a:prstDash val="solid"/>
          </a:ln>
        </p:spPr>
      </p:sp>
      <p:sp>
        <p:nvSpPr>
          <p:cNvPr id="20" name="Shape 18"/>
          <p:cNvSpPr/>
          <p:nvPr/>
        </p:nvSpPr>
        <p:spPr>
          <a:xfrm rot="2700000">
            <a:off x="3374136" y="237744"/>
            <a:ext cx="155448" cy="155448"/>
          </a:xfrm>
          <a:prstGeom prst="rect">
            <a:avLst/>
          </a:prstGeom>
          <a:solidFill>
            <a:srgbClr val="8B2252">
              <a:alpha val="49000"/>
            </a:srgbClr>
          </a:solidFill>
          <a:ln w="12700">
            <a:solidFill>
              <a:srgbClr val="0E0A04"/>
            </a:solidFill>
            <a:prstDash val="solid"/>
          </a:ln>
        </p:spPr>
      </p:sp>
      <p:sp>
        <p:nvSpPr>
          <p:cNvPr id="21" name="Shape 19"/>
          <p:cNvSpPr/>
          <p:nvPr/>
        </p:nvSpPr>
        <p:spPr>
          <a:xfrm rot="2700000">
            <a:off x="9144" y="512064"/>
            <a:ext cx="109728" cy="109728"/>
          </a:xfrm>
          <a:prstGeom prst="rect">
            <a:avLst/>
          </a:prstGeom>
          <a:solidFill>
            <a:srgbClr val="3D2208">
              <a:alpha val="40000"/>
            </a:srgbClr>
          </a:solidFill>
          <a:ln w="12700">
            <a:solidFill>
              <a:srgbClr val="0E0A04"/>
            </a:solidFill>
            <a:prstDash val="solid"/>
          </a:ln>
        </p:spPr>
      </p:sp>
      <p:sp>
        <p:nvSpPr>
          <p:cNvPr id="22" name="Shape 20"/>
          <p:cNvSpPr/>
          <p:nvPr/>
        </p:nvSpPr>
        <p:spPr>
          <a:xfrm rot="2700000">
            <a:off x="429768" y="512064"/>
            <a:ext cx="155448" cy="155448"/>
          </a:xfrm>
          <a:prstGeom prst="rect">
            <a:avLst/>
          </a:prstGeom>
          <a:solidFill>
            <a:srgbClr val="D4951A">
              <a:alpha val="40000"/>
            </a:srgbClr>
          </a:solidFill>
          <a:ln w="12700">
            <a:solidFill>
              <a:srgbClr val="0E0A04"/>
            </a:solidFill>
            <a:prstDash val="solid"/>
          </a:ln>
        </p:spPr>
      </p:sp>
      <p:sp>
        <p:nvSpPr>
          <p:cNvPr id="23" name="Shape 21"/>
          <p:cNvSpPr/>
          <p:nvPr/>
        </p:nvSpPr>
        <p:spPr>
          <a:xfrm rot="2700000">
            <a:off x="850392" y="512064"/>
            <a:ext cx="109728" cy="109728"/>
          </a:xfrm>
          <a:prstGeom prst="rect">
            <a:avLst/>
          </a:prstGeom>
          <a:solidFill>
            <a:srgbClr val="C0622B">
              <a:alpha val="40000"/>
            </a:srgbClr>
          </a:solidFill>
          <a:ln w="12700">
            <a:solidFill>
              <a:srgbClr val="0E0A04"/>
            </a:solidFill>
            <a:prstDash val="solid"/>
          </a:ln>
        </p:spPr>
      </p:sp>
      <p:sp>
        <p:nvSpPr>
          <p:cNvPr id="24" name="Shape 22"/>
          <p:cNvSpPr/>
          <p:nvPr/>
        </p:nvSpPr>
        <p:spPr>
          <a:xfrm rot="2700000">
            <a:off x="1271016" y="512064"/>
            <a:ext cx="219456" cy="219456"/>
          </a:xfrm>
          <a:prstGeom prst="rect">
            <a:avLst/>
          </a:prstGeom>
          <a:solidFill>
            <a:srgbClr val="1B9A8A">
              <a:alpha val="40000"/>
            </a:srgbClr>
          </a:solidFill>
          <a:ln w="12700">
            <a:solidFill>
              <a:srgbClr val="0E0A04"/>
            </a:solidFill>
            <a:prstDash val="solid"/>
          </a:ln>
        </p:spPr>
      </p:sp>
      <p:sp>
        <p:nvSpPr>
          <p:cNvPr id="25" name="Shape 23"/>
          <p:cNvSpPr/>
          <p:nvPr/>
        </p:nvSpPr>
        <p:spPr>
          <a:xfrm rot="2700000">
            <a:off x="1691640" y="512064"/>
            <a:ext cx="155448" cy="155448"/>
          </a:xfrm>
          <a:prstGeom prst="rect">
            <a:avLst/>
          </a:prstGeom>
          <a:solidFill>
            <a:srgbClr val="D8C9A8">
              <a:alpha val="40000"/>
            </a:srgbClr>
          </a:solidFill>
          <a:ln w="12700">
            <a:solidFill>
              <a:srgbClr val="0E0A04"/>
            </a:solidFill>
            <a:prstDash val="solid"/>
          </a:ln>
        </p:spPr>
      </p:sp>
      <p:sp>
        <p:nvSpPr>
          <p:cNvPr id="26" name="Shape 24"/>
          <p:cNvSpPr/>
          <p:nvPr/>
        </p:nvSpPr>
        <p:spPr>
          <a:xfrm rot="2700000">
            <a:off x="2112264" y="512064"/>
            <a:ext cx="109728" cy="109728"/>
          </a:xfrm>
          <a:prstGeom prst="rect">
            <a:avLst/>
          </a:prstGeom>
          <a:solidFill>
            <a:srgbClr val="8B2252">
              <a:alpha val="40000"/>
            </a:srgbClr>
          </a:solidFill>
          <a:ln w="12700">
            <a:solidFill>
              <a:srgbClr val="0E0A04"/>
            </a:solidFill>
            <a:prstDash val="solid"/>
          </a:ln>
        </p:spPr>
      </p:sp>
      <p:sp>
        <p:nvSpPr>
          <p:cNvPr id="27" name="Shape 25"/>
          <p:cNvSpPr/>
          <p:nvPr/>
        </p:nvSpPr>
        <p:spPr>
          <a:xfrm rot="2700000">
            <a:off x="2532888" y="512064"/>
            <a:ext cx="109728" cy="109728"/>
          </a:xfrm>
          <a:prstGeom prst="rect">
            <a:avLst/>
          </a:prstGeom>
          <a:solidFill>
            <a:srgbClr val="6B4C20">
              <a:alpha val="40000"/>
            </a:srgbClr>
          </a:solidFill>
          <a:ln w="12700">
            <a:solidFill>
              <a:srgbClr val="0E0A04"/>
            </a:solidFill>
            <a:prstDash val="solid"/>
          </a:ln>
        </p:spPr>
      </p:sp>
      <p:sp>
        <p:nvSpPr>
          <p:cNvPr id="28" name="Shape 26"/>
          <p:cNvSpPr/>
          <p:nvPr/>
        </p:nvSpPr>
        <p:spPr>
          <a:xfrm rot="2700000">
            <a:off x="2953512" y="512064"/>
            <a:ext cx="155448" cy="155448"/>
          </a:xfrm>
          <a:prstGeom prst="rect">
            <a:avLst/>
          </a:prstGeom>
          <a:solidFill>
            <a:srgbClr val="3D2208">
              <a:alpha val="40000"/>
            </a:srgbClr>
          </a:solidFill>
          <a:ln w="12700">
            <a:solidFill>
              <a:srgbClr val="0E0A04"/>
            </a:solidFill>
            <a:prstDash val="solid"/>
          </a:ln>
        </p:spPr>
      </p:sp>
      <p:sp>
        <p:nvSpPr>
          <p:cNvPr id="29" name="Shape 27"/>
          <p:cNvSpPr/>
          <p:nvPr/>
        </p:nvSpPr>
        <p:spPr>
          <a:xfrm rot="2700000">
            <a:off x="3374136" y="512064"/>
            <a:ext cx="219456" cy="219456"/>
          </a:xfrm>
          <a:prstGeom prst="rect">
            <a:avLst/>
          </a:prstGeom>
          <a:solidFill>
            <a:srgbClr val="D4951A">
              <a:alpha val="40000"/>
            </a:srgbClr>
          </a:solidFill>
          <a:ln w="12700">
            <a:solidFill>
              <a:srgbClr val="0E0A04"/>
            </a:solidFill>
            <a:prstDash val="solid"/>
          </a:ln>
        </p:spPr>
      </p:sp>
      <p:sp>
        <p:nvSpPr>
          <p:cNvPr id="30" name="Shape 28"/>
          <p:cNvSpPr/>
          <p:nvPr/>
        </p:nvSpPr>
        <p:spPr>
          <a:xfrm rot="2700000">
            <a:off x="9144" y="786384"/>
            <a:ext cx="155448" cy="155448"/>
          </a:xfrm>
          <a:prstGeom prst="rect">
            <a:avLst/>
          </a:prstGeom>
          <a:solidFill>
            <a:srgbClr val="1B9A8A">
              <a:alpha val="31000"/>
            </a:srgbClr>
          </a:solidFill>
          <a:ln w="12700">
            <a:solidFill>
              <a:srgbClr val="0E0A04"/>
            </a:solidFill>
            <a:prstDash val="solid"/>
          </a:ln>
        </p:spPr>
      </p:sp>
      <p:sp>
        <p:nvSpPr>
          <p:cNvPr id="31" name="Shape 29"/>
          <p:cNvSpPr/>
          <p:nvPr/>
        </p:nvSpPr>
        <p:spPr>
          <a:xfrm rot="2700000">
            <a:off x="429768" y="786384"/>
            <a:ext cx="109728" cy="109728"/>
          </a:xfrm>
          <a:prstGeom prst="rect">
            <a:avLst/>
          </a:prstGeom>
          <a:solidFill>
            <a:srgbClr val="D8C9A8">
              <a:alpha val="31000"/>
            </a:srgbClr>
          </a:solidFill>
          <a:ln w="12700">
            <a:solidFill>
              <a:srgbClr val="0E0A04"/>
            </a:solidFill>
            <a:prstDash val="solid"/>
          </a:ln>
        </p:spPr>
      </p:sp>
      <p:sp>
        <p:nvSpPr>
          <p:cNvPr id="32" name="Shape 30"/>
          <p:cNvSpPr/>
          <p:nvPr/>
        </p:nvSpPr>
        <p:spPr>
          <a:xfrm rot="2700000">
            <a:off x="850392" y="786384"/>
            <a:ext cx="219456" cy="219456"/>
          </a:xfrm>
          <a:prstGeom prst="rect">
            <a:avLst/>
          </a:prstGeom>
          <a:solidFill>
            <a:srgbClr val="8B2252">
              <a:alpha val="31000"/>
            </a:srgbClr>
          </a:solidFill>
          <a:ln w="12700">
            <a:solidFill>
              <a:srgbClr val="0E0A04"/>
            </a:solidFill>
            <a:prstDash val="solid"/>
          </a:ln>
        </p:spPr>
      </p:sp>
      <p:sp>
        <p:nvSpPr>
          <p:cNvPr id="33" name="Shape 31"/>
          <p:cNvSpPr/>
          <p:nvPr/>
        </p:nvSpPr>
        <p:spPr>
          <a:xfrm rot="2700000">
            <a:off x="1271016" y="786384"/>
            <a:ext cx="155448" cy="155448"/>
          </a:xfrm>
          <a:prstGeom prst="rect">
            <a:avLst/>
          </a:prstGeom>
          <a:solidFill>
            <a:srgbClr val="6B4C20">
              <a:alpha val="31000"/>
            </a:srgbClr>
          </a:solidFill>
          <a:ln w="12700">
            <a:solidFill>
              <a:srgbClr val="0E0A04"/>
            </a:solidFill>
            <a:prstDash val="solid"/>
          </a:ln>
        </p:spPr>
      </p:sp>
      <p:sp>
        <p:nvSpPr>
          <p:cNvPr id="34" name="Shape 32"/>
          <p:cNvSpPr/>
          <p:nvPr/>
        </p:nvSpPr>
        <p:spPr>
          <a:xfrm rot="2700000">
            <a:off x="1691640" y="786384"/>
            <a:ext cx="109728" cy="109728"/>
          </a:xfrm>
          <a:prstGeom prst="rect">
            <a:avLst/>
          </a:prstGeom>
          <a:solidFill>
            <a:srgbClr val="3D2208">
              <a:alpha val="31000"/>
            </a:srgbClr>
          </a:solidFill>
          <a:ln w="12700">
            <a:solidFill>
              <a:srgbClr val="0E0A04"/>
            </a:solidFill>
            <a:prstDash val="solid"/>
          </a:ln>
        </p:spPr>
      </p:sp>
      <p:sp>
        <p:nvSpPr>
          <p:cNvPr id="35" name="Shape 33"/>
          <p:cNvSpPr/>
          <p:nvPr/>
        </p:nvSpPr>
        <p:spPr>
          <a:xfrm rot="2700000">
            <a:off x="2112264" y="786384"/>
            <a:ext cx="109728" cy="109728"/>
          </a:xfrm>
          <a:prstGeom prst="rect">
            <a:avLst/>
          </a:prstGeom>
          <a:solidFill>
            <a:srgbClr val="D4951A">
              <a:alpha val="31000"/>
            </a:srgbClr>
          </a:solidFill>
          <a:ln w="12700">
            <a:solidFill>
              <a:srgbClr val="0E0A04"/>
            </a:solidFill>
            <a:prstDash val="solid"/>
          </a:ln>
        </p:spPr>
      </p:sp>
      <p:sp>
        <p:nvSpPr>
          <p:cNvPr id="36" name="Shape 34"/>
          <p:cNvSpPr/>
          <p:nvPr/>
        </p:nvSpPr>
        <p:spPr>
          <a:xfrm rot="2700000">
            <a:off x="2532888" y="786384"/>
            <a:ext cx="155448" cy="155448"/>
          </a:xfrm>
          <a:prstGeom prst="rect">
            <a:avLst/>
          </a:prstGeom>
          <a:solidFill>
            <a:srgbClr val="C0622B">
              <a:alpha val="31000"/>
            </a:srgbClr>
          </a:solidFill>
          <a:ln w="12700">
            <a:solidFill>
              <a:srgbClr val="0E0A04"/>
            </a:solidFill>
            <a:prstDash val="solid"/>
          </a:ln>
        </p:spPr>
      </p:sp>
      <p:sp>
        <p:nvSpPr>
          <p:cNvPr id="37" name="Shape 35"/>
          <p:cNvSpPr/>
          <p:nvPr/>
        </p:nvSpPr>
        <p:spPr>
          <a:xfrm rot="2700000">
            <a:off x="2953512" y="786384"/>
            <a:ext cx="219456" cy="219456"/>
          </a:xfrm>
          <a:prstGeom prst="rect">
            <a:avLst/>
          </a:prstGeom>
          <a:solidFill>
            <a:srgbClr val="1B9A8A">
              <a:alpha val="31000"/>
            </a:srgbClr>
          </a:solidFill>
          <a:ln w="12700">
            <a:solidFill>
              <a:srgbClr val="0E0A04"/>
            </a:solidFill>
            <a:prstDash val="solid"/>
          </a:ln>
        </p:spPr>
      </p:sp>
      <p:sp>
        <p:nvSpPr>
          <p:cNvPr id="38" name="Shape 36"/>
          <p:cNvSpPr/>
          <p:nvPr/>
        </p:nvSpPr>
        <p:spPr>
          <a:xfrm rot="2700000">
            <a:off x="3374136" y="786384"/>
            <a:ext cx="109728" cy="109728"/>
          </a:xfrm>
          <a:prstGeom prst="rect">
            <a:avLst/>
          </a:prstGeom>
          <a:solidFill>
            <a:srgbClr val="D8C9A8">
              <a:alpha val="31000"/>
            </a:srgbClr>
          </a:solidFill>
          <a:ln w="12700">
            <a:solidFill>
              <a:srgbClr val="0E0A04"/>
            </a:solidFill>
            <a:prstDash val="solid"/>
          </a:ln>
        </p:spPr>
      </p:sp>
      <p:sp>
        <p:nvSpPr>
          <p:cNvPr id="39" name="Shape 37"/>
          <p:cNvSpPr/>
          <p:nvPr/>
        </p:nvSpPr>
        <p:spPr>
          <a:xfrm rot="2700000">
            <a:off x="9144" y="1060704"/>
            <a:ext cx="109728" cy="109728"/>
          </a:xfrm>
          <a:prstGeom prst="rect">
            <a:avLst/>
          </a:prstGeom>
          <a:solidFill>
            <a:srgbClr val="6B4C20">
              <a:alpha val="22000"/>
            </a:srgbClr>
          </a:solidFill>
          <a:ln w="12700">
            <a:solidFill>
              <a:srgbClr val="0E0A04"/>
            </a:solidFill>
            <a:prstDash val="solid"/>
          </a:ln>
        </p:spPr>
      </p:sp>
      <p:sp>
        <p:nvSpPr>
          <p:cNvPr id="40" name="Shape 38"/>
          <p:cNvSpPr/>
          <p:nvPr/>
        </p:nvSpPr>
        <p:spPr>
          <a:xfrm rot="2700000">
            <a:off x="429768" y="1060704"/>
            <a:ext cx="219456" cy="219456"/>
          </a:xfrm>
          <a:prstGeom prst="rect">
            <a:avLst/>
          </a:prstGeom>
          <a:solidFill>
            <a:srgbClr val="3D2208">
              <a:alpha val="22000"/>
            </a:srgbClr>
          </a:solidFill>
          <a:ln w="12700">
            <a:solidFill>
              <a:srgbClr val="0E0A04"/>
            </a:solidFill>
            <a:prstDash val="solid"/>
          </a:ln>
        </p:spPr>
      </p:sp>
      <p:sp>
        <p:nvSpPr>
          <p:cNvPr id="41" name="Shape 39"/>
          <p:cNvSpPr/>
          <p:nvPr/>
        </p:nvSpPr>
        <p:spPr>
          <a:xfrm rot="2700000">
            <a:off x="850392" y="1060704"/>
            <a:ext cx="155448" cy="155448"/>
          </a:xfrm>
          <a:prstGeom prst="rect">
            <a:avLst/>
          </a:prstGeom>
          <a:solidFill>
            <a:srgbClr val="D4951A">
              <a:alpha val="22000"/>
            </a:srgbClr>
          </a:solidFill>
          <a:ln w="12700">
            <a:solidFill>
              <a:srgbClr val="0E0A04"/>
            </a:solidFill>
            <a:prstDash val="solid"/>
          </a:ln>
        </p:spPr>
      </p:sp>
      <p:sp>
        <p:nvSpPr>
          <p:cNvPr id="42" name="Shape 40"/>
          <p:cNvSpPr/>
          <p:nvPr/>
        </p:nvSpPr>
        <p:spPr>
          <a:xfrm rot="2700000">
            <a:off x="1271016" y="1060704"/>
            <a:ext cx="109728" cy="109728"/>
          </a:xfrm>
          <a:prstGeom prst="rect">
            <a:avLst/>
          </a:prstGeom>
          <a:solidFill>
            <a:srgbClr val="C0622B">
              <a:alpha val="22000"/>
            </a:srgbClr>
          </a:solidFill>
          <a:ln w="12700">
            <a:solidFill>
              <a:srgbClr val="0E0A04"/>
            </a:solidFill>
            <a:prstDash val="solid"/>
          </a:ln>
        </p:spPr>
      </p:sp>
      <p:sp>
        <p:nvSpPr>
          <p:cNvPr id="43" name="Shape 41"/>
          <p:cNvSpPr/>
          <p:nvPr/>
        </p:nvSpPr>
        <p:spPr>
          <a:xfrm rot="2700000">
            <a:off x="1691640" y="1060704"/>
            <a:ext cx="109728" cy="109728"/>
          </a:xfrm>
          <a:prstGeom prst="rect">
            <a:avLst/>
          </a:prstGeom>
          <a:solidFill>
            <a:srgbClr val="1B9A8A">
              <a:alpha val="22000"/>
            </a:srgbClr>
          </a:solidFill>
          <a:ln w="12700">
            <a:solidFill>
              <a:srgbClr val="0E0A04"/>
            </a:solidFill>
            <a:prstDash val="solid"/>
          </a:ln>
        </p:spPr>
      </p:sp>
      <p:sp>
        <p:nvSpPr>
          <p:cNvPr id="44" name="Shape 42"/>
          <p:cNvSpPr/>
          <p:nvPr/>
        </p:nvSpPr>
        <p:spPr>
          <a:xfrm rot="2700000">
            <a:off x="2112264" y="1060704"/>
            <a:ext cx="155448" cy="155448"/>
          </a:xfrm>
          <a:prstGeom prst="rect">
            <a:avLst/>
          </a:prstGeom>
          <a:solidFill>
            <a:srgbClr val="D8C9A8">
              <a:alpha val="22000"/>
            </a:srgbClr>
          </a:solidFill>
          <a:ln w="12700">
            <a:solidFill>
              <a:srgbClr val="0E0A04"/>
            </a:solidFill>
            <a:prstDash val="solid"/>
          </a:ln>
        </p:spPr>
      </p:sp>
      <p:sp>
        <p:nvSpPr>
          <p:cNvPr id="45" name="Shape 43"/>
          <p:cNvSpPr/>
          <p:nvPr/>
        </p:nvSpPr>
        <p:spPr>
          <a:xfrm rot="2700000">
            <a:off x="2532888" y="1060704"/>
            <a:ext cx="219456" cy="219456"/>
          </a:xfrm>
          <a:prstGeom prst="rect">
            <a:avLst/>
          </a:prstGeom>
          <a:solidFill>
            <a:srgbClr val="8B2252">
              <a:alpha val="22000"/>
            </a:srgbClr>
          </a:solidFill>
          <a:ln w="12700">
            <a:solidFill>
              <a:srgbClr val="0E0A04"/>
            </a:solidFill>
            <a:prstDash val="solid"/>
          </a:ln>
        </p:spPr>
      </p:sp>
      <p:sp>
        <p:nvSpPr>
          <p:cNvPr id="46" name="Shape 44"/>
          <p:cNvSpPr/>
          <p:nvPr/>
        </p:nvSpPr>
        <p:spPr>
          <a:xfrm rot="2700000">
            <a:off x="2953512" y="1060704"/>
            <a:ext cx="109728" cy="109728"/>
          </a:xfrm>
          <a:prstGeom prst="rect">
            <a:avLst/>
          </a:prstGeom>
          <a:solidFill>
            <a:srgbClr val="6B4C20">
              <a:alpha val="22000"/>
            </a:srgbClr>
          </a:solidFill>
          <a:ln w="12700">
            <a:solidFill>
              <a:srgbClr val="0E0A04"/>
            </a:solidFill>
            <a:prstDash val="solid"/>
          </a:ln>
        </p:spPr>
      </p:sp>
      <p:sp>
        <p:nvSpPr>
          <p:cNvPr id="47" name="Shape 45"/>
          <p:cNvSpPr/>
          <p:nvPr/>
        </p:nvSpPr>
        <p:spPr>
          <a:xfrm rot="2700000">
            <a:off x="3374136" y="1060704"/>
            <a:ext cx="155448" cy="155448"/>
          </a:xfrm>
          <a:prstGeom prst="rect">
            <a:avLst/>
          </a:prstGeom>
          <a:solidFill>
            <a:srgbClr val="3D2208">
              <a:alpha val="22000"/>
            </a:srgbClr>
          </a:solidFill>
          <a:ln w="12700">
            <a:solidFill>
              <a:srgbClr val="0E0A04"/>
            </a:solidFill>
            <a:prstDash val="solid"/>
          </a:ln>
        </p:spPr>
      </p:sp>
      <p:sp>
        <p:nvSpPr>
          <p:cNvPr id="48" name="Shape 46"/>
          <p:cNvSpPr/>
          <p:nvPr/>
        </p:nvSpPr>
        <p:spPr>
          <a:xfrm rot="2700000">
            <a:off x="9144" y="1335024"/>
            <a:ext cx="219456" cy="219456"/>
          </a:xfrm>
          <a:prstGeom prst="rect">
            <a:avLst/>
          </a:prstGeom>
          <a:solidFill>
            <a:srgbClr val="C0622B">
              <a:alpha val="58000"/>
            </a:srgbClr>
          </a:solidFill>
          <a:ln w="12700">
            <a:solidFill>
              <a:srgbClr val="0E0A04"/>
            </a:solidFill>
            <a:prstDash val="solid"/>
          </a:ln>
        </p:spPr>
      </p:sp>
      <p:sp>
        <p:nvSpPr>
          <p:cNvPr id="49" name="Shape 47"/>
          <p:cNvSpPr/>
          <p:nvPr/>
        </p:nvSpPr>
        <p:spPr>
          <a:xfrm rot="2700000">
            <a:off x="429768" y="1335024"/>
            <a:ext cx="155448" cy="155448"/>
          </a:xfrm>
          <a:prstGeom prst="rect">
            <a:avLst/>
          </a:prstGeom>
          <a:solidFill>
            <a:srgbClr val="1B9A8A">
              <a:alpha val="58000"/>
            </a:srgbClr>
          </a:solidFill>
          <a:ln w="12700">
            <a:solidFill>
              <a:srgbClr val="0E0A04"/>
            </a:solidFill>
            <a:prstDash val="solid"/>
          </a:ln>
        </p:spPr>
      </p:sp>
      <p:sp>
        <p:nvSpPr>
          <p:cNvPr id="50" name="Shape 48"/>
          <p:cNvSpPr/>
          <p:nvPr/>
        </p:nvSpPr>
        <p:spPr>
          <a:xfrm rot="2700000">
            <a:off x="850392" y="1335024"/>
            <a:ext cx="109728" cy="109728"/>
          </a:xfrm>
          <a:prstGeom prst="rect">
            <a:avLst/>
          </a:prstGeom>
          <a:solidFill>
            <a:srgbClr val="D8C9A8">
              <a:alpha val="58000"/>
            </a:srgbClr>
          </a:solidFill>
          <a:ln w="12700">
            <a:solidFill>
              <a:srgbClr val="0E0A04"/>
            </a:solidFill>
            <a:prstDash val="solid"/>
          </a:ln>
        </p:spPr>
      </p:sp>
      <p:sp>
        <p:nvSpPr>
          <p:cNvPr id="51" name="Shape 49"/>
          <p:cNvSpPr/>
          <p:nvPr/>
        </p:nvSpPr>
        <p:spPr>
          <a:xfrm rot="2700000">
            <a:off x="1271016" y="1335024"/>
            <a:ext cx="109728" cy="109728"/>
          </a:xfrm>
          <a:prstGeom prst="rect">
            <a:avLst/>
          </a:prstGeom>
          <a:solidFill>
            <a:srgbClr val="8B2252">
              <a:alpha val="58000"/>
            </a:srgbClr>
          </a:solidFill>
          <a:ln w="12700">
            <a:solidFill>
              <a:srgbClr val="0E0A04"/>
            </a:solidFill>
            <a:prstDash val="solid"/>
          </a:ln>
        </p:spPr>
      </p:sp>
      <p:sp>
        <p:nvSpPr>
          <p:cNvPr id="52" name="Shape 50"/>
          <p:cNvSpPr/>
          <p:nvPr/>
        </p:nvSpPr>
        <p:spPr>
          <a:xfrm rot="2700000">
            <a:off x="1691640" y="1335024"/>
            <a:ext cx="155448" cy="155448"/>
          </a:xfrm>
          <a:prstGeom prst="rect">
            <a:avLst/>
          </a:prstGeom>
          <a:solidFill>
            <a:srgbClr val="6B4C20">
              <a:alpha val="58000"/>
            </a:srgbClr>
          </a:solidFill>
          <a:ln w="12700">
            <a:solidFill>
              <a:srgbClr val="0E0A04"/>
            </a:solidFill>
            <a:prstDash val="solid"/>
          </a:ln>
        </p:spPr>
      </p:sp>
      <p:sp>
        <p:nvSpPr>
          <p:cNvPr id="53" name="Shape 51"/>
          <p:cNvSpPr/>
          <p:nvPr/>
        </p:nvSpPr>
        <p:spPr>
          <a:xfrm rot="2700000">
            <a:off x="2112264" y="1335024"/>
            <a:ext cx="219456" cy="219456"/>
          </a:xfrm>
          <a:prstGeom prst="rect">
            <a:avLst/>
          </a:prstGeom>
          <a:solidFill>
            <a:srgbClr val="3D2208">
              <a:alpha val="58000"/>
            </a:srgbClr>
          </a:solidFill>
          <a:ln w="12700">
            <a:solidFill>
              <a:srgbClr val="0E0A04"/>
            </a:solidFill>
            <a:prstDash val="solid"/>
          </a:ln>
        </p:spPr>
      </p:sp>
      <p:sp>
        <p:nvSpPr>
          <p:cNvPr id="54" name="Shape 52"/>
          <p:cNvSpPr/>
          <p:nvPr/>
        </p:nvSpPr>
        <p:spPr>
          <a:xfrm rot="2700000">
            <a:off x="2532888" y="1335024"/>
            <a:ext cx="109728" cy="109728"/>
          </a:xfrm>
          <a:prstGeom prst="rect">
            <a:avLst/>
          </a:prstGeom>
          <a:solidFill>
            <a:srgbClr val="D4951A">
              <a:alpha val="58000"/>
            </a:srgbClr>
          </a:solidFill>
          <a:ln w="12700">
            <a:solidFill>
              <a:srgbClr val="0E0A04"/>
            </a:solidFill>
            <a:prstDash val="solid"/>
          </a:ln>
        </p:spPr>
      </p:sp>
      <p:sp>
        <p:nvSpPr>
          <p:cNvPr id="55" name="Shape 53"/>
          <p:cNvSpPr/>
          <p:nvPr/>
        </p:nvSpPr>
        <p:spPr>
          <a:xfrm rot="2700000">
            <a:off x="2953512" y="1335024"/>
            <a:ext cx="155448" cy="155448"/>
          </a:xfrm>
          <a:prstGeom prst="rect">
            <a:avLst/>
          </a:prstGeom>
          <a:solidFill>
            <a:srgbClr val="C0622B">
              <a:alpha val="58000"/>
            </a:srgbClr>
          </a:solidFill>
          <a:ln w="12700">
            <a:solidFill>
              <a:srgbClr val="0E0A04"/>
            </a:solidFill>
            <a:prstDash val="solid"/>
          </a:ln>
        </p:spPr>
      </p:sp>
      <p:sp>
        <p:nvSpPr>
          <p:cNvPr id="56" name="Shape 54"/>
          <p:cNvSpPr/>
          <p:nvPr/>
        </p:nvSpPr>
        <p:spPr>
          <a:xfrm rot="2700000">
            <a:off x="3374136" y="1335024"/>
            <a:ext cx="109728" cy="109728"/>
          </a:xfrm>
          <a:prstGeom prst="rect">
            <a:avLst/>
          </a:prstGeom>
          <a:solidFill>
            <a:srgbClr val="1B9A8A">
              <a:alpha val="58000"/>
            </a:srgbClr>
          </a:solidFill>
          <a:ln w="12700">
            <a:solidFill>
              <a:srgbClr val="0E0A04"/>
            </a:solidFill>
            <a:prstDash val="solid"/>
          </a:ln>
        </p:spPr>
      </p:sp>
      <p:sp>
        <p:nvSpPr>
          <p:cNvPr id="57" name="Shape 55"/>
          <p:cNvSpPr/>
          <p:nvPr/>
        </p:nvSpPr>
        <p:spPr>
          <a:xfrm rot="2700000">
            <a:off x="9144" y="1609344"/>
            <a:ext cx="155448" cy="155448"/>
          </a:xfrm>
          <a:prstGeom prst="rect">
            <a:avLst/>
          </a:prstGeom>
          <a:solidFill>
            <a:srgbClr val="8B2252">
              <a:alpha val="49000"/>
            </a:srgbClr>
          </a:solidFill>
          <a:ln w="12700">
            <a:solidFill>
              <a:srgbClr val="0E0A04"/>
            </a:solidFill>
            <a:prstDash val="solid"/>
          </a:ln>
        </p:spPr>
      </p:sp>
      <p:sp>
        <p:nvSpPr>
          <p:cNvPr id="58" name="Shape 56"/>
          <p:cNvSpPr/>
          <p:nvPr/>
        </p:nvSpPr>
        <p:spPr>
          <a:xfrm rot="2700000">
            <a:off x="429768" y="1609344"/>
            <a:ext cx="109728" cy="109728"/>
          </a:xfrm>
          <a:prstGeom prst="rect">
            <a:avLst/>
          </a:prstGeom>
          <a:solidFill>
            <a:srgbClr val="6B4C20">
              <a:alpha val="49000"/>
            </a:srgbClr>
          </a:solidFill>
          <a:ln w="12700">
            <a:solidFill>
              <a:srgbClr val="0E0A04"/>
            </a:solidFill>
            <a:prstDash val="solid"/>
          </a:ln>
        </p:spPr>
      </p:sp>
      <p:sp>
        <p:nvSpPr>
          <p:cNvPr id="59" name="Shape 57"/>
          <p:cNvSpPr/>
          <p:nvPr/>
        </p:nvSpPr>
        <p:spPr>
          <a:xfrm rot="2700000">
            <a:off x="850392" y="1609344"/>
            <a:ext cx="109728" cy="109728"/>
          </a:xfrm>
          <a:prstGeom prst="rect">
            <a:avLst/>
          </a:prstGeom>
          <a:solidFill>
            <a:srgbClr val="3D2208">
              <a:alpha val="49000"/>
            </a:srgbClr>
          </a:solidFill>
          <a:ln w="12700">
            <a:solidFill>
              <a:srgbClr val="0E0A04"/>
            </a:solidFill>
            <a:prstDash val="solid"/>
          </a:ln>
        </p:spPr>
      </p:sp>
      <p:sp>
        <p:nvSpPr>
          <p:cNvPr id="60" name="Shape 58"/>
          <p:cNvSpPr/>
          <p:nvPr/>
        </p:nvSpPr>
        <p:spPr>
          <a:xfrm rot="2700000">
            <a:off x="1271016" y="1609344"/>
            <a:ext cx="155448" cy="155448"/>
          </a:xfrm>
          <a:prstGeom prst="rect">
            <a:avLst/>
          </a:prstGeom>
          <a:solidFill>
            <a:srgbClr val="D4951A">
              <a:alpha val="49000"/>
            </a:srgbClr>
          </a:solidFill>
          <a:ln w="12700">
            <a:solidFill>
              <a:srgbClr val="0E0A04"/>
            </a:solidFill>
            <a:prstDash val="solid"/>
          </a:ln>
        </p:spPr>
      </p:sp>
      <p:sp>
        <p:nvSpPr>
          <p:cNvPr id="61" name="Shape 59"/>
          <p:cNvSpPr/>
          <p:nvPr/>
        </p:nvSpPr>
        <p:spPr>
          <a:xfrm rot="2700000">
            <a:off x="1691640" y="1609344"/>
            <a:ext cx="219456" cy="219456"/>
          </a:xfrm>
          <a:prstGeom prst="rect">
            <a:avLst/>
          </a:prstGeom>
          <a:solidFill>
            <a:srgbClr val="C0622B">
              <a:alpha val="49000"/>
            </a:srgbClr>
          </a:solidFill>
          <a:ln w="12700">
            <a:solidFill>
              <a:srgbClr val="0E0A04"/>
            </a:solidFill>
            <a:prstDash val="solid"/>
          </a:ln>
        </p:spPr>
      </p:sp>
      <p:sp>
        <p:nvSpPr>
          <p:cNvPr id="62" name="Shape 60"/>
          <p:cNvSpPr/>
          <p:nvPr/>
        </p:nvSpPr>
        <p:spPr>
          <a:xfrm rot="2700000">
            <a:off x="2112264" y="1609344"/>
            <a:ext cx="109728" cy="109728"/>
          </a:xfrm>
          <a:prstGeom prst="rect">
            <a:avLst/>
          </a:prstGeom>
          <a:solidFill>
            <a:srgbClr val="1B9A8A">
              <a:alpha val="49000"/>
            </a:srgbClr>
          </a:solidFill>
          <a:ln w="12700">
            <a:solidFill>
              <a:srgbClr val="0E0A04"/>
            </a:solidFill>
            <a:prstDash val="solid"/>
          </a:ln>
        </p:spPr>
      </p:sp>
      <p:sp>
        <p:nvSpPr>
          <p:cNvPr id="63" name="Shape 61"/>
          <p:cNvSpPr/>
          <p:nvPr/>
        </p:nvSpPr>
        <p:spPr>
          <a:xfrm rot="2700000">
            <a:off x="2532888" y="1609344"/>
            <a:ext cx="155448" cy="155448"/>
          </a:xfrm>
          <a:prstGeom prst="rect">
            <a:avLst/>
          </a:prstGeom>
          <a:solidFill>
            <a:srgbClr val="D8C9A8">
              <a:alpha val="49000"/>
            </a:srgbClr>
          </a:solidFill>
          <a:ln w="12700">
            <a:solidFill>
              <a:srgbClr val="0E0A04"/>
            </a:solidFill>
            <a:prstDash val="solid"/>
          </a:ln>
        </p:spPr>
      </p:sp>
      <p:sp>
        <p:nvSpPr>
          <p:cNvPr id="64" name="Shape 62"/>
          <p:cNvSpPr/>
          <p:nvPr/>
        </p:nvSpPr>
        <p:spPr>
          <a:xfrm rot="2700000">
            <a:off x="2953512" y="1609344"/>
            <a:ext cx="109728" cy="109728"/>
          </a:xfrm>
          <a:prstGeom prst="rect">
            <a:avLst/>
          </a:prstGeom>
          <a:solidFill>
            <a:srgbClr val="8B2252">
              <a:alpha val="49000"/>
            </a:srgbClr>
          </a:solidFill>
          <a:ln w="12700">
            <a:solidFill>
              <a:srgbClr val="0E0A04"/>
            </a:solidFill>
            <a:prstDash val="solid"/>
          </a:ln>
        </p:spPr>
      </p:sp>
      <p:sp>
        <p:nvSpPr>
          <p:cNvPr id="65" name="Shape 63"/>
          <p:cNvSpPr/>
          <p:nvPr/>
        </p:nvSpPr>
        <p:spPr>
          <a:xfrm rot="2700000">
            <a:off x="3374136" y="1609344"/>
            <a:ext cx="109728" cy="109728"/>
          </a:xfrm>
          <a:prstGeom prst="rect">
            <a:avLst/>
          </a:prstGeom>
          <a:solidFill>
            <a:srgbClr val="6B4C20">
              <a:alpha val="49000"/>
            </a:srgbClr>
          </a:solidFill>
          <a:ln w="12700">
            <a:solidFill>
              <a:srgbClr val="0E0A04"/>
            </a:solidFill>
            <a:prstDash val="solid"/>
          </a:ln>
        </p:spPr>
      </p:sp>
      <p:sp>
        <p:nvSpPr>
          <p:cNvPr id="66" name="Shape 64"/>
          <p:cNvSpPr/>
          <p:nvPr/>
        </p:nvSpPr>
        <p:spPr>
          <a:xfrm rot="2700000">
            <a:off x="9144" y="1883664"/>
            <a:ext cx="109728" cy="109728"/>
          </a:xfrm>
          <a:prstGeom prst="rect">
            <a:avLst/>
          </a:prstGeom>
          <a:solidFill>
            <a:srgbClr val="D4951A">
              <a:alpha val="40000"/>
            </a:srgbClr>
          </a:solidFill>
          <a:ln w="12700">
            <a:solidFill>
              <a:srgbClr val="0E0A04"/>
            </a:solidFill>
            <a:prstDash val="solid"/>
          </a:ln>
        </p:spPr>
      </p:sp>
      <p:sp>
        <p:nvSpPr>
          <p:cNvPr id="67" name="Shape 65"/>
          <p:cNvSpPr/>
          <p:nvPr/>
        </p:nvSpPr>
        <p:spPr>
          <a:xfrm rot="2700000">
            <a:off x="429768" y="1883664"/>
            <a:ext cx="109728" cy="109728"/>
          </a:xfrm>
          <a:prstGeom prst="rect">
            <a:avLst/>
          </a:prstGeom>
          <a:solidFill>
            <a:srgbClr val="C0622B">
              <a:alpha val="40000"/>
            </a:srgbClr>
          </a:solidFill>
          <a:ln w="12700">
            <a:solidFill>
              <a:srgbClr val="0E0A04"/>
            </a:solidFill>
            <a:prstDash val="solid"/>
          </a:ln>
        </p:spPr>
      </p:sp>
      <p:sp>
        <p:nvSpPr>
          <p:cNvPr id="68" name="Shape 66"/>
          <p:cNvSpPr/>
          <p:nvPr/>
        </p:nvSpPr>
        <p:spPr>
          <a:xfrm rot="2700000">
            <a:off x="850392" y="1883664"/>
            <a:ext cx="155448" cy="155448"/>
          </a:xfrm>
          <a:prstGeom prst="rect">
            <a:avLst/>
          </a:prstGeom>
          <a:solidFill>
            <a:srgbClr val="1B9A8A">
              <a:alpha val="40000"/>
            </a:srgbClr>
          </a:solidFill>
          <a:ln w="12700">
            <a:solidFill>
              <a:srgbClr val="0E0A04"/>
            </a:solidFill>
            <a:prstDash val="solid"/>
          </a:ln>
        </p:spPr>
      </p:sp>
      <p:sp>
        <p:nvSpPr>
          <p:cNvPr id="69" name="Shape 67"/>
          <p:cNvSpPr/>
          <p:nvPr/>
        </p:nvSpPr>
        <p:spPr>
          <a:xfrm rot="2700000">
            <a:off x="1271016" y="1883664"/>
            <a:ext cx="219456" cy="219456"/>
          </a:xfrm>
          <a:prstGeom prst="rect">
            <a:avLst/>
          </a:prstGeom>
          <a:solidFill>
            <a:srgbClr val="D8C9A8">
              <a:alpha val="40000"/>
            </a:srgbClr>
          </a:solidFill>
          <a:ln w="12700">
            <a:solidFill>
              <a:srgbClr val="0E0A04"/>
            </a:solidFill>
            <a:prstDash val="solid"/>
          </a:ln>
        </p:spPr>
      </p:sp>
      <p:sp>
        <p:nvSpPr>
          <p:cNvPr id="70" name="Shape 68"/>
          <p:cNvSpPr/>
          <p:nvPr/>
        </p:nvSpPr>
        <p:spPr>
          <a:xfrm rot="2700000">
            <a:off x="1691640" y="1883664"/>
            <a:ext cx="109728" cy="109728"/>
          </a:xfrm>
          <a:prstGeom prst="rect">
            <a:avLst/>
          </a:prstGeom>
          <a:solidFill>
            <a:srgbClr val="8B2252">
              <a:alpha val="40000"/>
            </a:srgbClr>
          </a:solidFill>
          <a:ln w="12700">
            <a:solidFill>
              <a:srgbClr val="0E0A04"/>
            </a:solidFill>
            <a:prstDash val="solid"/>
          </a:ln>
        </p:spPr>
      </p:sp>
      <p:sp>
        <p:nvSpPr>
          <p:cNvPr id="71" name="Shape 69"/>
          <p:cNvSpPr/>
          <p:nvPr/>
        </p:nvSpPr>
        <p:spPr>
          <a:xfrm rot="2700000">
            <a:off x="2112264" y="1883664"/>
            <a:ext cx="155448" cy="155448"/>
          </a:xfrm>
          <a:prstGeom prst="rect">
            <a:avLst/>
          </a:prstGeom>
          <a:solidFill>
            <a:srgbClr val="6B4C20">
              <a:alpha val="40000"/>
            </a:srgbClr>
          </a:solidFill>
          <a:ln w="12700">
            <a:solidFill>
              <a:srgbClr val="0E0A04"/>
            </a:solidFill>
            <a:prstDash val="solid"/>
          </a:ln>
        </p:spPr>
      </p:sp>
      <p:sp>
        <p:nvSpPr>
          <p:cNvPr id="72" name="Shape 70"/>
          <p:cNvSpPr/>
          <p:nvPr/>
        </p:nvSpPr>
        <p:spPr>
          <a:xfrm rot="2700000">
            <a:off x="2532888" y="1883664"/>
            <a:ext cx="109728" cy="109728"/>
          </a:xfrm>
          <a:prstGeom prst="rect">
            <a:avLst/>
          </a:prstGeom>
          <a:solidFill>
            <a:srgbClr val="3D2208">
              <a:alpha val="40000"/>
            </a:srgbClr>
          </a:solidFill>
          <a:ln w="12700">
            <a:solidFill>
              <a:srgbClr val="0E0A04"/>
            </a:solidFill>
            <a:prstDash val="solid"/>
          </a:ln>
        </p:spPr>
      </p:sp>
      <p:sp>
        <p:nvSpPr>
          <p:cNvPr id="73" name="Shape 71"/>
          <p:cNvSpPr/>
          <p:nvPr/>
        </p:nvSpPr>
        <p:spPr>
          <a:xfrm rot="2700000">
            <a:off x="2953512" y="1883664"/>
            <a:ext cx="109728" cy="109728"/>
          </a:xfrm>
          <a:prstGeom prst="rect">
            <a:avLst/>
          </a:prstGeom>
          <a:solidFill>
            <a:srgbClr val="D4951A">
              <a:alpha val="40000"/>
            </a:srgbClr>
          </a:solidFill>
          <a:ln w="12700">
            <a:solidFill>
              <a:srgbClr val="0E0A04"/>
            </a:solidFill>
            <a:prstDash val="solid"/>
          </a:ln>
        </p:spPr>
      </p:sp>
      <p:sp>
        <p:nvSpPr>
          <p:cNvPr id="74" name="Shape 72"/>
          <p:cNvSpPr/>
          <p:nvPr/>
        </p:nvSpPr>
        <p:spPr>
          <a:xfrm rot="2700000">
            <a:off x="3374136" y="1883664"/>
            <a:ext cx="219456" cy="219456"/>
          </a:xfrm>
          <a:prstGeom prst="rect">
            <a:avLst/>
          </a:prstGeom>
          <a:solidFill>
            <a:srgbClr val="C0622B">
              <a:alpha val="40000"/>
            </a:srgbClr>
          </a:solidFill>
          <a:ln w="12700">
            <a:solidFill>
              <a:srgbClr val="0E0A04"/>
            </a:solidFill>
            <a:prstDash val="solid"/>
          </a:ln>
        </p:spPr>
      </p:sp>
      <p:sp>
        <p:nvSpPr>
          <p:cNvPr id="75" name="Shape 73"/>
          <p:cNvSpPr/>
          <p:nvPr/>
        </p:nvSpPr>
        <p:spPr>
          <a:xfrm rot="2700000">
            <a:off x="9144" y="2157984"/>
            <a:ext cx="109728" cy="109728"/>
          </a:xfrm>
          <a:prstGeom prst="rect">
            <a:avLst/>
          </a:prstGeom>
          <a:solidFill>
            <a:srgbClr val="D8C9A8">
              <a:alpha val="31000"/>
            </a:srgbClr>
          </a:solidFill>
          <a:ln w="12700">
            <a:solidFill>
              <a:srgbClr val="0E0A04"/>
            </a:solidFill>
            <a:prstDash val="solid"/>
          </a:ln>
        </p:spPr>
      </p:sp>
      <p:sp>
        <p:nvSpPr>
          <p:cNvPr id="76" name="Shape 74"/>
          <p:cNvSpPr/>
          <p:nvPr/>
        </p:nvSpPr>
        <p:spPr>
          <a:xfrm rot="2700000">
            <a:off x="429768" y="2157984"/>
            <a:ext cx="155448" cy="155448"/>
          </a:xfrm>
          <a:prstGeom prst="rect">
            <a:avLst/>
          </a:prstGeom>
          <a:solidFill>
            <a:srgbClr val="8B2252">
              <a:alpha val="31000"/>
            </a:srgbClr>
          </a:solidFill>
          <a:ln w="12700">
            <a:solidFill>
              <a:srgbClr val="0E0A04"/>
            </a:solidFill>
            <a:prstDash val="solid"/>
          </a:ln>
        </p:spPr>
      </p:sp>
      <p:sp>
        <p:nvSpPr>
          <p:cNvPr id="77" name="Shape 75"/>
          <p:cNvSpPr/>
          <p:nvPr/>
        </p:nvSpPr>
        <p:spPr>
          <a:xfrm rot="2700000">
            <a:off x="850392" y="2157984"/>
            <a:ext cx="219456" cy="219456"/>
          </a:xfrm>
          <a:prstGeom prst="rect">
            <a:avLst/>
          </a:prstGeom>
          <a:solidFill>
            <a:srgbClr val="6B4C20">
              <a:alpha val="31000"/>
            </a:srgbClr>
          </a:solidFill>
          <a:ln w="12700">
            <a:solidFill>
              <a:srgbClr val="0E0A04"/>
            </a:solidFill>
            <a:prstDash val="solid"/>
          </a:ln>
        </p:spPr>
      </p:sp>
      <p:sp>
        <p:nvSpPr>
          <p:cNvPr id="78" name="Shape 76"/>
          <p:cNvSpPr/>
          <p:nvPr/>
        </p:nvSpPr>
        <p:spPr>
          <a:xfrm rot="2700000">
            <a:off x="1271016" y="2157984"/>
            <a:ext cx="109728" cy="109728"/>
          </a:xfrm>
          <a:prstGeom prst="rect">
            <a:avLst/>
          </a:prstGeom>
          <a:solidFill>
            <a:srgbClr val="3D2208">
              <a:alpha val="31000"/>
            </a:srgbClr>
          </a:solidFill>
          <a:ln w="12700">
            <a:solidFill>
              <a:srgbClr val="0E0A04"/>
            </a:solidFill>
            <a:prstDash val="solid"/>
          </a:ln>
        </p:spPr>
      </p:sp>
      <p:sp>
        <p:nvSpPr>
          <p:cNvPr id="79" name="Shape 77"/>
          <p:cNvSpPr/>
          <p:nvPr/>
        </p:nvSpPr>
        <p:spPr>
          <a:xfrm rot="2700000">
            <a:off x="1691640" y="2157984"/>
            <a:ext cx="155448" cy="155448"/>
          </a:xfrm>
          <a:prstGeom prst="rect">
            <a:avLst/>
          </a:prstGeom>
          <a:solidFill>
            <a:srgbClr val="D4951A">
              <a:alpha val="31000"/>
            </a:srgbClr>
          </a:solidFill>
          <a:ln w="12700">
            <a:solidFill>
              <a:srgbClr val="0E0A04"/>
            </a:solidFill>
            <a:prstDash val="solid"/>
          </a:ln>
        </p:spPr>
      </p:sp>
      <p:sp>
        <p:nvSpPr>
          <p:cNvPr id="80" name="Shape 78"/>
          <p:cNvSpPr/>
          <p:nvPr/>
        </p:nvSpPr>
        <p:spPr>
          <a:xfrm rot="2700000">
            <a:off x="2112264" y="2157984"/>
            <a:ext cx="109728" cy="109728"/>
          </a:xfrm>
          <a:prstGeom prst="rect">
            <a:avLst/>
          </a:prstGeom>
          <a:solidFill>
            <a:srgbClr val="C0622B">
              <a:alpha val="31000"/>
            </a:srgbClr>
          </a:solidFill>
          <a:ln w="12700">
            <a:solidFill>
              <a:srgbClr val="0E0A04"/>
            </a:solidFill>
            <a:prstDash val="solid"/>
          </a:ln>
        </p:spPr>
      </p:sp>
      <p:sp>
        <p:nvSpPr>
          <p:cNvPr id="81" name="Shape 79"/>
          <p:cNvSpPr/>
          <p:nvPr/>
        </p:nvSpPr>
        <p:spPr>
          <a:xfrm rot="2700000">
            <a:off x="2532888" y="2157984"/>
            <a:ext cx="109728" cy="109728"/>
          </a:xfrm>
          <a:prstGeom prst="rect">
            <a:avLst/>
          </a:prstGeom>
          <a:solidFill>
            <a:srgbClr val="1B9A8A">
              <a:alpha val="31000"/>
            </a:srgbClr>
          </a:solidFill>
          <a:ln w="12700">
            <a:solidFill>
              <a:srgbClr val="0E0A04"/>
            </a:solidFill>
            <a:prstDash val="solid"/>
          </a:ln>
        </p:spPr>
      </p:sp>
      <p:sp>
        <p:nvSpPr>
          <p:cNvPr id="82" name="Shape 80"/>
          <p:cNvSpPr/>
          <p:nvPr/>
        </p:nvSpPr>
        <p:spPr>
          <a:xfrm rot="2700000">
            <a:off x="2953512" y="2157984"/>
            <a:ext cx="219456" cy="219456"/>
          </a:xfrm>
          <a:prstGeom prst="rect">
            <a:avLst/>
          </a:prstGeom>
          <a:solidFill>
            <a:srgbClr val="D8C9A8">
              <a:alpha val="31000"/>
            </a:srgbClr>
          </a:solidFill>
          <a:ln w="12700">
            <a:solidFill>
              <a:srgbClr val="0E0A04"/>
            </a:solidFill>
            <a:prstDash val="solid"/>
          </a:ln>
        </p:spPr>
      </p:sp>
      <p:sp>
        <p:nvSpPr>
          <p:cNvPr id="83" name="Shape 81"/>
          <p:cNvSpPr/>
          <p:nvPr/>
        </p:nvSpPr>
        <p:spPr>
          <a:xfrm rot="2700000">
            <a:off x="3374136" y="2157984"/>
            <a:ext cx="109728" cy="109728"/>
          </a:xfrm>
          <a:prstGeom prst="rect">
            <a:avLst/>
          </a:prstGeom>
          <a:solidFill>
            <a:srgbClr val="8B2252">
              <a:alpha val="31000"/>
            </a:srgbClr>
          </a:solidFill>
          <a:ln w="12700">
            <a:solidFill>
              <a:srgbClr val="0E0A04"/>
            </a:solidFill>
            <a:prstDash val="solid"/>
          </a:ln>
        </p:spPr>
      </p:sp>
      <p:sp>
        <p:nvSpPr>
          <p:cNvPr id="84" name="Shape 82"/>
          <p:cNvSpPr/>
          <p:nvPr/>
        </p:nvSpPr>
        <p:spPr>
          <a:xfrm rot="2700000">
            <a:off x="9144" y="2432304"/>
            <a:ext cx="155448" cy="155448"/>
          </a:xfrm>
          <a:prstGeom prst="rect">
            <a:avLst/>
          </a:prstGeom>
          <a:solidFill>
            <a:srgbClr val="3D2208">
              <a:alpha val="22000"/>
            </a:srgbClr>
          </a:solidFill>
          <a:ln w="12700">
            <a:solidFill>
              <a:srgbClr val="0E0A04"/>
            </a:solidFill>
            <a:prstDash val="solid"/>
          </a:ln>
        </p:spPr>
      </p:sp>
      <p:sp>
        <p:nvSpPr>
          <p:cNvPr id="85" name="Shape 83"/>
          <p:cNvSpPr/>
          <p:nvPr/>
        </p:nvSpPr>
        <p:spPr>
          <a:xfrm rot="2700000">
            <a:off x="429768" y="2432304"/>
            <a:ext cx="219456" cy="219456"/>
          </a:xfrm>
          <a:prstGeom prst="rect">
            <a:avLst/>
          </a:prstGeom>
          <a:solidFill>
            <a:srgbClr val="D4951A">
              <a:alpha val="22000"/>
            </a:srgbClr>
          </a:solidFill>
          <a:ln w="12700">
            <a:solidFill>
              <a:srgbClr val="0E0A04"/>
            </a:solidFill>
            <a:prstDash val="solid"/>
          </a:ln>
        </p:spPr>
      </p:sp>
      <p:sp>
        <p:nvSpPr>
          <p:cNvPr id="86" name="Shape 84"/>
          <p:cNvSpPr/>
          <p:nvPr/>
        </p:nvSpPr>
        <p:spPr>
          <a:xfrm rot="2700000">
            <a:off x="850392" y="2432304"/>
            <a:ext cx="109728" cy="109728"/>
          </a:xfrm>
          <a:prstGeom prst="rect">
            <a:avLst/>
          </a:prstGeom>
          <a:solidFill>
            <a:srgbClr val="C0622B">
              <a:alpha val="22000"/>
            </a:srgbClr>
          </a:solidFill>
          <a:ln w="12700">
            <a:solidFill>
              <a:srgbClr val="0E0A04"/>
            </a:solidFill>
            <a:prstDash val="solid"/>
          </a:ln>
        </p:spPr>
      </p:sp>
      <p:sp>
        <p:nvSpPr>
          <p:cNvPr id="87" name="Shape 85"/>
          <p:cNvSpPr/>
          <p:nvPr/>
        </p:nvSpPr>
        <p:spPr>
          <a:xfrm rot="2700000">
            <a:off x="1271016" y="2432304"/>
            <a:ext cx="155448" cy="155448"/>
          </a:xfrm>
          <a:prstGeom prst="rect">
            <a:avLst/>
          </a:prstGeom>
          <a:solidFill>
            <a:srgbClr val="1B9A8A">
              <a:alpha val="22000"/>
            </a:srgbClr>
          </a:solidFill>
          <a:ln w="12700">
            <a:solidFill>
              <a:srgbClr val="0E0A04"/>
            </a:solidFill>
            <a:prstDash val="solid"/>
          </a:ln>
        </p:spPr>
      </p:sp>
      <p:sp>
        <p:nvSpPr>
          <p:cNvPr id="88" name="Shape 86"/>
          <p:cNvSpPr/>
          <p:nvPr/>
        </p:nvSpPr>
        <p:spPr>
          <a:xfrm rot="2700000">
            <a:off x="1691640" y="2432304"/>
            <a:ext cx="109728" cy="109728"/>
          </a:xfrm>
          <a:prstGeom prst="rect">
            <a:avLst/>
          </a:prstGeom>
          <a:solidFill>
            <a:srgbClr val="D8C9A8">
              <a:alpha val="22000"/>
            </a:srgbClr>
          </a:solidFill>
          <a:ln w="12700">
            <a:solidFill>
              <a:srgbClr val="0E0A04"/>
            </a:solidFill>
            <a:prstDash val="solid"/>
          </a:ln>
        </p:spPr>
      </p:sp>
      <p:sp>
        <p:nvSpPr>
          <p:cNvPr id="89" name="Shape 87"/>
          <p:cNvSpPr/>
          <p:nvPr/>
        </p:nvSpPr>
        <p:spPr>
          <a:xfrm rot="2700000">
            <a:off x="2112264" y="2432304"/>
            <a:ext cx="109728" cy="109728"/>
          </a:xfrm>
          <a:prstGeom prst="rect">
            <a:avLst/>
          </a:prstGeom>
          <a:solidFill>
            <a:srgbClr val="8B2252">
              <a:alpha val="22000"/>
            </a:srgbClr>
          </a:solidFill>
          <a:ln w="12700">
            <a:solidFill>
              <a:srgbClr val="0E0A04"/>
            </a:solidFill>
            <a:prstDash val="solid"/>
          </a:ln>
        </p:spPr>
      </p:sp>
      <p:sp>
        <p:nvSpPr>
          <p:cNvPr id="90" name="Shape 88"/>
          <p:cNvSpPr/>
          <p:nvPr/>
        </p:nvSpPr>
        <p:spPr>
          <a:xfrm rot="2700000">
            <a:off x="2532888" y="2432304"/>
            <a:ext cx="219456" cy="219456"/>
          </a:xfrm>
          <a:prstGeom prst="rect">
            <a:avLst/>
          </a:prstGeom>
          <a:solidFill>
            <a:srgbClr val="6B4C20">
              <a:alpha val="22000"/>
            </a:srgbClr>
          </a:solidFill>
          <a:ln w="12700">
            <a:solidFill>
              <a:srgbClr val="0E0A04"/>
            </a:solidFill>
            <a:prstDash val="solid"/>
          </a:ln>
        </p:spPr>
      </p:sp>
      <p:sp>
        <p:nvSpPr>
          <p:cNvPr id="91" name="Shape 89"/>
          <p:cNvSpPr/>
          <p:nvPr/>
        </p:nvSpPr>
        <p:spPr>
          <a:xfrm rot="2700000">
            <a:off x="2953512" y="2432304"/>
            <a:ext cx="109728" cy="109728"/>
          </a:xfrm>
          <a:prstGeom prst="rect">
            <a:avLst/>
          </a:prstGeom>
          <a:solidFill>
            <a:srgbClr val="3D2208">
              <a:alpha val="22000"/>
            </a:srgbClr>
          </a:solidFill>
          <a:ln w="12700">
            <a:solidFill>
              <a:srgbClr val="0E0A04"/>
            </a:solidFill>
            <a:prstDash val="solid"/>
          </a:ln>
        </p:spPr>
      </p:sp>
      <p:sp>
        <p:nvSpPr>
          <p:cNvPr id="92" name="Shape 90"/>
          <p:cNvSpPr/>
          <p:nvPr/>
        </p:nvSpPr>
        <p:spPr>
          <a:xfrm rot="2700000">
            <a:off x="3374136" y="2432304"/>
            <a:ext cx="109728" cy="109728"/>
          </a:xfrm>
          <a:prstGeom prst="rect">
            <a:avLst/>
          </a:prstGeom>
          <a:solidFill>
            <a:srgbClr val="D4951A">
              <a:alpha val="22000"/>
            </a:srgbClr>
          </a:solidFill>
          <a:ln w="12700">
            <a:solidFill>
              <a:srgbClr val="0E0A04"/>
            </a:solidFill>
            <a:prstDash val="solid"/>
          </a:ln>
        </p:spPr>
      </p:sp>
      <p:sp>
        <p:nvSpPr>
          <p:cNvPr id="93" name="Shape 91"/>
          <p:cNvSpPr/>
          <p:nvPr/>
        </p:nvSpPr>
        <p:spPr>
          <a:xfrm rot="2700000">
            <a:off x="9144" y="2706624"/>
            <a:ext cx="219456" cy="219456"/>
          </a:xfrm>
          <a:prstGeom prst="rect">
            <a:avLst/>
          </a:prstGeom>
          <a:solidFill>
            <a:srgbClr val="1B9A8A">
              <a:alpha val="58000"/>
            </a:srgbClr>
          </a:solidFill>
          <a:ln w="12700">
            <a:solidFill>
              <a:srgbClr val="0E0A04"/>
            </a:solidFill>
            <a:prstDash val="solid"/>
          </a:ln>
        </p:spPr>
      </p:sp>
      <p:sp>
        <p:nvSpPr>
          <p:cNvPr id="94" name="Shape 92"/>
          <p:cNvSpPr/>
          <p:nvPr/>
        </p:nvSpPr>
        <p:spPr>
          <a:xfrm rot="2700000">
            <a:off x="429768" y="2706624"/>
            <a:ext cx="109728" cy="109728"/>
          </a:xfrm>
          <a:prstGeom prst="rect">
            <a:avLst/>
          </a:prstGeom>
          <a:solidFill>
            <a:srgbClr val="D8C9A8">
              <a:alpha val="58000"/>
            </a:srgbClr>
          </a:solidFill>
          <a:ln w="12700">
            <a:solidFill>
              <a:srgbClr val="0E0A04"/>
            </a:solidFill>
            <a:prstDash val="solid"/>
          </a:ln>
        </p:spPr>
      </p:sp>
      <p:sp>
        <p:nvSpPr>
          <p:cNvPr id="95" name="Shape 93"/>
          <p:cNvSpPr/>
          <p:nvPr/>
        </p:nvSpPr>
        <p:spPr>
          <a:xfrm rot="2700000">
            <a:off x="850392" y="2706624"/>
            <a:ext cx="155448" cy="155448"/>
          </a:xfrm>
          <a:prstGeom prst="rect">
            <a:avLst/>
          </a:prstGeom>
          <a:solidFill>
            <a:srgbClr val="8B2252">
              <a:alpha val="58000"/>
            </a:srgbClr>
          </a:solidFill>
          <a:ln w="12700">
            <a:solidFill>
              <a:srgbClr val="0E0A04"/>
            </a:solidFill>
            <a:prstDash val="solid"/>
          </a:ln>
        </p:spPr>
      </p:sp>
      <p:sp>
        <p:nvSpPr>
          <p:cNvPr id="96" name="Shape 94"/>
          <p:cNvSpPr/>
          <p:nvPr/>
        </p:nvSpPr>
        <p:spPr>
          <a:xfrm rot="2700000">
            <a:off x="1271016" y="2706624"/>
            <a:ext cx="109728" cy="109728"/>
          </a:xfrm>
          <a:prstGeom prst="rect">
            <a:avLst/>
          </a:prstGeom>
          <a:solidFill>
            <a:srgbClr val="6B4C20">
              <a:alpha val="58000"/>
            </a:srgbClr>
          </a:solidFill>
          <a:ln w="12700">
            <a:solidFill>
              <a:srgbClr val="0E0A04"/>
            </a:solidFill>
            <a:prstDash val="solid"/>
          </a:ln>
        </p:spPr>
      </p:sp>
      <p:sp>
        <p:nvSpPr>
          <p:cNvPr id="97" name="Shape 95"/>
          <p:cNvSpPr/>
          <p:nvPr/>
        </p:nvSpPr>
        <p:spPr>
          <a:xfrm rot="2700000">
            <a:off x="1691640" y="2706624"/>
            <a:ext cx="109728" cy="109728"/>
          </a:xfrm>
          <a:prstGeom prst="rect">
            <a:avLst/>
          </a:prstGeom>
          <a:solidFill>
            <a:srgbClr val="3D2208">
              <a:alpha val="58000"/>
            </a:srgbClr>
          </a:solidFill>
          <a:ln w="12700">
            <a:solidFill>
              <a:srgbClr val="0E0A04"/>
            </a:solidFill>
            <a:prstDash val="solid"/>
          </a:ln>
        </p:spPr>
      </p:sp>
      <p:sp>
        <p:nvSpPr>
          <p:cNvPr id="98" name="Shape 96"/>
          <p:cNvSpPr/>
          <p:nvPr/>
        </p:nvSpPr>
        <p:spPr>
          <a:xfrm rot="2700000">
            <a:off x="2112264" y="2706624"/>
            <a:ext cx="219456" cy="219456"/>
          </a:xfrm>
          <a:prstGeom prst="rect">
            <a:avLst/>
          </a:prstGeom>
          <a:solidFill>
            <a:srgbClr val="D4951A">
              <a:alpha val="58000"/>
            </a:srgbClr>
          </a:solidFill>
          <a:ln w="12700">
            <a:solidFill>
              <a:srgbClr val="0E0A04"/>
            </a:solidFill>
            <a:prstDash val="solid"/>
          </a:ln>
        </p:spPr>
      </p:sp>
      <p:sp>
        <p:nvSpPr>
          <p:cNvPr id="99" name="Shape 97"/>
          <p:cNvSpPr/>
          <p:nvPr/>
        </p:nvSpPr>
        <p:spPr>
          <a:xfrm rot="2700000">
            <a:off x="2532888" y="2706624"/>
            <a:ext cx="109728" cy="109728"/>
          </a:xfrm>
          <a:prstGeom prst="rect">
            <a:avLst/>
          </a:prstGeom>
          <a:solidFill>
            <a:srgbClr val="C0622B">
              <a:alpha val="58000"/>
            </a:srgbClr>
          </a:solidFill>
          <a:ln w="12700">
            <a:solidFill>
              <a:srgbClr val="0E0A04"/>
            </a:solidFill>
            <a:prstDash val="solid"/>
          </a:ln>
        </p:spPr>
      </p:sp>
      <p:sp>
        <p:nvSpPr>
          <p:cNvPr id="100" name="Shape 98"/>
          <p:cNvSpPr/>
          <p:nvPr/>
        </p:nvSpPr>
        <p:spPr>
          <a:xfrm rot="2700000">
            <a:off x="2953512" y="2706624"/>
            <a:ext cx="109728" cy="109728"/>
          </a:xfrm>
          <a:prstGeom prst="rect">
            <a:avLst/>
          </a:prstGeom>
          <a:solidFill>
            <a:srgbClr val="1B9A8A">
              <a:alpha val="58000"/>
            </a:srgbClr>
          </a:solidFill>
          <a:ln w="12700">
            <a:solidFill>
              <a:srgbClr val="0E0A04"/>
            </a:solidFill>
            <a:prstDash val="solid"/>
          </a:ln>
        </p:spPr>
      </p:sp>
      <p:sp>
        <p:nvSpPr>
          <p:cNvPr id="101" name="Shape 99"/>
          <p:cNvSpPr/>
          <p:nvPr/>
        </p:nvSpPr>
        <p:spPr>
          <a:xfrm rot="2700000">
            <a:off x="3374136" y="2706624"/>
            <a:ext cx="155448" cy="155448"/>
          </a:xfrm>
          <a:prstGeom prst="rect">
            <a:avLst/>
          </a:prstGeom>
          <a:solidFill>
            <a:srgbClr val="D8C9A8">
              <a:alpha val="58000"/>
            </a:srgbClr>
          </a:solidFill>
          <a:ln w="12700">
            <a:solidFill>
              <a:srgbClr val="0E0A04"/>
            </a:solidFill>
            <a:prstDash val="solid"/>
          </a:ln>
        </p:spPr>
      </p:sp>
      <p:sp>
        <p:nvSpPr>
          <p:cNvPr id="102" name="Shape 100"/>
          <p:cNvSpPr/>
          <p:nvPr/>
        </p:nvSpPr>
        <p:spPr>
          <a:xfrm rot="2700000">
            <a:off x="9144" y="2980944"/>
            <a:ext cx="109728" cy="109728"/>
          </a:xfrm>
          <a:prstGeom prst="rect">
            <a:avLst/>
          </a:prstGeom>
          <a:solidFill>
            <a:srgbClr val="6B4C20">
              <a:alpha val="49000"/>
            </a:srgbClr>
          </a:solidFill>
          <a:ln w="12700">
            <a:solidFill>
              <a:srgbClr val="0E0A04"/>
            </a:solidFill>
            <a:prstDash val="solid"/>
          </a:ln>
        </p:spPr>
      </p:sp>
      <p:sp>
        <p:nvSpPr>
          <p:cNvPr id="103" name="Shape 101"/>
          <p:cNvSpPr/>
          <p:nvPr/>
        </p:nvSpPr>
        <p:spPr>
          <a:xfrm rot="2700000">
            <a:off x="429768" y="2980944"/>
            <a:ext cx="155448" cy="155448"/>
          </a:xfrm>
          <a:prstGeom prst="rect">
            <a:avLst/>
          </a:prstGeom>
          <a:solidFill>
            <a:srgbClr val="3D2208">
              <a:alpha val="49000"/>
            </a:srgbClr>
          </a:solidFill>
          <a:ln w="12700">
            <a:solidFill>
              <a:srgbClr val="0E0A04"/>
            </a:solidFill>
            <a:prstDash val="solid"/>
          </a:ln>
        </p:spPr>
      </p:sp>
      <p:sp>
        <p:nvSpPr>
          <p:cNvPr id="104" name="Shape 102"/>
          <p:cNvSpPr/>
          <p:nvPr/>
        </p:nvSpPr>
        <p:spPr>
          <a:xfrm rot="2700000">
            <a:off x="850392" y="2980944"/>
            <a:ext cx="109728" cy="109728"/>
          </a:xfrm>
          <a:prstGeom prst="rect">
            <a:avLst/>
          </a:prstGeom>
          <a:solidFill>
            <a:srgbClr val="D4951A">
              <a:alpha val="49000"/>
            </a:srgbClr>
          </a:solidFill>
          <a:ln w="12700">
            <a:solidFill>
              <a:srgbClr val="0E0A04"/>
            </a:solidFill>
            <a:prstDash val="solid"/>
          </a:ln>
        </p:spPr>
      </p:sp>
      <p:sp>
        <p:nvSpPr>
          <p:cNvPr id="105" name="Shape 103"/>
          <p:cNvSpPr/>
          <p:nvPr/>
        </p:nvSpPr>
        <p:spPr>
          <a:xfrm rot="2700000">
            <a:off x="1271016" y="2980944"/>
            <a:ext cx="109728" cy="109728"/>
          </a:xfrm>
          <a:prstGeom prst="rect">
            <a:avLst/>
          </a:prstGeom>
          <a:solidFill>
            <a:srgbClr val="C0622B">
              <a:alpha val="49000"/>
            </a:srgbClr>
          </a:solidFill>
          <a:ln w="12700">
            <a:solidFill>
              <a:srgbClr val="0E0A04"/>
            </a:solidFill>
            <a:prstDash val="solid"/>
          </a:ln>
        </p:spPr>
      </p:sp>
      <p:sp>
        <p:nvSpPr>
          <p:cNvPr id="106" name="Shape 104"/>
          <p:cNvSpPr/>
          <p:nvPr/>
        </p:nvSpPr>
        <p:spPr>
          <a:xfrm rot="2700000">
            <a:off x="1691640" y="2980944"/>
            <a:ext cx="219456" cy="219456"/>
          </a:xfrm>
          <a:prstGeom prst="rect">
            <a:avLst/>
          </a:prstGeom>
          <a:solidFill>
            <a:srgbClr val="1B9A8A">
              <a:alpha val="49000"/>
            </a:srgbClr>
          </a:solidFill>
          <a:ln w="12700">
            <a:solidFill>
              <a:srgbClr val="0E0A04"/>
            </a:solidFill>
            <a:prstDash val="solid"/>
          </a:ln>
        </p:spPr>
      </p:sp>
      <p:sp>
        <p:nvSpPr>
          <p:cNvPr id="107" name="Shape 105"/>
          <p:cNvSpPr/>
          <p:nvPr/>
        </p:nvSpPr>
        <p:spPr>
          <a:xfrm rot="2700000">
            <a:off x="2112264" y="2980944"/>
            <a:ext cx="109728" cy="109728"/>
          </a:xfrm>
          <a:prstGeom prst="rect">
            <a:avLst/>
          </a:prstGeom>
          <a:solidFill>
            <a:srgbClr val="D8C9A8">
              <a:alpha val="49000"/>
            </a:srgbClr>
          </a:solidFill>
          <a:ln w="12700">
            <a:solidFill>
              <a:srgbClr val="0E0A04"/>
            </a:solidFill>
            <a:prstDash val="solid"/>
          </a:ln>
        </p:spPr>
      </p:sp>
      <p:sp>
        <p:nvSpPr>
          <p:cNvPr id="108" name="Shape 106"/>
          <p:cNvSpPr/>
          <p:nvPr/>
        </p:nvSpPr>
        <p:spPr>
          <a:xfrm rot="2700000">
            <a:off x="2532888" y="2980944"/>
            <a:ext cx="109728" cy="109728"/>
          </a:xfrm>
          <a:prstGeom prst="rect">
            <a:avLst/>
          </a:prstGeom>
          <a:solidFill>
            <a:srgbClr val="8B2252">
              <a:alpha val="49000"/>
            </a:srgbClr>
          </a:solidFill>
          <a:ln w="12700">
            <a:solidFill>
              <a:srgbClr val="0E0A04"/>
            </a:solidFill>
            <a:prstDash val="solid"/>
          </a:ln>
        </p:spPr>
      </p:sp>
      <p:sp>
        <p:nvSpPr>
          <p:cNvPr id="109" name="Shape 107"/>
          <p:cNvSpPr/>
          <p:nvPr/>
        </p:nvSpPr>
        <p:spPr>
          <a:xfrm rot="2700000">
            <a:off x="2953512" y="2980944"/>
            <a:ext cx="155448" cy="155448"/>
          </a:xfrm>
          <a:prstGeom prst="rect">
            <a:avLst/>
          </a:prstGeom>
          <a:solidFill>
            <a:srgbClr val="6B4C20">
              <a:alpha val="49000"/>
            </a:srgbClr>
          </a:solidFill>
          <a:ln w="12700">
            <a:solidFill>
              <a:srgbClr val="0E0A04"/>
            </a:solidFill>
            <a:prstDash val="solid"/>
          </a:ln>
        </p:spPr>
      </p:sp>
      <p:sp>
        <p:nvSpPr>
          <p:cNvPr id="110" name="Shape 108"/>
          <p:cNvSpPr/>
          <p:nvPr/>
        </p:nvSpPr>
        <p:spPr>
          <a:xfrm rot="2700000">
            <a:off x="3374136" y="2980944"/>
            <a:ext cx="109728" cy="109728"/>
          </a:xfrm>
          <a:prstGeom prst="rect">
            <a:avLst/>
          </a:prstGeom>
          <a:solidFill>
            <a:srgbClr val="3D2208">
              <a:alpha val="49000"/>
            </a:srgbClr>
          </a:solidFill>
          <a:ln w="12700">
            <a:solidFill>
              <a:srgbClr val="0E0A04"/>
            </a:solidFill>
            <a:prstDash val="solid"/>
          </a:ln>
        </p:spPr>
      </p:sp>
      <p:sp>
        <p:nvSpPr>
          <p:cNvPr id="111" name="Shape 109"/>
          <p:cNvSpPr/>
          <p:nvPr/>
        </p:nvSpPr>
        <p:spPr>
          <a:xfrm rot="2700000">
            <a:off x="9144" y="3255264"/>
            <a:ext cx="155448" cy="155448"/>
          </a:xfrm>
          <a:prstGeom prst="rect">
            <a:avLst/>
          </a:prstGeom>
          <a:solidFill>
            <a:srgbClr val="C0622B">
              <a:alpha val="40000"/>
            </a:srgbClr>
          </a:solidFill>
          <a:ln w="12700">
            <a:solidFill>
              <a:srgbClr val="0E0A04"/>
            </a:solidFill>
            <a:prstDash val="solid"/>
          </a:ln>
        </p:spPr>
      </p:sp>
      <p:sp>
        <p:nvSpPr>
          <p:cNvPr id="112" name="Shape 110"/>
          <p:cNvSpPr/>
          <p:nvPr/>
        </p:nvSpPr>
        <p:spPr>
          <a:xfrm rot="2700000">
            <a:off x="429768" y="3255264"/>
            <a:ext cx="109728" cy="109728"/>
          </a:xfrm>
          <a:prstGeom prst="rect">
            <a:avLst/>
          </a:prstGeom>
          <a:solidFill>
            <a:srgbClr val="1B9A8A">
              <a:alpha val="40000"/>
            </a:srgbClr>
          </a:solidFill>
          <a:ln w="12700">
            <a:solidFill>
              <a:srgbClr val="0E0A04"/>
            </a:solidFill>
            <a:prstDash val="solid"/>
          </a:ln>
        </p:spPr>
      </p:sp>
      <p:sp>
        <p:nvSpPr>
          <p:cNvPr id="113" name="Shape 111"/>
          <p:cNvSpPr/>
          <p:nvPr/>
        </p:nvSpPr>
        <p:spPr>
          <a:xfrm rot="2700000">
            <a:off x="850392" y="3255264"/>
            <a:ext cx="109728" cy="109728"/>
          </a:xfrm>
          <a:prstGeom prst="rect">
            <a:avLst/>
          </a:prstGeom>
          <a:solidFill>
            <a:srgbClr val="D8C9A8">
              <a:alpha val="40000"/>
            </a:srgbClr>
          </a:solidFill>
          <a:ln w="12700">
            <a:solidFill>
              <a:srgbClr val="0E0A04"/>
            </a:solidFill>
            <a:prstDash val="solid"/>
          </a:ln>
        </p:spPr>
      </p:sp>
      <p:sp>
        <p:nvSpPr>
          <p:cNvPr id="114" name="Shape 112"/>
          <p:cNvSpPr/>
          <p:nvPr/>
        </p:nvSpPr>
        <p:spPr>
          <a:xfrm rot="2700000">
            <a:off x="1271016" y="3255264"/>
            <a:ext cx="219456" cy="219456"/>
          </a:xfrm>
          <a:prstGeom prst="rect">
            <a:avLst/>
          </a:prstGeom>
          <a:solidFill>
            <a:srgbClr val="8B2252">
              <a:alpha val="40000"/>
            </a:srgbClr>
          </a:solidFill>
          <a:ln w="12700">
            <a:solidFill>
              <a:srgbClr val="0E0A04"/>
            </a:solidFill>
            <a:prstDash val="solid"/>
          </a:ln>
        </p:spPr>
      </p:sp>
      <p:sp>
        <p:nvSpPr>
          <p:cNvPr id="115" name="Shape 113"/>
          <p:cNvSpPr/>
          <p:nvPr/>
        </p:nvSpPr>
        <p:spPr>
          <a:xfrm rot="2700000">
            <a:off x="1691640" y="3255264"/>
            <a:ext cx="109728" cy="109728"/>
          </a:xfrm>
          <a:prstGeom prst="rect">
            <a:avLst/>
          </a:prstGeom>
          <a:solidFill>
            <a:srgbClr val="6B4C20">
              <a:alpha val="40000"/>
            </a:srgbClr>
          </a:solidFill>
          <a:ln w="12700">
            <a:solidFill>
              <a:srgbClr val="0E0A04"/>
            </a:solidFill>
            <a:prstDash val="solid"/>
          </a:ln>
        </p:spPr>
      </p:sp>
      <p:sp>
        <p:nvSpPr>
          <p:cNvPr id="116" name="Shape 114"/>
          <p:cNvSpPr/>
          <p:nvPr/>
        </p:nvSpPr>
        <p:spPr>
          <a:xfrm rot="2700000">
            <a:off x="2112264" y="3255264"/>
            <a:ext cx="109728" cy="109728"/>
          </a:xfrm>
          <a:prstGeom prst="rect">
            <a:avLst/>
          </a:prstGeom>
          <a:solidFill>
            <a:srgbClr val="3D2208">
              <a:alpha val="40000"/>
            </a:srgbClr>
          </a:solidFill>
          <a:ln w="12700">
            <a:solidFill>
              <a:srgbClr val="0E0A04"/>
            </a:solidFill>
            <a:prstDash val="solid"/>
          </a:ln>
        </p:spPr>
      </p:sp>
      <p:sp>
        <p:nvSpPr>
          <p:cNvPr id="117" name="Shape 115"/>
          <p:cNvSpPr/>
          <p:nvPr/>
        </p:nvSpPr>
        <p:spPr>
          <a:xfrm rot="2700000">
            <a:off x="2532888" y="3255264"/>
            <a:ext cx="155448" cy="155448"/>
          </a:xfrm>
          <a:prstGeom prst="rect">
            <a:avLst/>
          </a:prstGeom>
          <a:solidFill>
            <a:srgbClr val="D4951A">
              <a:alpha val="40000"/>
            </a:srgbClr>
          </a:solidFill>
          <a:ln w="12700">
            <a:solidFill>
              <a:srgbClr val="0E0A04"/>
            </a:solidFill>
            <a:prstDash val="solid"/>
          </a:ln>
        </p:spPr>
      </p:sp>
      <p:sp>
        <p:nvSpPr>
          <p:cNvPr id="118" name="Shape 116"/>
          <p:cNvSpPr/>
          <p:nvPr/>
        </p:nvSpPr>
        <p:spPr>
          <a:xfrm rot="2700000">
            <a:off x="2953512" y="3255264"/>
            <a:ext cx="109728" cy="109728"/>
          </a:xfrm>
          <a:prstGeom prst="rect">
            <a:avLst/>
          </a:prstGeom>
          <a:solidFill>
            <a:srgbClr val="C0622B">
              <a:alpha val="40000"/>
            </a:srgbClr>
          </a:solidFill>
          <a:ln w="12700">
            <a:solidFill>
              <a:srgbClr val="0E0A04"/>
            </a:solidFill>
            <a:prstDash val="solid"/>
          </a:ln>
        </p:spPr>
      </p:sp>
      <p:sp>
        <p:nvSpPr>
          <p:cNvPr id="119" name="Shape 117"/>
          <p:cNvSpPr/>
          <p:nvPr/>
        </p:nvSpPr>
        <p:spPr>
          <a:xfrm rot="2700000">
            <a:off x="3374136" y="3255264"/>
            <a:ext cx="219456" cy="219456"/>
          </a:xfrm>
          <a:prstGeom prst="rect">
            <a:avLst/>
          </a:prstGeom>
          <a:solidFill>
            <a:srgbClr val="1B9A8A">
              <a:alpha val="40000"/>
            </a:srgbClr>
          </a:solidFill>
          <a:ln w="12700">
            <a:solidFill>
              <a:srgbClr val="0E0A04"/>
            </a:solidFill>
            <a:prstDash val="solid"/>
          </a:ln>
        </p:spPr>
      </p:sp>
      <p:sp>
        <p:nvSpPr>
          <p:cNvPr id="120" name="Shape 118"/>
          <p:cNvSpPr/>
          <p:nvPr/>
        </p:nvSpPr>
        <p:spPr>
          <a:xfrm rot="2700000">
            <a:off x="9144" y="3529584"/>
            <a:ext cx="109728" cy="109728"/>
          </a:xfrm>
          <a:prstGeom prst="rect">
            <a:avLst/>
          </a:prstGeom>
          <a:solidFill>
            <a:srgbClr val="8B2252">
              <a:alpha val="31000"/>
            </a:srgbClr>
          </a:solidFill>
          <a:ln w="12700">
            <a:solidFill>
              <a:srgbClr val="0E0A04"/>
            </a:solidFill>
            <a:prstDash val="solid"/>
          </a:ln>
        </p:spPr>
      </p:sp>
      <p:sp>
        <p:nvSpPr>
          <p:cNvPr id="121" name="Shape 119"/>
          <p:cNvSpPr/>
          <p:nvPr/>
        </p:nvSpPr>
        <p:spPr>
          <a:xfrm rot="2700000">
            <a:off x="429768" y="3529584"/>
            <a:ext cx="109728" cy="109728"/>
          </a:xfrm>
          <a:prstGeom prst="rect">
            <a:avLst/>
          </a:prstGeom>
          <a:solidFill>
            <a:srgbClr val="6B4C20">
              <a:alpha val="31000"/>
            </a:srgbClr>
          </a:solidFill>
          <a:ln w="12700">
            <a:solidFill>
              <a:srgbClr val="0E0A04"/>
            </a:solidFill>
            <a:prstDash val="solid"/>
          </a:ln>
        </p:spPr>
      </p:sp>
      <p:sp>
        <p:nvSpPr>
          <p:cNvPr id="122" name="Shape 120"/>
          <p:cNvSpPr/>
          <p:nvPr/>
        </p:nvSpPr>
        <p:spPr>
          <a:xfrm rot="2700000">
            <a:off x="850392" y="3529584"/>
            <a:ext cx="219456" cy="219456"/>
          </a:xfrm>
          <a:prstGeom prst="rect">
            <a:avLst/>
          </a:prstGeom>
          <a:solidFill>
            <a:srgbClr val="3D2208">
              <a:alpha val="31000"/>
            </a:srgbClr>
          </a:solidFill>
          <a:ln w="12700">
            <a:solidFill>
              <a:srgbClr val="0E0A04"/>
            </a:solidFill>
            <a:prstDash val="solid"/>
          </a:ln>
        </p:spPr>
      </p:sp>
      <p:sp>
        <p:nvSpPr>
          <p:cNvPr id="123" name="Shape 121"/>
          <p:cNvSpPr/>
          <p:nvPr/>
        </p:nvSpPr>
        <p:spPr>
          <a:xfrm rot="2700000">
            <a:off x="1271016" y="3529584"/>
            <a:ext cx="109728" cy="109728"/>
          </a:xfrm>
          <a:prstGeom prst="rect">
            <a:avLst/>
          </a:prstGeom>
          <a:solidFill>
            <a:srgbClr val="D4951A">
              <a:alpha val="31000"/>
            </a:srgbClr>
          </a:solidFill>
          <a:ln w="12700">
            <a:solidFill>
              <a:srgbClr val="0E0A04"/>
            </a:solidFill>
            <a:prstDash val="solid"/>
          </a:ln>
        </p:spPr>
      </p:sp>
      <p:sp>
        <p:nvSpPr>
          <p:cNvPr id="124" name="Shape 122"/>
          <p:cNvSpPr/>
          <p:nvPr/>
        </p:nvSpPr>
        <p:spPr>
          <a:xfrm rot="2700000">
            <a:off x="1691640" y="3529584"/>
            <a:ext cx="109728" cy="109728"/>
          </a:xfrm>
          <a:prstGeom prst="rect">
            <a:avLst/>
          </a:prstGeom>
          <a:solidFill>
            <a:srgbClr val="C0622B">
              <a:alpha val="31000"/>
            </a:srgbClr>
          </a:solidFill>
          <a:ln w="12700">
            <a:solidFill>
              <a:srgbClr val="0E0A04"/>
            </a:solidFill>
            <a:prstDash val="solid"/>
          </a:ln>
        </p:spPr>
      </p:sp>
      <p:sp>
        <p:nvSpPr>
          <p:cNvPr id="125" name="Shape 123"/>
          <p:cNvSpPr/>
          <p:nvPr/>
        </p:nvSpPr>
        <p:spPr>
          <a:xfrm rot="2700000">
            <a:off x="2112264" y="3529584"/>
            <a:ext cx="155448" cy="155448"/>
          </a:xfrm>
          <a:prstGeom prst="rect">
            <a:avLst/>
          </a:prstGeom>
          <a:solidFill>
            <a:srgbClr val="1B9A8A">
              <a:alpha val="31000"/>
            </a:srgbClr>
          </a:solidFill>
          <a:ln w="12700">
            <a:solidFill>
              <a:srgbClr val="0E0A04"/>
            </a:solidFill>
            <a:prstDash val="solid"/>
          </a:ln>
        </p:spPr>
      </p:sp>
      <p:sp>
        <p:nvSpPr>
          <p:cNvPr id="126" name="Shape 124"/>
          <p:cNvSpPr/>
          <p:nvPr/>
        </p:nvSpPr>
        <p:spPr>
          <a:xfrm rot="2700000">
            <a:off x="2532888" y="3529584"/>
            <a:ext cx="109728" cy="109728"/>
          </a:xfrm>
          <a:prstGeom prst="rect">
            <a:avLst/>
          </a:prstGeom>
          <a:solidFill>
            <a:srgbClr val="D8C9A8">
              <a:alpha val="31000"/>
            </a:srgbClr>
          </a:solidFill>
          <a:ln w="12700">
            <a:solidFill>
              <a:srgbClr val="0E0A04"/>
            </a:solidFill>
            <a:prstDash val="solid"/>
          </a:ln>
        </p:spPr>
      </p:sp>
      <p:sp>
        <p:nvSpPr>
          <p:cNvPr id="127" name="Shape 125"/>
          <p:cNvSpPr/>
          <p:nvPr/>
        </p:nvSpPr>
        <p:spPr>
          <a:xfrm rot="2700000">
            <a:off x="2953512" y="3529584"/>
            <a:ext cx="219456" cy="219456"/>
          </a:xfrm>
          <a:prstGeom prst="rect">
            <a:avLst/>
          </a:prstGeom>
          <a:solidFill>
            <a:srgbClr val="8B2252">
              <a:alpha val="31000"/>
            </a:srgbClr>
          </a:solidFill>
          <a:ln w="12700">
            <a:solidFill>
              <a:srgbClr val="0E0A04"/>
            </a:solidFill>
            <a:prstDash val="solid"/>
          </a:ln>
        </p:spPr>
      </p:sp>
      <p:sp>
        <p:nvSpPr>
          <p:cNvPr id="128" name="Shape 126"/>
          <p:cNvSpPr/>
          <p:nvPr/>
        </p:nvSpPr>
        <p:spPr>
          <a:xfrm rot="2700000">
            <a:off x="3374136" y="3529584"/>
            <a:ext cx="155448" cy="155448"/>
          </a:xfrm>
          <a:prstGeom prst="rect">
            <a:avLst/>
          </a:prstGeom>
          <a:solidFill>
            <a:srgbClr val="6B4C20">
              <a:alpha val="31000"/>
            </a:srgbClr>
          </a:solidFill>
          <a:ln w="12700">
            <a:solidFill>
              <a:srgbClr val="0E0A04"/>
            </a:solidFill>
            <a:prstDash val="solid"/>
          </a:ln>
        </p:spPr>
      </p:sp>
      <p:sp>
        <p:nvSpPr>
          <p:cNvPr id="129" name="Shape 127"/>
          <p:cNvSpPr/>
          <p:nvPr/>
        </p:nvSpPr>
        <p:spPr>
          <a:xfrm rot="2700000">
            <a:off x="9144" y="3803904"/>
            <a:ext cx="109728" cy="109728"/>
          </a:xfrm>
          <a:prstGeom prst="rect">
            <a:avLst/>
          </a:prstGeom>
          <a:solidFill>
            <a:srgbClr val="D4951A">
              <a:alpha val="22000"/>
            </a:srgbClr>
          </a:solidFill>
          <a:ln w="12700">
            <a:solidFill>
              <a:srgbClr val="0E0A04"/>
            </a:solidFill>
            <a:prstDash val="solid"/>
          </a:ln>
        </p:spPr>
      </p:sp>
      <p:sp>
        <p:nvSpPr>
          <p:cNvPr id="130" name="Shape 128"/>
          <p:cNvSpPr/>
          <p:nvPr/>
        </p:nvSpPr>
        <p:spPr>
          <a:xfrm rot="2700000">
            <a:off x="429768" y="3803904"/>
            <a:ext cx="219456" cy="219456"/>
          </a:xfrm>
          <a:prstGeom prst="rect">
            <a:avLst/>
          </a:prstGeom>
          <a:solidFill>
            <a:srgbClr val="C0622B">
              <a:alpha val="22000"/>
            </a:srgbClr>
          </a:solidFill>
          <a:ln w="12700">
            <a:solidFill>
              <a:srgbClr val="0E0A04"/>
            </a:solidFill>
            <a:prstDash val="solid"/>
          </a:ln>
        </p:spPr>
      </p:sp>
      <p:sp>
        <p:nvSpPr>
          <p:cNvPr id="131" name="Shape 129"/>
          <p:cNvSpPr/>
          <p:nvPr/>
        </p:nvSpPr>
        <p:spPr>
          <a:xfrm rot="2700000">
            <a:off x="850392" y="3803904"/>
            <a:ext cx="109728" cy="109728"/>
          </a:xfrm>
          <a:prstGeom prst="rect">
            <a:avLst/>
          </a:prstGeom>
          <a:solidFill>
            <a:srgbClr val="1B9A8A">
              <a:alpha val="22000"/>
            </a:srgbClr>
          </a:solidFill>
          <a:ln w="12700">
            <a:solidFill>
              <a:srgbClr val="0E0A04"/>
            </a:solidFill>
            <a:prstDash val="solid"/>
          </a:ln>
        </p:spPr>
      </p:sp>
      <p:sp>
        <p:nvSpPr>
          <p:cNvPr id="132" name="Shape 130"/>
          <p:cNvSpPr/>
          <p:nvPr/>
        </p:nvSpPr>
        <p:spPr>
          <a:xfrm rot="2700000">
            <a:off x="1271016" y="3803904"/>
            <a:ext cx="109728" cy="109728"/>
          </a:xfrm>
          <a:prstGeom prst="rect">
            <a:avLst/>
          </a:prstGeom>
          <a:solidFill>
            <a:srgbClr val="D8C9A8">
              <a:alpha val="22000"/>
            </a:srgbClr>
          </a:solidFill>
          <a:ln w="12700">
            <a:solidFill>
              <a:srgbClr val="0E0A04"/>
            </a:solidFill>
            <a:prstDash val="solid"/>
          </a:ln>
        </p:spPr>
      </p:sp>
      <p:sp>
        <p:nvSpPr>
          <p:cNvPr id="133" name="Shape 131"/>
          <p:cNvSpPr/>
          <p:nvPr/>
        </p:nvSpPr>
        <p:spPr>
          <a:xfrm rot="2700000">
            <a:off x="1691640" y="3803904"/>
            <a:ext cx="155448" cy="155448"/>
          </a:xfrm>
          <a:prstGeom prst="rect">
            <a:avLst/>
          </a:prstGeom>
          <a:solidFill>
            <a:srgbClr val="8B2252">
              <a:alpha val="22000"/>
            </a:srgbClr>
          </a:solidFill>
          <a:ln w="12700">
            <a:solidFill>
              <a:srgbClr val="0E0A04"/>
            </a:solidFill>
            <a:prstDash val="solid"/>
          </a:ln>
        </p:spPr>
      </p:sp>
      <p:sp>
        <p:nvSpPr>
          <p:cNvPr id="134" name="Shape 132"/>
          <p:cNvSpPr/>
          <p:nvPr/>
        </p:nvSpPr>
        <p:spPr>
          <a:xfrm rot="2700000">
            <a:off x="2112264" y="3803904"/>
            <a:ext cx="109728" cy="109728"/>
          </a:xfrm>
          <a:prstGeom prst="rect">
            <a:avLst/>
          </a:prstGeom>
          <a:solidFill>
            <a:srgbClr val="6B4C20">
              <a:alpha val="22000"/>
            </a:srgbClr>
          </a:solidFill>
          <a:ln w="12700">
            <a:solidFill>
              <a:srgbClr val="0E0A04"/>
            </a:solidFill>
            <a:prstDash val="solid"/>
          </a:ln>
        </p:spPr>
      </p:sp>
      <p:sp>
        <p:nvSpPr>
          <p:cNvPr id="135" name="Shape 133"/>
          <p:cNvSpPr/>
          <p:nvPr/>
        </p:nvSpPr>
        <p:spPr>
          <a:xfrm rot="2700000">
            <a:off x="2532888" y="3803904"/>
            <a:ext cx="219456" cy="219456"/>
          </a:xfrm>
          <a:prstGeom prst="rect">
            <a:avLst/>
          </a:prstGeom>
          <a:solidFill>
            <a:srgbClr val="3D2208">
              <a:alpha val="22000"/>
            </a:srgbClr>
          </a:solidFill>
          <a:ln w="12700">
            <a:solidFill>
              <a:srgbClr val="0E0A04"/>
            </a:solidFill>
            <a:prstDash val="solid"/>
          </a:ln>
        </p:spPr>
      </p:sp>
      <p:sp>
        <p:nvSpPr>
          <p:cNvPr id="136" name="Shape 134"/>
          <p:cNvSpPr/>
          <p:nvPr/>
        </p:nvSpPr>
        <p:spPr>
          <a:xfrm rot="2700000">
            <a:off x="2953512" y="3803904"/>
            <a:ext cx="155448" cy="155448"/>
          </a:xfrm>
          <a:prstGeom prst="rect">
            <a:avLst/>
          </a:prstGeom>
          <a:solidFill>
            <a:srgbClr val="D4951A">
              <a:alpha val="22000"/>
            </a:srgbClr>
          </a:solidFill>
          <a:ln w="12700">
            <a:solidFill>
              <a:srgbClr val="0E0A04"/>
            </a:solidFill>
            <a:prstDash val="solid"/>
          </a:ln>
        </p:spPr>
      </p:sp>
      <p:sp>
        <p:nvSpPr>
          <p:cNvPr id="137" name="Shape 135"/>
          <p:cNvSpPr/>
          <p:nvPr/>
        </p:nvSpPr>
        <p:spPr>
          <a:xfrm rot="2700000">
            <a:off x="3374136" y="3803904"/>
            <a:ext cx="109728" cy="109728"/>
          </a:xfrm>
          <a:prstGeom prst="rect">
            <a:avLst/>
          </a:prstGeom>
          <a:solidFill>
            <a:srgbClr val="C0622B">
              <a:alpha val="22000"/>
            </a:srgbClr>
          </a:solidFill>
          <a:ln w="12700">
            <a:solidFill>
              <a:srgbClr val="0E0A04"/>
            </a:solidFill>
            <a:prstDash val="solid"/>
          </a:ln>
        </p:spPr>
      </p:sp>
      <p:sp>
        <p:nvSpPr>
          <p:cNvPr id="138" name="Shape 136"/>
          <p:cNvSpPr/>
          <p:nvPr/>
        </p:nvSpPr>
        <p:spPr>
          <a:xfrm rot="2700000">
            <a:off x="9144" y="4078224"/>
            <a:ext cx="219456" cy="219456"/>
          </a:xfrm>
          <a:prstGeom prst="rect">
            <a:avLst/>
          </a:prstGeom>
          <a:solidFill>
            <a:srgbClr val="D8C9A8">
              <a:alpha val="58000"/>
            </a:srgbClr>
          </a:solidFill>
          <a:ln w="12700">
            <a:solidFill>
              <a:srgbClr val="0E0A04"/>
            </a:solidFill>
            <a:prstDash val="solid"/>
          </a:ln>
        </p:spPr>
      </p:sp>
      <p:sp>
        <p:nvSpPr>
          <p:cNvPr id="139" name="Shape 137"/>
          <p:cNvSpPr/>
          <p:nvPr/>
        </p:nvSpPr>
        <p:spPr>
          <a:xfrm rot="2700000">
            <a:off x="429768" y="4078224"/>
            <a:ext cx="109728" cy="109728"/>
          </a:xfrm>
          <a:prstGeom prst="rect">
            <a:avLst/>
          </a:prstGeom>
          <a:solidFill>
            <a:srgbClr val="8B2252">
              <a:alpha val="58000"/>
            </a:srgbClr>
          </a:solidFill>
          <a:ln w="12700">
            <a:solidFill>
              <a:srgbClr val="0E0A04"/>
            </a:solidFill>
            <a:prstDash val="solid"/>
          </a:ln>
        </p:spPr>
      </p:sp>
      <p:sp>
        <p:nvSpPr>
          <p:cNvPr id="140" name="Shape 138"/>
          <p:cNvSpPr/>
          <p:nvPr/>
        </p:nvSpPr>
        <p:spPr>
          <a:xfrm rot="2700000">
            <a:off x="850392" y="4078224"/>
            <a:ext cx="109728" cy="109728"/>
          </a:xfrm>
          <a:prstGeom prst="rect">
            <a:avLst/>
          </a:prstGeom>
          <a:solidFill>
            <a:srgbClr val="6B4C20">
              <a:alpha val="58000"/>
            </a:srgbClr>
          </a:solidFill>
          <a:ln w="12700">
            <a:solidFill>
              <a:srgbClr val="0E0A04"/>
            </a:solidFill>
            <a:prstDash val="solid"/>
          </a:ln>
        </p:spPr>
      </p:sp>
      <p:sp>
        <p:nvSpPr>
          <p:cNvPr id="141" name="Shape 139"/>
          <p:cNvSpPr/>
          <p:nvPr/>
        </p:nvSpPr>
        <p:spPr>
          <a:xfrm rot="2700000">
            <a:off x="1271016" y="4078224"/>
            <a:ext cx="155448" cy="155448"/>
          </a:xfrm>
          <a:prstGeom prst="rect">
            <a:avLst/>
          </a:prstGeom>
          <a:solidFill>
            <a:srgbClr val="3D2208">
              <a:alpha val="58000"/>
            </a:srgbClr>
          </a:solidFill>
          <a:ln w="12700">
            <a:solidFill>
              <a:srgbClr val="0E0A04"/>
            </a:solidFill>
            <a:prstDash val="solid"/>
          </a:ln>
        </p:spPr>
      </p:sp>
      <p:sp>
        <p:nvSpPr>
          <p:cNvPr id="142" name="Shape 140"/>
          <p:cNvSpPr/>
          <p:nvPr/>
        </p:nvSpPr>
        <p:spPr>
          <a:xfrm rot="2700000">
            <a:off x="1691640" y="4078224"/>
            <a:ext cx="109728" cy="109728"/>
          </a:xfrm>
          <a:prstGeom prst="rect">
            <a:avLst/>
          </a:prstGeom>
          <a:solidFill>
            <a:srgbClr val="D4951A">
              <a:alpha val="58000"/>
            </a:srgbClr>
          </a:solidFill>
          <a:ln w="12700">
            <a:solidFill>
              <a:srgbClr val="0E0A04"/>
            </a:solidFill>
            <a:prstDash val="solid"/>
          </a:ln>
        </p:spPr>
      </p:sp>
      <p:sp>
        <p:nvSpPr>
          <p:cNvPr id="143" name="Shape 141"/>
          <p:cNvSpPr/>
          <p:nvPr/>
        </p:nvSpPr>
        <p:spPr>
          <a:xfrm rot="2700000">
            <a:off x="2112264" y="4078224"/>
            <a:ext cx="219456" cy="219456"/>
          </a:xfrm>
          <a:prstGeom prst="rect">
            <a:avLst/>
          </a:prstGeom>
          <a:solidFill>
            <a:srgbClr val="C0622B">
              <a:alpha val="58000"/>
            </a:srgbClr>
          </a:solidFill>
          <a:ln w="12700">
            <a:solidFill>
              <a:srgbClr val="0E0A04"/>
            </a:solidFill>
            <a:prstDash val="solid"/>
          </a:ln>
        </p:spPr>
      </p:sp>
      <p:sp>
        <p:nvSpPr>
          <p:cNvPr id="144" name="Shape 142"/>
          <p:cNvSpPr/>
          <p:nvPr/>
        </p:nvSpPr>
        <p:spPr>
          <a:xfrm rot="2700000">
            <a:off x="2532888" y="4078224"/>
            <a:ext cx="155448" cy="155448"/>
          </a:xfrm>
          <a:prstGeom prst="rect">
            <a:avLst/>
          </a:prstGeom>
          <a:solidFill>
            <a:srgbClr val="1B9A8A">
              <a:alpha val="58000"/>
            </a:srgbClr>
          </a:solidFill>
          <a:ln w="12700">
            <a:solidFill>
              <a:srgbClr val="0E0A04"/>
            </a:solidFill>
            <a:prstDash val="solid"/>
          </a:ln>
        </p:spPr>
      </p:sp>
      <p:sp>
        <p:nvSpPr>
          <p:cNvPr id="145" name="Shape 143"/>
          <p:cNvSpPr/>
          <p:nvPr/>
        </p:nvSpPr>
        <p:spPr>
          <a:xfrm rot="2700000">
            <a:off x="2953512" y="4078224"/>
            <a:ext cx="109728" cy="109728"/>
          </a:xfrm>
          <a:prstGeom prst="rect">
            <a:avLst/>
          </a:prstGeom>
          <a:solidFill>
            <a:srgbClr val="D8C9A8">
              <a:alpha val="58000"/>
            </a:srgbClr>
          </a:solidFill>
          <a:ln w="12700">
            <a:solidFill>
              <a:srgbClr val="0E0A04"/>
            </a:solidFill>
            <a:prstDash val="solid"/>
          </a:ln>
        </p:spPr>
      </p:sp>
      <p:sp>
        <p:nvSpPr>
          <p:cNvPr id="146" name="Shape 144"/>
          <p:cNvSpPr/>
          <p:nvPr/>
        </p:nvSpPr>
        <p:spPr>
          <a:xfrm rot="2700000">
            <a:off x="3374136" y="4078224"/>
            <a:ext cx="109728" cy="109728"/>
          </a:xfrm>
          <a:prstGeom prst="rect">
            <a:avLst/>
          </a:prstGeom>
          <a:solidFill>
            <a:srgbClr val="8B2252">
              <a:alpha val="58000"/>
            </a:srgbClr>
          </a:solidFill>
          <a:ln w="12700">
            <a:solidFill>
              <a:srgbClr val="0E0A04"/>
            </a:solidFill>
            <a:prstDash val="solid"/>
          </a:ln>
        </p:spPr>
      </p:sp>
      <p:sp>
        <p:nvSpPr>
          <p:cNvPr id="147" name="Shape 145"/>
          <p:cNvSpPr/>
          <p:nvPr/>
        </p:nvSpPr>
        <p:spPr>
          <a:xfrm rot="2700000">
            <a:off x="9144" y="4352544"/>
            <a:ext cx="109728" cy="109728"/>
          </a:xfrm>
          <a:prstGeom prst="rect">
            <a:avLst/>
          </a:prstGeom>
          <a:solidFill>
            <a:srgbClr val="3D2208">
              <a:alpha val="49000"/>
            </a:srgbClr>
          </a:solidFill>
          <a:ln w="12700">
            <a:solidFill>
              <a:srgbClr val="0E0A04"/>
            </a:solidFill>
            <a:prstDash val="solid"/>
          </a:ln>
        </p:spPr>
      </p:sp>
      <p:sp>
        <p:nvSpPr>
          <p:cNvPr id="148" name="Shape 146"/>
          <p:cNvSpPr/>
          <p:nvPr/>
        </p:nvSpPr>
        <p:spPr>
          <a:xfrm rot="2700000">
            <a:off x="429768" y="4352544"/>
            <a:ext cx="109728" cy="109728"/>
          </a:xfrm>
          <a:prstGeom prst="rect">
            <a:avLst/>
          </a:prstGeom>
          <a:solidFill>
            <a:srgbClr val="D4951A">
              <a:alpha val="49000"/>
            </a:srgbClr>
          </a:solidFill>
          <a:ln w="12700">
            <a:solidFill>
              <a:srgbClr val="0E0A04"/>
            </a:solidFill>
            <a:prstDash val="solid"/>
          </a:ln>
        </p:spPr>
      </p:sp>
      <p:sp>
        <p:nvSpPr>
          <p:cNvPr id="149" name="Shape 147"/>
          <p:cNvSpPr/>
          <p:nvPr/>
        </p:nvSpPr>
        <p:spPr>
          <a:xfrm rot="2700000">
            <a:off x="850392" y="4352544"/>
            <a:ext cx="155448" cy="155448"/>
          </a:xfrm>
          <a:prstGeom prst="rect">
            <a:avLst/>
          </a:prstGeom>
          <a:solidFill>
            <a:srgbClr val="C0622B">
              <a:alpha val="49000"/>
            </a:srgbClr>
          </a:solidFill>
          <a:ln w="12700">
            <a:solidFill>
              <a:srgbClr val="0E0A04"/>
            </a:solidFill>
            <a:prstDash val="solid"/>
          </a:ln>
        </p:spPr>
      </p:sp>
      <p:sp>
        <p:nvSpPr>
          <p:cNvPr id="150" name="Shape 148"/>
          <p:cNvSpPr/>
          <p:nvPr/>
        </p:nvSpPr>
        <p:spPr>
          <a:xfrm rot="2700000">
            <a:off x="1271016" y="4352544"/>
            <a:ext cx="109728" cy="109728"/>
          </a:xfrm>
          <a:prstGeom prst="rect">
            <a:avLst/>
          </a:prstGeom>
          <a:solidFill>
            <a:srgbClr val="1B9A8A">
              <a:alpha val="49000"/>
            </a:srgbClr>
          </a:solidFill>
          <a:ln w="12700">
            <a:solidFill>
              <a:srgbClr val="0E0A04"/>
            </a:solidFill>
            <a:prstDash val="solid"/>
          </a:ln>
        </p:spPr>
      </p:sp>
      <p:sp>
        <p:nvSpPr>
          <p:cNvPr id="151" name="Shape 149"/>
          <p:cNvSpPr/>
          <p:nvPr/>
        </p:nvSpPr>
        <p:spPr>
          <a:xfrm rot="2700000">
            <a:off x="1691640" y="4352544"/>
            <a:ext cx="219456" cy="219456"/>
          </a:xfrm>
          <a:prstGeom prst="rect">
            <a:avLst/>
          </a:prstGeom>
          <a:solidFill>
            <a:srgbClr val="D8C9A8">
              <a:alpha val="49000"/>
            </a:srgbClr>
          </a:solidFill>
          <a:ln w="12700">
            <a:solidFill>
              <a:srgbClr val="0E0A04"/>
            </a:solidFill>
            <a:prstDash val="solid"/>
          </a:ln>
        </p:spPr>
      </p:sp>
      <p:sp>
        <p:nvSpPr>
          <p:cNvPr id="152" name="Shape 150"/>
          <p:cNvSpPr/>
          <p:nvPr/>
        </p:nvSpPr>
        <p:spPr>
          <a:xfrm rot="2700000">
            <a:off x="2112264" y="4352544"/>
            <a:ext cx="155448" cy="155448"/>
          </a:xfrm>
          <a:prstGeom prst="rect">
            <a:avLst/>
          </a:prstGeom>
          <a:solidFill>
            <a:srgbClr val="8B2252">
              <a:alpha val="49000"/>
            </a:srgbClr>
          </a:solidFill>
          <a:ln w="12700">
            <a:solidFill>
              <a:srgbClr val="0E0A04"/>
            </a:solidFill>
            <a:prstDash val="solid"/>
          </a:ln>
        </p:spPr>
      </p:sp>
      <p:sp>
        <p:nvSpPr>
          <p:cNvPr id="153" name="Shape 151"/>
          <p:cNvSpPr/>
          <p:nvPr/>
        </p:nvSpPr>
        <p:spPr>
          <a:xfrm rot="2700000">
            <a:off x="2532888" y="4352544"/>
            <a:ext cx="109728" cy="109728"/>
          </a:xfrm>
          <a:prstGeom prst="rect">
            <a:avLst/>
          </a:prstGeom>
          <a:solidFill>
            <a:srgbClr val="6B4C20">
              <a:alpha val="49000"/>
            </a:srgbClr>
          </a:solidFill>
          <a:ln w="12700">
            <a:solidFill>
              <a:srgbClr val="0E0A04"/>
            </a:solidFill>
            <a:prstDash val="solid"/>
          </a:ln>
        </p:spPr>
      </p:sp>
      <p:sp>
        <p:nvSpPr>
          <p:cNvPr id="154" name="Shape 152"/>
          <p:cNvSpPr/>
          <p:nvPr/>
        </p:nvSpPr>
        <p:spPr>
          <a:xfrm rot="2700000">
            <a:off x="2953512" y="4352544"/>
            <a:ext cx="109728" cy="109728"/>
          </a:xfrm>
          <a:prstGeom prst="rect">
            <a:avLst/>
          </a:prstGeom>
          <a:solidFill>
            <a:srgbClr val="3D2208">
              <a:alpha val="49000"/>
            </a:srgbClr>
          </a:solidFill>
          <a:ln w="12700">
            <a:solidFill>
              <a:srgbClr val="0E0A04"/>
            </a:solidFill>
            <a:prstDash val="solid"/>
          </a:ln>
        </p:spPr>
      </p:sp>
      <p:sp>
        <p:nvSpPr>
          <p:cNvPr id="155" name="Shape 153"/>
          <p:cNvSpPr/>
          <p:nvPr/>
        </p:nvSpPr>
        <p:spPr>
          <a:xfrm rot="2700000">
            <a:off x="3374136" y="4352544"/>
            <a:ext cx="155448" cy="155448"/>
          </a:xfrm>
          <a:prstGeom prst="rect">
            <a:avLst/>
          </a:prstGeom>
          <a:solidFill>
            <a:srgbClr val="D4951A">
              <a:alpha val="49000"/>
            </a:srgbClr>
          </a:solidFill>
          <a:ln w="12700">
            <a:solidFill>
              <a:srgbClr val="0E0A04"/>
            </a:solidFill>
            <a:prstDash val="solid"/>
          </a:ln>
        </p:spPr>
      </p:sp>
      <p:sp>
        <p:nvSpPr>
          <p:cNvPr id="156" name="Shape 154"/>
          <p:cNvSpPr/>
          <p:nvPr/>
        </p:nvSpPr>
        <p:spPr>
          <a:xfrm rot="2700000">
            <a:off x="9144" y="4626864"/>
            <a:ext cx="109728" cy="109728"/>
          </a:xfrm>
          <a:prstGeom prst="rect">
            <a:avLst/>
          </a:prstGeom>
          <a:solidFill>
            <a:srgbClr val="1B9A8A">
              <a:alpha val="40000"/>
            </a:srgbClr>
          </a:solidFill>
          <a:ln w="12700">
            <a:solidFill>
              <a:srgbClr val="0E0A04"/>
            </a:solidFill>
            <a:prstDash val="solid"/>
          </a:ln>
        </p:spPr>
      </p:sp>
      <p:sp>
        <p:nvSpPr>
          <p:cNvPr id="157" name="Shape 155"/>
          <p:cNvSpPr/>
          <p:nvPr/>
        </p:nvSpPr>
        <p:spPr>
          <a:xfrm rot="2700000">
            <a:off x="429768" y="4626864"/>
            <a:ext cx="155448" cy="155448"/>
          </a:xfrm>
          <a:prstGeom prst="rect">
            <a:avLst/>
          </a:prstGeom>
          <a:solidFill>
            <a:srgbClr val="D8C9A8">
              <a:alpha val="40000"/>
            </a:srgbClr>
          </a:solidFill>
          <a:ln w="12700">
            <a:solidFill>
              <a:srgbClr val="0E0A04"/>
            </a:solidFill>
            <a:prstDash val="solid"/>
          </a:ln>
        </p:spPr>
      </p:sp>
      <p:sp>
        <p:nvSpPr>
          <p:cNvPr id="158" name="Shape 156"/>
          <p:cNvSpPr/>
          <p:nvPr/>
        </p:nvSpPr>
        <p:spPr>
          <a:xfrm rot="2700000">
            <a:off x="850392" y="4626864"/>
            <a:ext cx="109728" cy="109728"/>
          </a:xfrm>
          <a:prstGeom prst="rect">
            <a:avLst/>
          </a:prstGeom>
          <a:solidFill>
            <a:srgbClr val="8B2252">
              <a:alpha val="40000"/>
            </a:srgbClr>
          </a:solidFill>
          <a:ln w="12700">
            <a:solidFill>
              <a:srgbClr val="0E0A04"/>
            </a:solidFill>
            <a:prstDash val="solid"/>
          </a:ln>
        </p:spPr>
      </p:sp>
      <p:sp>
        <p:nvSpPr>
          <p:cNvPr id="159" name="Shape 157"/>
          <p:cNvSpPr/>
          <p:nvPr/>
        </p:nvSpPr>
        <p:spPr>
          <a:xfrm rot="2700000">
            <a:off x="1271016" y="4626864"/>
            <a:ext cx="219456" cy="219456"/>
          </a:xfrm>
          <a:prstGeom prst="rect">
            <a:avLst/>
          </a:prstGeom>
          <a:solidFill>
            <a:srgbClr val="6B4C20">
              <a:alpha val="40000"/>
            </a:srgbClr>
          </a:solidFill>
          <a:ln w="12700">
            <a:solidFill>
              <a:srgbClr val="0E0A04"/>
            </a:solidFill>
            <a:prstDash val="solid"/>
          </a:ln>
        </p:spPr>
      </p:sp>
      <p:sp>
        <p:nvSpPr>
          <p:cNvPr id="160" name="Shape 158"/>
          <p:cNvSpPr/>
          <p:nvPr/>
        </p:nvSpPr>
        <p:spPr>
          <a:xfrm rot="2700000">
            <a:off x="1691640" y="4626864"/>
            <a:ext cx="155448" cy="155448"/>
          </a:xfrm>
          <a:prstGeom prst="rect">
            <a:avLst/>
          </a:prstGeom>
          <a:solidFill>
            <a:srgbClr val="3D2208">
              <a:alpha val="40000"/>
            </a:srgbClr>
          </a:solidFill>
          <a:ln w="12700">
            <a:solidFill>
              <a:srgbClr val="0E0A04"/>
            </a:solidFill>
            <a:prstDash val="solid"/>
          </a:ln>
        </p:spPr>
      </p:sp>
      <p:sp>
        <p:nvSpPr>
          <p:cNvPr id="161" name="Shape 159"/>
          <p:cNvSpPr/>
          <p:nvPr/>
        </p:nvSpPr>
        <p:spPr>
          <a:xfrm rot="2700000">
            <a:off x="2112264" y="4626864"/>
            <a:ext cx="109728" cy="109728"/>
          </a:xfrm>
          <a:prstGeom prst="rect">
            <a:avLst/>
          </a:prstGeom>
          <a:solidFill>
            <a:srgbClr val="D4951A">
              <a:alpha val="40000"/>
            </a:srgbClr>
          </a:solidFill>
          <a:ln w="12700">
            <a:solidFill>
              <a:srgbClr val="0E0A04"/>
            </a:solidFill>
            <a:prstDash val="solid"/>
          </a:ln>
        </p:spPr>
      </p:sp>
      <p:sp>
        <p:nvSpPr>
          <p:cNvPr id="162" name="Shape 160"/>
          <p:cNvSpPr/>
          <p:nvPr/>
        </p:nvSpPr>
        <p:spPr>
          <a:xfrm rot="2700000">
            <a:off x="2532888" y="4626864"/>
            <a:ext cx="109728" cy="109728"/>
          </a:xfrm>
          <a:prstGeom prst="rect">
            <a:avLst/>
          </a:prstGeom>
          <a:solidFill>
            <a:srgbClr val="C0622B">
              <a:alpha val="40000"/>
            </a:srgbClr>
          </a:solidFill>
          <a:ln w="12700">
            <a:solidFill>
              <a:srgbClr val="0E0A04"/>
            </a:solidFill>
            <a:prstDash val="solid"/>
          </a:ln>
        </p:spPr>
      </p:sp>
      <p:sp>
        <p:nvSpPr>
          <p:cNvPr id="163" name="Shape 161"/>
          <p:cNvSpPr/>
          <p:nvPr/>
        </p:nvSpPr>
        <p:spPr>
          <a:xfrm rot="2700000">
            <a:off x="2953512" y="4626864"/>
            <a:ext cx="155448" cy="155448"/>
          </a:xfrm>
          <a:prstGeom prst="rect">
            <a:avLst/>
          </a:prstGeom>
          <a:solidFill>
            <a:srgbClr val="1B9A8A">
              <a:alpha val="40000"/>
            </a:srgbClr>
          </a:solidFill>
          <a:ln w="12700">
            <a:solidFill>
              <a:srgbClr val="0E0A04"/>
            </a:solidFill>
            <a:prstDash val="solid"/>
          </a:ln>
        </p:spPr>
      </p:sp>
      <p:sp>
        <p:nvSpPr>
          <p:cNvPr id="164" name="Shape 162"/>
          <p:cNvSpPr/>
          <p:nvPr/>
        </p:nvSpPr>
        <p:spPr>
          <a:xfrm rot="2700000">
            <a:off x="3374136" y="4626864"/>
            <a:ext cx="219456" cy="219456"/>
          </a:xfrm>
          <a:prstGeom prst="rect">
            <a:avLst/>
          </a:prstGeom>
          <a:solidFill>
            <a:srgbClr val="D8C9A8">
              <a:alpha val="40000"/>
            </a:srgbClr>
          </a:solidFill>
          <a:ln w="12700">
            <a:solidFill>
              <a:srgbClr val="0E0A04"/>
            </a:solidFill>
            <a:prstDash val="solid"/>
          </a:ln>
        </p:spPr>
      </p:sp>
      <p:sp>
        <p:nvSpPr>
          <p:cNvPr id="165" name="Shape 163"/>
          <p:cNvSpPr/>
          <p:nvPr/>
        </p:nvSpPr>
        <p:spPr>
          <a:xfrm rot="2700000">
            <a:off x="9144" y="4901184"/>
            <a:ext cx="155448" cy="155448"/>
          </a:xfrm>
          <a:prstGeom prst="rect">
            <a:avLst/>
          </a:prstGeom>
          <a:solidFill>
            <a:srgbClr val="6B4C20">
              <a:alpha val="31000"/>
            </a:srgbClr>
          </a:solidFill>
          <a:ln w="12700">
            <a:solidFill>
              <a:srgbClr val="0E0A04"/>
            </a:solidFill>
            <a:prstDash val="solid"/>
          </a:ln>
        </p:spPr>
      </p:sp>
      <p:sp>
        <p:nvSpPr>
          <p:cNvPr id="166" name="Shape 164"/>
          <p:cNvSpPr/>
          <p:nvPr/>
        </p:nvSpPr>
        <p:spPr>
          <a:xfrm rot="2700000">
            <a:off x="429768" y="4901184"/>
            <a:ext cx="109728" cy="109728"/>
          </a:xfrm>
          <a:prstGeom prst="rect">
            <a:avLst/>
          </a:prstGeom>
          <a:solidFill>
            <a:srgbClr val="3D2208">
              <a:alpha val="31000"/>
            </a:srgbClr>
          </a:solidFill>
          <a:ln w="12700">
            <a:solidFill>
              <a:srgbClr val="0E0A04"/>
            </a:solidFill>
            <a:prstDash val="solid"/>
          </a:ln>
        </p:spPr>
      </p:sp>
      <p:sp>
        <p:nvSpPr>
          <p:cNvPr id="167" name="Shape 165"/>
          <p:cNvSpPr/>
          <p:nvPr/>
        </p:nvSpPr>
        <p:spPr>
          <a:xfrm rot="2700000">
            <a:off x="850392" y="4901184"/>
            <a:ext cx="219456" cy="219456"/>
          </a:xfrm>
          <a:prstGeom prst="rect">
            <a:avLst/>
          </a:prstGeom>
          <a:solidFill>
            <a:srgbClr val="D4951A">
              <a:alpha val="31000"/>
            </a:srgbClr>
          </a:solidFill>
          <a:ln w="12700">
            <a:solidFill>
              <a:srgbClr val="0E0A04"/>
            </a:solidFill>
            <a:prstDash val="solid"/>
          </a:ln>
        </p:spPr>
      </p:sp>
      <p:sp>
        <p:nvSpPr>
          <p:cNvPr id="168" name="Shape 166"/>
          <p:cNvSpPr/>
          <p:nvPr/>
        </p:nvSpPr>
        <p:spPr>
          <a:xfrm rot="2700000">
            <a:off x="1271016" y="4901184"/>
            <a:ext cx="155448" cy="155448"/>
          </a:xfrm>
          <a:prstGeom prst="rect">
            <a:avLst/>
          </a:prstGeom>
          <a:solidFill>
            <a:srgbClr val="C0622B">
              <a:alpha val="31000"/>
            </a:srgbClr>
          </a:solidFill>
          <a:ln w="12700">
            <a:solidFill>
              <a:srgbClr val="0E0A04"/>
            </a:solidFill>
            <a:prstDash val="solid"/>
          </a:ln>
        </p:spPr>
      </p:sp>
      <p:sp>
        <p:nvSpPr>
          <p:cNvPr id="169" name="Shape 167"/>
          <p:cNvSpPr/>
          <p:nvPr/>
        </p:nvSpPr>
        <p:spPr>
          <a:xfrm rot="2700000">
            <a:off x="1691640" y="4901184"/>
            <a:ext cx="109728" cy="109728"/>
          </a:xfrm>
          <a:prstGeom prst="rect">
            <a:avLst/>
          </a:prstGeom>
          <a:solidFill>
            <a:srgbClr val="1B9A8A">
              <a:alpha val="31000"/>
            </a:srgbClr>
          </a:solidFill>
          <a:ln w="12700">
            <a:solidFill>
              <a:srgbClr val="0E0A04"/>
            </a:solidFill>
            <a:prstDash val="solid"/>
          </a:ln>
        </p:spPr>
      </p:sp>
      <p:sp>
        <p:nvSpPr>
          <p:cNvPr id="170" name="Shape 168"/>
          <p:cNvSpPr/>
          <p:nvPr/>
        </p:nvSpPr>
        <p:spPr>
          <a:xfrm rot="2700000">
            <a:off x="2112264" y="4901184"/>
            <a:ext cx="109728" cy="109728"/>
          </a:xfrm>
          <a:prstGeom prst="rect">
            <a:avLst/>
          </a:prstGeom>
          <a:solidFill>
            <a:srgbClr val="D8C9A8">
              <a:alpha val="31000"/>
            </a:srgbClr>
          </a:solidFill>
          <a:ln w="12700">
            <a:solidFill>
              <a:srgbClr val="0E0A04"/>
            </a:solidFill>
            <a:prstDash val="solid"/>
          </a:ln>
        </p:spPr>
      </p:sp>
      <p:sp>
        <p:nvSpPr>
          <p:cNvPr id="171" name="Shape 169"/>
          <p:cNvSpPr/>
          <p:nvPr/>
        </p:nvSpPr>
        <p:spPr>
          <a:xfrm rot="2700000">
            <a:off x="2532888" y="4901184"/>
            <a:ext cx="155448" cy="155448"/>
          </a:xfrm>
          <a:prstGeom prst="rect">
            <a:avLst/>
          </a:prstGeom>
          <a:solidFill>
            <a:srgbClr val="8B2252">
              <a:alpha val="31000"/>
            </a:srgbClr>
          </a:solidFill>
          <a:ln w="12700">
            <a:solidFill>
              <a:srgbClr val="0E0A04"/>
            </a:solidFill>
            <a:prstDash val="solid"/>
          </a:ln>
        </p:spPr>
      </p:sp>
      <p:sp>
        <p:nvSpPr>
          <p:cNvPr id="172" name="Shape 170"/>
          <p:cNvSpPr/>
          <p:nvPr/>
        </p:nvSpPr>
        <p:spPr>
          <a:xfrm rot="2700000">
            <a:off x="2953512" y="4901184"/>
            <a:ext cx="219456" cy="219456"/>
          </a:xfrm>
          <a:prstGeom prst="rect">
            <a:avLst/>
          </a:prstGeom>
          <a:solidFill>
            <a:srgbClr val="6B4C20">
              <a:alpha val="31000"/>
            </a:srgbClr>
          </a:solidFill>
          <a:ln w="12700">
            <a:solidFill>
              <a:srgbClr val="0E0A04"/>
            </a:solidFill>
            <a:prstDash val="solid"/>
          </a:ln>
        </p:spPr>
      </p:sp>
      <p:sp>
        <p:nvSpPr>
          <p:cNvPr id="173" name="Shape 171"/>
          <p:cNvSpPr/>
          <p:nvPr/>
        </p:nvSpPr>
        <p:spPr>
          <a:xfrm rot="2700000">
            <a:off x="3374136" y="4901184"/>
            <a:ext cx="109728" cy="109728"/>
          </a:xfrm>
          <a:prstGeom prst="rect">
            <a:avLst/>
          </a:prstGeom>
          <a:solidFill>
            <a:srgbClr val="3D2208">
              <a:alpha val="31000"/>
            </a:srgbClr>
          </a:solidFill>
          <a:ln w="12700">
            <a:solidFill>
              <a:srgbClr val="0E0A04"/>
            </a:solidFill>
            <a:prstDash val="solid"/>
          </a:ln>
        </p:spPr>
      </p:sp>
      <p:sp>
        <p:nvSpPr>
          <p:cNvPr id="174" name="Shape 172"/>
          <p:cNvSpPr/>
          <p:nvPr/>
        </p:nvSpPr>
        <p:spPr>
          <a:xfrm rot="2700000">
            <a:off x="9144" y="5175504"/>
            <a:ext cx="109728" cy="109728"/>
          </a:xfrm>
          <a:prstGeom prst="rect">
            <a:avLst/>
          </a:prstGeom>
          <a:solidFill>
            <a:srgbClr val="C0622B">
              <a:alpha val="22000"/>
            </a:srgbClr>
          </a:solidFill>
          <a:ln w="12700">
            <a:solidFill>
              <a:srgbClr val="0E0A04"/>
            </a:solidFill>
            <a:prstDash val="solid"/>
          </a:ln>
        </p:spPr>
      </p:sp>
      <p:sp>
        <p:nvSpPr>
          <p:cNvPr id="175" name="Shape 173"/>
          <p:cNvSpPr/>
          <p:nvPr/>
        </p:nvSpPr>
        <p:spPr>
          <a:xfrm rot="2700000">
            <a:off x="429768" y="5175504"/>
            <a:ext cx="219456" cy="219456"/>
          </a:xfrm>
          <a:prstGeom prst="rect">
            <a:avLst/>
          </a:prstGeom>
          <a:solidFill>
            <a:srgbClr val="1B9A8A">
              <a:alpha val="22000"/>
            </a:srgbClr>
          </a:solidFill>
          <a:ln w="12700">
            <a:solidFill>
              <a:srgbClr val="0E0A04"/>
            </a:solidFill>
            <a:prstDash val="solid"/>
          </a:ln>
        </p:spPr>
      </p:sp>
      <p:sp>
        <p:nvSpPr>
          <p:cNvPr id="176" name="Shape 174"/>
          <p:cNvSpPr/>
          <p:nvPr/>
        </p:nvSpPr>
        <p:spPr>
          <a:xfrm rot="2700000">
            <a:off x="850392" y="5175504"/>
            <a:ext cx="155448" cy="155448"/>
          </a:xfrm>
          <a:prstGeom prst="rect">
            <a:avLst/>
          </a:prstGeom>
          <a:solidFill>
            <a:srgbClr val="D8C9A8">
              <a:alpha val="22000"/>
            </a:srgbClr>
          </a:solidFill>
          <a:ln w="12700">
            <a:solidFill>
              <a:srgbClr val="0E0A04"/>
            </a:solidFill>
            <a:prstDash val="solid"/>
          </a:ln>
        </p:spPr>
      </p:sp>
      <p:sp>
        <p:nvSpPr>
          <p:cNvPr id="177" name="Shape 175"/>
          <p:cNvSpPr/>
          <p:nvPr/>
        </p:nvSpPr>
        <p:spPr>
          <a:xfrm rot="2700000">
            <a:off x="1271016" y="5175504"/>
            <a:ext cx="109728" cy="109728"/>
          </a:xfrm>
          <a:prstGeom prst="rect">
            <a:avLst/>
          </a:prstGeom>
          <a:solidFill>
            <a:srgbClr val="8B2252">
              <a:alpha val="22000"/>
            </a:srgbClr>
          </a:solidFill>
          <a:ln w="12700">
            <a:solidFill>
              <a:srgbClr val="0E0A04"/>
            </a:solidFill>
            <a:prstDash val="solid"/>
          </a:ln>
        </p:spPr>
      </p:sp>
      <p:sp>
        <p:nvSpPr>
          <p:cNvPr id="178" name="Shape 176"/>
          <p:cNvSpPr/>
          <p:nvPr/>
        </p:nvSpPr>
        <p:spPr>
          <a:xfrm rot="2700000">
            <a:off x="1691640" y="5175504"/>
            <a:ext cx="109728" cy="109728"/>
          </a:xfrm>
          <a:prstGeom prst="rect">
            <a:avLst/>
          </a:prstGeom>
          <a:solidFill>
            <a:srgbClr val="6B4C20">
              <a:alpha val="22000"/>
            </a:srgbClr>
          </a:solidFill>
          <a:ln w="12700">
            <a:solidFill>
              <a:srgbClr val="0E0A04"/>
            </a:solidFill>
            <a:prstDash val="solid"/>
          </a:ln>
        </p:spPr>
      </p:sp>
      <p:sp>
        <p:nvSpPr>
          <p:cNvPr id="179" name="Shape 177"/>
          <p:cNvSpPr/>
          <p:nvPr/>
        </p:nvSpPr>
        <p:spPr>
          <a:xfrm rot="2700000">
            <a:off x="2112264" y="5175504"/>
            <a:ext cx="155448" cy="155448"/>
          </a:xfrm>
          <a:prstGeom prst="rect">
            <a:avLst/>
          </a:prstGeom>
          <a:solidFill>
            <a:srgbClr val="3D2208">
              <a:alpha val="22000"/>
            </a:srgbClr>
          </a:solidFill>
          <a:ln w="12700">
            <a:solidFill>
              <a:srgbClr val="0E0A04"/>
            </a:solidFill>
            <a:prstDash val="solid"/>
          </a:ln>
        </p:spPr>
      </p:sp>
      <p:sp>
        <p:nvSpPr>
          <p:cNvPr id="180" name="Shape 178"/>
          <p:cNvSpPr/>
          <p:nvPr/>
        </p:nvSpPr>
        <p:spPr>
          <a:xfrm rot="2700000">
            <a:off x="2532888" y="5175504"/>
            <a:ext cx="219456" cy="219456"/>
          </a:xfrm>
          <a:prstGeom prst="rect">
            <a:avLst/>
          </a:prstGeom>
          <a:solidFill>
            <a:srgbClr val="D4951A">
              <a:alpha val="22000"/>
            </a:srgbClr>
          </a:solidFill>
          <a:ln w="12700">
            <a:solidFill>
              <a:srgbClr val="0E0A04"/>
            </a:solidFill>
            <a:prstDash val="solid"/>
          </a:ln>
        </p:spPr>
      </p:sp>
      <p:sp>
        <p:nvSpPr>
          <p:cNvPr id="181" name="Shape 179"/>
          <p:cNvSpPr/>
          <p:nvPr/>
        </p:nvSpPr>
        <p:spPr>
          <a:xfrm rot="2700000">
            <a:off x="2953512" y="5175504"/>
            <a:ext cx="109728" cy="109728"/>
          </a:xfrm>
          <a:prstGeom prst="rect">
            <a:avLst/>
          </a:prstGeom>
          <a:solidFill>
            <a:srgbClr val="C0622B">
              <a:alpha val="22000"/>
            </a:srgbClr>
          </a:solidFill>
          <a:ln w="12700">
            <a:solidFill>
              <a:srgbClr val="0E0A04"/>
            </a:solidFill>
            <a:prstDash val="solid"/>
          </a:ln>
        </p:spPr>
      </p:sp>
      <p:sp>
        <p:nvSpPr>
          <p:cNvPr id="182" name="Shape 180"/>
          <p:cNvSpPr/>
          <p:nvPr/>
        </p:nvSpPr>
        <p:spPr>
          <a:xfrm rot="2700000">
            <a:off x="3374136" y="5175504"/>
            <a:ext cx="155448" cy="155448"/>
          </a:xfrm>
          <a:prstGeom prst="rect">
            <a:avLst/>
          </a:prstGeom>
          <a:solidFill>
            <a:srgbClr val="1B9A8A">
              <a:alpha val="22000"/>
            </a:srgbClr>
          </a:solidFill>
          <a:ln w="12700">
            <a:solidFill>
              <a:srgbClr val="0E0A04"/>
            </a:solidFill>
            <a:prstDash val="solid"/>
          </a:ln>
        </p:spPr>
      </p:sp>
      <p:sp>
        <p:nvSpPr>
          <p:cNvPr id="183" name="Text 181"/>
          <p:cNvSpPr/>
          <p:nvPr/>
        </p:nvSpPr>
        <p:spPr>
          <a:xfrm>
            <a:off x="3977640" y="411480"/>
            <a:ext cx="4983480" cy="548640"/>
          </a:xfrm>
          <a:prstGeom prst="rect">
            <a:avLst/>
          </a:prstGeom>
          <a:noFill/>
          <a:ln/>
        </p:spPr>
        <p:txBody>
          <a:bodyPr wrap="square" rtlCol="0" anchor="ctr"/>
          <a:lstStyle/>
          <a:p>
            <a:pPr indent="0" marL="0">
              <a:buNone/>
            </a:pPr>
            <a:r>
              <a:rPr lang="en-US" sz="1000" b="1" spc="300" kern="0" dirty="0">
                <a:solidFill>
                  <a:srgbClr val="6B7A8A"/>
                </a:solidFill>
                <a:latin typeface="Calibri" pitchFamily="34" charset="0"/>
                <a:ea typeface="Calibri" pitchFamily="34" charset="-122"/>
                <a:cs typeface="Calibri" pitchFamily="34" charset="-120"/>
              </a:rPr>
              <a:t>SÉLECTION DE LA CHAUDIÈRE</a:t>
            </a:r>
            <a:endParaRPr lang="en-US" sz="1000" dirty="0"/>
          </a:p>
        </p:txBody>
      </p:sp>
      <p:sp>
        <p:nvSpPr>
          <p:cNvPr id="184" name="Text 182"/>
          <p:cNvSpPr/>
          <p:nvPr/>
        </p:nvSpPr>
        <p:spPr>
          <a:xfrm>
            <a:off x="3977640" y="1005840"/>
            <a:ext cx="4983480" cy="1737360"/>
          </a:xfrm>
          <a:prstGeom prst="rect">
            <a:avLst/>
          </a:prstGeom>
          <a:noFill/>
          <a:ln/>
        </p:spPr>
        <p:txBody>
          <a:bodyPr wrap="square" rtlCol="0" anchor="ctr"/>
          <a:lstStyle/>
          <a:p>
            <a:pPr indent="0" marL="0">
              <a:lnSpc>
                <a:spcPct val="100000"/>
              </a:lnSpc>
              <a:buNone/>
            </a:pPr>
            <a:r>
              <a:rPr lang="en-US" sz="4200" b="1" dirty="0">
                <a:solidFill>
                  <a:srgbClr val="EDE0C8"/>
                </a:solidFill>
                <a:latin typeface="Georgia" pitchFamily="34" charset="0"/>
                <a:ea typeface="Georgia" pitchFamily="34" charset="-122"/>
                <a:cs typeface="Georgia" pitchFamily="34" charset="-120"/>
              </a:rPr>
              <a:t>Note de Décision</a:t>
            </a:r>
            <a:endParaRPr lang="en-US" sz="4200" dirty="0"/>
          </a:p>
          <a:p>
            <a:pPr indent="0" marL="0">
              <a:lnSpc>
                <a:spcPct val="100000"/>
              </a:lnSpc>
              <a:buNone/>
            </a:pPr>
            <a:r>
              <a:rPr lang="en-US" sz="4200" b="1" dirty="0">
                <a:solidFill>
                  <a:srgbClr val="EDE0C8"/>
                </a:solidFill>
                <a:latin typeface="Georgia" pitchFamily="34" charset="0"/>
                <a:ea typeface="Georgia" pitchFamily="34" charset="-122"/>
                <a:cs typeface="Georgia" pitchFamily="34" charset="-120"/>
              </a:rPr>
              <a:t>Direction</a:t>
            </a:r>
            <a:endParaRPr lang="en-US" sz="4200" dirty="0"/>
          </a:p>
        </p:txBody>
      </p:sp>
      <p:sp>
        <p:nvSpPr>
          <p:cNvPr id="185" name="Shape 183"/>
          <p:cNvSpPr/>
          <p:nvPr/>
        </p:nvSpPr>
        <p:spPr>
          <a:xfrm>
            <a:off x="3977640" y="2816352"/>
            <a:ext cx="4983480" cy="329184"/>
          </a:xfrm>
          <a:prstGeom prst="rect">
            <a:avLst/>
          </a:prstGeom>
          <a:solidFill>
            <a:srgbClr val="E8A020"/>
          </a:solidFill>
          <a:ln/>
          <a:effectLst>
            <a:outerShdw sx="100000" sy="100000" kx="0" ky="0" algn="bl" rotWithShape="0" blurRad="152400" dist="50800" dir="8100000">
              <a:srgbClr val="000000">
                <a:alpha val="45000"/>
              </a:srgbClr>
            </a:outerShdw>
          </a:effectLst>
        </p:spPr>
      </p:sp>
      <p:sp>
        <p:nvSpPr>
          <p:cNvPr id="186" name="Text 184"/>
          <p:cNvSpPr/>
          <p:nvPr/>
        </p:nvSpPr>
        <p:spPr>
          <a:xfrm>
            <a:off x="4069080" y="2816352"/>
            <a:ext cx="4846320" cy="329184"/>
          </a:xfrm>
          <a:prstGeom prst="rect">
            <a:avLst/>
          </a:prstGeom>
          <a:noFill/>
          <a:ln/>
        </p:spPr>
        <p:txBody>
          <a:bodyPr wrap="square" rtlCol="0" anchor="ctr"/>
          <a:lstStyle/>
          <a:p>
            <a:pPr indent="0" marL="0">
              <a:buNone/>
            </a:pPr>
            <a:r>
              <a:rPr lang="en-US" sz="1000" b="1" dirty="0">
                <a:solidFill>
                  <a:srgbClr val="09090F"/>
                </a:solidFill>
                <a:latin typeface="Calibri" pitchFamily="34" charset="0"/>
                <a:ea typeface="Calibri" pitchFamily="34" charset="-122"/>
                <a:cs typeface="Calibri" pitchFamily="34" charset="-120"/>
              </a:rPr>
              <a:t>⚠  POSITION RÉVISÉE — Analyse GVI nuancée incluse</a:t>
            </a:r>
            <a:endParaRPr lang="en-US" sz="1000" dirty="0"/>
          </a:p>
        </p:txBody>
      </p:sp>
      <p:sp>
        <p:nvSpPr>
          <p:cNvPr id="187" name="Shape 185"/>
          <p:cNvSpPr/>
          <p:nvPr/>
        </p:nvSpPr>
        <p:spPr>
          <a:xfrm>
            <a:off x="3977640" y="3200400"/>
            <a:ext cx="4983480" cy="36576"/>
          </a:xfrm>
          <a:prstGeom prst="rect">
            <a:avLst/>
          </a:prstGeom>
          <a:solidFill>
            <a:srgbClr val="D4951A"/>
          </a:solidFill>
          <a:ln/>
        </p:spPr>
      </p:sp>
      <p:sp>
        <p:nvSpPr>
          <p:cNvPr id="188" name="Text 186"/>
          <p:cNvSpPr/>
          <p:nvPr/>
        </p:nvSpPr>
        <p:spPr>
          <a:xfrm>
            <a:off x="3977640" y="3291840"/>
            <a:ext cx="4983480" cy="365760"/>
          </a:xfrm>
          <a:prstGeom prst="rect">
            <a:avLst/>
          </a:prstGeom>
          <a:noFill/>
          <a:ln/>
        </p:spPr>
        <p:txBody>
          <a:bodyPr wrap="square" rtlCol="0" anchor="ctr"/>
          <a:lstStyle/>
          <a:p>
            <a:pPr indent="0" marL="0">
              <a:buNone/>
            </a:pPr>
            <a:r>
              <a:rPr lang="en-US" sz="1200" i="1" dirty="0">
                <a:solidFill>
                  <a:srgbClr val="D8C9A8"/>
                </a:solidFill>
                <a:latin typeface="Calibri" pitchFamily="34" charset="0"/>
                <a:ea typeface="Calibri" pitchFamily="34" charset="-122"/>
                <a:cs typeface="Calibri" pitchFamily="34" charset="-120"/>
              </a:rPr>
              <a:t>Pet Factory Maroc  ·  Ligne 5 T/H aliments secs pour animaux</a:t>
            </a:r>
            <a:endParaRPr lang="en-US" sz="1200" dirty="0"/>
          </a:p>
        </p:txBody>
      </p:sp>
      <p:sp>
        <p:nvSpPr>
          <p:cNvPr id="189" name="Shape 187"/>
          <p:cNvSpPr/>
          <p:nvPr/>
        </p:nvSpPr>
        <p:spPr>
          <a:xfrm>
            <a:off x="3977640" y="3749040"/>
            <a:ext cx="4983480" cy="804672"/>
          </a:xfrm>
          <a:prstGeom prst="rect">
            <a:avLst/>
          </a:prstGeom>
          <a:solidFill>
            <a:srgbClr val="141418"/>
          </a:solidFill>
          <a:ln w="12700">
            <a:solidFill>
              <a:srgbClr val="D4951A"/>
            </a:solidFill>
            <a:prstDash val="solid"/>
          </a:ln>
          <a:effectLst>
            <a:outerShdw sx="100000" sy="100000" kx="0" ky="0" algn="bl" rotWithShape="0" blurRad="152400" dist="50800" dir="8100000">
              <a:srgbClr val="000000">
                <a:alpha val="45000"/>
              </a:srgbClr>
            </a:outerShdw>
          </a:effectLst>
        </p:spPr>
      </p:sp>
      <p:sp>
        <p:nvSpPr>
          <p:cNvPr id="190" name="Shape 188"/>
          <p:cNvSpPr/>
          <p:nvPr/>
        </p:nvSpPr>
        <p:spPr>
          <a:xfrm>
            <a:off x="3977640" y="3749040"/>
            <a:ext cx="4983480" cy="45720"/>
          </a:xfrm>
          <a:prstGeom prst="rect">
            <a:avLst/>
          </a:prstGeom>
          <a:solidFill>
            <a:srgbClr val="D4951A"/>
          </a:solidFill>
          <a:ln/>
        </p:spPr>
      </p:sp>
      <p:sp>
        <p:nvSpPr>
          <p:cNvPr id="191" name="Text 189"/>
          <p:cNvSpPr/>
          <p:nvPr/>
        </p:nvSpPr>
        <p:spPr>
          <a:xfrm>
            <a:off x="4160520" y="3822192"/>
            <a:ext cx="96012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Carburant :</a:t>
            </a:r>
            <a:endParaRPr lang="en-US" sz="900" dirty="0"/>
          </a:p>
        </p:txBody>
      </p:sp>
      <p:sp>
        <p:nvSpPr>
          <p:cNvPr id="192" name="Text 190"/>
          <p:cNvSpPr/>
          <p:nvPr/>
        </p:nvSpPr>
        <p:spPr>
          <a:xfrm>
            <a:off x="5166360" y="3822192"/>
            <a:ext cx="365760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GPL (Gaz naturel — avenir)</a:t>
            </a:r>
            <a:endParaRPr lang="en-US" sz="900" dirty="0"/>
          </a:p>
        </p:txBody>
      </p:sp>
      <p:sp>
        <p:nvSpPr>
          <p:cNvPr id="193" name="Text 191"/>
          <p:cNvSpPr/>
          <p:nvPr/>
        </p:nvSpPr>
        <p:spPr>
          <a:xfrm>
            <a:off x="4160520" y="4059936"/>
            <a:ext cx="96012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Débit :</a:t>
            </a:r>
            <a:endParaRPr lang="en-US" sz="900" dirty="0"/>
          </a:p>
        </p:txBody>
      </p:sp>
      <p:sp>
        <p:nvSpPr>
          <p:cNvPr id="194" name="Text 192"/>
          <p:cNvSpPr/>
          <p:nvPr/>
        </p:nvSpPr>
        <p:spPr>
          <a:xfrm>
            <a:off x="5166360" y="4059936"/>
            <a:ext cx="365760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2 123 Kg/H (L1) · Vision ×2 an 1</a:t>
            </a:r>
            <a:endParaRPr lang="en-US" sz="900" dirty="0"/>
          </a:p>
        </p:txBody>
      </p:sp>
      <p:sp>
        <p:nvSpPr>
          <p:cNvPr id="195" name="Text 193"/>
          <p:cNvSpPr/>
          <p:nvPr/>
        </p:nvSpPr>
        <p:spPr>
          <a:xfrm>
            <a:off x="4160520" y="4297680"/>
            <a:ext cx="96012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Export :</a:t>
            </a:r>
            <a:endParaRPr lang="en-US" sz="900" dirty="0"/>
          </a:p>
        </p:txBody>
      </p:sp>
      <p:sp>
        <p:nvSpPr>
          <p:cNvPr id="196" name="Text 194"/>
          <p:cNvSpPr/>
          <p:nvPr/>
        </p:nvSpPr>
        <p:spPr>
          <a:xfrm>
            <a:off x="5166360" y="4297680"/>
            <a:ext cx="365760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UE + USA · FSSC 22000 · FDA PCAF</a:t>
            </a:r>
            <a:endParaRPr lang="en-US" sz="900" dirty="0"/>
          </a:p>
        </p:txBody>
      </p:sp>
      <p:sp>
        <p:nvSpPr>
          <p:cNvPr id="197" name="Shape 195"/>
          <p:cNvSpPr/>
          <p:nvPr/>
        </p:nvSpPr>
        <p:spPr>
          <a:xfrm>
            <a:off x="0" y="4645152"/>
            <a:ext cx="3749040" cy="498348"/>
          </a:xfrm>
          <a:prstGeom prst="rect">
            <a:avLst/>
          </a:prstGeom>
          <a:solidFill>
            <a:srgbClr val="070502"/>
          </a:solidFill>
          <a:ln/>
        </p:spPr>
      </p:sp>
      <p:sp>
        <p:nvSpPr>
          <p:cNvPr id="198" name="Text 196"/>
          <p:cNvSpPr/>
          <p:nvPr/>
        </p:nvSpPr>
        <p:spPr>
          <a:xfrm>
            <a:off x="91440" y="4663440"/>
            <a:ext cx="3566160" cy="475488"/>
          </a:xfrm>
          <a:prstGeom prst="rect">
            <a:avLst/>
          </a:prstGeom>
          <a:noFill/>
          <a:ln/>
        </p:spPr>
        <p:txBody>
          <a:bodyPr wrap="square" rtlCol="0" anchor="ctr"/>
          <a:lstStyle/>
          <a:p>
            <a:pPr algn="ctr" indent="0" marL="0">
              <a:buNone/>
            </a:pPr>
            <a:r>
              <a:rPr lang="en-US" sz="1000" b="1" spc="200" kern="0" dirty="0">
                <a:solidFill>
                  <a:srgbClr val="D4951A"/>
                </a:solidFill>
                <a:latin typeface="Georgia" pitchFamily="34" charset="0"/>
                <a:ea typeface="Georgia" pitchFamily="34" charset="-122"/>
                <a:cs typeface="Georgia" pitchFamily="34" charset="-120"/>
              </a:rPr>
              <a:t>PET FACTORY MAROC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SYNTHÈSE RÉVISÉE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Position mise à jour — intégrant les critiques industrielles réelles du GVI</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896112"/>
            <a:ext cx="8631936" cy="420624"/>
          </a:xfrm>
          <a:prstGeom prst="rect">
            <a:avLst/>
          </a:prstGeom>
          <a:solidFill>
            <a:srgbClr val="130F08"/>
          </a:solidFill>
          <a:ln w="12700">
            <a:solidFill>
              <a:srgbClr val="E8A020"/>
            </a:solidFill>
            <a:prstDash val="solid"/>
          </a:ln>
        </p:spPr>
      </p:sp>
      <p:sp>
        <p:nvSpPr>
          <p:cNvPr id="89" name="Shape 87"/>
          <p:cNvSpPr/>
          <p:nvPr/>
        </p:nvSpPr>
        <p:spPr>
          <a:xfrm>
            <a:off x="256032" y="896112"/>
            <a:ext cx="54864" cy="420624"/>
          </a:xfrm>
          <a:prstGeom prst="rect">
            <a:avLst/>
          </a:prstGeom>
          <a:solidFill>
            <a:srgbClr val="E8A020"/>
          </a:solidFill>
          <a:ln/>
        </p:spPr>
      </p:sp>
      <p:sp>
        <p:nvSpPr>
          <p:cNvPr id="90" name="Text 88"/>
          <p:cNvSpPr/>
          <p:nvPr/>
        </p:nvSpPr>
        <p:spPr>
          <a:xfrm>
            <a:off x="402336" y="932688"/>
            <a:ext cx="8321040" cy="347472"/>
          </a:xfrm>
          <a:prstGeom prst="rect">
            <a:avLst/>
          </a:prstGeom>
          <a:noFill/>
          <a:ln/>
        </p:spPr>
        <p:txBody>
          <a:bodyPr wrap="square" rtlCol="0" anchor="ctr"/>
          <a:lstStyle/>
          <a:p>
            <a:pPr indent="0" marL="0">
              <a:buNone/>
            </a:pPr>
            <a:r>
              <a:rPr lang="en-US" sz="1050" b="1" dirty="0">
                <a:solidFill>
                  <a:srgbClr val="E8A020"/>
                </a:solidFill>
                <a:latin typeface="Calibri" pitchFamily="34" charset="0"/>
                <a:ea typeface="Calibri" pitchFamily="34" charset="-122"/>
                <a:cs typeface="Calibri" pitchFamily="34" charset="-120"/>
              </a:rPr>
              <a:t>Position révisée : </a:t>
            </a:r>
            <a:pPr indent="0" marL="0">
              <a:buNone/>
            </a:pPr>
            <a:r>
              <a:rPr lang="en-US" sz="1000" dirty="0">
                <a:solidFill>
                  <a:srgbClr val="EDE0C8"/>
                </a:solidFill>
                <a:latin typeface="Calibri" pitchFamily="34" charset="0"/>
                <a:ea typeface="Calibri" pitchFamily="34" charset="-122"/>
                <a:cs typeface="Calibri" pitchFamily="34" charset="-120"/>
              </a:rPr>
              <a:t>Le GVI reste pertinent si — et seulement si — le fournisseur peut garantir un partenaire de service agréé au Maroc ou en Europe du Sud avec un délai d'intervention contractuellement défini. Sans cette garantie, la chaudière à tubes de fumée devient la recommandation pragmatique.</a:t>
            </a:r>
            <a:endParaRPr lang="en-US" sz="1050" dirty="0"/>
          </a:p>
        </p:txBody>
      </p:sp>
      <p:sp>
        <p:nvSpPr>
          <p:cNvPr id="91" name="Shape 89"/>
          <p:cNvSpPr/>
          <p:nvPr/>
        </p:nvSpPr>
        <p:spPr>
          <a:xfrm>
            <a:off x="256032" y="1389888"/>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2" name="Shape 90"/>
          <p:cNvSpPr/>
          <p:nvPr/>
        </p:nvSpPr>
        <p:spPr>
          <a:xfrm>
            <a:off x="256032" y="1389888"/>
            <a:ext cx="548640" cy="640080"/>
          </a:xfrm>
          <a:prstGeom prst="rect">
            <a:avLst/>
          </a:prstGeom>
          <a:solidFill>
            <a:srgbClr val="D4951A"/>
          </a:solidFill>
          <a:ln/>
        </p:spPr>
      </p:sp>
      <p:sp>
        <p:nvSpPr>
          <p:cNvPr id="93" name="Text 91"/>
          <p:cNvSpPr/>
          <p:nvPr/>
        </p:nvSpPr>
        <p:spPr>
          <a:xfrm>
            <a:off x="256032" y="1389888"/>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01</a:t>
            </a:r>
            <a:endParaRPr lang="en-US" sz="1600" dirty="0"/>
          </a:p>
        </p:txBody>
      </p:sp>
      <p:sp>
        <p:nvSpPr>
          <p:cNvPr id="94" name="Text 92"/>
          <p:cNvSpPr/>
          <p:nvPr/>
        </p:nvSpPr>
        <p:spPr>
          <a:xfrm>
            <a:off x="896112" y="1426464"/>
            <a:ext cx="7955280" cy="237744"/>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Le dimensionnement reste inchangé</a:t>
            </a:r>
            <a:endParaRPr lang="en-US" sz="1100" dirty="0"/>
          </a:p>
        </p:txBody>
      </p:sp>
      <p:sp>
        <p:nvSpPr>
          <p:cNvPr id="95" name="Text 93"/>
          <p:cNvSpPr/>
          <p:nvPr/>
        </p:nvSpPr>
        <p:spPr>
          <a:xfrm>
            <a:off x="896112" y="1664208"/>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2 400–2 600 Kg/H par ligne, 5 bar(e), vapeur saturée sèche. Deux chaudières indépendantes — une par ligne. Ce point de la recommandation initiale est confirmé sans réserve.</a:t>
            </a:r>
            <a:endParaRPr lang="en-US" sz="900" dirty="0"/>
          </a:p>
        </p:txBody>
      </p:sp>
      <p:sp>
        <p:nvSpPr>
          <p:cNvPr id="96" name="Shape 94"/>
          <p:cNvSpPr/>
          <p:nvPr/>
        </p:nvSpPr>
        <p:spPr>
          <a:xfrm>
            <a:off x="256032" y="2084832"/>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7" name="Shape 95"/>
          <p:cNvSpPr/>
          <p:nvPr/>
        </p:nvSpPr>
        <p:spPr>
          <a:xfrm>
            <a:off x="256032" y="2084832"/>
            <a:ext cx="548640" cy="640080"/>
          </a:xfrm>
          <a:prstGeom prst="rect">
            <a:avLst/>
          </a:prstGeom>
          <a:solidFill>
            <a:srgbClr val="E8A020"/>
          </a:solidFill>
          <a:ln/>
        </p:spPr>
      </p:sp>
      <p:sp>
        <p:nvSpPr>
          <p:cNvPr id="98" name="Text 96"/>
          <p:cNvSpPr/>
          <p:nvPr/>
        </p:nvSpPr>
        <p:spPr>
          <a:xfrm>
            <a:off x="256032" y="2084832"/>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02</a:t>
            </a:r>
            <a:endParaRPr lang="en-US" sz="1600" dirty="0"/>
          </a:p>
        </p:txBody>
      </p:sp>
      <p:sp>
        <p:nvSpPr>
          <p:cNvPr id="99" name="Text 97"/>
          <p:cNvSpPr/>
          <p:nvPr/>
        </p:nvSpPr>
        <p:spPr>
          <a:xfrm>
            <a:off x="896112" y="2121408"/>
            <a:ext cx="7955280" cy="237744"/>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Le GVI est efficace — mais sensible à l'eau et au SAV</a:t>
            </a:r>
            <a:endParaRPr lang="en-US" sz="1100" dirty="0"/>
          </a:p>
        </p:txBody>
      </p:sp>
      <p:sp>
        <p:nvSpPr>
          <p:cNvPr id="100" name="Text 98"/>
          <p:cNvSpPr/>
          <p:nvPr/>
        </p:nvSpPr>
        <p:spPr>
          <a:xfrm>
            <a:off x="896112" y="2359152"/>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Les industriels signalent des problèmes réels : sensibilité à la qualité de l'eau, coût de remplacement des serpentins, et surtout — disponibilité limitée du SAV spécialisé en dehors d'Europe. Au Maroc, ce dernier point est le risque principal.</a:t>
            </a:r>
            <a:endParaRPr lang="en-US" sz="900" dirty="0"/>
          </a:p>
        </p:txBody>
      </p:sp>
      <p:sp>
        <p:nvSpPr>
          <p:cNvPr id="101" name="Shape 99"/>
          <p:cNvSpPr/>
          <p:nvPr/>
        </p:nvSpPr>
        <p:spPr>
          <a:xfrm>
            <a:off x="256032" y="2779776"/>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2" name="Shape 100"/>
          <p:cNvSpPr/>
          <p:nvPr/>
        </p:nvSpPr>
        <p:spPr>
          <a:xfrm>
            <a:off x="256032" y="2779776"/>
            <a:ext cx="548640" cy="640080"/>
          </a:xfrm>
          <a:prstGeom prst="rect">
            <a:avLst/>
          </a:prstGeom>
          <a:solidFill>
            <a:srgbClr val="C0622B"/>
          </a:solidFill>
          <a:ln/>
        </p:spPr>
      </p:sp>
      <p:sp>
        <p:nvSpPr>
          <p:cNvPr id="103" name="Text 101"/>
          <p:cNvSpPr/>
          <p:nvPr/>
        </p:nvSpPr>
        <p:spPr>
          <a:xfrm>
            <a:off x="256032" y="2779776"/>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03</a:t>
            </a:r>
            <a:endParaRPr lang="en-US" sz="1600" dirty="0"/>
          </a:p>
        </p:txBody>
      </p:sp>
      <p:sp>
        <p:nvSpPr>
          <p:cNvPr id="104" name="Text 102"/>
          <p:cNvSpPr/>
          <p:nvPr/>
        </p:nvSpPr>
        <p:spPr>
          <a:xfrm>
            <a:off x="896112" y="2816352"/>
            <a:ext cx="7955280" cy="237744"/>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Condition sine qua non pour maintenir le GVI</a:t>
            </a:r>
            <a:endParaRPr lang="en-US" sz="1100" dirty="0"/>
          </a:p>
        </p:txBody>
      </p:sp>
      <p:sp>
        <p:nvSpPr>
          <p:cNvPr id="105" name="Text 103"/>
          <p:cNvSpPr/>
          <p:nvPr/>
        </p:nvSpPr>
        <p:spPr>
          <a:xfrm>
            <a:off x="896112" y="3054096"/>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Miura et Clayton doivent fournir, dans leur offre : un partenaire SAV nommé au Maroc ou en Espagne/France, un délai d'intervention contractuel (max 72h pièces critiques), et un prix de remplacement des serpentins garanti sur 5 ans.</a:t>
            </a:r>
            <a:endParaRPr lang="en-US" sz="900" dirty="0"/>
          </a:p>
        </p:txBody>
      </p:sp>
      <p:sp>
        <p:nvSpPr>
          <p:cNvPr id="106" name="Shape 104"/>
          <p:cNvSpPr/>
          <p:nvPr/>
        </p:nvSpPr>
        <p:spPr>
          <a:xfrm>
            <a:off x="256032" y="3474720"/>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7" name="Shape 105"/>
          <p:cNvSpPr/>
          <p:nvPr/>
        </p:nvSpPr>
        <p:spPr>
          <a:xfrm>
            <a:off x="256032" y="3474720"/>
            <a:ext cx="548640" cy="640080"/>
          </a:xfrm>
          <a:prstGeom prst="rect">
            <a:avLst/>
          </a:prstGeom>
          <a:solidFill>
            <a:srgbClr val="1B9A8A"/>
          </a:solidFill>
          <a:ln/>
        </p:spPr>
      </p:sp>
      <p:sp>
        <p:nvSpPr>
          <p:cNvPr id="108" name="Text 106"/>
          <p:cNvSpPr/>
          <p:nvPr/>
        </p:nvSpPr>
        <p:spPr>
          <a:xfrm>
            <a:off x="256032" y="3474720"/>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04</a:t>
            </a:r>
            <a:endParaRPr lang="en-US" sz="1600" dirty="0"/>
          </a:p>
        </p:txBody>
      </p:sp>
      <p:sp>
        <p:nvSpPr>
          <p:cNvPr id="109" name="Text 107"/>
          <p:cNvSpPr/>
          <p:nvPr/>
        </p:nvSpPr>
        <p:spPr>
          <a:xfrm>
            <a:off x="896112" y="3511296"/>
            <a:ext cx="7955280" cy="237744"/>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Alternative pragmatique : tubes de fumée si SAV non garanti</a:t>
            </a:r>
            <a:endParaRPr lang="en-US" sz="1100" dirty="0"/>
          </a:p>
        </p:txBody>
      </p:sp>
      <p:sp>
        <p:nvSpPr>
          <p:cNvPr id="110" name="Text 108"/>
          <p:cNvSpPr/>
          <p:nvPr/>
        </p:nvSpPr>
        <p:spPr>
          <a:xfrm>
            <a:off x="896112" y="3749040"/>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Si aucun fournisseur GVI ne peut garantir le SAV local, ICI Caldaie (Italie) ou Cleaver-Brooks en version tubes de fumée devient la recommandation. Moins efficient en GPL mais opérationnellement plus résilient dans le contexte marocain.</a:t>
            </a:r>
            <a:endParaRPr lang="en-US" sz="900" dirty="0"/>
          </a:p>
        </p:txBody>
      </p:sp>
      <p:sp>
        <p:nvSpPr>
          <p:cNvPr id="111" name="Shape 109"/>
          <p:cNvSpPr/>
          <p:nvPr/>
        </p:nvSpPr>
        <p:spPr>
          <a:xfrm>
            <a:off x="256032" y="4169664"/>
            <a:ext cx="8631936" cy="640080"/>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2" name="Shape 110"/>
          <p:cNvSpPr/>
          <p:nvPr/>
        </p:nvSpPr>
        <p:spPr>
          <a:xfrm>
            <a:off x="256032" y="4169664"/>
            <a:ext cx="548640" cy="640080"/>
          </a:xfrm>
          <a:prstGeom prst="rect">
            <a:avLst/>
          </a:prstGeom>
          <a:solidFill>
            <a:srgbClr val="1A5FA8"/>
          </a:solidFill>
          <a:ln/>
        </p:spPr>
      </p:sp>
      <p:sp>
        <p:nvSpPr>
          <p:cNvPr id="113" name="Text 111"/>
          <p:cNvSpPr/>
          <p:nvPr/>
        </p:nvSpPr>
        <p:spPr>
          <a:xfrm>
            <a:off x="256032" y="4169664"/>
            <a:ext cx="54864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05</a:t>
            </a:r>
            <a:endParaRPr lang="en-US" sz="1600" dirty="0"/>
          </a:p>
        </p:txBody>
      </p:sp>
      <p:sp>
        <p:nvSpPr>
          <p:cNvPr id="114" name="Text 112"/>
          <p:cNvSpPr/>
          <p:nvPr/>
        </p:nvSpPr>
        <p:spPr>
          <a:xfrm>
            <a:off x="896112" y="4206240"/>
            <a:ext cx="7955280" cy="237744"/>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Le marquage CE et la qualité vapeur restent non négociables</a:t>
            </a:r>
            <a:endParaRPr lang="en-US" sz="1100" dirty="0"/>
          </a:p>
        </p:txBody>
      </p:sp>
      <p:sp>
        <p:nvSpPr>
          <p:cNvPr id="115" name="Text 113"/>
          <p:cNvSpPr/>
          <p:nvPr/>
        </p:nvSpPr>
        <p:spPr>
          <a:xfrm>
            <a:off x="896112" y="4443984"/>
            <a:ext cx="7955280" cy="338328"/>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Quelle que soit la technologie retenue : CE obligatoire, produits chimiques NSF H1, documentation HACCP vapeur. Ces exigences sont indépendantes du type de chaudière et s'appliquent sans exception.</a:t>
            </a:r>
            <a:endParaRPr lang="en-US" sz="900" dirty="0"/>
          </a:p>
        </p:txBody>
      </p:sp>
      <p:sp>
        <p:nvSpPr>
          <p:cNvPr id="116" name="Shape 114"/>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17" name="Shape 115"/>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18" name="Shape 116"/>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19" name="Shape 117"/>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20" name="Shape 118"/>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21" name="Shape 119"/>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22" name="Shape 120"/>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23" name="Shape 121"/>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24" name="Shape 122"/>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25" name="Shape 123"/>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26" name="Shape 124"/>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27" name="Shape 125"/>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28" name="Shape 126"/>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29" name="Shape 127"/>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30" name="Shape 128"/>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94" name="Text 192"/>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POURQUOI LA CHAUDIÈRE EST SUR LE CHEMIN CRITIQUE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Sans vapeur = pas de conditionnement = pas d'extrusion = pas de production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Text 87"/>
          <p:cNvSpPr/>
          <p:nvPr/>
        </p:nvSpPr>
        <p:spPr>
          <a:xfrm>
            <a:off x="256032"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Matières</a:t>
            </a:r>
            <a:endParaRPr lang="en-US" sz="850" dirty="0"/>
          </a:p>
          <a:p>
            <a:pPr algn="ctr" indent="0" marL="0">
              <a:buNone/>
            </a:pPr>
            <a:r>
              <a:rPr lang="en-US" sz="850" dirty="0">
                <a:solidFill>
                  <a:srgbClr val="D8C9A8"/>
                </a:solidFill>
                <a:latin typeface="Calibri" pitchFamily="34" charset="0"/>
                <a:ea typeface="Calibri" pitchFamily="34" charset="-122"/>
                <a:cs typeface="Calibri" pitchFamily="34" charset="-120"/>
              </a:rPr>
              <a:t>premières</a:t>
            </a:r>
            <a:endParaRPr lang="en-US" sz="850" dirty="0"/>
          </a:p>
        </p:txBody>
      </p:sp>
      <p:sp>
        <p:nvSpPr>
          <p:cNvPr id="90" name="Shape 88"/>
          <p:cNvSpPr/>
          <p:nvPr/>
        </p:nvSpPr>
        <p:spPr>
          <a:xfrm>
            <a:off x="1133856" y="1280160"/>
            <a:ext cx="91440" cy="0"/>
          </a:xfrm>
          <a:prstGeom prst="line">
            <a:avLst/>
          </a:prstGeom>
          <a:noFill/>
          <a:ln w="12700">
            <a:solidFill>
              <a:srgbClr val="6B7A8A"/>
            </a:solidFill>
            <a:prstDash val="solid"/>
          </a:ln>
        </p:spPr>
      </p:sp>
      <p:sp>
        <p:nvSpPr>
          <p:cNvPr id="91" name="Shape 89"/>
          <p:cNvSpPr/>
          <p:nvPr/>
        </p:nvSpPr>
        <p:spPr>
          <a:xfrm>
            <a:off x="1225296"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2" name="Text 90"/>
          <p:cNvSpPr/>
          <p:nvPr/>
        </p:nvSpPr>
        <p:spPr>
          <a:xfrm>
            <a:off x="1225296"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Broyage</a:t>
            </a:r>
            <a:endParaRPr lang="en-US" sz="850" dirty="0"/>
          </a:p>
        </p:txBody>
      </p:sp>
      <p:sp>
        <p:nvSpPr>
          <p:cNvPr id="93" name="Shape 91"/>
          <p:cNvSpPr/>
          <p:nvPr/>
        </p:nvSpPr>
        <p:spPr>
          <a:xfrm>
            <a:off x="2103120" y="1280160"/>
            <a:ext cx="91440" cy="0"/>
          </a:xfrm>
          <a:prstGeom prst="line">
            <a:avLst/>
          </a:prstGeom>
          <a:noFill/>
          <a:ln w="12700">
            <a:solidFill>
              <a:srgbClr val="6B7A8A"/>
            </a:solidFill>
            <a:prstDash val="solid"/>
          </a:ln>
        </p:spPr>
      </p:sp>
      <p:sp>
        <p:nvSpPr>
          <p:cNvPr id="94" name="Shape 92"/>
          <p:cNvSpPr/>
          <p:nvPr/>
        </p:nvSpPr>
        <p:spPr>
          <a:xfrm>
            <a:off x="2194560"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5" name="Text 93"/>
          <p:cNvSpPr/>
          <p:nvPr/>
        </p:nvSpPr>
        <p:spPr>
          <a:xfrm>
            <a:off x="2194560"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Dosage</a:t>
            </a:r>
            <a:endParaRPr lang="en-US" sz="850" dirty="0"/>
          </a:p>
          <a:p>
            <a:pPr algn="ctr" indent="0" marL="0">
              <a:buNone/>
            </a:pPr>
            <a:r>
              <a:rPr lang="en-US" sz="850" dirty="0">
                <a:solidFill>
                  <a:srgbClr val="D8C9A8"/>
                </a:solidFill>
                <a:latin typeface="Calibri" pitchFamily="34" charset="0"/>
                <a:ea typeface="Calibri" pitchFamily="34" charset="-122"/>
                <a:cs typeface="Calibri" pitchFamily="34" charset="-120"/>
              </a:rPr>
              <a:t>&amp; Mélange</a:t>
            </a:r>
            <a:endParaRPr lang="en-US" sz="850" dirty="0"/>
          </a:p>
        </p:txBody>
      </p:sp>
      <p:sp>
        <p:nvSpPr>
          <p:cNvPr id="96" name="Shape 94"/>
          <p:cNvSpPr/>
          <p:nvPr/>
        </p:nvSpPr>
        <p:spPr>
          <a:xfrm>
            <a:off x="3072384" y="1280160"/>
            <a:ext cx="91440" cy="0"/>
          </a:xfrm>
          <a:prstGeom prst="line">
            <a:avLst/>
          </a:prstGeom>
          <a:noFill/>
          <a:ln w="12700">
            <a:solidFill>
              <a:srgbClr val="6B7A8A"/>
            </a:solidFill>
            <a:prstDash val="solid"/>
          </a:ln>
        </p:spPr>
      </p:sp>
      <p:sp>
        <p:nvSpPr>
          <p:cNvPr id="97" name="Shape 95"/>
          <p:cNvSpPr/>
          <p:nvPr/>
        </p:nvSpPr>
        <p:spPr>
          <a:xfrm>
            <a:off x="3163824"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98" name="Shape 96"/>
          <p:cNvSpPr/>
          <p:nvPr/>
        </p:nvSpPr>
        <p:spPr>
          <a:xfrm rot="2700000">
            <a:off x="3547872" y="850392"/>
            <a:ext cx="109728" cy="109728"/>
          </a:xfrm>
          <a:prstGeom prst="rect">
            <a:avLst/>
          </a:prstGeom>
          <a:solidFill>
            <a:srgbClr val="D4951A"/>
          </a:solidFill>
          <a:ln w="12700">
            <a:solidFill>
              <a:srgbClr val="09090F"/>
            </a:solidFill>
            <a:prstDash val="solid"/>
          </a:ln>
        </p:spPr>
      </p:sp>
      <p:sp>
        <p:nvSpPr>
          <p:cNvPr id="99" name="Text 97"/>
          <p:cNvSpPr/>
          <p:nvPr/>
        </p:nvSpPr>
        <p:spPr>
          <a:xfrm>
            <a:off x="3163824"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Pré-</a:t>
            </a:r>
            <a:endParaRPr lang="en-US" sz="850" dirty="0"/>
          </a:p>
          <a:p>
            <a:pPr algn="ctr" indent="0" marL="0">
              <a:buNone/>
            </a:pPr>
            <a:r>
              <a:rPr lang="en-US" sz="850" b="1" dirty="0">
                <a:solidFill>
                  <a:srgbClr val="09090F"/>
                </a:solidFill>
                <a:latin typeface="Calibri" pitchFamily="34" charset="0"/>
                <a:ea typeface="Calibri" pitchFamily="34" charset="-122"/>
                <a:cs typeface="Calibri" pitchFamily="34" charset="-120"/>
              </a:rPr>
              <a:t>conditionneur</a:t>
            </a:r>
            <a:endParaRPr lang="en-US" sz="850" dirty="0"/>
          </a:p>
        </p:txBody>
      </p:sp>
      <p:sp>
        <p:nvSpPr>
          <p:cNvPr id="100" name="Shape 98"/>
          <p:cNvSpPr/>
          <p:nvPr/>
        </p:nvSpPr>
        <p:spPr>
          <a:xfrm>
            <a:off x="4041648" y="1280160"/>
            <a:ext cx="91440" cy="0"/>
          </a:xfrm>
          <a:prstGeom prst="line">
            <a:avLst/>
          </a:prstGeom>
          <a:noFill/>
          <a:ln w="12700">
            <a:solidFill>
              <a:srgbClr val="6B7A8A"/>
            </a:solidFill>
            <a:prstDash val="solid"/>
          </a:ln>
        </p:spPr>
      </p:sp>
      <p:sp>
        <p:nvSpPr>
          <p:cNvPr id="101" name="Shape 99"/>
          <p:cNvSpPr/>
          <p:nvPr/>
        </p:nvSpPr>
        <p:spPr>
          <a:xfrm>
            <a:off x="4133088"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2" name="Shape 100"/>
          <p:cNvSpPr/>
          <p:nvPr/>
        </p:nvSpPr>
        <p:spPr>
          <a:xfrm rot="2700000">
            <a:off x="4517136" y="850392"/>
            <a:ext cx="109728" cy="109728"/>
          </a:xfrm>
          <a:prstGeom prst="rect">
            <a:avLst/>
          </a:prstGeom>
          <a:solidFill>
            <a:srgbClr val="D4951A"/>
          </a:solidFill>
          <a:ln w="12700">
            <a:solidFill>
              <a:srgbClr val="09090F"/>
            </a:solidFill>
            <a:prstDash val="solid"/>
          </a:ln>
        </p:spPr>
      </p:sp>
      <p:sp>
        <p:nvSpPr>
          <p:cNvPr id="103" name="Text 101"/>
          <p:cNvSpPr/>
          <p:nvPr/>
        </p:nvSpPr>
        <p:spPr>
          <a:xfrm>
            <a:off x="4133088"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Extrudeur</a:t>
            </a:r>
            <a:endParaRPr lang="en-US" sz="850" dirty="0"/>
          </a:p>
        </p:txBody>
      </p:sp>
      <p:sp>
        <p:nvSpPr>
          <p:cNvPr id="104" name="Shape 102"/>
          <p:cNvSpPr/>
          <p:nvPr/>
        </p:nvSpPr>
        <p:spPr>
          <a:xfrm>
            <a:off x="5010912" y="1280160"/>
            <a:ext cx="91440" cy="0"/>
          </a:xfrm>
          <a:prstGeom prst="line">
            <a:avLst/>
          </a:prstGeom>
          <a:noFill/>
          <a:ln w="12700">
            <a:solidFill>
              <a:srgbClr val="6B7A8A"/>
            </a:solidFill>
            <a:prstDash val="solid"/>
          </a:ln>
        </p:spPr>
      </p:sp>
      <p:sp>
        <p:nvSpPr>
          <p:cNvPr id="105" name="Shape 103"/>
          <p:cNvSpPr/>
          <p:nvPr/>
        </p:nvSpPr>
        <p:spPr>
          <a:xfrm>
            <a:off x="5102352"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6" name="Shape 104"/>
          <p:cNvSpPr/>
          <p:nvPr/>
        </p:nvSpPr>
        <p:spPr>
          <a:xfrm rot="2700000">
            <a:off x="5486400" y="850392"/>
            <a:ext cx="109728" cy="109728"/>
          </a:xfrm>
          <a:prstGeom prst="rect">
            <a:avLst/>
          </a:prstGeom>
          <a:solidFill>
            <a:srgbClr val="D4951A"/>
          </a:solidFill>
          <a:ln w="12700">
            <a:solidFill>
              <a:srgbClr val="09090F"/>
            </a:solidFill>
            <a:prstDash val="solid"/>
          </a:ln>
        </p:spPr>
      </p:sp>
      <p:sp>
        <p:nvSpPr>
          <p:cNvPr id="107" name="Text 105"/>
          <p:cNvSpPr/>
          <p:nvPr/>
        </p:nvSpPr>
        <p:spPr>
          <a:xfrm>
            <a:off x="5102352"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Sécheur</a:t>
            </a:r>
            <a:endParaRPr lang="en-US" sz="850" dirty="0"/>
          </a:p>
        </p:txBody>
      </p:sp>
      <p:sp>
        <p:nvSpPr>
          <p:cNvPr id="108" name="Shape 106"/>
          <p:cNvSpPr/>
          <p:nvPr/>
        </p:nvSpPr>
        <p:spPr>
          <a:xfrm>
            <a:off x="5980176" y="1280160"/>
            <a:ext cx="91440" cy="0"/>
          </a:xfrm>
          <a:prstGeom prst="line">
            <a:avLst/>
          </a:prstGeom>
          <a:noFill/>
          <a:ln w="12700">
            <a:solidFill>
              <a:srgbClr val="6B7A8A"/>
            </a:solidFill>
            <a:prstDash val="solid"/>
          </a:ln>
        </p:spPr>
      </p:sp>
      <p:sp>
        <p:nvSpPr>
          <p:cNvPr id="109" name="Shape 107"/>
          <p:cNvSpPr/>
          <p:nvPr/>
        </p:nvSpPr>
        <p:spPr>
          <a:xfrm>
            <a:off x="6071616"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0" name="Text 108"/>
          <p:cNvSpPr/>
          <p:nvPr/>
        </p:nvSpPr>
        <p:spPr>
          <a:xfrm>
            <a:off x="6071616"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Enrobage</a:t>
            </a:r>
            <a:endParaRPr lang="en-US" sz="850" dirty="0"/>
          </a:p>
        </p:txBody>
      </p:sp>
      <p:sp>
        <p:nvSpPr>
          <p:cNvPr id="111" name="Shape 109"/>
          <p:cNvSpPr/>
          <p:nvPr/>
        </p:nvSpPr>
        <p:spPr>
          <a:xfrm>
            <a:off x="6949440" y="1280160"/>
            <a:ext cx="91440" cy="0"/>
          </a:xfrm>
          <a:prstGeom prst="line">
            <a:avLst/>
          </a:prstGeom>
          <a:noFill/>
          <a:ln w="12700">
            <a:solidFill>
              <a:srgbClr val="6B7A8A"/>
            </a:solidFill>
            <a:prstDash val="solid"/>
          </a:ln>
        </p:spPr>
      </p:sp>
      <p:sp>
        <p:nvSpPr>
          <p:cNvPr id="112" name="Shape 110"/>
          <p:cNvSpPr/>
          <p:nvPr/>
        </p:nvSpPr>
        <p:spPr>
          <a:xfrm>
            <a:off x="7040880"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3" name="Text 111"/>
          <p:cNvSpPr/>
          <p:nvPr/>
        </p:nvSpPr>
        <p:spPr>
          <a:xfrm>
            <a:off x="7040880"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Refroid.</a:t>
            </a:r>
            <a:endParaRPr lang="en-US" sz="850" dirty="0"/>
          </a:p>
        </p:txBody>
      </p:sp>
      <p:sp>
        <p:nvSpPr>
          <p:cNvPr id="114" name="Shape 112"/>
          <p:cNvSpPr/>
          <p:nvPr/>
        </p:nvSpPr>
        <p:spPr>
          <a:xfrm>
            <a:off x="7918704" y="1280160"/>
            <a:ext cx="91440" cy="0"/>
          </a:xfrm>
          <a:prstGeom prst="line">
            <a:avLst/>
          </a:prstGeom>
          <a:noFill/>
          <a:ln w="12700">
            <a:solidFill>
              <a:srgbClr val="6B7A8A"/>
            </a:solidFill>
            <a:prstDash val="solid"/>
          </a:ln>
        </p:spPr>
      </p:sp>
      <p:sp>
        <p:nvSpPr>
          <p:cNvPr id="115" name="Shape 113"/>
          <p:cNvSpPr/>
          <p:nvPr/>
        </p:nvSpPr>
        <p:spPr>
          <a:xfrm>
            <a:off x="8010144"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6" name="Text 114"/>
          <p:cNvSpPr/>
          <p:nvPr/>
        </p:nvSpPr>
        <p:spPr>
          <a:xfrm>
            <a:off x="8010144"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Emballage</a:t>
            </a:r>
            <a:endParaRPr lang="en-US" sz="850" dirty="0"/>
          </a:p>
        </p:txBody>
      </p:sp>
      <p:sp>
        <p:nvSpPr>
          <p:cNvPr id="117" name="Shape 115"/>
          <p:cNvSpPr/>
          <p:nvPr/>
        </p:nvSpPr>
        <p:spPr>
          <a:xfrm>
            <a:off x="3236976" y="1627632"/>
            <a:ext cx="0" cy="475488"/>
          </a:xfrm>
          <a:prstGeom prst="line">
            <a:avLst/>
          </a:prstGeom>
          <a:noFill/>
          <a:ln w="12700">
            <a:solidFill>
              <a:srgbClr val="D4951A"/>
            </a:solidFill>
            <a:prstDash val="solid"/>
          </a:ln>
        </p:spPr>
      </p:sp>
      <p:sp>
        <p:nvSpPr>
          <p:cNvPr id="118" name="Text 116"/>
          <p:cNvSpPr/>
          <p:nvPr/>
        </p:nvSpPr>
        <p:spPr>
          <a:xfrm>
            <a:off x="2651760" y="2066544"/>
            <a:ext cx="1508760" cy="256032"/>
          </a:xfrm>
          <a:prstGeom prst="rect">
            <a:avLst/>
          </a:prstGeom>
          <a:noFill/>
          <a:ln/>
        </p:spPr>
        <p:txBody>
          <a:bodyPr wrap="square" rtlCol="0" anchor="ctr"/>
          <a:lstStyle/>
          <a:p>
            <a:pPr algn="ctr" indent="0" marL="0">
              <a:buNone/>
            </a:pPr>
            <a:r>
              <a:rPr lang="en-US" sz="900" b="1" dirty="0">
                <a:solidFill>
                  <a:srgbClr val="D4951A"/>
                </a:solidFill>
              </a:rPr>
              <a:t>🔥 VAPEUR</a:t>
            </a:r>
            <a:endParaRPr lang="en-US" sz="900" dirty="0"/>
          </a:p>
        </p:txBody>
      </p:sp>
      <p:sp>
        <p:nvSpPr>
          <p:cNvPr id="119" name="Shape 117"/>
          <p:cNvSpPr/>
          <p:nvPr/>
        </p:nvSpPr>
        <p:spPr>
          <a:xfrm>
            <a:off x="256032"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0" name="Shape 118"/>
          <p:cNvSpPr/>
          <p:nvPr/>
        </p:nvSpPr>
        <p:spPr>
          <a:xfrm>
            <a:off x="256032" y="2395728"/>
            <a:ext cx="2834640" cy="45720"/>
          </a:xfrm>
          <a:prstGeom prst="rect">
            <a:avLst/>
          </a:prstGeom>
          <a:solidFill>
            <a:srgbClr val="D4951A"/>
          </a:solidFill>
          <a:ln/>
        </p:spPr>
      </p:sp>
      <p:sp>
        <p:nvSpPr>
          <p:cNvPr id="121" name="Text 119"/>
          <p:cNvSpPr/>
          <p:nvPr/>
        </p:nvSpPr>
        <p:spPr>
          <a:xfrm>
            <a:off x="384048" y="2487168"/>
            <a:ext cx="2651760" cy="329184"/>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Vapeur au Conditionneur (CCP)</a:t>
            </a:r>
            <a:endParaRPr lang="en-US" sz="1050" dirty="0"/>
          </a:p>
        </p:txBody>
      </p:sp>
      <p:sp>
        <p:nvSpPr>
          <p:cNvPr id="122" name="Text 120"/>
          <p:cNvSpPr/>
          <p:nvPr/>
        </p:nvSpPr>
        <p:spPr>
          <a:xfrm>
            <a:off x="384048"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Vapeur + eau injectées dans le mélange avant extrusion. Température à 80–90°C. Pré-gélatinise l'amidon, détruit les pathogènes — étape de destruction primaire (CCP HACCP). Pression stable impérative.</a:t>
            </a:r>
            <a:endParaRPr lang="en-US" sz="900" dirty="0"/>
          </a:p>
        </p:txBody>
      </p:sp>
      <p:sp>
        <p:nvSpPr>
          <p:cNvPr id="123" name="Shape 121"/>
          <p:cNvSpPr/>
          <p:nvPr/>
        </p:nvSpPr>
        <p:spPr>
          <a:xfrm>
            <a:off x="3200400"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3200400" y="2395728"/>
            <a:ext cx="2834640" cy="45720"/>
          </a:xfrm>
          <a:prstGeom prst="rect">
            <a:avLst/>
          </a:prstGeom>
          <a:solidFill>
            <a:srgbClr val="C0622B"/>
          </a:solidFill>
          <a:ln/>
        </p:spPr>
      </p:sp>
      <p:sp>
        <p:nvSpPr>
          <p:cNvPr id="125" name="Text 123"/>
          <p:cNvSpPr/>
          <p:nvPr/>
        </p:nvSpPr>
        <p:spPr>
          <a:xfrm>
            <a:off x="3328416" y="2487168"/>
            <a:ext cx="2651760" cy="329184"/>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Chauffage des Zones Extrudeur</a:t>
            </a:r>
            <a:endParaRPr lang="en-US" sz="1050" dirty="0"/>
          </a:p>
        </p:txBody>
      </p:sp>
      <p:sp>
        <p:nvSpPr>
          <p:cNvPr id="126" name="Text 124"/>
          <p:cNvSpPr/>
          <p:nvPr/>
        </p:nvSpPr>
        <p:spPr>
          <a:xfrm>
            <a:off x="3328416"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Chauffage indirect des six zones fourreau (80°C → 160°C). Chaque zone pilotée par PID vapeur. Pression stable essentielle pour taux d'expansion, densité apparente et gélatinisation — paramètres qualité fondamentaux du kibble.</a:t>
            </a:r>
            <a:endParaRPr lang="en-US" sz="900" dirty="0"/>
          </a:p>
        </p:txBody>
      </p:sp>
      <p:sp>
        <p:nvSpPr>
          <p:cNvPr id="127" name="Shape 125"/>
          <p:cNvSpPr/>
          <p:nvPr/>
        </p:nvSpPr>
        <p:spPr>
          <a:xfrm>
            <a:off x="6144768"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8" name="Shape 126"/>
          <p:cNvSpPr/>
          <p:nvPr/>
        </p:nvSpPr>
        <p:spPr>
          <a:xfrm>
            <a:off x="6144768" y="2395728"/>
            <a:ext cx="2834640" cy="45720"/>
          </a:xfrm>
          <a:prstGeom prst="rect">
            <a:avLst/>
          </a:prstGeom>
          <a:solidFill>
            <a:srgbClr val="1B9A8A"/>
          </a:solidFill>
          <a:ln/>
        </p:spPr>
      </p:sp>
      <p:sp>
        <p:nvSpPr>
          <p:cNvPr id="129" name="Text 127"/>
          <p:cNvSpPr/>
          <p:nvPr/>
        </p:nvSpPr>
        <p:spPr>
          <a:xfrm>
            <a:off x="6272784" y="2487168"/>
            <a:ext cx="2651760" cy="329184"/>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Sécheur &amp; Services Généraux</a:t>
            </a:r>
            <a:endParaRPr lang="en-US" sz="1050" dirty="0"/>
          </a:p>
        </p:txBody>
      </p:sp>
      <p:sp>
        <p:nvSpPr>
          <p:cNvPr id="130" name="Text 128"/>
          <p:cNvSpPr/>
          <p:nvPr/>
        </p:nvSpPr>
        <p:spPr>
          <a:xfrm>
            <a:off x="6272784"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Préchauffage sécheur, traçage thermique cuves à huile (2×20 000 L), cycles CIP et chauffage général. Charges continues — la chaudière atteint rarement le ralenti pendant un quart de production.</a:t>
            </a:r>
            <a:endParaRPr lang="en-US" sz="900" dirty="0"/>
          </a:p>
        </p:txBody>
      </p:sp>
      <p:sp>
        <p:nvSpPr>
          <p:cNvPr id="131" name="Shape 12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9" name="Text 20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MÉTHODOLOGIE DE DIMENSIONNEMENT</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De la valeur contractuelle à la puissance nominale correcte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1993392" cy="45720"/>
          </a:xfrm>
          <a:prstGeom prst="rect">
            <a:avLst/>
          </a:prstGeom>
          <a:solidFill>
            <a:srgbClr val="6B7A8A"/>
          </a:solidFill>
          <a:ln/>
        </p:spPr>
      </p:sp>
      <p:sp>
        <p:nvSpPr>
          <p:cNvPr id="90" name="Text 88"/>
          <p:cNvSpPr/>
          <p:nvPr/>
        </p:nvSpPr>
        <p:spPr>
          <a:xfrm>
            <a:off x="256032" y="987552"/>
            <a:ext cx="1993392" cy="640080"/>
          </a:xfrm>
          <a:prstGeom prst="rect">
            <a:avLst/>
          </a:prstGeom>
          <a:noFill/>
          <a:ln/>
        </p:spPr>
        <p:txBody>
          <a:bodyPr wrap="square" rtlCol="0" anchor="ctr"/>
          <a:lstStyle/>
          <a:p>
            <a:pPr algn="ctr" indent="0" marL="0">
              <a:buNone/>
            </a:pPr>
            <a:r>
              <a:rPr lang="en-US" sz="3000" b="1" dirty="0">
                <a:solidFill>
                  <a:srgbClr val="6B7A8A"/>
                </a:solidFill>
                <a:latin typeface="Georgia" pitchFamily="34" charset="0"/>
                <a:ea typeface="Georgia" pitchFamily="34" charset="-122"/>
                <a:cs typeface="Georgia" pitchFamily="34" charset="-120"/>
              </a:rPr>
              <a:t>2 123</a:t>
            </a:r>
            <a:endParaRPr lang="en-US" sz="3000" dirty="0"/>
          </a:p>
        </p:txBody>
      </p:sp>
      <p:sp>
        <p:nvSpPr>
          <p:cNvPr id="91" name="Text 89"/>
          <p:cNvSpPr/>
          <p:nvPr/>
        </p:nvSpPr>
        <p:spPr>
          <a:xfrm>
            <a:off x="256032"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Kg/H</a:t>
            </a:r>
            <a:endParaRPr lang="en-US" sz="1000" dirty="0"/>
          </a:p>
        </p:txBody>
      </p:sp>
      <p:sp>
        <p:nvSpPr>
          <p:cNvPr id="92" name="Text 90"/>
          <p:cNvSpPr/>
          <p:nvPr/>
        </p:nvSpPr>
        <p:spPr>
          <a:xfrm>
            <a:off x="256032"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Spéc. Contractuelle FAMSUN</a:t>
            </a:r>
            <a:endParaRPr lang="en-US" sz="850" dirty="0"/>
          </a:p>
        </p:txBody>
      </p:sp>
      <p:sp>
        <p:nvSpPr>
          <p:cNvPr id="93" name="Shape 91"/>
          <p:cNvSpPr/>
          <p:nvPr/>
        </p:nvSpPr>
        <p:spPr>
          <a:xfrm>
            <a:off x="2377440"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4" name="Shape 92"/>
          <p:cNvSpPr/>
          <p:nvPr/>
        </p:nvSpPr>
        <p:spPr>
          <a:xfrm>
            <a:off x="2377440" y="932688"/>
            <a:ext cx="1993392" cy="45720"/>
          </a:xfrm>
          <a:prstGeom prst="rect">
            <a:avLst/>
          </a:prstGeom>
          <a:solidFill>
            <a:srgbClr val="C0622B"/>
          </a:solidFill>
          <a:ln/>
        </p:spPr>
      </p:sp>
      <p:sp>
        <p:nvSpPr>
          <p:cNvPr id="95" name="Text 93"/>
          <p:cNvSpPr/>
          <p:nvPr/>
        </p:nvSpPr>
        <p:spPr>
          <a:xfrm>
            <a:off x="2377440" y="987552"/>
            <a:ext cx="1993392" cy="640080"/>
          </a:xfrm>
          <a:prstGeom prst="rect">
            <a:avLst/>
          </a:prstGeom>
          <a:noFill/>
          <a:ln/>
        </p:spPr>
        <p:txBody>
          <a:bodyPr wrap="square" rtlCol="0" anchor="ctr"/>
          <a:lstStyle/>
          <a:p>
            <a:pPr algn="ctr" indent="0" marL="0">
              <a:buNone/>
            </a:pPr>
            <a:r>
              <a:rPr lang="en-US" sz="3000" b="1" dirty="0">
                <a:solidFill>
                  <a:srgbClr val="C0622B"/>
                </a:solidFill>
                <a:latin typeface="Georgia" pitchFamily="34" charset="0"/>
                <a:ea typeface="Georgia" pitchFamily="34" charset="-122"/>
                <a:cs typeface="Georgia" pitchFamily="34" charset="-120"/>
              </a:rPr>
              <a:t>≥10%</a:t>
            </a:r>
            <a:endParaRPr lang="en-US" sz="3000" dirty="0"/>
          </a:p>
        </p:txBody>
      </p:sp>
      <p:sp>
        <p:nvSpPr>
          <p:cNvPr id="96" name="Text 94"/>
          <p:cNvSpPr/>
          <p:nvPr/>
        </p:nvSpPr>
        <p:spPr>
          <a:xfrm>
            <a:off x="2377440"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Marge</a:t>
            </a:r>
            <a:endParaRPr lang="en-US" sz="1000" dirty="0"/>
          </a:p>
        </p:txBody>
      </p:sp>
      <p:sp>
        <p:nvSpPr>
          <p:cNvPr id="97" name="Text 95"/>
          <p:cNvSpPr/>
          <p:nvPr/>
        </p:nvSpPr>
        <p:spPr>
          <a:xfrm>
            <a:off x="2377440"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Purge + Démarrage</a:t>
            </a:r>
            <a:endParaRPr lang="en-US" sz="850" dirty="0"/>
          </a:p>
        </p:txBody>
      </p:sp>
      <p:sp>
        <p:nvSpPr>
          <p:cNvPr id="98" name="Shape 96"/>
          <p:cNvSpPr/>
          <p:nvPr/>
        </p:nvSpPr>
        <p:spPr>
          <a:xfrm>
            <a:off x="4498848"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9" name="Shape 97"/>
          <p:cNvSpPr/>
          <p:nvPr/>
        </p:nvSpPr>
        <p:spPr>
          <a:xfrm>
            <a:off x="4498848" y="932688"/>
            <a:ext cx="1993392" cy="45720"/>
          </a:xfrm>
          <a:prstGeom prst="rect">
            <a:avLst/>
          </a:prstGeom>
          <a:solidFill>
            <a:srgbClr val="D4951A"/>
          </a:solidFill>
          <a:ln/>
        </p:spPr>
      </p:sp>
      <p:sp>
        <p:nvSpPr>
          <p:cNvPr id="100" name="Text 98"/>
          <p:cNvSpPr/>
          <p:nvPr/>
        </p:nvSpPr>
        <p:spPr>
          <a:xfrm>
            <a:off x="4498848" y="987552"/>
            <a:ext cx="1993392" cy="640080"/>
          </a:xfrm>
          <a:prstGeom prst="rect">
            <a:avLst/>
          </a:prstGeom>
          <a:noFill/>
          <a:ln/>
        </p:spPr>
        <p:txBody>
          <a:bodyPr wrap="square" rtlCol="0" anchor="ctr"/>
          <a:lstStyle/>
          <a:p>
            <a:pPr algn="ctr" indent="0" marL="0">
              <a:buNone/>
            </a:pPr>
            <a:r>
              <a:rPr lang="en-US" sz="3000" b="1" dirty="0">
                <a:solidFill>
                  <a:srgbClr val="D4951A"/>
                </a:solidFill>
                <a:latin typeface="Georgia" pitchFamily="34" charset="0"/>
                <a:ea typeface="Georgia" pitchFamily="34" charset="-122"/>
                <a:cs typeface="Georgia" pitchFamily="34" charset="-120"/>
              </a:rPr>
              <a:t>2 500</a:t>
            </a:r>
            <a:endParaRPr lang="en-US" sz="3000" dirty="0"/>
          </a:p>
        </p:txBody>
      </p:sp>
      <p:sp>
        <p:nvSpPr>
          <p:cNvPr id="101" name="Text 99"/>
          <p:cNvSpPr/>
          <p:nvPr/>
        </p:nvSpPr>
        <p:spPr>
          <a:xfrm>
            <a:off x="4498848"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Kg/H</a:t>
            </a:r>
            <a:endParaRPr lang="en-US" sz="1000" dirty="0"/>
          </a:p>
        </p:txBody>
      </p:sp>
      <p:sp>
        <p:nvSpPr>
          <p:cNvPr id="102" name="Text 100"/>
          <p:cNvSpPr/>
          <p:nvPr/>
        </p:nvSpPr>
        <p:spPr>
          <a:xfrm>
            <a:off x="4498848"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Puissance Nominale Cible</a:t>
            </a:r>
            <a:endParaRPr lang="en-US" sz="850" dirty="0"/>
          </a:p>
        </p:txBody>
      </p:sp>
      <p:sp>
        <p:nvSpPr>
          <p:cNvPr id="103" name="Shape 101"/>
          <p:cNvSpPr/>
          <p:nvPr/>
        </p:nvSpPr>
        <p:spPr>
          <a:xfrm>
            <a:off x="6620256"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4" name="Shape 102"/>
          <p:cNvSpPr/>
          <p:nvPr/>
        </p:nvSpPr>
        <p:spPr>
          <a:xfrm>
            <a:off x="6620256" y="932688"/>
            <a:ext cx="1993392" cy="45720"/>
          </a:xfrm>
          <a:prstGeom prst="rect">
            <a:avLst/>
          </a:prstGeom>
          <a:solidFill>
            <a:srgbClr val="1B9A8A"/>
          </a:solidFill>
          <a:ln/>
        </p:spPr>
      </p:sp>
      <p:sp>
        <p:nvSpPr>
          <p:cNvPr id="105" name="Text 103"/>
          <p:cNvSpPr/>
          <p:nvPr/>
        </p:nvSpPr>
        <p:spPr>
          <a:xfrm>
            <a:off x="6620256" y="987552"/>
            <a:ext cx="1993392" cy="640080"/>
          </a:xfrm>
          <a:prstGeom prst="rect">
            <a:avLst/>
          </a:prstGeom>
          <a:noFill/>
          <a:ln/>
        </p:spPr>
        <p:txBody>
          <a:bodyPr wrap="square" rtlCol="0" anchor="ctr"/>
          <a:lstStyle/>
          <a:p>
            <a:pPr algn="ctr" indent="0" marL="0">
              <a:buNone/>
            </a:pPr>
            <a:r>
              <a:rPr lang="en-US" sz="3000" b="1" dirty="0">
                <a:solidFill>
                  <a:srgbClr val="1B9A8A"/>
                </a:solidFill>
                <a:latin typeface="Georgia" pitchFamily="34" charset="0"/>
                <a:ea typeface="Georgia" pitchFamily="34" charset="-122"/>
                <a:cs typeface="Georgia" pitchFamily="34" charset="-120"/>
              </a:rPr>
              <a:t>×2</a:t>
            </a:r>
            <a:endParaRPr lang="en-US" sz="3000" dirty="0"/>
          </a:p>
        </p:txBody>
      </p:sp>
      <p:sp>
        <p:nvSpPr>
          <p:cNvPr id="106" name="Text 104"/>
          <p:cNvSpPr/>
          <p:nvPr/>
        </p:nvSpPr>
        <p:spPr>
          <a:xfrm>
            <a:off x="6620256"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Lignes</a:t>
            </a:r>
            <a:endParaRPr lang="en-US" sz="1000" dirty="0"/>
          </a:p>
        </p:txBody>
      </p:sp>
      <p:sp>
        <p:nvSpPr>
          <p:cNvPr id="107" name="Text 105"/>
          <p:cNvSpPr/>
          <p:nvPr/>
        </p:nvSpPr>
        <p:spPr>
          <a:xfrm>
            <a:off x="6620256"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Vision An 1 → 5 000 Kg/H</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56032" y="2231136"/>
          <a:ext cx="8631936" cy="914400"/>
        </p:xfrm>
        <a:graphic>
          <a:graphicData uri="http://schemas.openxmlformats.org/drawingml/2006/table">
            <a:tbl>
              <a:tblPr/>
              <a:tblGrid>
                <a:gridCol w="3108960"/>
                <a:gridCol w="1828800"/>
                <a:gridCol w="3694176"/>
              </a:tblGrid>
              <a:tr h="283464">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Élément de dimensionnement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Spécification</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Justification technique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Demande vapeur contractuelle FAMSUN</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2 123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Périmètre confirmé — conditionneur, fourreau, circuit sécheur</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Perte purge (GPL, eau dure Maroc)</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+ 150–200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Taux de purge ~7–10% typique en fonctionnement GPL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Pics de démarrage et transitoires</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+ 100–150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L'extrudeur génère un appel vapeur de pointe au démarrage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b="1" dirty="0">
                          <a:solidFill>
                            <a:srgbClr val="D4951A"/>
                          </a:solidFill>
                          <a:latin typeface="Calibri" pitchFamily="34" charset="0"/>
                          <a:ea typeface="Calibri" pitchFamily="34" charset="-122"/>
                          <a:cs typeface="Calibri" pitchFamily="34" charset="-120"/>
                        </a:rPr>
                        <a:t>Puissance nominale recommandée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b="1" dirty="0">
                          <a:solidFill>
                            <a:srgbClr val="D4951A"/>
                          </a:solidFill>
                          <a:latin typeface="Calibri" pitchFamily="34" charset="0"/>
                          <a:ea typeface="Calibri" pitchFamily="34" charset="-122"/>
                          <a:cs typeface="Calibri" pitchFamily="34" charset="-120"/>
                        </a:rPr>
                        <a:t>2 400–2 600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Marge opérationnelle — ne jamais exploiter à la puissance nominale max</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283464">
                <a:tc>
                  <a:txBody>
                    <a:bodyPr/>
                    <a:lstStyle/>
                    <a:p>
                      <a:pPr indent="0" marL="0">
                        <a:buNone/>
                      </a:pPr>
                      <a:r>
                        <a:rPr lang="en-US" sz="950" b="1" dirty="0">
                          <a:solidFill>
                            <a:srgbClr val="D4951A"/>
                          </a:solidFill>
                          <a:latin typeface="Calibri" pitchFamily="34" charset="0"/>
                          <a:ea typeface="Calibri" pitchFamily="34" charset="-122"/>
                          <a:cs typeface="Calibri" pitchFamily="34" charset="-120"/>
                        </a:rPr>
                        <a:t>Pression de service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b="1" dirty="0">
                          <a:solidFill>
                            <a:srgbClr val="D4951A"/>
                          </a:solidFill>
                          <a:latin typeface="Calibri" pitchFamily="34" charset="0"/>
                          <a:ea typeface="Calibri" pitchFamily="34" charset="-122"/>
                          <a:cs typeface="Calibri" pitchFamily="34" charset="-120"/>
                        </a:rPr>
                        <a:t>5 bar(e)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Dimensionné au-dessus du minimum 3 bar(e) — chute de pression en distribution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Type de vapeur</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Saturée sèche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Titre vapeur ≥0,95 requis. Vapeur surchauffée non nécessaire.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109" name="Shape 106"/>
          <p:cNvSpPr/>
          <p:nvPr/>
        </p:nvSpPr>
        <p:spPr>
          <a:xfrm>
            <a:off x="256032" y="4242816"/>
            <a:ext cx="8631936" cy="54864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10" name="Shape 107"/>
          <p:cNvSpPr/>
          <p:nvPr/>
        </p:nvSpPr>
        <p:spPr>
          <a:xfrm>
            <a:off x="256032" y="4242816"/>
            <a:ext cx="54864" cy="548640"/>
          </a:xfrm>
          <a:prstGeom prst="rect">
            <a:avLst/>
          </a:prstGeom>
          <a:solidFill>
            <a:srgbClr val="1B9A8A"/>
          </a:solidFill>
          <a:ln/>
        </p:spPr>
      </p:sp>
      <p:sp>
        <p:nvSpPr>
          <p:cNvPr id="111" name="Text 108"/>
          <p:cNvSpPr/>
          <p:nvPr/>
        </p:nvSpPr>
        <p:spPr>
          <a:xfrm>
            <a:off x="402336" y="4279392"/>
            <a:ext cx="8321040" cy="475488"/>
          </a:xfrm>
          <a:prstGeom prst="rect">
            <a:avLst/>
          </a:prstGeom>
          <a:noFill/>
          <a:ln/>
        </p:spPr>
        <p:txBody>
          <a:bodyPr wrap="square" rtlCol="0" anchor="ctr"/>
          <a:lstStyle/>
          <a:p>
            <a:pPr indent="0" marL="0">
              <a:buNone/>
            </a:pPr>
            <a:r>
              <a:rPr lang="en-US" sz="1050" b="1" dirty="0">
                <a:solidFill>
                  <a:srgbClr val="1B9A8A"/>
                </a:solidFill>
                <a:latin typeface="Calibri" pitchFamily="34" charset="0"/>
                <a:ea typeface="Calibri" pitchFamily="34" charset="-122"/>
                <a:cs typeface="Calibri" pitchFamily="34" charset="-120"/>
              </a:rPr>
              <a:t>Vision Deux Lignes : </a:t>
            </a:r>
            <a:pPr indent="0" marL="0">
              <a:buNone/>
            </a:pPr>
            <a:r>
              <a:rPr lang="en-US" sz="1000" dirty="0">
                <a:solidFill>
                  <a:srgbClr val="EDE0C8"/>
                </a:solidFill>
                <a:latin typeface="Calibri" pitchFamily="34" charset="0"/>
                <a:ea typeface="Calibri" pitchFamily="34" charset="-122"/>
                <a:cs typeface="Calibri" pitchFamily="34" charset="-120"/>
              </a:rPr>
              <a:t>Ne PAS acheter une seule chaudière de 5 000 Kg/H partagée. Acheter DEUX unités indépendantes — une par ligne. Indépendance opérationnelle, redondance N+1, efficacité à charge partielle et traçabilité HACCP directe.</a:t>
            </a:r>
            <a:endParaRPr lang="en-US" sz="1050" dirty="0"/>
          </a:p>
        </p:txBody>
      </p:sp>
      <p:sp>
        <p:nvSpPr>
          <p:cNvPr id="112" name="Shape 10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70" name="Shape 16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71" name="Shape 16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72" name="Shape 16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73" name="Shape 17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74" name="Shape 17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75" name="Shape 17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76" name="Shape 17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77" name="Shape 17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78" name="Shape 17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79" name="Shape 17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80" name="Shape 17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81" name="Shape 17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82" name="Shape 17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83" name="Shape 18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84" name="Shape 18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85" name="Shape 18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86" name="Shape 18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87" name="Shape 18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88" name="Shape 18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89" name="Shape 18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90" name="Text 18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COMPARAISON TECHNOLOGIQUE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GVI vs Tubes de Fumée — analyse objective incluant les limites réelles</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14400"/>
            <a:ext cx="3072384" cy="420624"/>
          </a:xfrm>
          <a:prstGeom prst="rect">
            <a:avLst/>
          </a:prstGeom>
          <a:solidFill>
            <a:srgbClr val="141418"/>
          </a:solidFill>
          <a:ln/>
          <a:effectLst>
            <a:outerShdw sx="100000" sy="100000" kx="0" ky="0" algn="bl" rotWithShape="0" blurRad="76200" dist="25400" dir="8100000">
              <a:srgbClr val="000000">
                <a:alpha val="30000"/>
              </a:srgbClr>
            </a:outerShdw>
          </a:effectLst>
        </p:spPr>
      </p:sp>
      <p:sp>
        <p:nvSpPr>
          <p:cNvPr id="89" name="Text 87"/>
          <p:cNvSpPr/>
          <p:nvPr/>
        </p:nvSpPr>
        <p:spPr>
          <a:xfrm>
            <a:off x="329184" y="914400"/>
            <a:ext cx="2926080" cy="420624"/>
          </a:xfrm>
          <a:prstGeom prst="rect">
            <a:avLst/>
          </a:prstGeom>
          <a:noFill/>
          <a:ln/>
        </p:spPr>
        <p:txBody>
          <a:bodyPr wrap="square" rtlCol="0" anchor="ctr"/>
          <a:lstStyle/>
          <a:p>
            <a:pPr indent="0" marL="0">
              <a:buNone/>
            </a:pPr>
            <a:r>
              <a:rPr lang="en-US" sz="1100" b="1" dirty="0">
                <a:solidFill>
                  <a:srgbClr val="D8C9A8"/>
                </a:solidFill>
                <a:latin typeface="Georgia" pitchFamily="34" charset="0"/>
                <a:ea typeface="Georgia" pitchFamily="34" charset="-122"/>
                <a:cs typeface="Georgia" pitchFamily="34" charset="-120"/>
              </a:rPr>
              <a:t>CRITÈRES</a:t>
            </a:r>
            <a:endParaRPr lang="en-US" sz="1100" dirty="0"/>
          </a:p>
        </p:txBody>
      </p:sp>
      <p:sp>
        <p:nvSpPr>
          <p:cNvPr id="90" name="Shape 88"/>
          <p:cNvSpPr/>
          <p:nvPr/>
        </p:nvSpPr>
        <p:spPr>
          <a:xfrm>
            <a:off x="3419856" y="914400"/>
            <a:ext cx="2779776" cy="420624"/>
          </a:xfrm>
          <a:prstGeom prst="rect">
            <a:avLst/>
          </a:prstGeom>
          <a:solidFill>
            <a:srgbClr val="1B9A8A"/>
          </a:solidFill>
          <a:ln/>
          <a:effectLst>
            <a:outerShdw sx="100000" sy="100000" kx="0" ky="0" algn="bl" rotWithShape="0" blurRad="76200" dist="25400" dir="8100000">
              <a:srgbClr val="000000">
                <a:alpha val="30000"/>
              </a:srgbClr>
            </a:outerShdw>
          </a:effectLst>
        </p:spPr>
      </p:sp>
      <p:sp>
        <p:nvSpPr>
          <p:cNvPr id="91" name="Text 89"/>
          <p:cNvSpPr/>
          <p:nvPr/>
        </p:nvSpPr>
        <p:spPr>
          <a:xfrm>
            <a:off x="3493008" y="914400"/>
            <a:ext cx="2651760" cy="420624"/>
          </a:xfrm>
          <a:prstGeom prst="rect">
            <a:avLst/>
          </a:prstGeom>
          <a:noFill/>
          <a:ln/>
        </p:spPr>
        <p:txBody>
          <a:bodyPr wrap="square" rtlCol="0" anchor="ctr"/>
          <a:lstStyle/>
          <a:p>
            <a:pPr indent="0" marL="0">
              <a:buNone/>
            </a:pPr>
            <a:r>
              <a:rPr lang="en-US" sz="1100" b="1" dirty="0">
                <a:solidFill>
                  <a:srgbClr val="09090F"/>
                </a:solidFill>
                <a:latin typeface="Georgia" pitchFamily="34" charset="0"/>
                <a:ea typeface="Georgia" pitchFamily="34" charset="-122"/>
                <a:cs typeface="Georgia" pitchFamily="34" charset="-120"/>
              </a:rPr>
              <a:t>GVI — INSTANTANÉ</a:t>
            </a:r>
            <a:endParaRPr lang="en-US" sz="1100" dirty="0"/>
          </a:p>
        </p:txBody>
      </p:sp>
      <p:sp>
        <p:nvSpPr>
          <p:cNvPr id="92" name="Shape 90"/>
          <p:cNvSpPr/>
          <p:nvPr/>
        </p:nvSpPr>
        <p:spPr>
          <a:xfrm>
            <a:off x="6291072" y="914400"/>
            <a:ext cx="2779776" cy="420624"/>
          </a:xfrm>
          <a:prstGeom prst="rect">
            <a:avLst/>
          </a:prstGeom>
          <a:solidFill>
            <a:srgbClr val="C0622B"/>
          </a:solidFill>
          <a:ln/>
          <a:effectLst>
            <a:outerShdw sx="100000" sy="100000" kx="0" ky="0" algn="bl" rotWithShape="0" blurRad="76200" dist="25400" dir="8100000">
              <a:srgbClr val="000000">
                <a:alpha val="30000"/>
              </a:srgbClr>
            </a:outerShdw>
          </a:effectLst>
        </p:spPr>
      </p:sp>
      <p:sp>
        <p:nvSpPr>
          <p:cNvPr id="93" name="Text 91"/>
          <p:cNvSpPr/>
          <p:nvPr/>
        </p:nvSpPr>
        <p:spPr>
          <a:xfrm>
            <a:off x="6364224" y="914400"/>
            <a:ext cx="2651760" cy="420624"/>
          </a:xfrm>
          <a:prstGeom prst="rect">
            <a:avLst/>
          </a:prstGeom>
          <a:noFill/>
          <a:ln/>
        </p:spPr>
        <p:txBody>
          <a:bodyPr wrap="square" rtlCol="0" anchor="ctr"/>
          <a:lstStyle/>
          <a:p>
            <a:pPr indent="0" marL="0">
              <a:buNone/>
            </a:pPr>
            <a:r>
              <a:rPr lang="en-US" sz="1100" b="1" dirty="0">
                <a:solidFill>
                  <a:srgbClr val="09090F"/>
                </a:solidFill>
                <a:latin typeface="Georgia" pitchFamily="34" charset="0"/>
                <a:ea typeface="Georgia" pitchFamily="34" charset="-122"/>
                <a:cs typeface="Georgia" pitchFamily="34" charset="-120"/>
              </a:rPr>
              <a:t>TUBES DE FUMÉE</a:t>
            </a:r>
            <a:endParaRPr lang="en-US" sz="1100" dirty="0"/>
          </a:p>
        </p:txBody>
      </p:sp>
      <p:sp>
        <p:nvSpPr>
          <p:cNvPr id="94" name="Shape 92"/>
          <p:cNvSpPr/>
          <p:nvPr/>
        </p:nvSpPr>
        <p:spPr>
          <a:xfrm>
            <a:off x="256032" y="1408176"/>
            <a:ext cx="3072384" cy="320040"/>
          </a:xfrm>
          <a:prstGeom prst="rect">
            <a:avLst/>
          </a:prstGeom>
          <a:solidFill>
            <a:srgbClr val="141418"/>
          </a:solidFill>
          <a:ln w="12700">
            <a:solidFill>
              <a:srgbClr val="1E1E26"/>
            </a:solidFill>
            <a:prstDash val="solid"/>
          </a:ln>
        </p:spPr>
      </p:sp>
      <p:sp>
        <p:nvSpPr>
          <p:cNvPr id="95" name="Text 93"/>
          <p:cNvSpPr/>
          <p:nvPr/>
        </p:nvSpPr>
        <p:spPr>
          <a:xfrm>
            <a:off x="329184" y="1408176"/>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Temps à pleine vapeur</a:t>
            </a:r>
            <a:endParaRPr lang="en-US" sz="900" dirty="0"/>
          </a:p>
        </p:txBody>
      </p:sp>
      <p:sp>
        <p:nvSpPr>
          <p:cNvPr id="96" name="Shape 94"/>
          <p:cNvSpPr/>
          <p:nvPr/>
        </p:nvSpPr>
        <p:spPr>
          <a:xfrm>
            <a:off x="3419856" y="1408176"/>
            <a:ext cx="2779776" cy="320040"/>
          </a:xfrm>
          <a:prstGeom prst="rect">
            <a:avLst/>
          </a:prstGeom>
          <a:solidFill>
            <a:srgbClr val="141418"/>
          </a:solidFill>
          <a:ln w="12700">
            <a:solidFill>
              <a:srgbClr val="1E1E26"/>
            </a:solidFill>
            <a:prstDash val="solid"/>
          </a:ln>
        </p:spPr>
      </p:sp>
      <p:sp>
        <p:nvSpPr>
          <p:cNvPr id="97" name="Text 95"/>
          <p:cNvSpPr/>
          <p:nvPr/>
        </p:nvSpPr>
        <p:spPr>
          <a:xfrm>
            <a:off x="3493008" y="1408176"/>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3–5 minutes</a:t>
            </a:r>
            <a:endParaRPr lang="en-US" sz="880" dirty="0"/>
          </a:p>
        </p:txBody>
      </p:sp>
      <p:sp>
        <p:nvSpPr>
          <p:cNvPr id="98" name="Shape 96"/>
          <p:cNvSpPr/>
          <p:nvPr/>
        </p:nvSpPr>
        <p:spPr>
          <a:xfrm>
            <a:off x="6291072" y="1408176"/>
            <a:ext cx="2779776" cy="320040"/>
          </a:xfrm>
          <a:prstGeom prst="rect">
            <a:avLst/>
          </a:prstGeom>
          <a:solidFill>
            <a:srgbClr val="141418"/>
          </a:solidFill>
          <a:ln w="12700">
            <a:solidFill>
              <a:srgbClr val="1E1E26"/>
            </a:solidFill>
            <a:prstDash val="solid"/>
          </a:ln>
        </p:spPr>
      </p:sp>
      <p:sp>
        <p:nvSpPr>
          <p:cNvPr id="99" name="Text 97"/>
          <p:cNvSpPr/>
          <p:nvPr/>
        </p:nvSpPr>
        <p:spPr>
          <a:xfrm>
            <a:off x="6364224" y="1408176"/>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30–60 minutes</a:t>
            </a:r>
            <a:endParaRPr lang="en-US" sz="880" dirty="0"/>
          </a:p>
        </p:txBody>
      </p:sp>
      <p:sp>
        <p:nvSpPr>
          <p:cNvPr id="100" name="Shape 98"/>
          <p:cNvSpPr/>
          <p:nvPr/>
        </p:nvSpPr>
        <p:spPr>
          <a:xfrm>
            <a:off x="256032" y="1737360"/>
            <a:ext cx="3072384" cy="320040"/>
          </a:xfrm>
          <a:prstGeom prst="rect">
            <a:avLst/>
          </a:prstGeom>
          <a:solidFill>
            <a:srgbClr val="111115"/>
          </a:solidFill>
          <a:ln w="12700">
            <a:solidFill>
              <a:srgbClr val="1E1E26"/>
            </a:solidFill>
            <a:prstDash val="solid"/>
          </a:ln>
        </p:spPr>
      </p:sp>
      <p:sp>
        <p:nvSpPr>
          <p:cNvPr id="101" name="Text 99"/>
          <p:cNvSpPr/>
          <p:nvPr/>
        </p:nvSpPr>
        <p:spPr>
          <a:xfrm>
            <a:off x="329184" y="1737360"/>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Efficacité thermique (PCI)</a:t>
            </a:r>
            <a:endParaRPr lang="en-US" sz="900" dirty="0"/>
          </a:p>
        </p:txBody>
      </p:sp>
      <p:sp>
        <p:nvSpPr>
          <p:cNvPr id="102" name="Shape 100"/>
          <p:cNvSpPr/>
          <p:nvPr/>
        </p:nvSpPr>
        <p:spPr>
          <a:xfrm>
            <a:off x="3419856" y="1737360"/>
            <a:ext cx="2779776" cy="320040"/>
          </a:xfrm>
          <a:prstGeom prst="rect">
            <a:avLst/>
          </a:prstGeom>
          <a:solidFill>
            <a:srgbClr val="111115"/>
          </a:solidFill>
          <a:ln w="12700">
            <a:solidFill>
              <a:srgbClr val="1E1E26"/>
            </a:solidFill>
            <a:prstDash val="solid"/>
          </a:ln>
        </p:spPr>
      </p:sp>
      <p:sp>
        <p:nvSpPr>
          <p:cNvPr id="103" name="Text 101"/>
          <p:cNvSpPr/>
          <p:nvPr/>
        </p:nvSpPr>
        <p:spPr>
          <a:xfrm>
            <a:off x="3493008" y="1737360"/>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90–95%</a:t>
            </a:r>
            <a:endParaRPr lang="en-US" sz="880" dirty="0"/>
          </a:p>
        </p:txBody>
      </p:sp>
      <p:sp>
        <p:nvSpPr>
          <p:cNvPr id="104" name="Shape 102"/>
          <p:cNvSpPr/>
          <p:nvPr/>
        </p:nvSpPr>
        <p:spPr>
          <a:xfrm>
            <a:off x="6291072" y="1737360"/>
            <a:ext cx="2779776" cy="320040"/>
          </a:xfrm>
          <a:prstGeom prst="rect">
            <a:avLst/>
          </a:prstGeom>
          <a:solidFill>
            <a:srgbClr val="111115"/>
          </a:solidFill>
          <a:ln w="12700">
            <a:solidFill>
              <a:srgbClr val="1E1E26"/>
            </a:solidFill>
            <a:prstDash val="solid"/>
          </a:ln>
        </p:spPr>
      </p:sp>
      <p:sp>
        <p:nvSpPr>
          <p:cNvPr id="105" name="Text 103"/>
          <p:cNvSpPr/>
          <p:nvPr/>
        </p:nvSpPr>
        <p:spPr>
          <a:xfrm>
            <a:off x="6364224" y="1737360"/>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82–88%</a:t>
            </a:r>
            <a:endParaRPr lang="en-US" sz="880" dirty="0"/>
          </a:p>
        </p:txBody>
      </p:sp>
      <p:sp>
        <p:nvSpPr>
          <p:cNvPr id="106" name="Shape 104"/>
          <p:cNvSpPr/>
          <p:nvPr/>
        </p:nvSpPr>
        <p:spPr>
          <a:xfrm>
            <a:off x="256032" y="2066544"/>
            <a:ext cx="3072384" cy="320040"/>
          </a:xfrm>
          <a:prstGeom prst="rect">
            <a:avLst/>
          </a:prstGeom>
          <a:solidFill>
            <a:srgbClr val="141418"/>
          </a:solidFill>
          <a:ln w="12700">
            <a:solidFill>
              <a:srgbClr val="1E1E26"/>
            </a:solidFill>
            <a:prstDash val="solid"/>
          </a:ln>
        </p:spPr>
      </p:sp>
      <p:sp>
        <p:nvSpPr>
          <p:cNvPr id="107" name="Text 105"/>
          <p:cNvSpPr/>
          <p:nvPr/>
        </p:nvSpPr>
        <p:spPr>
          <a:xfrm>
            <a:off x="329184" y="2066544"/>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Suivi de charge</a:t>
            </a:r>
            <a:endParaRPr lang="en-US" sz="900" dirty="0"/>
          </a:p>
        </p:txBody>
      </p:sp>
      <p:sp>
        <p:nvSpPr>
          <p:cNvPr id="108" name="Shape 106"/>
          <p:cNvSpPr/>
          <p:nvPr/>
        </p:nvSpPr>
        <p:spPr>
          <a:xfrm>
            <a:off x="3419856" y="2066544"/>
            <a:ext cx="2779776" cy="320040"/>
          </a:xfrm>
          <a:prstGeom prst="rect">
            <a:avLst/>
          </a:prstGeom>
          <a:solidFill>
            <a:srgbClr val="141418"/>
          </a:solidFill>
          <a:ln w="12700">
            <a:solidFill>
              <a:srgbClr val="1E1E26"/>
            </a:solidFill>
            <a:prstDash val="solid"/>
          </a:ln>
        </p:spPr>
      </p:sp>
      <p:sp>
        <p:nvSpPr>
          <p:cNvPr id="109" name="Text 107"/>
          <p:cNvSpPr/>
          <p:nvPr/>
        </p:nvSpPr>
        <p:spPr>
          <a:xfrm>
            <a:off x="3493008" y="2066544"/>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Quasi-instantané</a:t>
            </a:r>
            <a:endParaRPr lang="en-US" sz="880" dirty="0"/>
          </a:p>
        </p:txBody>
      </p:sp>
      <p:sp>
        <p:nvSpPr>
          <p:cNvPr id="110" name="Shape 108"/>
          <p:cNvSpPr/>
          <p:nvPr/>
        </p:nvSpPr>
        <p:spPr>
          <a:xfrm>
            <a:off x="6291072" y="2066544"/>
            <a:ext cx="2779776" cy="320040"/>
          </a:xfrm>
          <a:prstGeom prst="rect">
            <a:avLst/>
          </a:prstGeom>
          <a:solidFill>
            <a:srgbClr val="141418"/>
          </a:solidFill>
          <a:ln w="12700">
            <a:solidFill>
              <a:srgbClr val="1E1E26"/>
            </a:solidFill>
            <a:prstDash val="solid"/>
          </a:ln>
        </p:spPr>
      </p:sp>
      <p:sp>
        <p:nvSpPr>
          <p:cNvPr id="111" name="Text 109"/>
          <p:cNvSpPr/>
          <p:nvPr/>
        </p:nvSpPr>
        <p:spPr>
          <a:xfrm>
            <a:off x="6364224" y="2066544"/>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Modéré (inertie thermique)</a:t>
            </a:r>
            <a:endParaRPr lang="en-US" sz="880" dirty="0"/>
          </a:p>
        </p:txBody>
      </p:sp>
      <p:sp>
        <p:nvSpPr>
          <p:cNvPr id="112" name="Shape 110"/>
          <p:cNvSpPr/>
          <p:nvPr/>
        </p:nvSpPr>
        <p:spPr>
          <a:xfrm>
            <a:off x="256032" y="2395728"/>
            <a:ext cx="3072384" cy="320040"/>
          </a:xfrm>
          <a:prstGeom prst="rect">
            <a:avLst/>
          </a:prstGeom>
          <a:solidFill>
            <a:srgbClr val="111115"/>
          </a:solidFill>
          <a:ln w="12700">
            <a:solidFill>
              <a:srgbClr val="1E1E26"/>
            </a:solidFill>
            <a:prstDash val="solid"/>
          </a:ln>
        </p:spPr>
      </p:sp>
      <p:sp>
        <p:nvSpPr>
          <p:cNvPr id="113" name="Text 111"/>
          <p:cNvSpPr/>
          <p:nvPr/>
        </p:nvSpPr>
        <p:spPr>
          <a:xfrm>
            <a:off x="329184" y="2395728"/>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Encombrement physique</a:t>
            </a:r>
            <a:endParaRPr lang="en-US" sz="900" dirty="0"/>
          </a:p>
        </p:txBody>
      </p:sp>
      <p:sp>
        <p:nvSpPr>
          <p:cNvPr id="114" name="Shape 112"/>
          <p:cNvSpPr/>
          <p:nvPr/>
        </p:nvSpPr>
        <p:spPr>
          <a:xfrm>
            <a:off x="3419856" y="2395728"/>
            <a:ext cx="2779776" cy="320040"/>
          </a:xfrm>
          <a:prstGeom prst="rect">
            <a:avLst/>
          </a:prstGeom>
          <a:solidFill>
            <a:srgbClr val="111115"/>
          </a:solidFill>
          <a:ln w="12700">
            <a:solidFill>
              <a:srgbClr val="1E1E26"/>
            </a:solidFill>
            <a:prstDash val="solid"/>
          </a:ln>
        </p:spPr>
      </p:sp>
      <p:sp>
        <p:nvSpPr>
          <p:cNvPr id="115" name="Text 113"/>
          <p:cNvSpPr/>
          <p:nvPr/>
        </p:nvSpPr>
        <p:spPr>
          <a:xfrm>
            <a:off x="3493008" y="2395728"/>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Très compact</a:t>
            </a:r>
            <a:endParaRPr lang="en-US" sz="880" dirty="0"/>
          </a:p>
        </p:txBody>
      </p:sp>
      <p:sp>
        <p:nvSpPr>
          <p:cNvPr id="116" name="Shape 114"/>
          <p:cNvSpPr/>
          <p:nvPr/>
        </p:nvSpPr>
        <p:spPr>
          <a:xfrm>
            <a:off x="6291072" y="2395728"/>
            <a:ext cx="2779776" cy="320040"/>
          </a:xfrm>
          <a:prstGeom prst="rect">
            <a:avLst/>
          </a:prstGeom>
          <a:solidFill>
            <a:srgbClr val="111115"/>
          </a:solidFill>
          <a:ln w="12700">
            <a:solidFill>
              <a:srgbClr val="1E1E26"/>
            </a:solidFill>
            <a:prstDash val="solid"/>
          </a:ln>
        </p:spPr>
      </p:sp>
      <p:sp>
        <p:nvSpPr>
          <p:cNvPr id="117" name="Text 115"/>
          <p:cNvSpPr/>
          <p:nvPr/>
        </p:nvSpPr>
        <p:spPr>
          <a:xfrm>
            <a:off x="6364224" y="2395728"/>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Grand — &gt;6 m typique</a:t>
            </a:r>
            <a:endParaRPr lang="en-US" sz="880" dirty="0"/>
          </a:p>
        </p:txBody>
      </p:sp>
      <p:sp>
        <p:nvSpPr>
          <p:cNvPr id="118" name="Shape 116"/>
          <p:cNvSpPr/>
          <p:nvPr/>
        </p:nvSpPr>
        <p:spPr>
          <a:xfrm>
            <a:off x="256032" y="2724912"/>
            <a:ext cx="3072384" cy="320040"/>
          </a:xfrm>
          <a:prstGeom prst="rect">
            <a:avLst/>
          </a:prstGeom>
          <a:solidFill>
            <a:srgbClr val="141418"/>
          </a:solidFill>
          <a:ln w="12700">
            <a:solidFill>
              <a:srgbClr val="1E1E26"/>
            </a:solidFill>
            <a:prstDash val="solid"/>
          </a:ln>
        </p:spPr>
      </p:sp>
      <p:sp>
        <p:nvSpPr>
          <p:cNvPr id="119" name="Text 117"/>
          <p:cNvSpPr/>
          <p:nvPr/>
        </p:nvSpPr>
        <p:spPr>
          <a:xfrm>
            <a:off x="329184" y="2724912"/>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Sensibilité qualité eau</a:t>
            </a:r>
            <a:endParaRPr lang="en-US" sz="900" dirty="0"/>
          </a:p>
        </p:txBody>
      </p:sp>
      <p:sp>
        <p:nvSpPr>
          <p:cNvPr id="120" name="Shape 118"/>
          <p:cNvSpPr/>
          <p:nvPr/>
        </p:nvSpPr>
        <p:spPr>
          <a:xfrm>
            <a:off x="3419856" y="2724912"/>
            <a:ext cx="2779776" cy="320040"/>
          </a:xfrm>
          <a:prstGeom prst="rect">
            <a:avLst/>
          </a:prstGeom>
          <a:solidFill>
            <a:srgbClr val="141418"/>
          </a:solidFill>
          <a:ln w="12700">
            <a:solidFill>
              <a:srgbClr val="1E1E26"/>
            </a:solidFill>
            <a:prstDash val="solid"/>
          </a:ln>
        </p:spPr>
      </p:sp>
      <p:sp>
        <p:nvSpPr>
          <p:cNvPr id="121" name="Text 119"/>
          <p:cNvSpPr/>
          <p:nvPr/>
        </p:nvSpPr>
        <p:spPr>
          <a:xfrm>
            <a:off x="3493008" y="2724912"/>
            <a:ext cx="2633472" cy="320040"/>
          </a:xfrm>
          <a:prstGeom prst="rect">
            <a:avLst/>
          </a:prstGeom>
          <a:noFill/>
          <a:ln/>
        </p:spPr>
        <p:txBody>
          <a:bodyPr wrap="square" rtlCol="0" anchor="ctr"/>
          <a:lstStyle/>
          <a:p>
            <a:pPr algn="ctr" indent="0" marL="0">
              <a:buNone/>
            </a:pPr>
            <a:r>
              <a:rPr lang="en-US" sz="880" b="1" dirty="0">
                <a:solidFill>
                  <a:srgbClr val="D94040"/>
                </a:solidFill>
                <a:latin typeface="Calibri" pitchFamily="34" charset="0"/>
                <a:ea typeface="Calibri" pitchFamily="34" charset="-122"/>
                <a:cs typeface="Calibri" pitchFamily="34" charset="-120"/>
              </a:rPr>
              <a:t>⚠ ÉLEVÉE — serpentins fins</a:t>
            </a:r>
            <a:endParaRPr lang="en-US" sz="880" dirty="0"/>
          </a:p>
        </p:txBody>
      </p:sp>
      <p:sp>
        <p:nvSpPr>
          <p:cNvPr id="122" name="Shape 120"/>
          <p:cNvSpPr/>
          <p:nvPr/>
        </p:nvSpPr>
        <p:spPr>
          <a:xfrm>
            <a:off x="6291072" y="2724912"/>
            <a:ext cx="2779776" cy="320040"/>
          </a:xfrm>
          <a:prstGeom prst="rect">
            <a:avLst/>
          </a:prstGeom>
          <a:solidFill>
            <a:srgbClr val="141418"/>
          </a:solidFill>
          <a:ln w="12700">
            <a:solidFill>
              <a:srgbClr val="1E1E26"/>
            </a:solidFill>
            <a:prstDash val="solid"/>
          </a:ln>
        </p:spPr>
      </p:sp>
      <p:sp>
        <p:nvSpPr>
          <p:cNvPr id="123" name="Text 121"/>
          <p:cNvSpPr/>
          <p:nvPr/>
        </p:nvSpPr>
        <p:spPr>
          <a:xfrm>
            <a:off x="6364224" y="2724912"/>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Faible — grand volume tampon</a:t>
            </a:r>
            <a:endParaRPr lang="en-US" sz="880" dirty="0"/>
          </a:p>
        </p:txBody>
      </p:sp>
      <p:sp>
        <p:nvSpPr>
          <p:cNvPr id="124" name="Shape 122"/>
          <p:cNvSpPr/>
          <p:nvPr/>
        </p:nvSpPr>
        <p:spPr>
          <a:xfrm>
            <a:off x="256032" y="3054096"/>
            <a:ext cx="3072384" cy="320040"/>
          </a:xfrm>
          <a:prstGeom prst="rect">
            <a:avLst/>
          </a:prstGeom>
          <a:solidFill>
            <a:srgbClr val="111115"/>
          </a:solidFill>
          <a:ln w="12700">
            <a:solidFill>
              <a:srgbClr val="1E1E26"/>
            </a:solidFill>
            <a:prstDash val="solid"/>
          </a:ln>
        </p:spPr>
      </p:sp>
      <p:sp>
        <p:nvSpPr>
          <p:cNvPr id="125" name="Text 123"/>
          <p:cNvSpPr/>
          <p:nvPr/>
        </p:nvSpPr>
        <p:spPr>
          <a:xfrm>
            <a:off x="329184" y="3054096"/>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Coût remplacement serpentins</a:t>
            </a:r>
            <a:endParaRPr lang="en-US" sz="900" dirty="0"/>
          </a:p>
        </p:txBody>
      </p:sp>
      <p:sp>
        <p:nvSpPr>
          <p:cNvPr id="126" name="Shape 124"/>
          <p:cNvSpPr/>
          <p:nvPr/>
        </p:nvSpPr>
        <p:spPr>
          <a:xfrm>
            <a:off x="3419856" y="3054096"/>
            <a:ext cx="2779776" cy="320040"/>
          </a:xfrm>
          <a:prstGeom prst="rect">
            <a:avLst/>
          </a:prstGeom>
          <a:solidFill>
            <a:srgbClr val="111115"/>
          </a:solidFill>
          <a:ln w="12700">
            <a:solidFill>
              <a:srgbClr val="1E1E26"/>
            </a:solidFill>
            <a:prstDash val="solid"/>
          </a:ln>
        </p:spPr>
      </p:sp>
      <p:sp>
        <p:nvSpPr>
          <p:cNvPr id="127" name="Text 125"/>
          <p:cNvSpPr/>
          <p:nvPr/>
        </p:nvSpPr>
        <p:spPr>
          <a:xfrm>
            <a:off x="3493008" y="3054096"/>
            <a:ext cx="2633472" cy="320040"/>
          </a:xfrm>
          <a:prstGeom prst="rect">
            <a:avLst/>
          </a:prstGeom>
          <a:noFill/>
          <a:ln/>
        </p:spPr>
        <p:txBody>
          <a:bodyPr wrap="square" rtlCol="0" anchor="ctr"/>
          <a:lstStyle/>
          <a:p>
            <a:pPr algn="ctr" indent="0" marL="0">
              <a:buNone/>
            </a:pPr>
            <a:r>
              <a:rPr lang="en-US" sz="880" b="1" dirty="0">
                <a:solidFill>
                  <a:srgbClr val="D94040"/>
                </a:solidFill>
                <a:latin typeface="Calibri" pitchFamily="34" charset="0"/>
                <a:ea typeface="Calibri" pitchFamily="34" charset="-122"/>
                <a:cs typeface="Calibri" pitchFamily="34" charset="-120"/>
              </a:rPr>
              <a:t>⚠ Significatif — périodique</a:t>
            </a:r>
            <a:endParaRPr lang="en-US" sz="880" dirty="0"/>
          </a:p>
        </p:txBody>
      </p:sp>
      <p:sp>
        <p:nvSpPr>
          <p:cNvPr id="128" name="Shape 126"/>
          <p:cNvSpPr/>
          <p:nvPr/>
        </p:nvSpPr>
        <p:spPr>
          <a:xfrm>
            <a:off x="6291072" y="3054096"/>
            <a:ext cx="2779776" cy="320040"/>
          </a:xfrm>
          <a:prstGeom prst="rect">
            <a:avLst/>
          </a:prstGeom>
          <a:solidFill>
            <a:srgbClr val="111115"/>
          </a:solidFill>
          <a:ln w="12700">
            <a:solidFill>
              <a:srgbClr val="1E1E26"/>
            </a:solidFill>
            <a:prstDash val="solid"/>
          </a:ln>
        </p:spPr>
      </p:sp>
      <p:sp>
        <p:nvSpPr>
          <p:cNvPr id="129" name="Text 127"/>
          <p:cNvSpPr/>
          <p:nvPr/>
        </p:nvSpPr>
        <p:spPr>
          <a:xfrm>
            <a:off x="6364224" y="3054096"/>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Nul — ballon dure des décennies</a:t>
            </a:r>
            <a:endParaRPr lang="en-US" sz="880" dirty="0"/>
          </a:p>
        </p:txBody>
      </p:sp>
      <p:sp>
        <p:nvSpPr>
          <p:cNvPr id="130" name="Shape 128"/>
          <p:cNvSpPr/>
          <p:nvPr/>
        </p:nvSpPr>
        <p:spPr>
          <a:xfrm>
            <a:off x="256032" y="3383280"/>
            <a:ext cx="3072384" cy="320040"/>
          </a:xfrm>
          <a:prstGeom prst="rect">
            <a:avLst/>
          </a:prstGeom>
          <a:solidFill>
            <a:srgbClr val="141418"/>
          </a:solidFill>
          <a:ln w="12700">
            <a:solidFill>
              <a:srgbClr val="1E1E26"/>
            </a:solidFill>
            <a:prstDash val="solid"/>
          </a:ln>
        </p:spPr>
      </p:sp>
      <p:sp>
        <p:nvSpPr>
          <p:cNvPr id="131" name="Text 129"/>
          <p:cNvSpPr/>
          <p:nvPr/>
        </p:nvSpPr>
        <p:spPr>
          <a:xfrm>
            <a:off x="329184" y="3383280"/>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Risque arrêt sur coupure eau</a:t>
            </a:r>
            <a:endParaRPr lang="en-US" sz="900" dirty="0"/>
          </a:p>
        </p:txBody>
      </p:sp>
      <p:sp>
        <p:nvSpPr>
          <p:cNvPr id="132" name="Shape 130"/>
          <p:cNvSpPr/>
          <p:nvPr/>
        </p:nvSpPr>
        <p:spPr>
          <a:xfrm>
            <a:off x="3419856" y="3383280"/>
            <a:ext cx="2779776" cy="320040"/>
          </a:xfrm>
          <a:prstGeom prst="rect">
            <a:avLst/>
          </a:prstGeom>
          <a:solidFill>
            <a:srgbClr val="141418"/>
          </a:solidFill>
          <a:ln w="12700">
            <a:solidFill>
              <a:srgbClr val="1E1E26"/>
            </a:solidFill>
            <a:prstDash val="solid"/>
          </a:ln>
        </p:spPr>
      </p:sp>
      <p:sp>
        <p:nvSpPr>
          <p:cNvPr id="133" name="Text 131"/>
          <p:cNvSpPr/>
          <p:nvPr/>
        </p:nvSpPr>
        <p:spPr>
          <a:xfrm>
            <a:off x="3493008" y="3383280"/>
            <a:ext cx="2633472" cy="320040"/>
          </a:xfrm>
          <a:prstGeom prst="rect">
            <a:avLst/>
          </a:prstGeom>
          <a:noFill/>
          <a:ln/>
        </p:spPr>
        <p:txBody>
          <a:bodyPr wrap="square" rtlCol="0" anchor="ctr"/>
          <a:lstStyle/>
          <a:p>
            <a:pPr algn="ctr" indent="0" marL="0">
              <a:buNone/>
            </a:pPr>
            <a:r>
              <a:rPr lang="en-US" sz="880" b="1" dirty="0">
                <a:solidFill>
                  <a:srgbClr val="D94040"/>
                </a:solidFill>
                <a:latin typeface="Calibri" pitchFamily="34" charset="0"/>
                <a:ea typeface="Calibri" pitchFamily="34" charset="-122"/>
                <a:cs typeface="Calibri" pitchFamily="34" charset="-120"/>
              </a:rPr>
              <a:t>⚠ Élevé — sans volume tampon</a:t>
            </a:r>
            <a:endParaRPr lang="en-US" sz="880" dirty="0"/>
          </a:p>
        </p:txBody>
      </p:sp>
      <p:sp>
        <p:nvSpPr>
          <p:cNvPr id="134" name="Shape 132"/>
          <p:cNvSpPr/>
          <p:nvPr/>
        </p:nvSpPr>
        <p:spPr>
          <a:xfrm>
            <a:off x="6291072" y="3383280"/>
            <a:ext cx="2779776" cy="320040"/>
          </a:xfrm>
          <a:prstGeom prst="rect">
            <a:avLst/>
          </a:prstGeom>
          <a:solidFill>
            <a:srgbClr val="141418"/>
          </a:solidFill>
          <a:ln w="12700">
            <a:solidFill>
              <a:srgbClr val="1E1E26"/>
            </a:solidFill>
            <a:prstDash val="solid"/>
          </a:ln>
        </p:spPr>
      </p:sp>
      <p:sp>
        <p:nvSpPr>
          <p:cNvPr id="135" name="Text 133"/>
          <p:cNvSpPr/>
          <p:nvPr/>
        </p:nvSpPr>
        <p:spPr>
          <a:xfrm>
            <a:off x="6364224" y="3383280"/>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Faible — inertie thermique</a:t>
            </a:r>
            <a:endParaRPr lang="en-US" sz="880" dirty="0"/>
          </a:p>
        </p:txBody>
      </p:sp>
      <p:sp>
        <p:nvSpPr>
          <p:cNvPr id="136" name="Shape 134"/>
          <p:cNvSpPr/>
          <p:nvPr/>
        </p:nvSpPr>
        <p:spPr>
          <a:xfrm>
            <a:off x="256032" y="3712464"/>
            <a:ext cx="3072384" cy="320040"/>
          </a:xfrm>
          <a:prstGeom prst="rect">
            <a:avLst/>
          </a:prstGeom>
          <a:solidFill>
            <a:srgbClr val="111115"/>
          </a:solidFill>
          <a:ln w="12700">
            <a:solidFill>
              <a:srgbClr val="1E1E26"/>
            </a:solidFill>
            <a:prstDash val="solid"/>
          </a:ln>
        </p:spPr>
      </p:sp>
      <p:sp>
        <p:nvSpPr>
          <p:cNvPr id="137" name="Text 135"/>
          <p:cNvSpPr/>
          <p:nvPr/>
        </p:nvSpPr>
        <p:spPr>
          <a:xfrm>
            <a:off x="329184" y="3712464"/>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SAV spécialisé au Maroc</a:t>
            </a:r>
            <a:endParaRPr lang="en-US" sz="900" dirty="0"/>
          </a:p>
        </p:txBody>
      </p:sp>
      <p:sp>
        <p:nvSpPr>
          <p:cNvPr id="138" name="Shape 136"/>
          <p:cNvSpPr/>
          <p:nvPr/>
        </p:nvSpPr>
        <p:spPr>
          <a:xfrm>
            <a:off x="3419856" y="3712464"/>
            <a:ext cx="2779776" cy="320040"/>
          </a:xfrm>
          <a:prstGeom prst="rect">
            <a:avLst/>
          </a:prstGeom>
          <a:solidFill>
            <a:srgbClr val="111115"/>
          </a:solidFill>
          <a:ln w="12700">
            <a:solidFill>
              <a:srgbClr val="1E1E26"/>
            </a:solidFill>
            <a:prstDash val="solid"/>
          </a:ln>
        </p:spPr>
      </p:sp>
      <p:sp>
        <p:nvSpPr>
          <p:cNvPr id="139" name="Text 137"/>
          <p:cNvSpPr/>
          <p:nvPr/>
        </p:nvSpPr>
        <p:spPr>
          <a:xfrm>
            <a:off x="3493008" y="3712464"/>
            <a:ext cx="2633472" cy="320040"/>
          </a:xfrm>
          <a:prstGeom prst="rect">
            <a:avLst/>
          </a:prstGeom>
          <a:noFill/>
          <a:ln/>
        </p:spPr>
        <p:txBody>
          <a:bodyPr wrap="square" rtlCol="0" anchor="ctr"/>
          <a:lstStyle/>
          <a:p>
            <a:pPr algn="ctr" indent="0" marL="0">
              <a:buNone/>
            </a:pPr>
            <a:r>
              <a:rPr lang="en-US" sz="880" b="1" dirty="0">
                <a:solidFill>
                  <a:srgbClr val="D94040"/>
                </a:solidFill>
                <a:latin typeface="Calibri" pitchFamily="34" charset="0"/>
                <a:ea typeface="Calibri" pitchFamily="34" charset="-122"/>
                <a:cs typeface="Calibri" pitchFamily="34" charset="-120"/>
              </a:rPr>
              <a:t>⚠ Limité — import technicien</a:t>
            </a:r>
            <a:endParaRPr lang="en-US" sz="880" dirty="0"/>
          </a:p>
        </p:txBody>
      </p:sp>
      <p:sp>
        <p:nvSpPr>
          <p:cNvPr id="140" name="Shape 138"/>
          <p:cNvSpPr/>
          <p:nvPr/>
        </p:nvSpPr>
        <p:spPr>
          <a:xfrm>
            <a:off x="6291072" y="3712464"/>
            <a:ext cx="2779776" cy="320040"/>
          </a:xfrm>
          <a:prstGeom prst="rect">
            <a:avLst/>
          </a:prstGeom>
          <a:solidFill>
            <a:srgbClr val="111115"/>
          </a:solidFill>
          <a:ln w="12700">
            <a:solidFill>
              <a:srgbClr val="1E1E26"/>
            </a:solidFill>
            <a:prstDash val="solid"/>
          </a:ln>
        </p:spPr>
      </p:sp>
      <p:sp>
        <p:nvSpPr>
          <p:cNvPr id="141" name="Text 139"/>
          <p:cNvSpPr/>
          <p:nvPr/>
        </p:nvSpPr>
        <p:spPr>
          <a:xfrm>
            <a:off x="6364224" y="3712464"/>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Meilleure disponibilité locale</a:t>
            </a:r>
            <a:endParaRPr lang="en-US" sz="880" dirty="0"/>
          </a:p>
        </p:txBody>
      </p:sp>
      <p:sp>
        <p:nvSpPr>
          <p:cNvPr id="142" name="Shape 140"/>
          <p:cNvSpPr/>
          <p:nvPr/>
        </p:nvSpPr>
        <p:spPr>
          <a:xfrm>
            <a:off x="256032" y="4041648"/>
            <a:ext cx="3072384" cy="320040"/>
          </a:xfrm>
          <a:prstGeom prst="rect">
            <a:avLst/>
          </a:prstGeom>
          <a:solidFill>
            <a:srgbClr val="141418"/>
          </a:solidFill>
          <a:ln w="12700">
            <a:solidFill>
              <a:srgbClr val="1E1E26"/>
            </a:solidFill>
            <a:prstDash val="solid"/>
          </a:ln>
        </p:spPr>
      </p:sp>
      <p:sp>
        <p:nvSpPr>
          <p:cNvPr id="143" name="Text 141"/>
          <p:cNvSpPr/>
          <p:nvPr/>
        </p:nvSpPr>
        <p:spPr>
          <a:xfrm>
            <a:off x="329184" y="4041648"/>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Prix d'achat</a:t>
            </a:r>
            <a:endParaRPr lang="en-US" sz="900" dirty="0"/>
          </a:p>
        </p:txBody>
      </p:sp>
      <p:sp>
        <p:nvSpPr>
          <p:cNvPr id="144" name="Shape 142"/>
          <p:cNvSpPr/>
          <p:nvPr/>
        </p:nvSpPr>
        <p:spPr>
          <a:xfrm>
            <a:off x="3419856" y="4041648"/>
            <a:ext cx="2779776" cy="320040"/>
          </a:xfrm>
          <a:prstGeom prst="rect">
            <a:avLst/>
          </a:prstGeom>
          <a:solidFill>
            <a:srgbClr val="141418"/>
          </a:solidFill>
          <a:ln w="12700">
            <a:solidFill>
              <a:srgbClr val="1E1E26"/>
            </a:solidFill>
            <a:prstDash val="solid"/>
          </a:ln>
        </p:spPr>
      </p:sp>
      <p:sp>
        <p:nvSpPr>
          <p:cNvPr id="145" name="Text 143"/>
          <p:cNvSpPr/>
          <p:nvPr/>
        </p:nvSpPr>
        <p:spPr>
          <a:xfrm>
            <a:off x="3493008" y="4041648"/>
            <a:ext cx="2633472" cy="320040"/>
          </a:xfrm>
          <a:prstGeom prst="rect">
            <a:avLst/>
          </a:prstGeom>
          <a:noFill/>
          <a:ln/>
        </p:spPr>
        <p:txBody>
          <a:bodyPr wrap="square" rtlCol="0" anchor="ctr"/>
          <a:lstStyle/>
          <a:p>
            <a:pPr algn="ctr" indent="0" marL="0">
              <a:buNone/>
            </a:pPr>
            <a:r>
              <a:rPr lang="en-US" sz="880" dirty="0">
                <a:solidFill>
                  <a:srgbClr val="D94040"/>
                </a:solidFill>
                <a:latin typeface="Calibri" pitchFamily="34" charset="0"/>
                <a:ea typeface="Calibri" pitchFamily="34" charset="-122"/>
                <a:cs typeface="Calibri" pitchFamily="34" charset="-120"/>
              </a:rPr>
              <a:t>Plus élevé (+20–35%)</a:t>
            </a:r>
            <a:endParaRPr lang="en-US" sz="880" dirty="0"/>
          </a:p>
        </p:txBody>
      </p:sp>
      <p:sp>
        <p:nvSpPr>
          <p:cNvPr id="146" name="Shape 144"/>
          <p:cNvSpPr/>
          <p:nvPr/>
        </p:nvSpPr>
        <p:spPr>
          <a:xfrm>
            <a:off x="6291072" y="4041648"/>
            <a:ext cx="2779776" cy="320040"/>
          </a:xfrm>
          <a:prstGeom prst="rect">
            <a:avLst/>
          </a:prstGeom>
          <a:solidFill>
            <a:srgbClr val="141418"/>
          </a:solidFill>
          <a:ln w="12700">
            <a:solidFill>
              <a:srgbClr val="1E1E26"/>
            </a:solidFill>
            <a:prstDash val="solid"/>
          </a:ln>
        </p:spPr>
      </p:sp>
      <p:sp>
        <p:nvSpPr>
          <p:cNvPr id="147" name="Text 145"/>
          <p:cNvSpPr/>
          <p:nvPr/>
        </p:nvSpPr>
        <p:spPr>
          <a:xfrm>
            <a:off x="6364224" y="4041648"/>
            <a:ext cx="2633472" cy="320040"/>
          </a:xfrm>
          <a:prstGeom prst="rect">
            <a:avLst/>
          </a:prstGeom>
          <a:noFill/>
          <a:ln/>
        </p:spPr>
        <p:txBody>
          <a:bodyPr wrap="square" rtlCol="0" anchor="ctr"/>
          <a:lstStyle/>
          <a:p>
            <a:pPr algn="ctr" indent="0" marL="0">
              <a:buNone/>
            </a:pPr>
            <a:r>
              <a:rPr lang="en-US" sz="880" dirty="0">
                <a:solidFill>
                  <a:srgbClr val="3DAF7A"/>
                </a:solidFill>
                <a:latin typeface="Calibri" pitchFamily="34" charset="0"/>
                <a:ea typeface="Calibri" pitchFamily="34" charset="-122"/>
                <a:cs typeface="Calibri" pitchFamily="34" charset="-120"/>
              </a:rPr>
              <a:t>Plus faible — référence</a:t>
            </a:r>
            <a:endParaRPr lang="en-US" sz="880" dirty="0"/>
          </a:p>
        </p:txBody>
      </p:sp>
      <p:sp>
        <p:nvSpPr>
          <p:cNvPr id="148" name="Shape 146"/>
          <p:cNvSpPr/>
          <p:nvPr/>
        </p:nvSpPr>
        <p:spPr>
          <a:xfrm>
            <a:off x="256032" y="4370832"/>
            <a:ext cx="3072384" cy="320040"/>
          </a:xfrm>
          <a:prstGeom prst="rect">
            <a:avLst/>
          </a:prstGeom>
          <a:solidFill>
            <a:srgbClr val="111115"/>
          </a:solidFill>
          <a:ln w="12700">
            <a:solidFill>
              <a:srgbClr val="1E1E26"/>
            </a:solidFill>
            <a:prstDash val="solid"/>
          </a:ln>
        </p:spPr>
      </p:sp>
      <p:sp>
        <p:nvSpPr>
          <p:cNvPr id="149" name="Text 147"/>
          <p:cNvSpPr/>
          <p:nvPr/>
        </p:nvSpPr>
        <p:spPr>
          <a:xfrm>
            <a:off x="329184" y="4370832"/>
            <a:ext cx="2926080" cy="320040"/>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TCO 5 ans en GPL *</a:t>
            </a:r>
            <a:endParaRPr lang="en-US" sz="900" dirty="0"/>
          </a:p>
        </p:txBody>
      </p:sp>
      <p:sp>
        <p:nvSpPr>
          <p:cNvPr id="150" name="Shape 148"/>
          <p:cNvSpPr/>
          <p:nvPr/>
        </p:nvSpPr>
        <p:spPr>
          <a:xfrm>
            <a:off x="3419856" y="4370832"/>
            <a:ext cx="2779776" cy="320040"/>
          </a:xfrm>
          <a:prstGeom prst="rect">
            <a:avLst/>
          </a:prstGeom>
          <a:solidFill>
            <a:srgbClr val="111115"/>
          </a:solidFill>
          <a:ln w="12700">
            <a:solidFill>
              <a:srgbClr val="1E1E26"/>
            </a:solidFill>
            <a:prstDash val="solid"/>
          </a:ln>
        </p:spPr>
      </p:sp>
      <p:sp>
        <p:nvSpPr>
          <p:cNvPr id="151" name="Text 149"/>
          <p:cNvSpPr/>
          <p:nvPr/>
        </p:nvSpPr>
        <p:spPr>
          <a:xfrm>
            <a:off x="3493008" y="4370832"/>
            <a:ext cx="2633472" cy="320040"/>
          </a:xfrm>
          <a:prstGeom prst="rect">
            <a:avLst/>
          </a:prstGeom>
          <a:noFill/>
          <a:ln/>
        </p:spPr>
        <p:txBody>
          <a:bodyPr wrap="square" rtlCol="0" anchor="ctr"/>
          <a:lstStyle/>
          <a:p>
            <a:pPr algn="ctr" indent="0" marL="0">
              <a:buNone/>
            </a:pPr>
            <a:r>
              <a:rPr lang="en-US" sz="880" dirty="0">
                <a:solidFill>
                  <a:srgbClr val="E8A020"/>
                </a:solidFill>
                <a:latin typeface="Calibri" pitchFamily="34" charset="0"/>
                <a:ea typeface="Calibri" pitchFamily="34" charset="-122"/>
                <a:cs typeface="Calibri" pitchFamily="34" charset="-120"/>
              </a:rPr>
              <a:t>Inférieur si SAV garanti</a:t>
            </a:r>
            <a:endParaRPr lang="en-US" sz="880" dirty="0"/>
          </a:p>
        </p:txBody>
      </p:sp>
      <p:sp>
        <p:nvSpPr>
          <p:cNvPr id="152" name="Shape 150"/>
          <p:cNvSpPr/>
          <p:nvPr/>
        </p:nvSpPr>
        <p:spPr>
          <a:xfrm>
            <a:off x="6291072" y="4370832"/>
            <a:ext cx="2779776" cy="320040"/>
          </a:xfrm>
          <a:prstGeom prst="rect">
            <a:avLst/>
          </a:prstGeom>
          <a:solidFill>
            <a:srgbClr val="111115"/>
          </a:solidFill>
          <a:ln w="12700">
            <a:solidFill>
              <a:srgbClr val="1E1E26"/>
            </a:solidFill>
            <a:prstDash val="solid"/>
          </a:ln>
        </p:spPr>
      </p:sp>
      <p:sp>
        <p:nvSpPr>
          <p:cNvPr id="153" name="Text 151"/>
          <p:cNvSpPr/>
          <p:nvPr/>
        </p:nvSpPr>
        <p:spPr>
          <a:xfrm>
            <a:off x="6364224" y="4370832"/>
            <a:ext cx="2633472" cy="320040"/>
          </a:xfrm>
          <a:prstGeom prst="rect">
            <a:avLst/>
          </a:prstGeom>
          <a:noFill/>
          <a:ln/>
        </p:spPr>
        <p:txBody>
          <a:bodyPr wrap="square" rtlCol="0" anchor="ctr"/>
          <a:lstStyle/>
          <a:p>
            <a:pPr algn="ctr" indent="0" marL="0">
              <a:buNone/>
            </a:pPr>
            <a:r>
              <a:rPr lang="en-US" sz="880" dirty="0">
                <a:solidFill>
                  <a:srgbClr val="E8A020"/>
                </a:solidFill>
                <a:latin typeface="Calibri" pitchFamily="34" charset="0"/>
                <a:ea typeface="Calibri" pitchFamily="34" charset="-122"/>
                <a:cs typeface="Calibri" pitchFamily="34" charset="-120"/>
              </a:rPr>
              <a:t>Supérieur mais prévisible</a:t>
            </a:r>
            <a:endParaRPr lang="en-US" sz="880" dirty="0"/>
          </a:p>
        </p:txBody>
      </p:sp>
      <p:sp>
        <p:nvSpPr>
          <p:cNvPr id="154" name="Text 152"/>
          <p:cNvSpPr/>
          <p:nvPr/>
        </p:nvSpPr>
        <p:spPr>
          <a:xfrm>
            <a:off x="274320" y="4718304"/>
            <a:ext cx="8595360" cy="201168"/>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 TCO GVI favorable uniquement si partenaire SAV agréé confirmé dans l'offre</a:t>
            </a:r>
            <a:endParaRPr lang="en-US" sz="800" dirty="0"/>
          </a:p>
        </p:txBody>
      </p:sp>
      <p:sp>
        <p:nvSpPr>
          <p:cNvPr id="155" name="Shape 153"/>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33" name="Text 231"/>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GVI — PROBLÈMES INDUSTRIELS RÉELS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Ce que les exploitants signalent sur le terrain — analyse honnête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384048"/>
          </a:xfrm>
          <a:prstGeom prst="rect">
            <a:avLst/>
          </a:prstGeom>
          <a:solidFill>
            <a:srgbClr val="130F08"/>
          </a:solidFill>
          <a:ln w="12700">
            <a:solidFill>
              <a:srgbClr val="E8A020"/>
            </a:solidFill>
            <a:prstDash val="solid"/>
          </a:ln>
        </p:spPr>
      </p:sp>
      <p:sp>
        <p:nvSpPr>
          <p:cNvPr id="89" name="Shape 87"/>
          <p:cNvSpPr/>
          <p:nvPr/>
        </p:nvSpPr>
        <p:spPr>
          <a:xfrm>
            <a:off x="256032" y="932688"/>
            <a:ext cx="54864" cy="384048"/>
          </a:xfrm>
          <a:prstGeom prst="rect">
            <a:avLst/>
          </a:prstGeom>
          <a:solidFill>
            <a:srgbClr val="E8A020"/>
          </a:solidFill>
          <a:ln/>
        </p:spPr>
      </p:sp>
      <p:sp>
        <p:nvSpPr>
          <p:cNvPr id="90" name="Text 88"/>
          <p:cNvSpPr/>
          <p:nvPr/>
        </p:nvSpPr>
        <p:spPr>
          <a:xfrm>
            <a:off x="402336" y="969264"/>
            <a:ext cx="8321040" cy="310896"/>
          </a:xfrm>
          <a:prstGeom prst="rect">
            <a:avLst/>
          </a:prstGeom>
          <a:noFill/>
          <a:ln/>
        </p:spPr>
        <p:txBody>
          <a:bodyPr wrap="square" rtlCol="0" anchor="ctr"/>
          <a:lstStyle/>
          <a:p>
            <a:pPr indent="0" marL="0">
              <a:buNone/>
            </a:pPr>
            <a:r>
              <a:rPr lang="en-US" sz="950" i="1" dirty="0">
                <a:solidFill>
                  <a:srgbClr val="D8C9A8"/>
                </a:solidFill>
                <a:latin typeface="Calibri" pitchFamily="34" charset="0"/>
                <a:ea typeface="Calibri" pitchFamily="34" charset="-122"/>
                <a:cs typeface="Calibri" pitchFamily="34" charset="-120"/>
              </a:rPr>
              <a:t>Ces retours terrain sont documentés et légitimes. Ils ne disqualifient pas le GVI — mais conditionnent sa recommandation à votre contexte spécifique.</a:t>
            </a:r>
            <a:endParaRPr lang="en-US" sz="950" dirty="0"/>
          </a:p>
        </p:txBody>
      </p:sp>
      <p:sp>
        <p:nvSpPr>
          <p:cNvPr id="91" name="Shape 89"/>
          <p:cNvSpPr/>
          <p:nvPr/>
        </p:nvSpPr>
        <p:spPr>
          <a:xfrm>
            <a:off x="256032" y="1389888"/>
            <a:ext cx="8631936" cy="685800"/>
          </a:xfrm>
          <a:prstGeom prst="rect">
            <a:avLst/>
          </a:prstGeom>
          <a:solidFill>
            <a:srgbClr val="130F08"/>
          </a:solidFill>
          <a:ln w="12700">
            <a:solidFill>
              <a:srgbClr val="1E1E26"/>
            </a:solidFill>
            <a:prstDash val="solid"/>
          </a:ln>
        </p:spPr>
      </p:sp>
      <p:sp>
        <p:nvSpPr>
          <p:cNvPr id="92" name="Shape 90"/>
          <p:cNvSpPr/>
          <p:nvPr/>
        </p:nvSpPr>
        <p:spPr>
          <a:xfrm>
            <a:off x="256032" y="1389888"/>
            <a:ext cx="731520" cy="685800"/>
          </a:xfrm>
          <a:prstGeom prst="rect">
            <a:avLst/>
          </a:prstGeom>
          <a:solidFill>
            <a:srgbClr val="D94040"/>
          </a:solidFill>
          <a:ln/>
        </p:spPr>
      </p:sp>
      <p:sp>
        <p:nvSpPr>
          <p:cNvPr id="93" name="Text 91"/>
          <p:cNvSpPr/>
          <p:nvPr/>
        </p:nvSpPr>
        <p:spPr>
          <a:xfrm>
            <a:off x="256032" y="138988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CRITIQUE</a:t>
            </a:r>
            <a:endParaRPr lang="en-US" sz="700" dirty="0"/>
          </a:p>
        </p:txBody>
      </p:sp>
      <p:sp>
        <p:nvSpPr>
          <p:cNvPr id="94" name="Text 92"/>
          <p:cNvSpPr/>
          <p:nvPr/>
        </p:nvSpPr>
        <p:spPr>
          <a:xfrm>
            <a:off x="1078992" y="1426464"/>
            <a:ext cx="7726680" cy="256032"/>
          </a:xfrm>
          <a:prstGeom prst="rect">
            <a:avLst/>
          </a:prstGeom>
          <a:noFill/>
          <a:ln/>
        </p:spPr>
        <p:txBody>
          <a:bodyPr wrap="square" rtlCol="0" anchor="ctr"/>
          <a:lstStyle/>
          <a:p>
            <a:pPr indent="0" marL="0">
              <a:buNone/>
            </a:pPr>
            <a:r>
              <a:rPr lang="en-US" sz="1100" b="1" dirty="0">
                <a:solidFill>
                  <a:srgbClr val="D94040"/>
                </a:solidFill>
                <a:latin typeface="Georgia" pitchFamily="34" charset="0"/>
                <a:ea typeface="Georgia" pitchFamily="34" charset="-122"/>
                <a:cs typeface="Georgia" pitchFamily="34" charset="-120"/>
              </a:rPr>
              <a:t>💧  Sensibilité à la qualité de l'eau — risque n°1</a:t>
            </a:r>
            <a:endParaRPr lang="en-US" sz="1100" dirty="0"/>
          </a:p>
        </p:txBody>
      </p:sp>
      <p:sp>
        <p:nvSpPr>
          <p:cNvPr id="95" name="Text 93"/>
          <p:cNvSpPr/>
          <p:nvPr/>
        </p:nvSpPr>
        <p:spPr>
          <a:xfrm>
            <a:off x="1078992" y="169164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Un GVI n'a pas de ballon tampon. L'eau traverse des serpentins étroits en un seul passage. Si le traitement d'eau est sous-dimensionné ou mal maintenu, le tartre se dépose rapidement, réduit l'échange thermique et peut mener à la rupture des serpentins. Une chaudière à tubes de fumée pardonne bien mieux les imperfections du traitement eau grâce à son grand volume diluteur.</a:t>
            </a:r>
            <a:endParaRPr lang="en-US" sz="850" dirty="0"/>
          </a:p>
        </p:txBody>
      </p:sp>
      <p:sp>
        <p:nvSpPr>
          <p:cNvPr id="96" name="Shape 94"/>
          <p:cNvSpPr/>
          <p:nvPr/>
        </p:nvSpPr>
        <p:spPr>
          <a:xfrm>
            <a:off x="6309360" y="1645920"/>
            <a:ext cx="2487168" cy="384048"/>
          </a:xfrm>
          <a:prstGeom prst="rect">
            <a:avLst/>
          </a:prstGeom>
          <a:solidFill>
            <a:srgbClr val="141418"/>
          </a:solidFill>
          <a:ln w="12700">
            <a:solidFill>
              <a:srgbClr val="D94040"/>
            </a:solidFill>
            <a:prstDash val="solid"/>
          </a:ln>
        </p:spPr>
      </p:sp>
      <p:sp>
        <p:nvSpPr>
          <p:cNvPr id="97" name="Text 95"/>
          <p:cNvSpPr/>
          <p:nvPr/>
        </p:nvSpPr>
        <p:spPr>
          <a:xfrm>
            <a:off x="6400800" y="1664208"/>
            <a:ext cx="2331720" cy="347472"/>
          </a:xfrm>
          <a:prstGeom prst="rect">
            <a:avLst/>
          </a:prstGeom>
          <a:noFill/>
          <a:ln/>
        </p:spPr>
        <p:txBody>
          <a:bodyPr wrap="square" rtlCol="0" anchor="t"/>
          <a:lstStyle/>
          <a:p>
            <a:pPr indent="0" marL="0">
              <a:buNone/>
            </a:pPr>
            <a:r>
              <a:rPr lang="en-US" sz="750" b="1" dirty="0">
                <a:solidFill>
                  <a:srgbClr val="D94040"/>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Gérable avec traitement eau NSF H1 bien dimensionné — mais le risque est réel et le traitement eau est non négociable.</a:t>
            </a:r>
            <a:endParaRPr lang="en-US" sz="750" dirty="0"/>
          </a:p>
        </p:txBody>
      </p:sp>
      <p:sp>
        <p:nvSpPr>
          <p:cNvPr id="98" name="Shape 96"/>
          <p:cNvSpPr/>
          <p:nvPr/>
        </p:nvSpPr>
        <p:spPr>
          <a:xfrm>
            <a:off x="256032" y="2121408"/>
            <a:ext cx="8631936" cy="685800"/>
          </a:xfrm>
          <a:prstGeom prst="rect">
            <a:avLst/>
          </a:prstGeom>
          <a:solidFill>
            <a:srgbClr val="111115"/>
          </a:solidFill>
          <a:ln w="12700">
            <a:solidFill>
              <a:srgbClr val="1E1E26"/>
            </a:solidFill>
            <a:prstDash val="solid"/>
          </a:ln>
        </p:spPr>
      </p:sp>
      <p:sp>
        <p:nvSpPr>
          <p:cNvPr id="99" name="Shape 97"/>
          <p:cNvSpPr/>
          <p:nvPr/>
        </p:nvSpPr>
        <p:spPr>
          <a:xfrm>
            <a:off x="256032" y="2121408"/>
            <a:ext cx="731520" cy="685800"/>
          </a:xfrm>
          <a:prstGeom prst="rect">
            <a:avLst/>
          </a:prstGeom>
          <a:solidFill>
            <a:srgbClr val="E8A020"/>
          </a:solidFill>
          <a:ln/>
        </p:spPr>
      </p:sp>
      <p:sp>
        <p:nvSpPr>
          <p:cNvPr id="100" name="Text 98"/>
          <p:cNvSpPr/>
          <p:nvPr/>
        </p:nvSpPr>
        <p:spPr>
          <a:xfrm>
            <a:off x="256032" y="212140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MODÉRÉ</a:t>
            </a:r>
            <a:endParaRPr lang="en-US" sz="700" dirty="0"/>
          </a:p>
        </p:txBody>
      </p:sp>
      <p:sp>
        <p:nvSpPr>
          <p:cNvPr id="101" name="Text 99"/>
          <p:cNvSpPr/>
          <p:nvPr/>
        </p:nvSpPr>
        <p:spPr>
          <a:xfrm>
            <a:off x="1078992" y="2157984"/>
            <a:ext cx="7726680" cy="25603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  Coût et fréquence de remplacement des serpentins</a:t>
            </a:r>
            <a:endParaRPr lang="en-US" sz="1100" dirty="0"/>
          </a:p>
        </p:txBody>
      </p:sp>
      <p:sp>
        <p:nvSpPr>
          <p:cNvPr id="102" name="Text 100"/>
          <p:cNvSpPr/>
          <p:nvPr/>
        </p:nvSpPr>
        <p:spPr>
          <a:xfrm>
            <a:off x="1078992" y="242316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Les serpentins sont des consommables. Sur 10 ans, le coût de remplacement peut partiellement ou totalement éroder les économies d'efficacité sur GPL. Au Maroc, faire intervenir un ingénieur agréé ou expédier l'équipement signifie des coûts et délais supplémentaires non négligeables.</a:t>
            </a:r>
            <a:endParaRPr lang="en-US" sz="850" dirty="0"/>
          </a:p>
        </p:txBody>
      </p:sp>
      <p:sp>
        <p:nvSpPr>
          <p:cNvPr id="103" name="Shape 101"/>
          <p:cNvSpPr/>
          <p:nvPr/>
        </p:nvSpPr>
        <p:spPr>
          <a:xfrm>
            <a:off x="6309360" y="2377440"/>
            <a:ext cx="2487168" cy="384048"/>
          </a:xfrm>
          <a:prstGeom prst="rect">
            <a:avLst/>
          </a:prstGeom>
          <a:solidFill>
            <a:srgbClr val="141418"/>
          </a:solidFill>
          <a:ln w="12700">
            <a:solidFill>
              <a:srgbClr val="E8A020"/>
            </a:solidFill>
            <a:prstDash val="solid"/>
          </a:ln>
        </p:spPr>
      </p:sp>
      <p:sp>
        <p:nvSpPr>
          <p:cNvPr id="104" name="Text 102"/>
          <p:cNvSpPr/>
          <p:nvPr/>
        </p:nvSpPr>
        <p:spPr>
          <a:xfrm>
            <a:off x="6400800" y="2395728"/>
            <a:ext cx="2331720" cy="347472"/>
          </a:xfrm>
          <a:prstGeom prst="rect">
            <a:avLst/>
          </a:prstGeom>
          <a:noFill/>
          <a:ln/>
        </p:spPr>
        <p:txBody>
          <a:bodyPr wrap="square" rtlCol="0" anchor="t"/>
          <a:lstStyle/>
          <a:p>
            <a:pPr indent="0" marL="0">
              <a:buNone/>
            </a:pPr>
            <a:r>
              <a:rPr lang="en-US" sz="750" b="1" dirty="0">
                <a:solidFill>
                  <a:srgbClr val="E8A020"/>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Demander explicitement dans l'AO : durée de vie garantie des serpentins, coût de remplacement forfaitaire sur 5 ans, main-d'œuvre incluse.</a:t>
            </a:r>
            <a:endParaRPr lang="en-US" sz="750" dirty="0"/>
          </a:p>
        </p:txBody>
      </p:sp>
      <p:sp>
        <p:nvSpPr>
          <p:cNvPr id="105" name="Shape 103"/>
          <p:cNvSpPr/>
          <p:nvPr/>
        </p:nvSpPr>
        <p:spPr>
          <a:xfrm>
            <a:off x="256032" y="2852928"/>
            <a:ext cx="8631936" cy="685800"/>
          </a:xfrm>
          <a:prstGeom prst="rect">
            <a:avLst/>
          </a:prstGeom>
          <a:solidFill>
            <a:srgbClr val="130F08"/>
          </a:solidFill>
          <a:ln w="12700">
            <a:solidFill>
              <a:srgbClr val="1E1E26"/>
            </a:solidFill>
            <a:prstDash val="solid"/>
          </a:ln>
        </p:spPr>
      </p:sp>
      <p:sp>
        <p:nvSpPr>
          <p:cNvPr id="106" name="Shape 104"/>
          <p:cNvSpPr/>
          <p:nvPr/>
        </p:nvSpPr>
        <p:spPr>
          <a:xfrm>
            <a:off x="256032" y="2852928"/>
            <a:ext cx="731520" cy="685800"/>
          </a:xfrm>
          <a:prstGeom prst="rect">
            <a:avLst/>
          </a:prstGeom>
          <a:solidFill>
            <a:srgbClr val="E8A020"/>
          </a:solidFill>
          <a:ln/>
        </p:spPr>
      </p:sp>
      <p:sp>
        <p:nvSpPr>
          <p:cNvPr id="107" name="Text 105"/>
          <p:cNvSpPr/>
          <p:nvPr/>
        </p:nvSpPr>
        <p:spPr>
          <a:xfrm>
            <a:off x="256032" y="285292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MODÉRÉ</a:t>
            </a:r>
            <a:endParaRPr lang="en-US" sz="700" dirty="0"/>
          </a:p>
        </p:txBody>
      </p:sp>
      <p:sp>
        <p:nvSpPr>
          <p:cNvPr id="108" name="Text 106"/>
          <p:cNvSpPr/>
          <p:nvPr/>
        </p:nvSpPr>
        <p:spPr>
          <a:xfrm>
            <a:off x="1078992" y="2889504"/>
            <a:ext cx="7726680" cy="25603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  Risque d'arrêt sur coupure d'alimentation en eau</a:t>
            </a:r>
            <a:endParaRPr lang="en-US" sz="1100" dirty="0"/>
          </a:p>
        </p:txBody>
      </p:sp>
      <p:sp>
        <p:nvSpPr>
          <p:cNvPr id="109" name="Text 107"/>
          <p:cNvSpPr/>
          <p:nvPr/>
        </p:nvSpPr>
        <p:spPr>
          <a:xfrm>
            <a:off x="1078992" y="315468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En cas d'interruption brève de l'alimentation en eau — panne pompe, fermeture de vanne, bac vide — les serpentins peuvent surchauffer et se rompre en quelques minutes car il n'y a aucune réserve d'eau. Une chaudière à tubes de fumée donne bien plus de temps avant d'atteindre la zone de danger.</a:t>
            </a:r>
            <a:endParaRPr lang="en-US" sz="850" dirty="0"/>
          </a:p>
        </p:txBody>
      </p:sp>
      <p:sp>
        <p:nvSpPr>
          <p:cNvPr id="110" name="Shape 108"/>
          <p:cNvSpPr/>
          <p:nvPr/>
        </p:nvSpPr>
        <p:spPr>
          <a:xfrm>
            <a:off x="6309360" y="3108960"/>
            <a:ext cx="2487168" cy="384048"/>
          </a:xfrm>
          <a:prstGeom prst="rect">
            <a:avLst/>
          </a:prstGeom>
          <a:solidFill>
            <a:srgbClr val="141418"/>
          </a:solidFill>
          <a:ln w="12700">
            <a:solidFill>
              <a:srgbClr val="E8A020"/>
            </a:solidFill>
            <a:prstDash val="solid"/>
          </a:ln>
        </p:spPr>
      </p:sp>
      <p:sp>
        <p:nvSpPr>
          <p:cNvPr id="111" name="Text 109"/>
          <p:cNvSpPr/>
          <p:nvPr/>
        </p:nvSpPr>
        <p:spPr>
          <a:xfrm>
            <a:off x="6400800" y="3127248"/>
            <a:ext cx="2331720" cy="347472"/>
          </a:xfrm>
          <a:prstGeom prst="rect">
            <a:avLst/>
          </a:prstGeom>
          <a:noFill/>
          <a:ln/>
        </p:spPr>
        <p:txBody>
          <a:bodyPr wrap="square" rtlCol="0" anchor="t"/>
          <a:lstStyle/>
          <a:p>
            <a:pPr indent="0" marL="0">
              <a:buNone/>
            </a:pPr>
            <a:r>
              <a:rPr lang="en-US" sz="750" b="1" dirty="0">
                <a:solidFill>
                  <a:srgbClr val="E8A020"/>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Exige une pompe d'alimentation redondante et des interlocks bas débit correctement calibrés. Dans une installation bien spécifiée, ce risque est standard et maîtrisable.</a:t>
            </a:r>
            <a:endParaRPr lang="en-US" sz="750" dirty="0"/>
          </a:p>
        </p:txBody>
      </p:sp>
      <p:sp>
        <p:nvSpPr>
          <p:cNvPr id="112" name="Shape 110"/>
          <p:cNvSpPr/>
          <p:nvPr/>
        </p:nvSpPr>
        <p:spPr>
          <a:xfrm>
            <a:off x="256032" y="3584448"/>
            <a:ext cx="8631936" cy="685800"/>
          </a:xfrm>
          <a:prstGeom prst="rect">
            <a:avLst/>
          </a:prstGeom>
          <a:solidFill>
            <a:srgbClr val="111115"/>
          </a:solidFill>
          <a:ln w="12700">
            <a:solidFill>
              <a:srgbClr val="1E1E26"/>
            </a:solidFill>
            <a:prstDash val="solid"/>
          </a:ln>
        </p:spPr>
      </p:sp>
      <p:sp>
        <p:nvSpPr>
          <p:cNvPr id="113" name="Shape 111"/>
          <p:cNvSpPr/>
          <p:nvPr/>
        </p:nvSpPr>
        <p:spPr>
          <a:xfrm>
            <a:off x="256032" y="3584448"/>
            <a:ext cx="731520" cy="685800"/>
          </a:xfrm>
          <a:prstGeom prst="rect">
            <a:avLst/>
          </a:prstGeom>
          <a:solidFill>
            <a:srgbClr val="D94040"/>
          </a:solidFill>
          <a:ln/>
        </p:spPr>
      </p:sp>
      <p:sp>
        <p:nvSpPr>
          <p:cNvPr id="114" name="Text 112"/>
          <p:cNvSpPr/>
          <p:nvPr/>
        </p:nvSpPr>
        <p:spPr>
          <a:xfrm>
            <a:off x="256032" y="358444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CRITIQUE</a:t>
            </a:r>
            <a:endParaRPr lang="en-US" sz="700" dirty="0"/>
          </a:p>
        </p:txBody>
      </p:sp>
      <p:sp>
        <p:nvSpPr>
          <p:cNvPr id="115" name="Text 113"/>
          <p:cNvSpPr/>
          <p:nvPr/>
        </p:nvSpPr>
        <p:spPr>
          <a:xfrm>
            <a:off x="1078992" y="3621024"/>
            <a:ext cx="7726680" cy="256032"/>
          </a:xfrm>
          <a:prstGeom prst="rect">
            <a:avLst/>
          </a:prstGeom>
          <a:noFill/>
          <a:ln/>
        </p:spPr>
        <p:txBody>
          <a:bodyPr wrap="square" rtlCol="0" anchor="ctr"/>
          <a:lstStyle/>
          <a:p>
            <a:pPr indent="0" marL="0">
              <a:buNone/>
            </a:pPr>
            <a:r>
              <a:rPr lang="en-US" sz="1100" b="1" dirty="0">
                <a:solidFill>
                  <a:srgbClr val="D94040"/>
                </a:solidFill>
                <a:latin typeface="Georgia" pitchFamily="34" charset="0"/>
                <a:ea typeface="Georgia" pitchFamily="34" charset="-122"/>
                <a:cs typeface="Georgia" pitchFamily="34" charset="-120"/>
              </a:rPr>
              <a:t>🏭  SAV spécialisé indisponible au Maroc — risque n°2</a:t>
            </a:r>
            <a:endParaRPr lang="en-US" sz="1100" dirty="0"/>
          </a:p>
        </p:txBody>
      </p:sp>
      <p:sp>
        <p:nvSpPr>
          <p:cNvPr id="116" name="Text 114"/>
          <p:cNvSpPr/>
          <p:nvPr/>
        </p:nvSpPr>
        <p:spPr>
          <a:xfrm>
            <a:off x="1078992" y="388620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C'est l'argument le plus fort contre le GVI dans votre contexte spécifique. Les chaudières à tubes de fumée européennes sont installées au Maroc depuis des décennies. Il existe des ingénieurs locaux compétents, des fournisseurs de pièces courantes et des autorités d'inspection familières avec ces équipements. Le GVI est peu répandu dans l'industrie marocaine. En cas de panne, vous attendez un spécialiste depuis l'Europe — délais et coûts importants sur votre utilité critique.</a:t>
            </a:r>
            <a:endParaRPr lang="en-US" sz="850" dirty="0"/>
          </a:p>
        </p:txBody>
      </p:sp>
      <p:sp>
        <p:nvSpPr>
          <p:cNvPr id="117" name="Shape 115"/>
          <p:cNvSpPr/>
          <p:nvPr/>
        </p:nvSpPr>
        <p:spPr>
          <a:xfrm>
            <a:off x="6309360" y="3840480"/>
            <a:ext cx="2487168" cy="384048"/>
          </a:xfrm>
          <a:prstGeom prst="rect">
            <a:avLst/>
          </a:prstGeom>
          <a:solidFill>
            <a:srgbClr val="141418"/>
          </a:solidFill>
          <a:ln w="12700">
            <a:solidFill>
              <a:srgbClr val="D94040"/>
            </a:solidFill>
            <a:prstDash val="solid"/>
          </a:ln>
        </p:spPr>
      </p:sp>
      <p:sp>
        <p:nvSpPr>
          <p:cNvPr id="118" name="Text 116"/>
          <p:cNvSpPr/>
          <p:nvPr/>
        </p:nvSpPr>
        <p:spPr>
          <a:xfrm>
            <a:off x="6400800" y="3858768"/>
            <a:ext cx="2331720" cy="347472"/>
          </a:xfrm>
          <a:prstGeom prst="rect">
            <a:avLst/>
          </a:prstGeom>
          <a:noFill/>
          <a:ln/>
        </p:spPr>
        <p:txBody>
          <a:bodyPr wrap="square" rtlCol="0" anchor="t"/>
          <a:lstStyle/>
          <a:p>
            <a:pPr indent="0" marL="0">
              <a:buNone/>
            </a:pPr>
            <a:r>
              <a:rPr lang="en-US" sz="750" b="1" dirty="0">
                <a:solidFill>
                  <a:srgbClr val="D94040"/>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Condition sine qua non : Miura ou Clayton doit nommer un partenaire SAV agréé au Maroc, en Espagne ou en France avec délai d'intervention contractuel maximal.</a:t>
            </a:r>
            <a:endParaRPr lang="en-US" sz="750" dirty="0"/>
          </a:p>
        </p:txBody>
      </p:sp>
      <p:sp>
        <p:nvSpPr>
          <p:cNvPr id="119" name="Shape 117"/>
          <p:cNvSpPr/>
          <p:nvPr/>
        </p:nvSpPr>
        <p:spPr>
          <a:xfrm>
            <a:off x="256032" y="4315968"/>
            <a:ext cx="8631936" cy="685800"/>
          </a:xfrm>
          <a:prstGeom prst="rect">
            <a:avLst/>
          </a:prstGeom>
          <a:solidFill>
            <a:srgbClr val="130F08"/>
          </a:solidFill>
          <a:ln w="12700">
            <a:solidFill>
              <a:srgbClr val="1E1E26"/>
            </a:solidFill>
            <a:prstDash val="solid"/>
          </a:ln>
        </p:spPr>
      </p:sp>
      <p:sp>
        <p:nvSpPr>
          <p:cNvPr id="120" name="Shape 118"/>
          <p:cNvSpPr/>
          <p:nvPr/>
        </p:nvSpPr>
        <p:spPr>
          <a:xfrm>
            <a:off x="256032" y="4315968"/>
            <a:ext cx="731520" cy="685800"/>
          </a:xfrm>
          <a:prstGeom prst="rect">
            <a:avLst/>
          </a:prstGeom>
          <a:solidFill>
            <a:srgbClr val="1A5FA8"/>
          </a:solidFill>
          <a:ln/>
        </p:spPr>
      </p:sp>
      <p:sp>
        <p:nvSpPr>
          <p:cNvPr id="121" name="Text 119"/>
          <p:cNvSpPr/>
          <p:nvPr/>
        </p:nvSpPr>
        <p:spPr>
          <a:xfrm>
            <a:off x="256032" y="4315968"/>
            <a:ext cx="731520" cy="685800"/>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À VÉRIFIER</a:t>
            </a:r>
            <a:endParaRPr lang="en-US" sz="700" dirty="0"/>
          </a:p>
        </p:txBody>
      </p:sp>
      <p:sp>
        <p:nvSpPr>
          <p:cNvPr id="122" name="Text 120"/>
          <p:cNvSpPr/>
          <p:nvPr/>
        </p:nvSpPr>
        <p:spPr>
          <a:xfrm>
            <a:off x="1078992" y="4352544"/>
            <a:ext cx="7726680" cy="256032"/>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  TCO réel dépend d'hypothèses qui doivent être vérifiées</a:t>
            </a:r>
            <a:endParaRPr lang="en-US" sz="1100" dirty="0"/>
          </a:p>
        </p:txBody>
      </p:sp>
      <p:sp>
        <p:nvSpPr>
          <p:cNvPr id="123" name="Text 121"/>
          <p:cNvSpPr/>
          <p:nvPr/>
        </p:nvSpPr>
        <p:spPr>
          <a:xfrm>
            <a:off x="1078992" y="4617720"/>
            <a:ext cx="5120640" cy="347472"/>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L'avantage TCO du GVI sur 5 ans en GPL repose sur la différence d'efficacité (7%) et le gain au démarrage. Ces chiffres sont réels mais peuvent être réduits si le prix GPL évolue, si les remplacements de serpentins sont plus fréquents que prévu, ou si des interventions SAV non planifiées s'accumulent.</a:t>
            </a:r>
            <a:endParaRPr lang="en-US" sz="850" dirty="0"/>
          </a:p>
        </p:txBody>
      </p:sp>
      <p:sp>
        <p:nvSpPr>
          <p:cNvPr id="124" name="Shape 122"/>
          <p:cNvSpPr/>
          <p:nvPr/>
        </p:nvSpPr>
        <p:spPr>
          <a:xfrm>
            <a:off x="6309360" y="4572000"/>
            <a:ext cx="2487168" cy="384048"/>
          </a:xfrm>
          <a:prstGeom prst="rect">
            <a:avLst/>
          </a:prstGeom>
          <a:solidFill>
            <a:srgbClr val="141418"/>
          </a:solidFill>
          <a:ln w="12700">
            <a:solidFill>
              <a:srgbClr val="1A5FA8"/>
            </a:solidFill>
            <a:prstDash val="solid"/>
          </a:ln>
        </p:spPr>
      </p:sp>
      <p:sp>
        <p:nvSpPr>
          <p:cNvPr id="125" name="Text 123"/>
          <p:cNvSpPr/>
          <p:nvPr/>
        </p:nvSpPr>
        <p:spPr>
          <a:xfrm>
            <a:off x="6400800" y="4590288"/>
            <a:ext cx="2331720" cy="347472"/>
          </a:xfrm>
          <a:prstGeom prst="rect">
            <a:avLst/>
          </a:prstGeom>
          <a:noFill/>
          <a:ln/>
        </p:spPr>
        <p:txBody>
          <a:bodyPr wrap="square" rtlCol="0" anchor="t"/>
          <a:lstStyle/>
          <a:p>
            <a:pPr indent="0" marL="0">
              <a:buNone/>
            </a:pPr>
            <a:r>
              <a:rPr lang="en-US" sz="750" b="1" dirty="0">
                <a:solidFill>
                  <a:srgbClr val="1A5FA8"/>
                </a:solidFill>
                <a:latin typeface="Calibri" pitchFamily="34" charset="0"/>
                <a:ea typeface="Calibri" pitchFamily="34" charset="-122"/>
                <a:cs typeface="Calibri" pitchFamily="34" charset="-120"/>
              </a:rPr>
              <a:t>Notre verdict : </a:t>
            </a:r>
            <a:pPr indent="0" marL="0">
              <a:buNone/>
            </a:pPr>
            <a:r>
              <a:rPr lang="en-US" sz="750" dirty="0">
                <a:solidFill>
                  <a:srgbClr val="EDE0C8"/>
                </a:solidFill>
                <a:latin typeface="Calibri" pitchFamily="34" charset="0"/>
                <a:ea typeface="Calibri" pitchFamily="34" charset="-122"/>
                <a:cs typeface="Calibri" pitchFamily="34" charset="-120"/>
              </a:rPr>
              <a:t>Demander à Miura et Clayton de modéliser le TCO sur 5 et 10 ans avec leurs propres données historiques de maintenance. Comparer avec l'offre ICI Caldaie tubes de fumée.</a:t>
            </a:r>
            <a:endParaRPr lang="en-US" sz="750" dirty="0"/>
          </a:p>
        </p:txBody>
      </p:sp>
      <p:sp>
        <p:nvSpPr>
          <p:cNvPr id="126" name="Shape 124"/>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27" name="Shape 125"/>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28" name="Shape 126"/>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29" name="Shape 127"/>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0" name="Shape 128"/>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4" name="Text 202"/>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CARBURANT GPL — CONSIDÉRATIONS TECHNIQUES SPÉCIFIQUES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Le GPL modifie significativement l'économie et les exigences d'ingénierie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2834640" cy="45720"/>
          </a:xfrm>
          <a:prstGeom prst="rect">
            <a:avLst/>
          </a:prstGeom>
          <a:solidFill>
            <a:srgbClr val="C0622B"/>
          </a:solidFill>
          <a:ln/>
        </p:spPr>
      </p:sp>
      <p:sp>
        <p:nvSpPr>
          <p:cNvPr id="90" name="Text 88"/>
          <p:cNvSpPr/>
          <p:nvPr/>
        </p:nvSpPr>
        <p:spPr>
          <a:xfrm>
            <a:off x="384048" y="1024128"/>
            <a:ext cx="2651760" cy="365760"/>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  Pouvoir calorifique élevé = flamme plus chaude</a:t>
            </a:r>
            <a:endParaRPr lang="en-US" sz="1050" dirty="0"/>
          </a:p>
        </p:txBody>
      </p:sp>
      <p:sp>
        <p:nvSpPr>
          <p:cNvPr id="91" name="Shape 89"/>
          <p:cNvSpPr/>
          <p:nvPr/>
        </p:nvSpPr>
        <p:spPr>
          <a:xfrm rot="2700000">
            <a:off x="10973" y="1426464"/>
            <a:ext cx="77724" cy="77724"/>
          </a:xfrm>
          <a:prstGeom prst="rect">
            <a:avLst/>
          </a:prstGeom>
          <a:solidFill>
            <a:srgbClr val="C0622B">
              <a:alpha val="18000"/>
            </a:srgbClr>
          </a:solidFill>
          <a:ln w="12700">
            <a:solidFill>
              <a:srgbClr val="C0622B"/>
            </a:solidFill>
            <a:prstDash val="solid"/>
          </a:ln>
        </p:spPr>
      </p:sp>
      <p:sp>
        <p:nvSpPr>
          <p:cNvPr id="92" name="Shape 90"/>
          <p:cNvSpPr/>
          <p:nvPr/>
        </p:nvSpPr>
        <p:spPr>
          <a:xfrm rot="2700000">
            <a:off x="128016" y="1426464"/>
            <a:ext cx="77724" cy="77724"/>
          </a:xfrm>
          <a:prstGeom prst="rect">
            <a:avLst/>
          </a:prstGeom>
          <a:solidFill>
            <a:srgbClr val="C0622B">
              <a:alpha val="18000"/>
            </a:srgbClr>
          </a:solidFill>
          <a:ln w="12700">
            <a:solidFill>
              <a:srgbClr val="C0622B"/>
            </a:solidFill>
            <a:prstDash val="solid"/>
          </a:ln>
        </p:spPr>
      </p:sp>
      <p:sp>
        <p:nvSpPr>
          <p:cNvPr id="93" name="Shape 91"/>
          <p:cNvSpPr/>
          <p:nvPr/>
        </p:nvSpPr>
        <p:spPr>
          <a:xfrm rot="2700000">
            <a:off x="245059" y="1426464"/>
            <a:ext cx="77724" cy="77724"/>
          </a:xfrm>
          <a:prstGeom prst="rect">
            <a:avLst/>
          </a:prstGeom>
          <a:solidFill>
            <a:srgbClr val="C0622B">
              <a:alpha val="18000"/>
            </a:srgbClr>
          </a:solidFill>
          <a:ln w="12700">
            <a:solidFill>
              <a:srgbClr val="C0622B"/>
            </a:solidFill>
            <a:prstDash val="solid"/>
          </a:ln>
        </p:spPr>
      </p:sp>
      <p:sp>
        <p:nvSpPr>
          <p:cNvPr id="94" name="Shape 92"/>
          <p:cNvSpPr/>
          <p:nvPr/>
        </p:nvSpPr>
        <p:spPr>
          <a:xfrm rot="2700000">
            <a:off x="362102" y="1426464"/>
            <a:ext cx="77724" cy="77724"/>
          </a:xfrm>
          <a:prstGeom prst="rect">
            <a:avLst/>
          </a:prstGeom>
          <a:solidFill>
            <a:srgbClr val="C0622B">
              <a:alpha val="18000"/>
            </a:srgbClr>
          </a:solidFill>
          <a:ln w="12700">
            <a:solidFill>
              <a:srgbClr val="C0622B"/>
            </a:solidFill>
            <a:prstDash val="solid"/>
          </a:ln>
        </p:spPr>
      </p:sp>
      <p:sp>
        <p:nvSpPr>
          <p:cNvPr id="95" name="Shape 93"/>
          <p:cNvSpPr/>
          <p:nvPr/>
        </p:nvSpPr>
        <p:spPr>
          <a:xfrm rot="2700000">
            <a:off x="479146" y="1426464"/>
            <a:ext cx="77724" cy="77724"/>
          </a:xfrm>
          <a:prstGeom prst="rect">
            <a:avLst/>
          </a:prstGeom>
          <a:solidFill>
            <a:srgbClr val="C0622B">
              <a:alpha val="18000"/>
            </a:srgbClr>
          </a:solidFill>
          <a:ln w="12700">
            <a:solidFill>
              <a:srgbClr val="C0622B"/>
            </a:solidFill>
            <a:prstDash val="solid"/>
          </a:ln>
        </p:spPr>
      </p:sp>
      <p:sp>
        <p:nvSpPr>
          <p:cNvPr id="96" name="Shape 94"/>
          <p:cNvSpPr/>
          <p:nvPr/>
        </p:nvSpPr>
        <p:spPr>
          <a:xfrm rot="2700000">
            <a:off x="596189" y="1426464"/>
            <a:ext cx="77724" cy="77724"/>
          </a:xfrm>
          <a:prstGeom prst="rect">
            <a:avLst/>
          </a:prstGeom>
          <a:solidFill>
            <a:srgbClr val="C0622B">
              <a:alpha val="18000"/>
            </a:srgbClr>
          </a:solidFill>
          <a:ln w="12700">
            <a:solidFill>
              <a:srgbClr val="C0622B"/>
            </a:solidFill>
            <a:prstDash val="solid"/>
          </a:ln>
        </p:spPr>
      </p:sp>
      <p:sp>
        <p:nvSpPr>
          <p:cNvPr id="97" name="Shape 95"/>
          <p:cNvSpPr/>
          <p:nvPr/>
        </p:nvSpPr>
        <p:spPr>
          <a:xfrm rot="2700000">
            <a:off x="713232" y="1426464"/>
            <a:ext cx="77724" cy="77724"/>
          </a:xfrm>
          <a:prstGeom prst="rect">
            <a:avLst/>
          </a:prstGeom>
          <a:solidFill>
            <a:srgbClr val="C0622B">
              <a:alpha val="18000"/>
            </a:srgbClr>
          </a:solidFill>
          <a:ln w="12700">
            <a:solidFill>
              <a:srgbClr val="C0622B"/>
            </a:solidFill>
            <a:prstDash val="solid"/>
          </a:ln>
        </p:spPr>
      </p:sp>
      <p:sp>
        <p:nvSpPr>
          <p:cNvPr id="98" name="Shape 96"/>
          <p:cNvSpPr/>
          <p:nvPr/>
        </p:nvSpPr>
        <p:spPr>
          <a:xfrm rot="2700000">
            <a:off x="830275" y="1426464"/>
            <a:ext cx="77724" cy="77724"/>
          </a:xfrm>
          <a:prstGeom prst="rect">
            <a:avLst/>
          </a:prstGeom>
          <a:solidFill>
            <a:srgbClr val="C0622B">
              <a:alpha val="18000"/>
            </a:srgbClr>
          </a:solidFill>
          <a:ln w="12700">
            <a:solidFill>
              <a:srgbClr val="C0622B"/>
            </a:solidFill>
            <a:prstDash val="solid"/>
          </a:ln>
        </p:spPr>
      </p:sp>
      <p:sp>
        <p:nvSpPr>
          <p:cNvPr id="99" name="Shape 97"/>
          <p:cNvSpPr/>
          <p:nvPr/>
        </p:nvSpPr>
        <p:spPr>
          <a:xfrm rot="2700000">
            <a:off x="947318" y="1426464"/>
            <a:ext cx="77724" cy="77724"/>
          </a:xfrm>
          <a:prstGeom prst="rect">
            <a:avLst/>
          </a:prstGeom>
          <a:solidFill>
            <a:srgbClr val="C0622B">
              <a:alpha val="18000"/>
            </a:srgbClr>
          </a:solidFill>
          <a:ln w="12700">
            <a:solidFill>
              <a:srgbClr val="C0622B"/>
            </a:solidFill>
            <a:prstDash val="solid"/>
          </a:ln>
        </p:spPr>
      </p:sp>
      <p:sp>
        <p:nvSpPr>
          <p:cNvPr id="100" name="Shape 98"/>
          <p:cNvSpPr/>
          <p:nvPr/>
        </p:nvSpPr>
        <p:spPr>
          <a:xfrm rot="2700000">
            <a:off x="1064362" y="1426464"/>
            <a:ext cx="77724" cy="77724"/>
          </a:xfrm>
          <a:prstGeom prst="rect">
            <a:avLst/>
          </a:prstGeom>
          <a:solidFill>
            <a:srgbClr val="C0622B">
              <a:alpha val="18000"/>
            </a:srgbClr>
          </a:solidFill>
          <a:ln w="12700">
            <a:solidFill>
              <a:srgbClr val="C0622B"/>
            </a:solidFill>
            <a:prstDash val="solid"/>
          </a:ln>
        </p:spPr>
      </p:sp>
      <p:sp>
        <p:nvSpPr>
          <p:cNvPr id="101" name="Shape 99"/>
          <p:cNvSpPr/>
          <p:nvPr/>
        </p:nvSpPr>
        <p:spPr>
          <a:xfrm rot="2700000">
            <a:off x="1181405" y="1426464"/>
            <a:ext cx="77724" cy="77724"/>
          </a:xfrm>
          <a:prstGeom prst="rect">
            <a:avLst/>
          </a:prstGeom>
          <a:solidFill>
            <a:srgbClr val="C0622B">
              <a:alpha val="18000"/>
            </a:srgbClr>
          </a:solidFill>
          <a:ln w="12700">
            <a:solidFill>
              <a:srgbClr val="C0622B"/>
            </a:solidFill>
            <a:prstDash val="solid"/>
          </a:ln>
        </p:spPr>
      </p:sp>
      <p:sp>
        <p:nvSpPr>
          <p:cNvPr id="102" name="Shape 100"/>
          <p:cNvSpPr/>
          <p:nvPr/>
        </p:nvSpPr>
        <p:spPr>
          <a:xfrm rot="2700000">
            <a:off x="1298448" y="1426464"/>
            <a:ext cx="77724" cy="77724"/>
          </a:xfrm>
          <a:prstGeom prst="rect">
            <a:avLst/>
          </a:prstGeom>
          <a:solidFill>
            <a:srgbClr val="C0622B">
              <a:alpha val="18000"/>
            </a:srgbClr>
          </a:solidFill>
          <a:ln w="12700">
            <a:solidFill>
              <a:srgbClr val="C0622B"/>
            </a:solidFill>
            <a:prstDash val="solid"/>
          </a:ln>
        </p:spPr>
      </p:sp>
      <p:sp>
        <p:nvSpPr>
          <p:cNvPr id="103" name="Shape 101"/>
          <p:cNvSpPr/>
          <p:nvPr/>
        </p:nvSpPr>
        <p:spPr>
          <a:xfrm rot="2700000">
            <a:off x="1415491" y="1426464"/>
            <a:ext cx="77724" cy="77724"/>
          </a:xfrm>
          <a:prstGeom prst="rect">
            <a:avLst/>
          </a:prstGeom>
          <a:solidFill>
            <a:srgbClr val="C0622B">
              <a:alpha val="18000"/>
            </a:srgbClr>
          </a:solidFill>
          <a:ln w="12700">
            <a:solidFill>
              <a:srgbClr val="C0622B"/>
            </a:solidFill>
            <a:prstDash val="solid"/>
          </a:ln>
        </p:spPr>
      </p:sp>
      <p:sp>
        <p:nvSpPr>
          <p:cNvPr id="104" name="Shape 102"/>
          <p:cNvSpPr/>
          <p:nvPr/>
        </p:nvSpPr>
        <p:spPr>
          <a:xfrm rot="2700000">
            <a:off x="1532534" y="1426464"/>
            <a:ext cx="77724" cy="77724"/>
          </a:xfrm>
          <a:prstGeom prst="rect">
            <a:avLst/>
          </a:prstGeom>
          <a:solidFill>
            <a:srgbClr val="C0622B">
              <a:alpha val="18000"/>
            </a:srgbClr>
          </a:solidFill>
          <a:ln w="12700">
            <a:solidFill>
              <a:srgbClr val="C0622B"/>
            </a:solidFill>
            <a:prstDash val="solid"/>
          </a:ln>
        </p:spPr>
      </p:sp>
      <p:sp>
        <p:nvSpPr>
          <p:cNvPr id="105" name="Shape 103"/>
          <p:cNvSpPr/>
          <p:nvPr/>
        </p:nvSpPr>
        <p:spPr>
          <a:xfrm rot="2700000">
            <a:off x="1649578" y="1426464"/>
            <a:ext cx="77724" cy="77724"/>
          </a:xfrm>
          <a:prstGeom prst="rect">
            <a:avLst/>
          </a:prstGeom>
          <a:solidFill>
            <a:srgbClr val="C0622B">
              <a:alpha val="18000"/>
            </a:srgbClr>
          </a:solidFill>
          <a:ln w="12700">
            <a:solidFill>
              <a:srgbClr val="C0622B"/>
            </a:solidFill>
            <a:prstDash val="solid"/>
          </a:ln>
        </p:spPr>
      </p:sp>
      <p:sp>
        <p:nvSpPr>
          <p:cNvPr id="106" name="Shape 104"/>
          <p:cNvSpPr/>
          <p:nvPr/>
        </p:nvSpPr>
        <p:spPr>
          <a:xfrm rot="2700000">
            <a:off x="1766621" y="1426464"/>
            <a:ext cx="77724" cy="77724"/>
          </a:xfrm>
          <a:prstGeom prst="rect">
            <a:avLst/>
          </a:prstGeom>
          <a:solidFill>
            <a:srgbClr val="C0622B">
              <a:alpha val="18000"/>
            </a:srgbClr>
          </a:solidFill>
          <a:ln w="12700">
            <a:solidFill>
              <a:srgbClr val="C0622B"/>
            </a:solidFill>
            <a:prstDash val="solid"/>
          </a:ln>
        </p:spPr>
      </p:sp>
      <p:sp>
        <p:nvSpPr>
          <p:cNvPr id="107" name="Shape 105"/>
          <p:cNvSpPr/>
          <p:nvPr/>
        </p:nvSpPr>
        <p:spPr>
          <a:xfrm rot="2700000">
            <a:off x="1883664" y="1426464"/>
            <a:ext cx="77724" cy="77724"/>
          </a:xfrm>
          <a:prstGeom prst="rect">
            <a:avLst/>
          </a:prstGeom>
          <a:solidFill>
            <a:srgbClr val="C0622B">
              <a:alpha val="18000"/>
            </a:srgbClr>
          </a:solidFill>
          <a:ln w="12700">
            <a:solidFill>
              <a:srgbClr val="C0622B"/>
            </a:solidFill>
            <a:prstDash val="solid"/>
          </a:ln>
        </p:spPr>
      </p:sp>
      <p:sp>
        <p:nvSpPr>
          <p:cNvPr id="108" name="Shape 106"/>
          <p:cNvSpPr/>
          <p:nvPr/>
        </p:nvSpPr>
        <p:spPr>
          <a:xfrm rot="2700000">
            <a:off x="2000707" y="1426464"/>
            <a:ext cx="77724" cy="77724"/>
          </a:xfrm>
          <a:prstGeom prst="rect">
            <a:avLst/>
          </a:prstGeom>
          <a:solidFill>
            <a:srgbClr val="C0622B">
              <a:alpha val="18000"/>
            </a:srgbClr>
          </a:solidFill>
          <a:ln w="12700">
            <a:solidFill>
              <a:srgbClr val="C0622B"/>
            </a:solidFill>
            <a:prstDash val="solid"/>
          </a:ln>
        </p:spPr>
      </p:sp>
      <p:sp>
        <p:nvSpPr>
          <p:cNvPr id="109" name="Shape 107"/>
          <p:cNvSpPr/>
          <p:nvPr/>
        </p:nvSpPr>
        <p:spPr>
          <a:xfrm rot="2700000">
            <a:off x="2117750" y="1426464"/>
            <a:ext cx="77724" cy="77724"/>
          </a:xfrm>
          <a:prstGeom prst="rect">
            <a:avLst/>
          </a:prstGeom>
          <a:solidFill>
            <a:srgbClr val="C0622B">
              <a:alpha val="18000"/>
            </a:srgbClr>
          </a:solidFill>
          <a:ln w="12700">
            <a:solidFill>
              <a:srgbClr val="C0622B"/>
            </a:solidFill>
            <a:prstDash val="solid"/>
          </a:ln>
        </p:spPr>
      </p:sp>
      <p:sp>
        <p:nvSpPr>
          <p:cNvPr id="110" name="Shape 108"/>
          <p:cNvSpPr/>
          <p:nvPr/>
        </p:nvSpPr>
        <p:spPr>
          <a:xfrm rot="2700000">
            <a:off x="2234794" y="1426464"/>
            <a:ext cx="77724" cy="77724"/>
          </a:xfrm>
          <a:prstGeom prst="rect">
            <a:avLst/>
          </a:prstGeom>
          <a:solidFill>
            <a:srgbClr val="C0622B">
              <a:alpha val="18000"/>
            </a:srgbClr>
          </a:solidFill>
          <a:ln w="12700">
            <a:solidFill>
              <a:srgbClr val="C0622B"/>
            </a:solidFill>
            <a:prstDash val="solid"/>
          </a:ln>
        </p:spPr>
      </p:sp>
      <p:sp>
        <p:nvSpPr>
          <p:cNvPr id="111" name="Shape 109"/>
          <p:cNvSpPr/>
          <p:nvPr/>
        </p:nvSpPr>
        <p:spPr>
          <a:xfrm rot="2700000">
            <a:off x="2351837" y="1426464"/>
            <a:ext cx="77724" cy="77724"/>
          </a:xfrm>
          <a:prstGeom prst="rect">
            <a:avLst/>
          </a:prstGeom>
          <a:solidFill>
            <a:srgbClr val="C0622B">
              <a:alpha val="18000"/>
            </a:srgbClr>
          </a:solidFill>
          <a:ln w="12700">
            <a:solidFill>
              <a:srgbClr val="C0622B"/>
            </a:solidFill>
            <a:prstDash val="solid"/>
          </a:ln>
        </p:spPr>
      </p:sp>
      <p:sp>
        <p:nvSpPr>
          <p:cNvPr id="112" name="Shape 110"/>
          <p:cNvSpPr/>
          <p:nvPr/>
        </p:nvSpPr>
        <p:spPr>
          <a:xfrm rot="2700000">
            <a:off x="2468880" y="1426464"/>
            <a:ext cx="77724" cy="77724"/>
          </a:xfrm>
          <a:prstGeom prst="rect">
            <a:avLst/>
          </a:prstGeom>
          <a:solidFill>
            <a:srgbClr val="C0622B">
              <a:alpha val="18000"/>
            </a:srgbClr>
          </a:solidFill>
          <a:ln w="12700">
            <a:solidFill>
              <a:srgbClr val="C0622B"/>
            </a:solidFill>
            <a:prstDash val="solid"/>
          </a:ln>
        </p:spPr>
      </p:sp>
      <p:sp>
        <p:nvSpPr>
          <p:cNvPr id="113" name="Shape 111"/>
          <p:cNvSpPr/>
          <p:nvPr/>
        </p:nvSpPr>
        <p:spPr>
          <a:xfrm rot="2700000">
            <a:off x="2585923" y="1426464"/>
            <a:ext cx="77724" cy="77724"/>
          </a:xfrm>
          <a:prstGeom prst="rect">
            <a:avLst/>
          </a:prstGeom>
          <a:solidFill>
            <a:srgbClr val="C0622B">
              <a:alpha val="18000"/>
            </a:srgbClr>
          </a:solidFill>
          <a:ln w="12700">
            <a:solidFill>
              <a:srgbClr val="C0622B"/>
            </a:solidFill>
            <a:prstDash val="solid"/>
          </a:ln>
        </p:spPr>
      </p:sp>
      <p:sp>
        <p:nvSpPr>
          <p:cNvPr id="114" name="Shape 112"/>
          <p:cNvSpPr/>
          <p:nvPr/>
        </p:nvSpPr>
        <p:spPr>
          <a:xfrm rot="2700000">
            <a:off x="2702966" y="1426464"/>
            <a:ext cx="77724" cy="77724"/>
          </a:xfrm>
          <a:prstGeom prst="rect">
            <a:avLst/>
          </a:prstGeom>
          <a:solidFill>
            <a:srgbClr val="C0622B">
              <a:alpha val="18000"/>
            </a:srgbClr>
          </a:solidFill>
          <a:ln w="12700">
            <a:solidFill>
              <a:srgbClr val="C0622B"/>
            </a:solidFill>
            <a:prstDash val="solid"/>
          </a:ln>
        </p:spPr>
      </p:sp>
      <p:sp>
        <p:nvSpPr>
          <p:cNvPr id="115" name="Text 113"/>
          <p:cNvSpPr/>
          <p:nvPr/>
        </p:nvSpPr>
        <p:spPr>
          <a:xfrm>
            <a:off x="384048"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brûle plus chaud (~93 MJ/m³ vs 38 MJ/m³ gaz naturel). Chaque chaudière doit être HOMOLOGUÉE EN USINE pour le GPL. Ne jamais accepter une conversion terrain — les caractéristiques de combustion nécessitent une calibration constructeur.</a:t>
            </a:r>
            <a:endParaRPr lang="en-US" sz="880" dirty="0"/>
          </a:p>
        </p:txBody>
      </p:sp>
      <p:sp>
        <p:nvSpPr>
          <p:cNvPr id="116" name="Shape 114"/>
          <p:cNvSpPr/>
          <p:nvPr/>
        </p:nvSpPr>
        <p:spPr>
          <a:xfrm>
            <a:off x="3200400"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7" name="Shape 115"/>
          <p:cNvSpPr/>
          <p:nvPr/>
        </p:nvSpPr>
        <p:spPr>
          <a:xfrm>
            <a:off x="3200400" y="932688"/>
            <a:ext cx="2834640" cy="45720"/>
          </a:xfrm>
          <a:prstGeom prst="rect">
            <a:avLst/>
          </a:prstGeom>
          <a:solidFill>
            <a:srgbClr val="E8A020"/>
          </a:solidFill>
          <a:ln/>
        </p:spPr>
      </p:sp>
      <p:sp>
        <p:nvSpPr>
          <p:cNvPr id="118" name="Text 116"/>
          <p:cNvSpPr/>
          <p:nvPr/>
        </p:nvSpPr>
        <p:spPr>
          <a:xfrm>
            <a:off x="3328416" y="1024128"/>
            <a:ext cx="2651760" cy="365760"/>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  Coût GPL = efficacité au démarrage critique</a:t>
            </a:r>
            <a:endParaRPr lang="en-US" sz="1050" dirty="0"/>
          </a:p>
        </p:txBody>
      </p:sp>
      <p:sp>
        <p:nvSpPr>
          <p:cNvPr id="119" name="Shape 117"/>
          <p:cNvSpPr/>
          <p:nvPr/>
        </p:nvSpPr>
        <p:spPr>
          <a:xfrm rot="2700000">
            <a:off x="10973" y="1426464"/>
            <a:ext cx="77724" cy="77724"/>
          </a:xfrm>
          <a:prstGeom prst="rect">
            <a:avLst/>
          </a:prstGeom>
          <a:solidFill>
            <a:srgbClr val="E8A020">
              <a:alpha val="18000"/>
            </a:srgbClr>
          </a:solidFill>
          <a:ln w="12700">
            <a:solidFill>
              <a:srgbClr val="E8A020"/>
            </a:solidFill>
            <a:prstDash val="solid"/>
          </a:ln>
        </p:spPr>
      </p:sp>
      <p:sp>
        <p:nvSpPr>
          <p:cNvPr id="120" name="Shape 118"/>
          <p:cNvSpPr/>
          <p:nvPr/>
        </p:nvSpPr>
        <p:spPr>
          <a:xfrm rot="2700000">
            <a:off x="128016" y="1426464"/>
            <a:ext cx="77724" cy="77724"/>
          </a:xfrm>
          <a:prstGeom prst="rect">
            <a:avLst/>
          </a:prstGeom>
          <a:solidFill>
            <a:srgbClr val="E8A020">
              <a:alpha val="18000"/>
            </a:srgbClr>
          </a:solidFill>
          <a:ln w="12700">
            <a:solidFill>
              <a:srgbClr val="E8A020"/>
            </a:solidFill>
            <a:prstDash val="solid"/>
          </a:ln>
        </p:spPr>
      </p:sp>
      <p:sp>
        <p:nvSpPr>
          <p:cNvPr id="121" name="Shape 119"/>
          <p:cNvSpPr/>
          <p:nvPr/>
        </p:nvSpPr>
        <p:spPr>
          <a:xfrm rot="2700000">
            <a:off x="245059" y="1426464"/>
            <a:ext cx="77724" cy="77724"/>
          </a:xfrm>
          <a:prstGeom prst="rect">
            <a:avLst/>
          </a:prstGeom>
          <a:solidFill>
            <a:srgbClr val="E8A020">
              <a:alpha val="18000"/>
            </a:srgbClr>
          </a:solidFill>
          <a:ln w="12700">
            <a:solidFill>
              <a:srgbClr val="E8A020"/>
            </a:solidFill>
            <a:prstDash val="solid"/>
          </a:ln>
        </p:spPr>
      </p:sp>
      <p:sp>
        <p:nvSpPr>
          <p:cNvPr id="122" name="Shape 120"/>
          <p:cNvSpPr/>
          <p:nvPr/>
        </p:nvSpPr>
        <p:spPr>
          <a:xfrm rot="2700000">
            <a:off x="362102" y="1426464"/>
            <a:ext cx="77724" cy="77724"/>
          </a:xfrm>
          <a:prstGeom prst="rect">
            <a:avLst/>
          </a:prstGeom>
          <a:solidFill>
            <a:srgbClr val="E8A020">
              <a:alpha val="18000"/>
            </a:srgbClr>
          </a:solidFill>
          <a:ln w="12700">
            <a:solidFill>
              <a:srgbClr val="E8A020"/>
            </a:solidFill>
            <a:prstDash val="solid"/>
          </a:ln>
        </p:spPr>
      </p:sp>
      <p:sp>
        <p:nvSpPr>
          <p:cNvPr id="123" name="Shape 121"/>
          <p:cNvSpPr/>
          <p:nvPr/>
        </p:nvSpPr>
        <p:spPr>
          <a:xfrm rot="2700000">
            <a:off x="479146" y="1426464"/>
            <a:ext cx="77724" cy="77724"/>
          </a:xfrm>
          <a:prstGeom prst="rect">
            <a:avLst/>
          </a:prstGeom>
          <a:solidFill>
            <a:srgbClr val="E8A020">
              <a:alpha val="18000"/>
            </a:srgbClr>
          </a:solidFill>
          <a:ln w="12700">
            <a:solidFill>
              <a:srgbClr val="E8A020"/>
            </a:solidFill>
            <a:prstDash val="solid"/>
          </a:ln>
        </p:spPr>
      </p:sp>
      <p:sp>
        <p:nvSpPr>
          <p:cNvPr id="124" name="Shape 122"/>
          <p:cNvSpPr/>
          <p:nvPr/>
        </p:nvSpPr>
        <p:spPr>
          <a:xfrm rot="2700000">
            <a:off x="596189" y="1426464"/>
            <a:ext cx="77724" cy="77724"/>
          </a:xfrm>
          <a:prstGeom prst="rect">
            <a:avLst/>
          </a:prstGeom>
          <a:solidFill>
            <a:srgbClr val="E8A020">
              <a:alpha val="18000"/>
            </a:srgbClr>
          </a:solidFill>
          <a:ln w="12700">
            <a:solidFill>
              <a:srgbClr val="E8A020"/>
            </a:solidFill>
            <a:prstDash val="solid"/>
          </a:ln>
        </p:spPr>
      </p:sp>
      <p:sp>
        <p:nvSpPr>
          <p:cNvPr id="125" name="Shape 123"/>
          <p:cNvSpPr/>
          <p:nvPr/>
        </p:nvSpPr>
        <p:spPr>
          <a:xfrm rot="2700000">
            <a:off x="713232" y="1426464"/>
            <a:ext cx="77724" cy="77724"/>
          </a:xfrm>
          <a:prstGeom prst="rect">
            <a:avLst/>
          </a:prstGeom>
          <a:solidFill>
            <a:srgbClr val="E8A020">
              <a:alpha val="18000"/>
            </a:srgbClr>
          </a:solidFill>
          <a:ln w="12700">
            <a:solidFill>
              <a:srgbClr val="E8A020"/>
            </a:solidFill>
            <a:prstDash val="solid"/>
          </a:ln>
        </p:spPr>
      </p:sp>
      <p:sp>
        <p:nvSpPr>
          <p:cNvPr id="126" name="Shape 124"/>
          <p:cNvSpPr/>
          <p:nvPr/>
        </p:nvSpPr>
        <p:spPr>
          <a:xfrm rot="2700000">
            <a:off x="830275" y="1426464"/>
            <a:ext cx="77724" cy="77724"/>
          </a:xfrm>
          <a:prstGeom prst="rect">
            <a:avLst/>
          </a:prstGeom>
          <a:solidFill>
            <a:srgbClr val="E8A020">
              <a:alpha val="18000"/>
            </a:srgbClr>
          </a:solidFill>
          <a:ln w="12700">
            <a:solidFill>
              <a:srgbClr val="E8A020"/>
            </a:solidFill>
            <a:prstDash val="solid"/>
          </a:ln>
        </p:spPr>
      </p:sp>
      <p:sp>
        <p:nvSpPr>
          <p:cNvPr id="127" name="Shape 125"/>
          <p:cNvSpPr/>
          <p:nvPr/>
        </p:nvSpPr>
        <p:spPr>
          <a:xfrm rot="2700000">
            <a:off x="947318" y="1426464"/>
            <a:ext cx="77724" cy="77724"/>
          </a:xfrm>
          <a:prstGeom prst="rect">
            <a:avLst/>
          </a:prstGeom>
          <a:solidFill>
            <a:srgbClr val="E8A020">
              <a:alpha val="18000"/>
            </a:srgbClr>
          </a:solidFill>
          <a:ln w="12700">
            <a:solidFill>
              <a:srgbClr val="E8A020"/>
            </a:solidFill>
            <a:prstDash val="solid"/>
          </a:ln>
        </p:spPr>
      </p:sp>
      <p:sp>
        <p:nvSpPr>
          <p:cNvPr id="128" name="Shape 126"/>
          <p:cNvSpPr/>
          <p:nvPr/>
        </p:nvSpPr>
        <p:spPr>
          <a:xfrm rot="2700000">
            <a:off x="1064362" y="1426464"/>
            <a:ext cx="77724" cy="77724"/>
          </a:xfrm>
          <a:prstGeom prst="rect">
            <a:avLst/>
          </a:prstGeom>
          <a:solidFill>
            <a:srgbClr val="E8A020">
              <a:alpha val="18000"/>
            </a:srgbClr>
          </a:solidFill>
          <a:ln w="12700">
            <a:solidFill>
              <a:srgbClr val="E8A020"/>
            </a:solidFill>
            <a:prstDash val="solid"/>
          </a:ln>
        </p:spPr>
      </p:sp>
      <p:sp>
        <p:nvSpPr>
          <p:cNvPr id="129" name="Shape 127"/>
          <p:cNvSpPr/>
          <p:nvPr/>
        </p:nvSpPr>
        <p:spPr>
          <a:xfrm rot="2700000">
            <a:off x="1181405" y="1426464"/>
            <a:ext cx="77724" cy="77724"/>
          </a:xfrm>
          <a:prstGeom prst="rect">
            <a:avLst/>
          </a:prstGeom>
          <a:solidFill>
            <a:srgbClr val="E8A020">
              <a:alpha val="18000"/>
            </a:srgbClr>
          </a:solidFill>
          <a:ln w="12700">
            <a:solidFill>
              <a:srgbClr val="E8A020"/>
            </a:solidFill>
            <a:prstDash val="solid"/>
          </a:ln>
        </p:spPr>
      </p:sp>
      <p:sp>
        <p:nvSpPr>
          <p:cNvPr id="130" name="Shape 128"/>
          <p:cNvSpPr/>
          <p:nvPr/>
        </p:nvSpPr>
        <p:spPr>
          <a:xfrm rot="2700000">
            <a:off x="1298448" y="1426464"/>
            <a:ext cx="77724" cy="77724"/>
          </a:xfrm>
          <a:prstGeom prst="rect">
            <a:avLst/>
          </a:prstGeom>
          <a:solidFill>
            <a:srgbClr val="E8A020">
              <a:alpha val="18000"/>
            </a:srgbClr>
          </a:solidFill>
          <a:ln w="12700">
            <a:solidFill>
              <a:srgbClr val="E8A020"/>
            </a:solidFill>
            <a:prstDash val="solid"/>
          </a:ln>
        </p:spPr>
      </p:sp>
      <p:sp>
        <p:nvSpPr>
          <p:cNvPr id="131" name="Shape 129"/>
          <p:cNvSpPr/>
          <p:nvPr/>
        </p:nvSpPr>
        <p:spPr>
          <a:xfrm rot="2700000">
            <a:off x="1415491" y="1426464"/>
            <a:ext cx="77724" cy="77724"/>
          </a:xfrm>
          <a:prstGeom prst="rect">
            <a:avLst/>
          </a:prstGeom>
          <a:solidFill>
            <a:srgbClr val="E8A020">
              <a:alpha val="18000"/>
            </a:srgbClr>
          </a:solidFill>
          <a:ln w="12700">
            <a:solidFill>
              <a:srgbClr val="E8A020"/>
            </a:solidFill>
            <a:prstDash val="solid"/>
          </a:ln>
        </p:spPr>
      </p:sp>
      <p:sp>
        <p:nvSpPr>
          <p:cNvPr id="132" name="Shape 130"/>
          <p:cNvSpPr/>
          <p:nvPr/>
        </p:nvSpPr>
        <p:spPr>
          <a:xfrm rot="2700000">
            <a:off x="1532534" y="1426464"/>
            <a:ext cx="77724" cy="77724"/>
          </a:xfrm>
          <a:prstGeom prst="rect">
            <a:avLst/>
          </a:prstGeom>
          <a:solidFill>
            <a:srgbClr val="E8A020">
              <a:alpha val="18000"/>
            </a:srgbClr>
          </a:solidFill>
          <a:ln w="12700">
            <a:solidFill>
              <a:srgbClr val="E8A020"/>
            </a:solidFill>
            <a:prstDash val="solid"/>
          </a:ln>
        </p:spPr>
      </p:sp>
      <p:sp>
        <p:nvSpPr>
          <p:cNvPr id="133" name="Shape 131"/>
          <p:cNvSpPr/>
          <p:nvPr/>
        </p:nvSpPr>
        <p:spPr>
          <a:xfrm rot="2700000">
            <a:off x="1649578" y="1426464"/>
            <a:ext cx="77724" cy="77724"/>
          </a:xfrm>
          <a:prstGeom prst="rect">
            <a:avLst/>
          </a:prstGeom>
          <a:solidFill>
            <a:srgbClr val="E8A020">
              <a:alpha val="18000"/>
            </a:srgbClr>
          </a:solidFill>
          <a:ln w="12700">
            <a:solidFill>
              <a:srgbClr val="E8A020"/>
            </a:solidFill>
            <a:prstDash val="solid"/>
          </a:ln>
        </p:spPr>
      </p:sp>
      <p:sp>
        <p:nvSpPr>
          <p:cNvPr id="134" name="Shape 132"/>
          <p:cNvSpPr/>
          <p:nvPr/>
        </p:nvSpPr>
        <p:spPr>
          <a:xfrm rot="2700000">
            <a:off x="1766621" y="1426464"/>
            <a:ext cx="77724" cy="77724"/>
          </a:xfrm>
          <a:prstGeom prst="rect">
            <a:avLst/>
          </a:prstGeom>
          <a:solidFill>
            <a:srgbClr val="E8A020">
              <a:alpha val="18000"/>
            </a:srgbClr>
          </a:solidFill>
          <a:ln w="12700">
            <a:solidFill>
              <a:srgbClr val="E8A020"/>
            </a:solidFill>
            <a:prstDash val="solid"/>
          </a:ln>
        </p:spPr>
      </p:sp>
      <p:sp>
        <p:nvSpPr>
          <p:cNvPr id="135" name="Shape 133"/>
          <p:cNvSpPr/>
          <p:nvPr/>
        </p:nvSpPr>
        <p:spPr>
          <a:xfrm rot="2700000">
            <a:off x="1883664" y="1426464"/>
            <a:ext cx="77724" cy="77724"/>
          </a:xfrm>
          <a:prstGeom prst="rect">
            <a:avLst/>
          </a:prstGeom>
          <a:solidFill>
            <a:srgbClr val="E8A020">
              <a:alpha val="18000"/>
            </a:srgbClr>
          </a:solidFill>
          <a:ln w="12700">
            <a:solidFill>
              <a:srgbClr val="E8A020"/>
            </a:solidFill>
            <a:prstDash val="solid"/>
          </a:ln>
        </p:spPr>
      </p:sp>
      <p:sp>
        <p:nvSpPr>
          <p:cNvPr id="136" name="Shape 134"/>
          <p:cNvSpPr/>
          <p:nvPr/>
        </p:nvSpPr>
        <p:spPr>
          <a:xfrm rot="2700000">
            <a:off x="2000707" y="1426464"/>
            <a:ext cx="77724" cy="77724"/>
          </a:xfrm>
          <a:prstGeom prst="rect">
            <a:avLst/>
          </a:prstGeom>
          <a:solidFill>
            <a:srgbClr val="E8A020">
              <a:alpha val="18000"/>
            </a:srgbClr>
          </a:solidFill>
          <a:ln w="12700">
            <a:solidFill>
              <a:srgbClr val="E8A020"/>
            </a:solidFill>
            <a:prstDash val="solid"/>
          </a:ln>
        </p:spPr>
      </p:sp>
      <p:sp>
        <p:nvSpPr>
          <p:cNvPr id="137" name="Shape 135"/>
          <p:cNvSpPr/>
          <p:nvPr/>
        </p:nvSpPr>
        <p:spPr>
          <a:xfrm rot="2700000">
            <a:off x="2117750" y="1426464"/>
            <a:ext cx="77724" cy="77724"/>
          </a:xfrm>
          <a:prstGeom prst="rect">
            <a:avLst/>
          </a:prstGeom>
          <a:solidFill>
            <a:srgbClr val="E8A020">
              <a:alpha val="18000"/>
            </a:srgbClr>
          </a:solidFill>
          <a:ln w="12700">
            <a:solidFill>
              <a:srgbClr val="E8A020"/>
            </a:solidFill>
            <a:prstDash val="solid"/>
          </a:ln>
        </p:spPr>
      </p:sp>
      <p:sp>
        <p:nvSpPr>
          <p:cNvPr id="138" name="Shape 136"/>
          <p:cNvSpPr/>
          <p:nvPr/>
        </p:nvSpPr>
        <p:spPr>
          <a:xfrm rot="2700000">
            <a:off x="2234794" y="1426464"/>
            <a:ext cx="77724" cy="77724"/>
          </a:xfrm>
          <a:prstGeom prst="rect">
            <a:avLst/>
          </a:prstGeom>
          <a:solidFill>
            <a:srgbClr val="E8A020">
              <a:alpha val="18000"/>
            </a:srgbClr>
          </a:solidFill>
          <a:ln w="12700">
            <a:solidFill>
              <a:srgbClr val="E8A020"/>
            </a:solidFill>
            <a:prstDash val="solid"/>
          </a:ln>
        </p:spPr>
      </p:sp>
      <p:sp>
        <p:nvSpPr>
          <p:cNvPr id="139" name="Shape 137"/>
          <p:cNvSpPr/>
          <p:nvPr/>
        </p:nvSpPr>
        <p:spPr>
          <a:xfrm rot="2700000">
            <a:off x="2351837" y="1426464"/>
            <a:ext cx="77724" cy="77724"/>
          </a:xfrm>
          <a:prstGeom prst="rect">
            <a:avLst/>
          </a:prstGeom>
          <a:solidFill>
            <a:srgbClr val="E8A020">
              <a:alpha val="18000"/>
            </a:srgbClr>
          </a:solidFill>
          <a:ln w="12700">
            <a:solidFill>
              <a:srgbClr val="E8A020"/>
            </a:solidFill>
            <a:prstDash val="solid"/>
          </a:ln>
        </p:spPr>
      </p:sp>
      <p:sp>
        <p:nvSpPr>
          <p:cNvPr id="140" name="Shape 138"/>
          <p:cNvSpPr/>
          <p:nvPr/>
        </p:nvSpPr>
        <p:spPr>
          <a:xfrm rot="2700000">
            <a:off x="2468880" y="1426464"/>
            <a:ext cx="77724" cy="77724"/>
          </a:xfrm>
          <a:prstGeom prst="rect">
            <a:avLst/>
          </a:prstGeom>
          <a:solidFill>
            <a:srgbClr val="E8A020">
              <a:alpha val="18000"/>
            </a:srgbClr>
          </a:solidFill>
          <a:ln w="12700">
            <a:solidFill>
              <a:srgbClr val="E8A020"/>
            </a:solidFill>
            <a:prstDash val="solid"/>
          </a:ln>
        </p:spPr>
      </p:sp>
      <p:sp>
        <p:nvSpPr>
          <p:cNvPr id="141" name="Shape 139"/>
          <p:cNvSpPr/>
          <p:nvPr/>
        </p:nvSpPr>
        <p:spPr>
          <a:xfrm rot="2700000">
            <a:off x="2585923" y="1426464"/>
            <a:ext cx="77724" cy="77724"/>
          </a:xfrm>
          <a:prstGeom prst="rect">
            <a:avLst/>
          </a:prstGeom>
          <a:solidFill>
            <a:srgbClr val="E8A020">
              <a:alpha val="18000"/>
            </a:srgbClr>
          </a:solidFill>
          <a:ln w="12700">
            <a:solidFill>
              <a:srgbClr val="E8A020"/>
            </a:solidFill>
            <a:prstDash val="solid"/>
          </a:ln>
        </p:spPr>
      </p:sp>
      <p:sp>
        <p:nvSpPr>
          <p:cNvPr id="142" name="Shape 140"/>
          <p:cNvSpPr/>
          <p:nvPr/>
        </p:nvSpPr>
        <p:spPr>
          <a:xfrm rot="2700000">
            <a:off x="2702966" y="1426464"/>
            <a:ext cx="77724" cy="77724"/>
          </a:xfrm>
          <a:prstGeom prst="rect">
            <a:avLst/>
          </a:prstGeom>
          <a:solidFill>
            <a:srgbClr val="E8A020">
              <a:alpha val="18000"/>
            </a:srgbClr>
          </a:solidFill>
          <a:ln w="12700">
            <a:solidFill>
              <a:srgbClr val="E8A020"/>
            </a:solidFill>
            <a:prstDash val="solid"/>
          </a:ln>
        </p:spPr>
      </p:sp>
      <p:sp>
        <p:nvSpPr>
          <p:cNvPr id="143" name="Text 141"/>
          <p:cNvSpPr/>
          <p:nvPr/>
        </p:nvSpPr>
        <p:spPr>
          <a:xfrm>
            <a:off x="3328416"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coûte ~40–60% plus cher par unité d'énergie que le gaz naturel pipeliné. Chaque démarrage à froid d'une chaudière à tubes de fumée brûle 60–90 min de GPL sans produire de vapeur utile. L'avantage du GVI est ici direct — mais seulement si le TCO intègre aussi le SAV.</a:t>
            </a:r>
            <a:endParaRPr lang="en-US" sz="880" dirty="0"/>
          </a:p>
        </p:txBody>
      </p:sp>
      <p:sp>
        <p:nvSpPr>
          <p:cNvPr id="144" name="Shape 142"/>
          <p:cNvSpPr/>
          <p:nvPr/>
        </p:nvSpPr>
        <p:spPr>
          <a:xfrm>
            <a:off x="6144768"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45" name="Shape 143"/>
          <p:cNvSpPr/>
          <p:nvPr/>
        </p:nvSpPr>
        <p:spPr>
          <a:xfrm>
            <a:off x="6144768" y="932688"/>
            <a:ext cx="2834640" cy="45720"/>
          </a:xfrm>
          <a:prstGeom prst="rect">
            <a:avLst/>
          </a:prstGeom>
          <a:solidFill>
            <a:srgbClr val="D4951A"/>
          </a:solidFill>
          <a:ln/>
        </p:spPr>
      </p:sp>
      <p:sp>
        <p:nvSpPr>
          <p:cNvPr id="146" name="Text 144"/>
          <p:cNvSpPr/>
          <p:nvPr/>
        </p:nvSpPr>
        <p:spPr>
          <a:xfrm>
            <a:off x="6272784" y="1024128"/>
            <a:ext cx="2651760" cy="365760"/>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  Cuve GPL en vrac — périmètre civil distinct</a:t>
            </a:r>
            <a:endParaRPr lang="en-US" sz="1050" dirty="0"/>
          </a:p>
        </p:txBody>
      </p:sp>
      <p:sp>
        <p:nvSpPr>
          <p:cNvPr id="147" name="Shape 145"/>
          <p:cNvSpPr/>
          <p:nvPr/>
        </p:nvSpPr>
        <p:spPr>
          <a:xfrm rot="2700000">
            <a:off x="10973" y="1426464"/>
            <a:ext cx="77724" cy="77724"/>
          </a:xfrm>
          <a:prstGeom prst="rect">
            <a:avLst/>
          </a:prstGeom>
          <a:solidFill>
            <a:srgbClr val="D4951A">
              <a:alpha val="18000"/>
            </a:srgbClr>
          </a:solidFill>
          <a:ln w="12700">
            <a:solidFill>
              <a:srgbClr val="D4951A"/>
            </a:solidFill>
            <a:prstDash val="solid"/>
          </a:ln>
        </p:spPr>
      </p:sp>
      <p:sp>
        <p:nvSpPr>
          <p:cNvPr id="148" name="Shape 146"/>
          <p:cNvSpPr/>
          <p:nvPr/>
        </p:nvSpPr>
        <p:spPr>
          <a:xfrm rot="2700000">
            <a:off x="128016" y="1426464"/>
            <a:ext cx="77724" cy="77724"/>
          </a:xfrm>
          <a:prstGeom prst="rect">
            <a:avLst/>
          </a:prstGeom>
          <a:solidFill>
            <a:srgbClr val="D4951A">
              <a:alpha val="18000"/>
            </a:srgbClr>
          </a:solidFill>
          <a:ln w="12700">
            <a:solidFill>
              <a:srgbClr val="D4951A"/>
            </a:solidFill>
            <a:prstDash val="solid"/>
          </a:ln>
        </p:spPr>
      </p:sp>
      <p:sp>
        <p:nvSpPr>
          <p:cNvPr id="149" name="Shape 147"/>
          <p:cNvSpPr/>
          <p:nvPr/>
        </p:nvSpPr>
        <p:spPr>
          <a:xfrm rot="2700000">
            <a:off x="245059" y="1426464"/>
            <a:ext cx="77724" cy="77724"/>
          </a:xfrm>
          <a:prstGeom prst="rect">
            <a:avLst/>
          </a:prstGeom>
          <a:solidFill>
            <a:srgbClr val="D4951A">
              <a:alpha val="18000"/>
            </a:srgbClr>
          </a:solidFill>
          <a:ln w="12700">
            <a:solidFill>
              <a:srgbClr val="D4951A"/>
            </a:solidFill>
            <a:prstDash val="solid"/>
          </a:ln>
        </p:spPr>
      </p:sp>
      <p:sp>
        <p:nvSpPr>
          <p:cNvPr id="150" name="Shape 148"/>
          <p:cNvSpPr/>
          <p:nvPr/>
        </p:nvSpPr>
        <p:spPr>
          <a:xfrm rot="2700000">
            <a:off x="362102" y="1426464"/>
            <a:ext cx="77724" cy="77724"/>
          </a:xfrm>
          <a:prstGeom prst="rect">
            <a:avLst/>
          </a:prstGeom>
          <a:solidFill>
            <a:srgbClr val="D4951A">
              <a:alpha val="18000"/>
            </a:srgbClr>
          </a:solidFill>
          <a:ln w="12700">
            <a:solidFill>
              <a:srgbClr val="D4951A"/>
            </a:solidFill>
            <a:prstDash val="solid"/>
          </a:ln>
        </p:spPr>
      </p:sp>
      <p:sp>
        <p:nvSpPr>
          <p:cNvPr id="151" name="Shape 149"/>
          <p:cNvSpPr/>
          <p:nvPr/>
        </p:nvSpPr>
        <p:spPr>
          <a:xfrm rot="2700000">
            <a:off x="479146" y="1426464"/>
            <a:ext cx="77724" cy="77724"/>
          </a:xfrm>
          <a:prstGeom prst="rect">
            <a:avLst/>
          </a:prstGeom>
          <a:solidFill>
            <a:srgbClr val="D4951A">
              <a:alpha val="18000"/>
            </a:srgbClr>
          </a:solidFill>
          <a:ln w="12700">
            <a:solidFill>
              <a:srgbClr val="D4951A"/>
            </a:solidFill>
            <a:prstDash val="solid"/>
          </a:ln>
        </p:spPr>
      </p:sp>
      <p:sp>
        <p:nvSpPr>
          <p:cNvPr id="152" name="Shape 150"/>
          <p:cNvSpPr/>
          <p:nvPr/>
        </p:nvSpPr>
        <p:spPr>
          <a:xfrm rot="2700000">
            <a:off x="596189" y="1426464"/>
            <a:ext cx="77724" cy="77724"/>
          </a:xfrm>
          <a:prstGeom prst="rect">
            <a:avLst/>
          </a:prstGeom>
          <a:solidFill>
            <a:srgbClr val="D4951A">
              <a:alpha val="18000"/>
            </a:srgbClr>
          </a:solidFill>
          <a:ln w="12700">
            <a:solidFill>
              <a:srgbClr val="D4951A"/>
            </a:solidFill>
            <a:prstDash val="solid"/>
          </a:ln>
        </p:spPr>
      </p:sp>
      <p:sp>
        <p:nvSpPr>
          <p:cNvPr id="153" name="Shape 151"/>
          <p:cNvSpPr/>
          <p:nvPr/>
        </p:nvSpPr>
        <p:spPr>
          <a:xfrm rot="2700000">
            <a:off x="713232" y="1426464"/>
            <a:ext cx="77724" cy="77724"/>
          </a:xfrm>
          <a:prstGeom prst="rect">
            <a:avLst/>
          </a:prstGeom>
          <a:solidFill>
            <a:srgbClr val="D4951A">
              <a:alpha val="18000"/>
            </a:srgbClr>
          </a:solidFill>
          <a:ln w="12700">
            <a:solidFill>
              <a:srgbClr val="D4951A"/>
            </a:solidFill>
            <a:prstDash val="solid"/>
          </a:ln>
        </p:spPr>
      </p:sp>
      <p:sp>
        <p:nvSpPr>
          <p:cNvPr id="154" name="Shape 152"/>
          <p:cNvSpPr/>
          <p:nvPr/>
        </p:nvSpPr>
        <p:spPr>
          <a:xfrm rot="2700000">
            <a:off x="830275" y="1426464"/>
            <a:ext cx="77724" cy="77724"/>
          </a:xfrm>
          <a:prstGeom prst="rect">
            <a:avLst/>
          </a:prstGeom>
          <a:solidFill>
            <a:srgbClr val="D4951A">
              <a:alpha val="18000"/>
            </a:srgbClr>
          </a:solidFill>
          <a:ln w="12700">
            <a:solidFill>
              <a:srgbClr val="D4951A"/>
            </a:solidFill>
            <a:prstDash val="solid"/>
          </a:ln>
        </p:spPr>
      </p:sp>
      <p:sp>
        <p:nvSpPr>
          <p:cNvPr id="155" name="Shape 153"/>
          <p:cNvSpPr/>
          <p:nvPr/>
        </p:nvSpPr>
        <p:spPr>
          <a:xfrm rot="2700000">
            <a:off x="947318" y="1426464"/>
            <a:ext cx="77724" cy="77724"/>
          </a:xfrm>
          <a:prstGeom prst="rect">
            <a:avLst/>
          </a:prstGeom>
          <a:solidFill>
            <a:srgbClr val="D4951A">
              <a:alpha val="18000"/>
            </a:srgbClr>
          </a:solidFill>
          <a:ln w="12700">
            <a:solidFill>
              <a:srgbClr val="D4951A"/>
            </a:solidFill>
            <a:prstDash val="solid"/>
          </a:ln>
        </p:spPr>
      </p:sp>
      <p:sp>
        <p:nvSpPr>
          <p:cNvPr id="156" name="Shape 154"/>
          <p:cNvSpPr/>
          <p:nvPr/>
        </p:nvSpPr>
        <p:spPr>
          <a:xfrm rot="2700000">
            <a:off x="1064362" y="1426464"/>
            <a:ext cx="77724" cy="77724"/>
          </a:xfrm>
          <a:prstGeom prst="rect">
            <a:avLst/>
          </a:prstGeom>
          <a:solidFill>
            <a:srgbClr val="D4951A">
              <a:alpha val="18000"/>
            </a:srgbClr>
          </a:solidFill>
          <a:ln w="12700">
            <a:solidFill>
              <a:srgbClr val="D4951A"/>
            </a:solidFill>
            <a:prstDash val="solid"/>
          </a:ln>
        </p:spPr>
      </p:sp>
      <p:sp>
        <p:nvSpPr>
          <p:cNvPr id="157" name="Shape 155"/>
          <p:cNvSpPr/>
          <p:nvPr/>
        </p:nvSpPr>
        <p:spPr>
          <a:xfrm rot="2700000">
            <a:off x="1181405" y="1426464"/>
            <a:ext cx="77724" cy="77724"/>
          </a:xfrm>
          <a:prstGeom prst="rect">
            <a:avLst/>
          </a:prstGeom>
          <a:solidFill>
            <a:srgbClr val="D4951A">
              <a:alpha val="18000"/>
            </a:srgbClr>
          </a:solidFill>
          <a:ln w="12700">
            <a:solidFill>
              <a:srgbClr val="D4951A"/>
            </a:solidFill>
            <a:prstDash val="solid"/>
          </a:ln>
        </p:spPr>
      </p:sp>
      <p:sp>
        <p:nvSpPr>
          <p:cNvPr id="158" name="Shape 156"/>
          <p:cNvSpPr/>
          <p:nvPr/>
        </p:nvSpPr>
        <p:spPr>
          <a:xfrm rot="2700000">
            <a:off x="1298448" y="1426464"/>
            <a:ext cx="77724" cy="77724"/>
          </a:xfrm>
          <a:prstGeom prst="rect">
            <a:avLst/>
          </a:prstGeom>
          <a:solidFill>
            <a:srgbClr val="D4951A">
              <a:alpha val="18000"/>
            </a:srgbClr>
          </a:solidFill>
          <a:ln w="12700">
            <a:solidFill>
              <a:srgbClr val="D4951A"/>
            </a:solidFill>
            <a:prstDash val="solid"/>
          </a:ln>
        </p:spPr>
      </p:sp>
      <p:sp>
        <p:nvSpPr>
          <p:cNvPr id="159" name="Shape 157"/>
          <p:cNvSpPr/>
          <p:nvPr/>
        </p:nvSpPr>
        <p:spPr>
          <a:xfrm rot="2700000">
            <a:off x="1415491" y="1426464"/>
            <a:ext cx="77724" cy="77724"/>
          </a:xfrm>
          <a:prstGeom prst="rect">
            <a:avLst/>
          </a:prstGeom>
          <a:solidFill>
            <a:srgbClr val="D4951A">
              <a:alpha val="18000"/>
            </a:srgbClr>
          </a:solidFill>
          <a:ln w="12700">
            <a:solidFill>
              <a:srgbClr val="D4951A"/>
            </a:solidFill>
            <a:prstDash val="solid"/>
          </a:ln>
        </p:spPr>
      </p:sp>
      <p:sp>
        <p:nvSpPr>
          <p:cNvPr id="160" name="Shape 158"/>
          <p:cNvSpPr/>
          <p:nvPr/>
        </p:nvSpPr>
        <p:spPr>
          <a:xfrm rot="2700000">
            <a:off x="1532534" y="1426464"/>
            <a:ext cx="77724" cy="77724"/>
          </a:xfrm>
          <a:prstGeom prst="rect">
            <a:avLst/>
          </a:prstGeom>
          <a:solidFill>
            <a:srgbClr val="D4951A">
              <a:alpha val="18000"/>
            </a:srgbClr>
          </a:solidFill>
          <a:ln w="12700">
            <a:solidFill>
              <a:srgbClr val="D4951A"/>
            </a:solidFill>
            <a:prstDash val="solid"/>
          </a:ln>
        </p:spPr>
      </p:sp>
      <p:sp>
        <p:nvSpPr>
          <p:cNvPr id="161" name="Shape 159"/>
          <p:cNvSpPr/>
          <p:nvPr/>
        </p:nvSpPr>
        <p:spPr>
          <a:xfrm rot="2700000">
            <a:off x="1649578" y="1426464"/>
            <a:ext cx="77724" cy="77724"/>
          </a:xfrm>
          <a:prstGeom prst="rect">
            <a:avLst/>
          </a:prstGeom>
          <a:solidFill>
            <a:srgbClr val="D4951A">
              <a:alpha val="18000"/>
            </a:srgbClr>
          </a:solidFill>
          <a:ln w="12700">
            <a:solidFill>
              <a:srgbClr val="D4951A"/>
            </a:solidFill>
            <a:prstDash val="solid"/>
          </a:ln>
        </p:spPr>
      </p:sp>
      <p:sp>
        <p:nvSpPr>
          <p:cNvPr id="162" name="Shape 160"/>
          <p:cNvSpPr/>
          <p:nvPr/>
        </p:nvSpPr>
        <p:spPr>
          <a:xfrm rot="2700000">
            <a:off x="1766621" y="1426464"/>
            <a:ext cx="77724" cy="77724"/>
          </a:xfrm>
          <a:prstGeom prst="rect">
            <a:avLst/>
          </a:prstGeom>
          <a:solidFill>
            <a:srgbClr val="D4951A">
              <a:alpha val="18000"/>
            </a:srgbClr>
          </a:solidFill>
          <a:ln w="12700">
            <a:solidFill>
              <a:srgbClr val="D4951A"/>
            </a:solidFill>
            <a:prstDash val="solid"/>
          </a:ln>
        </p:spPr>
      </p:sp>
      <p:sp>
        <p:nvSpPr>
          <p:cNvPr id="163" name="Shape 161"/>
          <p:cNvSpPr/>
          <p:nvPr/>
        </p:nvSpPr>
        <p:spPr>
          <a:xfrm rot="2700000">
            <a:off x="1883664" y="1426464"/>
            <a:ext cx="77724" cy="77724"/>
          </a:xfrm>
          <a:prstGeom prst="rect">
            <a:avLst/>
          </a:prstGeom>
          <a:solidFill>
            <a:srgbClr val="D4951A">
              <a:alpha val="18000"/>
            </a:srgbClr>
          </a:solidFill>
          <a:ln w="12700">
            <a:solidFill>
              <a:srgbClr val="D4951A"/>
            </a:solidFill>
            <a:prstDash val="solid"/>
          </a:ln>
        </p:spPr>
      </p:sp>
      <p:sp>
        <p:nvSpPr>
          <p:cNvPr id="164" name="Shape 162"/>
          <p:cNvSpPr/>
          <p:nvPr/>
        </p:nvSpPr>
        <p:spPr>
          <a:xfrm rot="2700000">
            <a:off x="2000707" y="1426464"/>
            <a:ext cx="77724" cy="77724"/>
          </a:xfrm>
          <a:prstGeom prst="rect">
            <a:avLst/>
          </a:prstGeom>
          <a:solidFill>
            <a:srgbClr val="D4951A">
              <a:alpha val="18000"/>
            </a:srgbClr>
          </a:solidFill>
          <a:ln w="12700">
            <a:solidFill>
              <a:srgbClr val="D4951A"/>
            </a:solidFill>
            <a:prstDash val="solid"/>
          </a:ln>
        </p:spPr>
      </p:sp>
      <p:sp>
        <p:nvSpPr>
          <p:cNvPr id="165" name="Shape 163"/>
          <p:cNvSpPr/>
          <p:nvPr/>
        </p:nvSpPr>
        <p:spPr>
          <a:xfrm rot="2700000">
            <a:off x="2117750" y="1426464"/>
            <a:ext cx="77724" cy="77724"/>
          </a:xfrm>
          <a:prstGeom prst="rect">
            <a:avLst/>
          </a:prstGeom>
          <a:solidFill>
            <a:srgbClr val="D4951A">
              <a:alpha val="18000"/>
            </a:srgbClr>
          </a:solidFill>
          <a:ln w="12700">
            <a:solidFill>
              <a:srgbClr val="D4951A"/>
            </a:solidFill>
            <a:prstDash val="solid"/>
          </a:ln>
        </p:spPr>
      </p:sp>
      <p:sp>
        <p:nvSpPr>
          <p:cNvPr id="166" name="Shape 164"/>
          <p:cNvSpPr/>
          <p:nvPr/>
        </p:nvSpPr>
        <p:spPr>
          <a:xfrm rot="2700000">
            <a:off x="2234794" y="1426464"/>
            <a:ext cx="77724" cy="77724"/>
          </a:xfrm>
          <a:prstGeom prst="rect">
            <a:avLst/>
          </a:prstGeom>
          <a:solidFill>
            <a:srgbClr val="D4951A">
              <a:alpha val="18000"/>
            </a:srgbClr>
          </a:solidFill>
          <a:ln w="12700">
            <a:solidFill>
              <a:srgbClr val="D4951A"/>
            </a:solidFill>
            <a:prstDash val="solid"/>
          </a:ln>
        </p:spPr>
      </p:sp>
      <p:sp>
        <p:nvSpPr>
          <p:cNvPr id="167" name="Shape 165"/>
          <p:cNvSpPr/>
          <p:nvPr/>
        </p:nvSpPr>
        <p:spPr>
          <a:xfrm rot="2700000">
            <a:off x="2351837" y="1426464"/>
            <a:ext cx="77724" cy="77724"/>
          </a:xfrm>
          <a:prstGeom prst="rect">
            <a:avLst/>
          </a:prstGeom>
          <a:solidFill>
            <a:srgbClr val="D4951A">
              <a:alpha val="18000"/>
            </a:srgbClr>
          </a:solidFill>
          <a:ln w="12700">
            <a:solidFill>
              <a:srgbClr val="D4951A"/>
            </a:solidFill>
            <a:prstDash val="solid"/>
          </a:ln>
        </p:spPr>
      </p:sp>
      <p:sp>
        <p:nvSpPr>
          <p:cNvPr id="168" name="Shape 166"/>
          <p:cNvSpPr/>
          <p:nvPr/>
        </p:nvSpPr>
        <p:spPr>
          <a:xfrm rot="2700000">
            <a:off x="2468880" y="1426464"/>
            <a:ext cx="77724" cy="77724"/>
          </a:xfrm>
          <a:prstGeom prst="rect">
            <a:avLst/>
          </a:prstGeom>
          <a:solidFill>
            <a:srgbClr val="D4951A">
              <a:alpha val="18000"/>
            </a:srgbClr>
          </a:solidFill>
          <a:ln w="12700">
            <a:solidFill>
              <a:srgbClr val="D4951A"/>
            </a:solidFill>
            <a:prstDash val="solid"/>
          </a:ln>
        </p:spPr>
      </p:sp>
      <p:sp>
        <p:nvSpPr>
          <p:cNvPr id="169" name="Shape 167"/>
          <p:cNvSpPr/>
          <p:nvPr/>
        </p:nvSpPr>
        <p:spPr>
          <a:xfrm rot="2700000">
            <a:off x="2585923" y="1426464"/>
            <a:ext cx="77724" cy="77724"/>
          </a:xfrm>
          <a:prstGeom prst="rect">
            <a:avLst/>
          </a:prstGeom>
          <a:solidFill>
            <a:srgbClr val="D4951A">
              <a:alpha val="18000"/>
            </a:srgbClr>
          </a:solidFill>
          <a:ln w="12700">
            <a:solidFill>
              <a:srgbClr val="D4951A"/>
            </a:solidFill>
            <a:prstDash val="solid"/>
          </a:ln>
        </p:spPr>
      </p:sp>
      <p:sp>
        <p:nvSpPr>
          <p:cNvPr id="170" name="Shape 168"/>
          <p:cNvSpPr/>
          <p:nvPr/>
        </p:nvSpPr>
        <p:spPr>
          <a:xfrm rot="2700000">
            <a:off x="2702966" y="1426464"/>
            <a:ext cx="77724" cy="77724"/>
          </a:xfrm>
          <a:prstGeom prst="rect">
            <a:avLst/>
          </a:prstGeom>
          <a:solidFill>
            <a:srgbClr val="D4951A">
              <a:alpha val="18000"/>
            </a:srgbClr>
          </a:solidFill>
          <a:ln w="12700">
            <a:solidFill>
              <a:srgbClr val="D4951A"/>
            </a:solidFill>
            <a:prstDash val="solid"/>
          </a:ln>
        </p:spPr>
      </p:sp>
      <p:sp>
        <p:nvSpPr>
          <p:cNvPr id="171" name="Text 169"/>
          <p:cNvSpPr/>
          <p:nvPr/>
        </p:nvSpPr>
        <p:spPr>
          <a:xfrm>
            <a:off x="6272784"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Cuve 10–15T obligatoire sur site, avec évaporateur, régulation de pression et détection gaz. NON inclus dans les devis chaudière. Budgétiser séparément. Délai livraison Maroc : 8–14 semaines.</a:t>
            </a:r>
            <a:endParaRPr lang="en-US" sz="880" dirty="0"/>
          </a:p>
        </p:txBody>
      </p:sp>
      <p:sp>
        <p:nvSpPr>
          <p:cNvPr id="172" name="Shape 170"/>
          <p:cNvSpPr/>
          <p:nvPr/>
        </p:nvSpPr>
        <p:spPr>
          <a:xfrm>
            <a:off x="256032"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73" name="Shape 171"/>
          <p:cNvSpPr/>
          <p:nvPr/>
        </p:nvSpPr>
        <p:spPr>
          <a:xfrm>
            <a:off x="256032" y="2944368"/>
            <a:ext cx="2834640" cy="45720"/>
          </a:xfrm>
          <a:prstGeom prst="rect">
            <a:avLst/>
          </a:prstGeom>
          <a:solidFill>
            <a:srgbClr val="1B9A8A"/>
          </a:solidFill>
          <a:ln/>
        </p:spPr>
      </p:sp>
      <p:sp>
        <p:nvSpPr>
          <p:cNvPr id="174" name="Text 172"/>
          <p:cNvSpPr/>
          <p:nvPr/>
        </p:nvSpPr>
        <p:spPr>
          <a:xfrm>
            <a:off x="384048" y="3035808"/>
            <a:ext cx="2651760" cy="365760"/>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  Pression de vapeur et température ambiante</a:t>
            </a:r>
            <a:endParaRPr lang="en-US" sz="1050" dirty="0"/>
          </a:p>
        </p:txBody>
      </p:sp>
      <p:sp>
        <p:nvSpPr>
          <p:cNvPr id="175" name="Shape 173"/>
          <p:cNvSpPr/>
          <p:nvPr/>
        </p:nvSpPr>
        <p:spPr>
          <a:xfrm rot="2700000">
            <a:off x="10973" y="3438144"/>
            <a:ext cx="77724" cy="77724"/>
          </a:xfrm>
          <a:prstGeom prst="rect">
            <a:avLst/>
          </a:prstGeom>
          <a:solidFill>
            <a:srgbClr val="1B9A8A">
              <a:alpha val="18000"/>
            </a:srgbClr>
          </a:solidFill>
          <a:ln w="12700">
            <a:solidFill>
              <a:srgbClr val="1B9A8A"/>
            </a:solidFill>
            <a:prstDash val="solid"/>
          </a:ln>
        </p:spPr>
      </p:sp>
      <p:sp>
        <p:nvSpPr>
          <p:cNvPr id="176" name="Shape 174"/>
          <p:cNvSpPr/>
          <p:nvPr/>
        </p:nvSpPr>
        <p:spPr>
          <a:xfrm rot="2700000">
            <a:off x="128016" y="3438144"/>
            <a:ext cx="77724" cy="77724"/>
          </a:xfrm>
          <a:prstGeom prst="rect">
            <a:avLst/>
          </a:prstGeom>
          <a:solidFill>
            <a:srgbClr val="1B9A8A">
              <a:alpha val="18000"/>
            </a:srgbClr>
          </a:solidFill>
          <a:ln w="12700">
            <a:solidFill>
              <a:srgbClr val="1B9A8A"/>
            </a:solidFill>
            <a:prstDash val="solid"/>
          </a:ln>
        </p:spPr>
      </p:sp>
      <p:sp>
        <p:nvSpPr>
          <p:cNvPr id="177" name="Shape 175"/>
          <p:cNvSpPr/>
          <p:nvPr/>
        </p:nvSpPr>
        <p:spPr>
          <a:xfrm rot="2700000">
            <a:off x="245059" y="3438144"/>
            <a:ext cx="77724" cy="77724"/>
          </a:xfrm>
          <a:prstGeom prst="rect">
            <a:avLst/>
          </a:prstGeom>
          <a:solidFill>
            <a:srgbClr val="1B9A8A">
              <a:alpha val="18000"/>
            </a:srgbClr>
          </a:solidFill>
          <a:ln w="12700">
            <a:solidFill>
              <a:srgbClr val="1B9A8A"/>
            </a:solidFill>
            <a:prstDash val="solid"/>
          </a:ln>
        </p:spPr>
      </p:sp>
      <p:sp>
        <p:nvSpPr>
          <p:cNvPr id="178" name="Shape 176"/>
          <p:cNvSpPr/>
          <p:nvPr/>
        </p:nvSpPr>
        <p:spPr>
          <a:xfrm rot="2700000">
            <a:off x="362102" y="3438144"/>
            <a:ext cx="77724" cy="77724"/>
          </a:xfrm>
          <a:prstGeom prst="rect">
            <a:avLst/>
          </a:prstGeom>
          <a:solidFill>
            <a:srgbClr val="1B9A8A">
              <a:alpha val="18000"/>
            </a:srgbClr>
          </a:solidFill>
          <a:ln w="12700">
            <a:solidFill>
              <a:srgbClr val="1B9A8A"/>
            </a:solidFill>
            <a:prstDash val="solid"/>
          </a:ln>
        </p:spPr>
      </p:sp>
      <p:sp>
        <p:nvSpPr>
          <p:cNvPr id="179" name="Shape 177"/>
          <p:cNvSpPr/>
          <p:nvPr/>
        </p:nvSpPr>
        <p:spPr>
          <a:xfrm rot="2700000">
            <a:off x="479146" y="3438144"/>
            <a:ext cx="77724" cy="77724"/>
          </a:xfrm>
          <a:prstGeom prst="rect">
            <a:avLst/>
          </a:prstGeom>
          <a:solidFill>
            <a:srgbClr val="1B9A8A">
              <a:alpha val="18000"/>
            </a:srgbClr>
          </a:solidFill>
          <a:ln w="12700">
            <a:solidFill>
              <a:srgbClr val="1B9A8A"/>
            </a:solidFill>
            <a:prstDash val="solid"/>
          </a:ln>
        </p:spPr>
      </p:sp>
      <p:sp>
        <p:nvSpPr>
          <p:cNvPr id="180" name="Shape 178"/>
          <p:cNvSpPr/>
          <p:nvPr/>
        </p:nvSpPr>
        <p:spPr>
          <a:xfrm rot="2700000">
            <a:off x="596189" y="3438144"/>
            <a:ext cx="77724" cy="77724"/>
          </a:xfrm>
          <a:prstGeom prst="rect">
            <a:avLst/>
          </a:prstGeom>
          <a:solidFill>
            <a:srgbClr val="1B9A8A">
              <a:alpha val="18000"/>
            </a:srgbClr>
          </a:solidFill>
          <a:ln w="12700">
            <a:solidFill>
              <a:srgbClr val="1B9A8A"/>
            </a:solidFill>
            <a:prstDash val="solid"/>
          </a:ln>
        </p:spPr>
      </p:sp>
      <p:sp>
        <p:nvSpPr>
          <p:cNvPr id="181" name="Shape 179"/>
          <p:cNvSpPr/>
          <p:nvPr/>
        </p:nvSpPr>
        <p:spPr>
          <a:xfrm rot="2700000">
            <a:off x="713232" y="3438144"/>
            <a:ext cx="77724" cy="77724"/>
          </a:xfrm>
          <a:prstGeom prst="rect">
            <a:avLst/>
          </a:prstGeom>
          <a:solidFill>
            <a:srgbClr val="1B9A8A">
              <a:alpha val="18000"/>
            </a:srgbClr>
          </a:solidFill>
          <a:ln w="12700">
            <a:solidFill>
              <a:srgbClr val="1B9A8A"/>
            </a:solidFill>
            <a:prstDash val="solid"/>
          </a:ln>
        </p:spPr>
      </p:sp>
      <p:sp>
        <p:nvSpPr>
          <p:cNvPr id="182" name="Shape 180"/>
          <p:cNvSpPr/>
          <p:nvPr/>
        </p:nvSpPr>
        <p:spPr>
          <a:xfrm rot="2700000">
            <a:off x="830275" y="3438144"/>
            <a:ext cx="77724" cy="77724"/>
          </a:xfrm>
          <a:prstGeom prst="rect">
            <a:avLst/>
          </a:prstGeom>
          <a:solidFill>
            <a:srgbClr val="1B9A8A">
              <a:alpha val="18000"/>
            </a:srgbClr>
          </a:solidFill>
          <a:ln w="12700">
            <a:solidFill>
              <a:srgbClr val="1B9A8A"/>
            </a:solidFill>
            <a:prstDash val="solid"/>
          </a:ln>
        </p:spPr>
      </p:sp>
      <p:sp>
        <p:nvSpPr>
          <p:cNvPr id="183" name="Shape 181"/>
          <p:cNvSpPr/>
          <p:nvPr/>
        </p:nvSpPr>
        <p:spPr>
          <a:xfrm rot="2700000">
            <a:off x="947318" y="3438144"/>
            <a:ext cx="77724" cy="77724"/>
          </a:xfrm>
          <a:prstGeom prst="rect">
            <a:avLst/>
          </a:prstGeom>
          <a:solidFill>
            <a:srgbClr val="1B9A8A">
              <a:alpha val="18000"/>
            </a:srgbClr>
          </a:solidFill>
          <a:ln w="12700">
            <a:solidFill>
              <a:srgbClr val="1B9A8A"/>
            </a:solidFill>
            <a:prstDash val="solid"/>
          </a:ln>
        </p:spPr>
      </p:sp>
      <p:sp>
        <p:nvSpPr>
          <p:cNvPr id="184" name="Shape 182"/>
          <p:cNvSpPr/>
          <p:nvPr/>
        </p:nvSpPr>
        <p:spPr>
          <a:xfrm rot="2700000">
            <a:off x="1064362" y="3438144"/>
            <a:ext cx="77724" cy="77724"/>
          </a:xfrm>
          <a:prstGeom prst="rect">
            <a:avLst/>
          </a:prstGeom>
          <a:solidFill>
            <a:srgbClr val="1B9A8A">
              <a:alpha val="18000"/>
            </a:srgbClr>
          </a:solidFill>
          <a:ln w="12700">
            <a:solidFill>
              <a:srgbClr val="1B9A8A"/>
            </a:solidFill>
            <a:prstDash val="solid"/>
          </a:ln>
        </p:spPr>
      </p:sp>
      <p:sp>
        <p:nvSpPr>
          <p:cNvPr id="185" name="Shape 183"/>
          <p:cNvSpPr/>
          <p:nvPr/>
        </p:nvSpPr>
        <p:spPr>
          <a:xfrm rot="2700000">
            <a:off x="1181405" y="3438144"/>
            <a:ext cx="77724" cy="77724"/>
          </a:xfrm>
          <a:prstGeom prst="rect">
            <a:avLst/>
          </a:prstGeom>
          <a:solidFill>
            <a:srgbClr val="1B9A8A">
              <a:alpha val="18000"/>
            </a:srgbClr>
          </a:solidFill>
          <a:ln w="12700">
            <a:solidFill>
              <a:srgbClr val="1B9A8A"/>
            </a:solidFill>
            <a:prstDash val="solid"/>
          </a:ln>
        </p:spPr>
      </p:sp>
      <p:sp>
        <p:nvSpPr>
          <p:cNvPr id="186" name="Shape 184"/>
          <p:cNvSpPr/>
          <p:nvPr/>
        </p:nvSpPr>
        <p:spPr>
          <a:xfrm rot="2700000">
            <a:off x="1298448" y="3438144"/>
            <a:ext cx="77724" cy="77724"/>
          </a:xfrm>
          <a:prstGeom prst="rect">
            <a:avLst/>
          </a:prstGeom>
          <a:solidFill>
            <a:srgbClr val="1B9A8A">
              <a:alpha val="18000"/>
            </a:srgbClr>
          </a:solidFill>
          <a:ln w="12700">
            <a:solidFill>
              <a:srgbClr val="1B9A8A"/>
            </a:solidFill>
            <a:prstDash val="solid"/>
          </a:ln>
        </p:spPr>
      </p:sp>
      <p:sp>
        <p:nvSpPr>
          <p:cNvPr id="187" name="Shape 185"/>
          <p:cNvSpPr/>
          <p:nvPr/>
        </p:nvSpPr>
        <p:spPr>
          <a:xfrm rot="2700000">
            <a:off x="1415491" y="3438144"/>
            <a:ext cx="77724" cy="77724"/>
          </a:xfrm>
          <a:prstGeom prst="rect">
            <a:avLst/>
          </a:prstGeom>
          <a:solidFill>
            <a:srgbClr val="1B9A8A">
              <a:alpha val="18000"/>
            </a:srgbClr>
          </a:solidFill>
          <a:ln w="12700">
            <a:solidFill>
              <a:srgbClr val="1B9A8A"/>
            </a:solidFill>
            <a:prstDash val="solid"/>
          </a:ln>
        </p:spPr>
      </p:sp>
      <p:sp>
        <p:nvSpPr>
          <p:cNvPr id="188" name="Shape 186"/>
          <p:cNvSpPr/>
          <p:nvPr/>
        </p:nvSpPr>
        <p:spPr>
          <a:xfrm rot="2700000">
            <a:off x="1532534" y="3438144"/>
            <a:ext cx="77724" cy="77724"/>
          </a:xfrm>
          <a:prstGeom prst="rect">
            <a:avLst/>
          </a:prstGeom>
          <a:solidFill>
            <a:srgbClr val="1B9A8A">
              <a:alpha val="18000"/>
            </a:srgbClr>
          </a:solidFill>
          <a:ln w="12700">
            <a:solidFill>
              <a:srgbClr val="1B9A8A"/>
            </a:solidFill>
            <a:prstDash val="solid"/>
          </a:ln>
        </p:spPr>
      </p:sp>
      <p:sp>
        <p:nvSpPr>
          <p:cNvPr id="189" name="Shape 187"/>
          <p:cNvSpPr/>
          <p:nvPr/>
        </p:nvSpPr>
        <p:spPr>
          <a:xfrm rot="2700000">
            <a:off x="1649578" y="3438144"/>
            <a:ext cx="77724" cy="77724"/>
          </a:xfrm>
          <a:prstGeom prst="rect">
            <a:avLst/>
          </a:prstGeom>
          <a:solidFill>
            <a:srgbClr val="1B9A8A">
              <a:alpha val="18000"/>
            </a:srgbClr>
          </a:solidFill>
          <a:ln w="12700">
            <a:solidFill>
              <a:srgbClr val="1B9A8A"/>
            </a:solidFill>
            <a:prstDash val="solid"/>
          </a:ln>
        </p:spPr>
      </p:sp>
      <p:sp>
        <p:nvSpPr>
          <p:cNvPr id="190" name="Shape 188"/>
          <p:cNvSpPr/>
          <p:nvPr/>
        </p:nvSpPr>
        <p:spPr>
          <a:xfrm rot="2700000">
            <a:off x="1766621" y="3438144"/>
            <a:ext cx="77724" cy="77724"/>
          </a:xfrm>
          <a:prstGeom prst="rect">
            <a:avLst/>
          </a:prstGeom>
          <a:solidFill>
            <a:srgbClr val="1B9A8A">
              <a:alpha val="18000"/>
            </a:srgbClr>
          </a:solidFill>
          <a:ln w="12700">
            <a:solidFill>
              <a:srgbClr val="1B9A8A"/>
            </a:solidFill>
            <a:prstDash val="solid"/>
          </a:ln>
        </p:spPr>
      </p:sp>
      <p:sp>
        <p:nvSpPr>
          <p:cNvPr id="191" name="Shape 189"/>
          <p:cNvSpPr/>
          <p:nvPr/>
        </p:nvSpPr>
        <p:spPr>
          <a:xfrm rot="2700000">
            <a:off x="1883664" y="3438144"/>
            <a:ext cx="77724" cy="77724"/>
          </a:xfrm>
          <a:prstGeom prst="rect">
            <a:avLst/>
          </a:prstGeom>
          <a:solidFill>
            <a:srgbClr val="1B9A8A">
              <a:alpha val="18000"/>
            </a:srgbClr>
          </a:solidFill>
          <a:ln w="12700">
            <a:solidFill>
              <a:srgbClr val="1B9A8A"/>
            </a:solidFill>
            <a:prstDash val="solid"/>
          </a:ln>
        </p:spPr>
      </p:sp>
      <p:sp>
        <p:nvSpPr>
          <p:cNvPr id="192" name="Shape 190"/>
          <p:cNvSpPr/>
          <p:nvPr/>
        </p:nvSpPr>
        <p:spPr>
          <a:xfrm rot="2700000">
            <a:off x="2000707" y="3438144"/>
            <a:ext cx="77724" cy="77724"/>
          </a:xfrm>
          <a:prstGeom prst="rect">
            <a:avLst/>
          </a:prstGeom>
          <a:solidFill>
            <a:srgbClr val="1B9A8A">
              <a:alpha val="18000"/>
            </a:srgbClr>
          </a:solidFill>
          <a:ln w="12700">
            <a:solidFill>
              <a:srgbClr val="1B9A8A"/>
            </a:solidFill>
            <a:prstDash val="solid"/>
          </a:ln>
        </p:spPr>
      </p:sp>
      <p:sp>
        <p:nvSpPr>
          <p:cNvPr id="193" name="Shape 191"/>
          <p:cNvSpPr/>
          <p:nvPr/>
        </p:nvSpPr>
        <p:spPr>
          <a:xfrm rot="2700000">
            <a:off x="2117750" y="3438144"/>
            <a:ext cx="77724" cy="77724"/>
          </a:xfrm>
          <a:prstGeom prst="rect">
            <a:avLst/>
          </a:prstGeom>
          <a:solidFill>
            <a:srgbClr val="1B9A8A">
              <a:alpha val="18000"/>
            </a:srgbClr>
          </a:solidFill>
          <a:ln w="12700">
            <a:solidFill>
              <a:srgbClr val="1B9A8A"/>
            </a:solidFill>
            <a:prstDash val="solid"/>
          </a:ln>
        </p:spPr>
      </p:sp>
      <p:sp>
        <p:nvSpPr>
          <p:cNvPr id="194" name="Shape 192"/>
          <p:cNvSpPr/>
          <p:nvPr/>
        </p:nvSpPr>
        <p:spPr>
          <a:xfrm rot="2700000">
            <a:off x="2234794" y="3438144"/>
            <a:ext cx="77724" cy="77724"/>
          </a:xfrm>
          <a:prstGeom prst="rect">
            <a:avLst/>
          </a:prstGeom>
          <a:solidFill>
            <a:srgbClr val="1B9A8A">
              <a:alpha val="18000"/>
            </a:srgbClr>
          </a:solidFill>
          <a:ln w="12700">
            <a:solidFill>
              <a:srgbClr val="1B9A8A"/>
            </a:solidFill>
            <a:prstDash val="solid"/>
          </a:ln>
        </p:spPr>
      </p:sp>
      <p:sp>
        <p:nvSpPr>
          <p:cNvPr id="195" name="Shape 193"/>
          <p:cNvSpPr/>
          <p:nvPr/>
        </p:nvSpPr>
        <p:spPr>
          <a:xfrm rot="2700000">
            <a:off x="2351837" y="3438144"/>
            <a:ext cx="77724" cy="77724"/>
          </a:xfrm>
          <a:prstGeom prst="rect">
            <a:avLst/>
          </a:prstGeom>
          <a:solidFill>
            <a:srgbClr val="1B9A8A">
              <a:alpha val="18000"/>
            </a:srgbClr>
          </a:solidFill>
          <a:ln w="12700">
            <a:solidFill>
              <a:srgbClr val="1B9A8A"/>
            </a:solidFill>
            <a:prstDash val="solid"/>
          </a:ln>
        </p:spPr>
      </p:sp>
      <p:sp>
        <p:nvSpPr>
          <p:cNvPr id="196" name="Shape 194"/>
          <p:cNvSpPr/>
          <p:nvPr/>
        </p:nvSpPr>
        <p:spPr>
          <a:xfrm rot="2700000">
            <a:off x="2468880" y="3438144"/>
            <a:ext cx="77724" cy="77724"/>
          </a:xfrm>
          <a:prstGeom prst="rect">
            <a:avLst/>
          </a:prstGeom>
          <a:solidFill>
            <a:srgbClr val="1B9A8A">
              <a:alpha val="18000"/>
            </a:srgbClr>
          </a:solidFill>
          <a:ln w="12700">
            <a:solidFill>
              <a:srgbClr val="1B9A8A"/>
            </a:solidFill>
            <a:prstDash val="solid"/>
          </a:ln>
        </p:spPr>
      </p:sp>
      <p:sp>
        <p:nvSpPr>
          <p:cNvPr id="197" name="Shape 195"/>
          <p:cNvSpPr/>
          <p:nvPr/>
        </p:nvSpPr>
        <p:spPr>
          <a:xfrm rot="2700000">
            <a:off x="2585923" y="3438144"/>
            <a:ext cx="77724" cy="77724"/>
          </a:xfrm>
          <a:prstGeom prst="rect">
            <a:avLst/>
          </a:prstGeom>
          <a:solidFill>
            <a:srgbClr val="1B9A8A">
              <a:alpha val="18000"/>
            </a:srgbClr>
          </a:solidFill>
          <a:ln w="12700">
            <a:solidFill>
              <a:srgbClr val="1B9A8A"/>
            </a:solidFill>
            <a:prstDash val="solid"/>
          </a:ln>
        </p:spPr>
      </p:sp>
      <p:sp>
        <p:nvSpPr>
          <p:cNvPr id="198" name="Shape 196"/>
          <p:cNvSpPr/>
          <p:nvPr/>
        </p:nvSpPr>
        <p:spPr>
          <a:xfrm rot="2700000">
            <a:off x="2702966" y="3438144"/>
            <a:ext cx="77724" cy="77724"/>
          </a:xfrm>
          <a:prstGeom prst="rect">
            <a:avLst/>
          </a:prstGeom>
          <a:solidFill>
            <a:srgbClr val="1B9A8A">
              <a:alpha val="18000"/>
            </a:srgbClr>
          </a:solidFill>
          <a:ln w="12700">
            <a:solidFill>
              <a:srgbClr val="1B9A8A"/>
            </a:solidFill>
            <a:prstDash val="solid"/>
          </a:ln>
        </p:spPr>
      </p:sp>
      <p:sp>
        <p:nvSpPr>
          <p:cNvPr id="199" name="Text 197"/>
          <p:cNvSpPr/>
          <p:nvPr/>
        </p:nvSpPr>
        <p:spPr>
          <a:xfrm>
            <a:off x="384048"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perd de la pression de vapeur par temps froid. Si le site est à plus de 400 m d'altitude ou dans les terres, spécifier un évaporateur électrique forcé dans l'installation GPL.</a:t>
            </a:r>
            <a:endParaRPr lang="en-US" sz="880" dirty="0"/>
          </a:p>
        </p:txBody>
      </p:sp>
      <p:sp>
        <p:nvSpPr>
          <p:cNvPr id="200" name="Shape 198"/>
          <p:cNvSpPr/>
          <p:nvPr/>
        </p:nvSpPr>
        <p:spPr>
          <a:xfrm>
            <a:off x="3200400"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201" name="Shape 199"/>
          <p:cNvSpPr/>
          <p:nvPr/>
        </p:nvSpPr>
        <p:spPr>
          <a:xfrm>
            <a:off x="3200400" y="2944368"/>
            <a:ext cx="2834640" cy="45720"/>
          </a:xfrm>
          <a:prstGeom prst="rect">
            <a:avLst/>
          </a:prstGeom>
          <a:solidFill>
            <a:srgbClr val="C8960C"/>
          </a:solidFill>
          <a:ln/>
        </p:spPr>
      </p:sp>
      <p:sp>
        <p:nvSpPr>
          <p:cNvPr id="202" name="Text 200"/>
          <p:cNvSpPr/>
          <p:nvPr/>
        </p:nvSpPr>
        <p:spPr>
          <a:xfrm>
            <a:off x="3328416" y="3035808"/>
            <a:ext cx="2651760" cy="365760"/>
          </a:xfrm>
          <a:prstGeom prst="rect">
            <a:avLst/>
          </a:prstGeom>
          <a:noFill/>
          <a:ln/>
        </p:spPr>
        <p:txBody>
          <a:bodyPr wrap="square" rtlCol="0" anchor="ctr"/>
          <a:lstStyle/>
          <a:p>
            <a:pPr indent="0" marL="0">
              <a:buNone/>
            </a:pPr>
            <a:r>
              <a:rPr lang="en-US" sz="1050" b="1" dirty="0">
                <a:solidFill>
                  <a:srgbClr val="C8960C"/>
                </a:solidFill>
                <a:latin typeface="Georgia" pitchFamily="34" charset="0"/>
                <a:ea typeface="Georgia" pitchFamily="34" charset="-122"/>
                <a:cs typeface="Georgia" pitchFamily="34" charset="-120"/>
              </a:rPr>
              <a:t>⚙  Brûleur bi-combustible — spécifier maintenant</a:t>
            </a:r>
            <a:endParaRPr lang="en-US" sz="1050" dirty="0"/>
          </a:p>
        </p:txBody>
      </p:sp>
      <p:sp>
        <p:nvSpPr>
          <p:cNvPr id="203" name="Shape 201"/>
          <p:cNvSpPr/>
          <p:nvPr/>
        </p:nvSpPr>
        <p:spPr>
          <a:xfrm rot="2700000">
            <a:off x="10973" y="3438144"/>
            <a:ext cx="77724" cy="77724"/>
          </a:xfrm>
          <a:prstGeom prst="rect">
            <a:avLst/>
          </a:prstGeom>
          <a:solidFill>
            <a:srgbClr val="C8960C">
              <a:alpha val="18000"/>
            </a:srgbClr>
          </a:solidFill>
          <a:ln w="12700">
            <a:solidFill>
              <a:srgbClr val="C8960C"/>
            </a:solidFill>
            <a:prstDash val="solid"/>
          </a:ln>
        </p:spPr>
      </p:sp>
      <p:sp>
        <p:nvSpPr>
          <p:cNvPr id="204" name="Shape 202"/>
          <p:cNvSpPr/>
          <p:nvPr/>
        </p:nvSpPr>
        <p:spPr>
          <a:xfrm rot="2700000">
            <a:off x="128016" y="3438144"/>
            <a:ext cx="77724" cy="77724"/>
          </a:xfrm>
          <a:prstGeom prst="rect">
            <a:avLst/>
          </a:prstGeom>
          <a:solidFill>
            <a:srgbClr val="C8960C">
              <a:alpha val="18000"/>
            </a:srgbClr>
          </a:solidFill>
          <a:ln w="12700">
            <a:solidFill>
              <a:srgbClr val="C8960C"/>
            </a:solidFill>
            <a:prstDash val="solid"/>
          </a:ln>
        </p:spPr>
      </p:sp>
      <p:sp>
        <p:nvSpPr>
          <p:cNvPr id="205" name="Shape 203"/>
          <p:cNvSpPr/>
          <p:nvPr/>
        </p:nvSpPr>
        <p:spPr>
          <a:xfrm rot="2700000">
            <a:off x="245059" y="3438144"/>
            <a:ext cx="77724" cy="77724"/>
          </a:xfrm>
          <a:prstGeom prst="rect">
            <a:avLst/>
          </a:prstGeom>
          <a:solidFill>
            <a:srgbClr val="C8960C">
              <a:alpha val="18000"/>
            </a:srgbClr>
          </a:solidFill>
          <a:ln w="12700">
            <a:solidFill>
              <a:srgbClr val="C8960C"/>
            </a:solidFill>
            <a:prstDash val="solid"/>
          </a:ln>
        </p:spPr>
      </p:sp>
      <p:sp>
        <p:nvSpPr>
          <p:cNvPr id="206" name="Shape 204"/>
          <p:cNvSpPr/>
          <p:nvPr/>
        </p:nvSpPr>
        <p:spPr>
          <a:xfrm rot="2700000">
            <a:off x="362102" y="3438144"/>
            <a:ext cx="77724" cy="77724"/>
          </a:xfrm>
          <a:prstGeom prst="rect">
            <a:avLst/>
          </a:prstGeom>
          <a:solidFill>
            <a:srgbClr val="C8960C">
              <a:alpha val="18000"/>
            </a:srgbClr>
          </a:solidFill>
          <a:ln w="12700">
            <a:solidFill>
              <a:srgbClr val="C8960C"/>
            </a:solidFill>
            <a:prstDash val="solid"/>
          </a:ln>
        </p:spPr>
      </p:sp>
      <p:sp>
        <p:nvSpPr>
          <p:cNvPr id="207" name="Shape 205"/>
          <p:cNvSpPr/>
          <p:nvPr/>
        </p:nvSpPr>
        <p:spPr>
          <a:xfrm rot="2700000">
            <a:off x="479146" y="3438144"/>
            <a:ext cx="77724" cy="77724"/>
          </a:xfrm>
          <a:prstGeom prst="rect">
            <a:avLst/>
          </a:prstGeom>
          <a:solidFill>
            <a:srgbClr val="C8960C">
              <a:alpha val="18000"/>
            </a:srgbClr>
          </a:solidFill>
          <a:ln w="12700">
            <a:solidFill>
              <a:srgbClr val="C8960C"/>
            </a:solidFill>
            <a:prstDash val="solid"/>
          </a:ln>
        </p:spPr>
      </p:sp>
      <p:sp>
        <p:nvSpPr>
          <p:cNvPr id="208" name="Shape 206"/>
          <p:cNvSpPr/>
          <p:nvPr/>
        </p:nvSpPr>
        <p:spPr>
          <a:xfrm rot="2700000">
            <a:off x="596189" y="3438144"/>
            <a:ext cx="77724" cy="77724"/>
          </a:xfrm>
          <a:prstGeom prst="rect">
            <a:avLst/>
          </a:prstGeom>
          <a:solidFill>
            <a:srgbClr val="C8960C">
              <a:alpha val="18000"/>
            </a:srgbClr>
          </a:solidFill>
          <a:ln w="12700">
            <a:solidFill>
              <a:srgbClr val="C8960C"/>
            </a:solidFill>
            <a:prstDash val="solid"/>
          </a:ln>
        </p:spPr>
      </p:sp>
      <p:sp>
        <p:nvSpPr>
          <p:cNvPr id="209" name="Shape 207"/>
          <p:cNvSpPr/>
          <p:nvPr/>
        </p:nvSpPr>
        <p:spPr>
          <a:xfrm rot="2700000">
            <a:off x="713232" y="3438144"/>
            <a:ext cx="77724" cy="77724"/>
          </a:xfrm>
          <a:prstGeom prst="rect">
            <a:avLst/>
          </a:prstGeom>
          <a:solidFill>
            <a:srgbClr val="C8960C">
              <a:alpha val="18000"/>
            </a:srgbClr>
          </a:solidFill>
          <a:ln w="12700">
            <a:solidFill>
              <a:srgbClr val="C8960C"/>
            </a:solidFill>
            <a:prstDash val="solid"/>
          </a:ln>
        </p:spPr>
      </p:sp>
      <p:sp>
        <p:nvSpPr>
          <p:cNvPr id="210" name="Shape 208"/>
          <p:cNvSpPr/>
          <p:nvPr/>
        </p:nvSpPr>
        <p:spPr>
          <a:xfrm rot="2700000">
            <a:off x="830275" y="3438144"/>
            <a:ext cx="77724" cy="77724"/>
          </a:xfrm>
          <a:prstGeom prst="rect">
            <a:avLst/>
          </a:prstGeom>
          <a:solidFill>
            <a:srgbClr val="C8960C">
              <a:alpha val="18000"/>
            </a:srgbClr>
          </a:solidFill>
          <a:ln w="12700">
            <a:solidFill>
              <a:srgbClr val="C8960C"/>
            </a:solidFill>
            <a:prstDash val="solid"/>
          </a:ln>
        </p:spPr>
      </p:sp>
      <p:sp>
        <p:nvSpPr>
          <p:cNvPr id="211" name="Shape 209"/>
          <p:cNvSpPr/>
          <p:nvPr/>
        </p:nvSpPr>
        <p:spPr>
          <a:xfrm rot="2700000">
            <a:off x="947318" y="3438144"/>
            <a:ext cx="77724" cy="77724"/>
          </a:xfrm>
          <a:prstGeom prst="rect">
            <a:avLst/>
          </a:prstGeom>
          <a:solidFill>
            <a:srgbClr val="C8960C">
              <a:alpha val="18000"/>
            </a:srgbClr>
          </a:solidFill>
          <a:ln w="12700">
            <a:solidFill>
              <a:srgbClr val="C8960C"/>
            </a:solidFill>
            <a:prstDash val="solid"/>
          </a:ln>
        </p:spPr>
      </p:sp>
      <p:sp>
        <p:nvSpPr>
          <p:cNvPr id="212" name="Shape 210"/>
          <p:cNvSpPr/>
          <p:nvPr/>
        </p:nvSpPr>
        <p:spPr>
          <a:xfrm rot="2700000">
            <a:off x="1064362" y="3438144"/>
            <a:ext cx="77724" cy="77724"/>
          </a:xfrm>
          <a:prstGeom prst="rect">
            <a:avLst/>
          </a:prstGeom>
          <a:solidFill>
            <a:srgbClr val="C8960C">
              <a:alpha val="18000"/>
            </a:srgbClr>
          </a:solidFill>
          <a:ln w="12700">
            <a:solidFill>
              <a:srgbClr val="C8960C"/>
            </a:solidFill>
            <a:prstDash val="solid"/>
          </a:ln>
        </p:spPr>
      </p:sp>
      <p:sp>
        <p:nvSpPr>
          <p:cNvPr id="213" name="Shape 211"/>
          <p:cNvSpPr/>
          <p:nvPr/>
        </p:nvSpPr>
        <p:spPr>
          <a:xfrm rot="2700000">
            <a:off x="1181405" y="3438144"/>
            <a:ext cx="77724" cy="77724"/>
          </a:xfrm>
          <a:prstGeom prst="rect">
            <a:avLst/>
          </a:prstGeom>
          <a:solidFill>
            <a:srgbClr val="C8960C">
              <a:alpha val="18000"/>
            </a:srgbClr>
          </a:solidFill>
          <a:ln w="12700">
            <a:solidFill>
              <a:srgbClr val="C8960C"/>
            </a:solidFill>
            <a:prstDash val="solid"/>
          </a:ln>
        </p:spPr>
      </p:sp>
      <p:sp>
        <p:nvSpPr>
          <p:cNvPr id="214" name="Shape 212"/>
          <p:cNvSpPr/>
          <p:nvPr/>
        </p:nvSpPr>
        <p:spPr>
          <a:xfrm rot="2700000">
            <a:off x="1298448" y="3438144"/>
            <a:ext cx="77724" cy="77724"/>
          </a:xfrm>
          <a:prstGeom prst="rect">
            <a:avLst/>
          </a:prstGeom>
          <a:solidFill>
            <a:srgbClr val="C8960C">
              <a:alpha val="18000"/>
            </a:srgbClr>
          </a:solidFill>
          <a:ln w="12700">
            <a:solidFill>
              <a:srgbClr val="C8960C"/>
            </a:solidFill>
            <a:prstDash val="solid"/>
          </a:ln>
        </p:spPr>
      </p:sp>
      <p:sp>
        <p:nvSpPr>
          <p:cNvPr id="215" name="Shape 213"/>
          <p:cNvSpPr/>
          <p:nvPr/>
        </p:nvSpPr>
        <p:spPr>
          <a:xfrm rot="2700000">
            <a:off x="1415491" y="3438144"/>
            <a:ext cx="77724" cy="77724"/>
          </a:xfrm>
          <a:prstGeom prst="rect">
            <a:avLst/>
          </a:prstGeom>
          <a:solidFill>
            <a:srgbClr val="C8960C">
              <a:alpha val="18000"/>
            </a:srgbClr>
          </a:solidFill>
          <a:ln w="12700">
            <a:solidFill>
              <a:srgbClr val="C8960C"/>
            </a:solidFill>
            <a:prstDash val="solid"/>
          </a:ln>
        </p:spPr>
      </p:sp>
      <p:sp>
        <p:nvSpPr>
          <p:cNvPr id="216" name="Shape 214"/>
          <p:cNvSpPr/>
          <p:nvPr/>
        </p:nvSpPr>
        <p:spPr>
          <a:xfrm rot="2700000">
            <a:off x="1532534" y="3438144"/>
            <a:ext cx="77724" cy="77724"/>
          </a:xfrm>
          <a:prstGeom prst="rect">
            <a:avLst/>
          </a:prstGeom>
          <a:solidFill>
            <a:srgbClr val="C8960C">
              <a:alpha val="18000"/>
            </a:srgbClr>
          </a:solidFill>
          <a:ln w="12700">
            <a:solidFill>
              <a:srgbClr val="C8960C"/>
            </a:solidFill>
            <a:prstDash val="solid"/>
          </a:ln>
        </p:spPr>
      </p:sp>
      <p:sp>
        <p:nvSpPr>
          <p:cNvPr id="217" name="Shape 215"/>
          <p:cNvSpPr/>
          <p:nvPr/>
        </p:nvSpPr>
        <p:spPr>
          <a:xfrm rot="2700000">
            <a:off x="1649578" y="3438144"/>
            <a:ext cx="77724" cy="77724"/>
          </a:xfrm>
          <a:prstGeom prst="rect">
            <a:avLst/>
          </a:prstGeom>
          <a:solidFill>
            <a:srgbClr val="C8960C">
              <a:alpha val="18000"/>
            </a:srgbClr>
          </a:solidFill>
          <a:ln w="12700">
            <a:solidFill>
              <a:srgbClr val="C8960C"/>
            </a:solidFill>
            <a:prstDash val="solid"/>
          </a:ln>
        </p:spPr>
      </p:sp>
      <p:sp>
        <p:nvSpPr>
          <p:cNvPr id="218" name="Shape 216"/>
          <p:cNvSpPr/>
          <p:nvPr/>
        </p:nvSpPr>
        <p:spPr>
          <a:xfrm rot="2700000">
            <a:off x="1766621" y="3438144"/>
            <a:ext cx="77724" cy="77724"/>
          </a:xfrm>
          <a:prstGeom prst="rect">
            <a:avLst/>
          </a:prstGeom>
          <a:solidFill>
            <a:srgbClr val="C8960C">
              <a:alpha val="18000"/>
            </a:srgbClr>
          </a:solidFill>
          <a:ln w="12700">
            <a:solidFill>
              <a:srgbClr val="C8960C"/>
            </a:solidFill>
            <a:prstDash val="solid"/>
          </a:ln>
        </p:spPr>
      </p:sp>
      <p:sp>
        <p:nvSpPr>
          <p:cNvPr id="219" name="Shape 217"/>
          <p:cNvSpPr/>
          <p:nvPr/>
        </p:nvSpPr>
        <p:spPr>
          <a:xfrm rot="2700000">
            <a:off x="1883664" y="3438144"/>
            <a:ext cx="77724" cy="77724"/>
          </a:xfrm>
          <a:prstGeom prst="rect">
            <a:avLst/>
          </a:prstGeom>
          <a:solidFill>
            <a:srgbClr val="C8960C">
              <a:alpha val="18000"/>
            </a:srgbClr>
          </a:solidFill>
          <a:ln w="12700">
            <a:solidFill>
              <a:srgbClr val="C8960C"/>
            </a:solidFill>
            <a:prstDash val="solid"/>
          </a:ln>
        </p:spPr>
      </p:sp>
      <p:sp>
        <p:nvSpPr>
          <p:cNvPr id="220" name="Shape 218"/>
          <p:cNvSpPr/>
          <p:nvPr/>
        </p:nvSpPr>
        <p:spPr>
          <a:xfrm rot="2700000">
            <a:off x="2000707" y="3438144"/>
            <a:ext cx="77724" cy="77724"/>
          </a:xfrm>
          <a:prstGeom prst="rect">
            <a:avLst/>
          </a:prstGeom>
          <a:solidFill>
            <a:srgbClr val="C8960C">
              <a:alpha val="18000"/>
            </a:srgbClr>
          </a:solidFill>
          <a:ln w="12700">
            <a:solidFill>
              <a:srgbClr val="C8960C"/>
            </a:solidFill>
            <a:prstDash val="solid"/>
          </a:ln>
        </p:spPr>
      </p:sp>
      <p:sp>
        <p:nvSpPr>
          <p:cNvPr id="221" name="Shape 219"/>
          <p:cNvSpPr/>
          <p:nvPr/>
        </p:nvSpPr>
        <p:spPr>
          <a:xfrm rot="2700000">
            <a:off x="2117750" y="3438144"/>
            <a:ext cx="77724" cy="77724"/>
          </a:xfrm>
          <a:prstGeom prst="rect">
            <a:avLst/>
          </a:prstGeom>
          <a:solidFill>
            <a:srgbClr val="C8960C">
              <a:alpha val="18000"/>
            </a:srgbClr>
          </a:solidFill>
          <a:ln w="12700">
            <a:solidFill>
              <a:srgbClr val="C8960C"/>
            </a:solidFill>
            <a:prstDash val="solid"/>
          </a:ln>
        </p:spPr>
      </p:sp>
      <p:sp>
        <p:nvSpPr>
          <p:cNvPr id="222" name="Shape 220"/>
          <p:cNvSpPr/>
          <p:nvPr/>
        </p:nvSpPr>
        <p:spPr>
          <a:xfrm rot="2700000">
            <a:off x="2234794" y="3438144"/>
            <a:ext cx="77724" cy="77724"/>
          </a:xfrm>
          <a:prstGeom prst="rect">
            <a:avLst/>
          </a:prstGeom>
          <a:solidFill>
            <a:srgbClr val="C8960C">
              <a:alpha val="18000"/>
            </a:srgbClr>
          </a:solidFill>
          <a:ln w="12700">
            <a:solidFill>
              <a:srgbClr val="C8960C"/>
            </a:solidFill>
            <a:prstDash val="solid"/>
          </a:ln>
        </p:spPr>
      </p:sp>
      <p:sp>
        <p:nvSpPr>
          <p:cNvPr id="223" name="Shape 221"/>
          <p:cNvSpPr/>
          <p:nvPr/>
        </p:nvSpPr>
        <p:spPr>
          <a:xfrm rot="2700000">
            <a:off x="2351837" y="3438144"/>
            <a:ext cx="77724" cy="77724"/>
          </a:xfrm>
          <a:prstGeom prst="rect">
            <a:avLst/>
          </a:prstGeom>
          <a:solidFill>
            <a:srgbClr val="C8960C">
              <a:alpha val="18000"/>
            </a:srgbClr>
          </a:solidFill>
          <a:ln w="12700">
            <a:solidFill>
              <a:srgbClr val="C8960C"/>
            </a:solidFill>
            <a:prstDash val="solid"/>
          </a:ln>
        </p:spPr>
      </p:sp>
      <p:sp>
        <p:nvSpPr>
          <p:cNvPr id="224" name="Shape 222"/>
          <p:cNvSpPr/>
          <p:nvPr/>
        </p:nvSpPr>
        <p:spPr>
          <a:xfrm rot="2700000">
            <a:off x="2468880" y="3438144"/>
            <a:ext cx="77724" cy="77724"/>
          </a:xfrm>
          <a:prstGeom prst="rect">
            <a:avLst/>
          </a:prstGeom>
          <a:solidFill>
            <a:srgbClr val="C8960C">
              <a:alpha val="18000"/>
            </a:srgbClr>
          </a:solidFill>
          <a:ln w="12700">
            <a:solidFill>
              <a:srgbClr val="C8960C"/>
            </a:solidFill>
            <a:prstDash val="solid"/>
          </a:ln>
        </p:spPr>
      </p:sp>
      <p:sp>
        <p:nvSpPr>
          <p:cNvPr id="225" name="Shape 223"/>
          <p:cNvSpPr/>
          <p:nvPr/>
        </p:nvSpPr>
        <p:spPr>
          <a:xfrm rot="2700000">
            <a:off x="2585923" y="3438144"/>
            <a:ext cx="77724" cy="77724"/>
          </a:xfrm>
          <a:prstGeom prst="rect">
            <a:avLst/>
          </a:prstGeom>
          <a:solidFill>
            <a:srgbClr val="C8960C">
              <a:alpha val="18000"/>
            </a:srgbClr>
          </a:solidFill>
          <a:ln w="12700">
            <a:solidFill>
              <a:srgbClr val="C8960C"/>
            </a:solidFill>
            <a:prstDash val="solid"/>
          </a:ln>
        </p:spPr>
      </p:sp>
      <p:sp>
        <p:nvSpPr>
          <p:cNvPr id="226" name="Shape 224"/>
          <p:cNvSpPr/>
          <p:nvPr/>
        </p:nvSpPr>
        <p:spPr>
          <a:xfrm rot="2700000">
            <a:off x="2702966" y="3438144"/>
            <a:ext cx="77724" cy="77724"/>
          </a:xfrm>
          <a:prstGeom prst="rect">
            <a:avLst/>
          </a:prstGeom>
          <a:solidFill>
            <a:srgbClr val="C8960C">
              <a:alpha val="18000"/>
            </a:srgbClr>
          </a:solidFill>
          <a:ln w="12700">
            <a:solidFill>
              <a:srgbClr val="C8960C"/>
            </a:solidFill>
            <a:prstDash val="solid"/>
          </a:ln>
        </p:spPr>
      </p:sp>
      <p:sp>
        <p:nvSpPr>
          <p:cNvPr id="227" name="Text 225"/>
          <p:cNvSpPr/>
          <p:nvPr/>
        </p:nvSpPr>
        <p:spPr>
          <a:xfrm>
            <a:off x="3328416"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Si le gaz naturel ONEE devient disponible sur site dans 3–5 ans, un brûleur bi-combustible GPL/GN installé aujourd'hui évite un remplacement complet du brûleur. Le surcoût à l'achat est limité. Recommandé.</a:t>
            </a:r>
            <a:endParaRPr lang="en-US" sz="880" dirty="0"/>
          </a:p>
        </p:txBody>
      </p:sp>
      <p:sp>
        <p:nvSpPr>
          <p:cNvPr id="228" name="Shape 226"/>
          <p:cNvSpPr/>
          <p:nvPr/>
        </p:nvSpPr>
        <p:spPr>
          <a:xfrm>
            <a:off x="6144768"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229" name="Shape 227"/>
          <p:cNvSpPr/>
          <p:nvPr/>
        </p:nvSpPr>
        <p:spPr>
          <a:xfrm>
            <a:off x="6144768" y="2944368"/>
            <a:ext cx="2834640" cy="45720"/>
          </a:xfrm>
          <a:prstGeom prst="rect">
            <a:avLst/>
          </a:prstGeom>
          <a:solidFill>
            <a:srgbClr val="1A5FA8"/>
          </a:solidFill>
          <a:ln/>
        </p:spPr>
      </p:sp>
      <p:sp>
        <p:nvSpPr>
          <p:cNvPr id="230" name="Text 228"/>
          <p:cNvSpPr/>
          <p:nvPr/>
        </p:nvSpPr>
        <p:spPr>
          <a:xfrm>
            <a:off x="6272784" y="3035808"/>
            <a:ext cx="2651760" cy="365760"/>
          </a:xfrm>
          <a:prstGeom prst="rect">
            <a:avLst/>
          </a:prstGeom>
          <a:noFill/>
          <a:ln/>
        </p:spPr>
        <p:txBody>
          <a:bodyPr wrap="square" rtlCol="0" anchor="ctr"/>
          <a:lstStyle/>
          <a:p>
            <a:pPr indent="0" marL="0">
              <a:buNone/>
            </a:pPr>
            <a:r>
              <a:rPr lang="en-US" sz="1050" b="1" dirty="0">
                <a:solidFill>
                  <a:srgbClr val="1A5FA8"/>
                </a:solidFill>
                <a:latin typeface="Georgia" pitchFamily="34" charset="0"/>
                <a:ea typeface="Georgia" pitchFamily="34" charset="-122"/>
                <a:cs typeface="Georgia" pitchFamily="34" charset="-120"/>
              </a:rPr>
              <a:t>📋  Analyse combustion obligatoire à la mise en service</a:t>
            </a:r>
            <a:endParaRPr lang="en-US" sz="1050" dirty="0"/>
          </a:p>
        </p:txBody>
      </p:sp>
      <p:sp>
        <p:nvSpPr>
          <p:cNvPr id="231" name="Shape 229"/>
          <p:cNvSpPr/>
          <p:nvPr/>
        </p:nvSpPr>
        <p:spPr>
          <a:xfrm rot="2700000">
            <a:off x="10973" y="3438144"/>
            <a:ext cx="77724" cy="77724"/>
          </a:xfrm>
          <a:prstGeom prst="rect">
            <a:avLst/>
          </a:prstGeom>
          <a:solidFill>
            <a:srgbClr val="1A5FA8">
              <a:alpha val="18000"/>
            </a:srgbClr>
          </a:solidFill>
          <a:ln w="12700">
            <a:solidFill>
              <a:srgbClr val="1A5FA8"/>
            </a:solidFill>
            <a:prstDash val="solid"/>
          </a:ln>
        </p:spPr>
      </p:sp>
      <p:sp>
        <p:nvSpPr>
          <p:cNvPr id="232" name="Shape 230"/>
          <p:cNvSpPr/>
          <p:nvPr/>
        </p:nvSpPr>
        <p:spPr>
          <a:xfrm rot="2700000">
            <a:off x="128016" y="3438144"/>
            <a:ext cx="77724" cy="77724"/>
          </a:xfrm>
          <a:prstGeom prst="rect">
            <a:avLst/>
          </a:prstGeom>
          <a:solidFill>
            <a:srgbClr val="1A5FA8">
              <a:alpha val="18000"/>
            </a:srgbClr>
          </a:solidFill>
          <a:ln w="12700">
            <a:solidFill>
              <a:srgbClr val="1A5FA8"/>
            </a:solidFill>
            <a:prstDash val="solid"/>
          </a:ln>
        </p:spPr>
      </p:sp>
      <p:sp>
        <p:nvSpPr>
          <p:cNvPr id="233" name="Shape 231"/>
          <p:cNvSpPr/>
          <p:nvPr/>
        </p:nvSpPr>
        <p:spPr>
          <a:xfrm rot="2700000">
            <a:off x="245059" y="3438144"/>
            <a:ext cx="77724" cy="77724"/>
          </a:xfrm>
          <a:prstGeom prst="rect">
            <a:avLst/>
          </a:prstGeom>
          <a:solidFill>
            <a:srgbClr val="1A5FA8">
              <a:alpha val="18000"/>
            </a:srgbClr>
          </a:solidFill>
          <a:ln w="12700">
            <a:solidFill>
              <a:srgbClr val="1A5FA8"/>
            </a:solidFill>
            <a:prstDash val="solid"/>
          </a:ln>
        </p:spPr>
      </p:sp>
      <p:sp>
        <p:nvSpPr>
          <p:cNvPr id="234" name="Shape 232"/>
          <p:cNvSpPr/>
          <p:nvPr/>
        </p:nvSpPr>
        <p:spPr>
          <a:xfrm rot="2700000">
            <a:off x="362102" y="3438144"/>
            <a:ext cx="77724" cy="77724"/>
          </a:xfrm>
          <a:prstGeom prst="rect">
            <a:avLst/>
          </a:prstGeom>
          <a:solidFill>
            <a:srgbClr val="1A5FA8">
              <a:alpha val="18000"/>
            </a:srgbClr>
          </a:solidFill>
          <a:ln w="12700">
            <a:solidFill>
              <a:srgbClr val="1A5FA8"/>
            </a:solidFill>
            <a:prstDash val="solid"/>
          </a:ln>
        </p:spPr>
      </p:sp>
      <p:sp>
        <p:nvSpPr>
          <p:cNvPr id="235" name="Shape 233"/>
          <p:cNvSpPr/>
          <p:nvPr/>
        </p:nvSpPr>
        <p:spPr>
          <a:xfrm rot="2700000">
            <a:off x="479146" y="3438144"/>
            <a:ext cx="77724" cy="77724"/>
          </a:xfrm>
          <a:prstGeom prst="rect">
            <a:avLst/>
          </a:prstGeom>
          <a:solidFill>
            <a:srgbClr val="1A5FA8">
              <a:alpha val="18000"/>
            </a:srgbClr>
          </a:solidFill>
          <a:ln w="12700">
            <a:solidFill>
              <a:srgbClr val="1A5FA8"/>
            </a:solidFill>
            <a:prstDash val="solid"/>
          </a:ln>
        </p:spPr>
      </p:sp>
      <p:sp>
        <p:nvSpPr>
          <p:cNvPr id="236" name="Shape 234"/>
          <p:cNvSpPr/>
          <p:nvPr/>
        </p:nvSpPr>
        <p:spPr>
          <a:xfrm rot="2700000">
            <a:off x="596189" y="3438144"/>
            <a:ext cx="77724" cy="77724"/>
          </a:xfrm>
          <a:prstGeom prst="rect">
            <a:avLst/>
          </a:prstGeom>
          <a:solidFill>
            <a:srgbClr val="1A5FA8">
              <a:alpha val="18000"/>
            </a:srgbClr>
          </a:solidFill>
          <a:ln w="12700">
            <a:solidFill>
              <a:srgbClr val="1A5FA8"/>
            </a:solidFill>
            <a:prstDash val="solid"/>
          </a:ln>
        </p:spPr>
      </p:sp>
      <p:sp>
        <p:nvSpPr>
          <p:cNvPr id="237" name="Shape 235"/>
          <p:cNvSpPr/>
          <p:nvPr/>
        </p:nvSpPr>
        <p:spPr>
          <a:xfrm rot="2700000">
            <a:off x="713232" y="3438144"/>
            <a:ext cx="77724" cy="77724"/>
          </a:xfrm>
          <a:prstGeom prst="rect">
            <a:avLst/>
          </a:prstGeom>
          <a:solidFill>
            <a:srgbClr val="1A5FA8">
              <a:alpha val="18000"/>
            </a:srgbClr>
          </a:solidFill>
          <a:ln w="12700">
            <a:solidFill>
              <a:srgbClr val="1A5FA8"/>
            </a:solidFill>
            <a:prstDash val="solid"/>
          </a:ln>
        </p:spPr>
      </p:sp>
      <p:sp>
        <p:nvSpPr>
          <p:cNvPr id="238" name="Shape 236"/>
          <p:cNvSpPr/>
          <p:nvPr/>
        </p:nvSpPr>
        <p:spPr>
          <a:xfrm rot="2700000">
            <a:off x="830275" y="3438144"/>
            <a:ext cx="77724" cy="77724"/>
          </a:xfrm>
          <a:prstGeom prst="rect">
            <a:avLst/>
          </a:prstGeom>
          <a:solidFill>
            <a:srgbClr val="1A5FA8">
              <a:alpha val="18000"/>
            </a:srgbClr>
          </a:solidFill>
          <a:ln w="12700">
            <a:solidFill>
              <a:srgbClr val="1A5FA8"/>
            </a:solidFill>
            <a:prstDash val="solid"/>
          </a:ln>
        </p:spPr>
      </p:sp>
      <p:sp>
        <p:nvSpPr>
          <p:cNvPr id="239" name="Shape 237"/>
          <p:cNvSpPr/>
          <p:nvPr/>
        </p:nvSpPr>
        <p:spPr>
          <a:xfrm rot="2700000">
            <a:off x="947318" y="3438144"/>
            <a:ext cx="77724" cy="77724"/>
          </a:xfrm>
          <a:prstGeom prst="rect">
            <a:avLst/>
          </a:prstGeom>
          <a:solidFill>
            <a:srgbClr val="1A5FA8">
              <a:alpha val="18000"/>
            </a:srgbClr>
          </a:solidFill>
          <a:ln w="12700">
            <a:solidFill>
              <a:srgbClr val="1A5FA8"/>
            </a:solidFill>
            <a:prstDash val="solid"/>
          </a:ln>
        </p:spPr>
      </p:sp>
      <p:sp>
        <p:nvSpPr>
          <p:cNvPr id="240" name="Shape 238"/>
          <p:cNvSpPr/>
          <p:nvPr/>
        </p:nvSpPr>
        <p:spPr>
          <a:xfrm rot="2700000">
            <a:off x="1064362" y="3438144"/>
            <a:ext cx="77724" cy="77724"/>
          </a:xfrm>
          <a:prstGeom prst="rect">
            <a:avLst/>
          </a:prstGeom>
          <a:solidFill>
            <a:srgbClr val="1A5FA8">
              <a:alpha val="18000"/>
            </a:srgbClr>
          </a:solidFill>
          <a:ln w="12700">
            <a:solidFill>
              <a:srgbClr val="1A5FA8"/>
            </a:solidFill>
            <a:prstDash val="solid"/>
          </a:ln>
        </p:spPr>
      </p:sp>
      <p:sp>
        <p:nvSpPr>
          <p:cNvPr id="241" name="Shape 239"/>
          <p:cNvSpPr/>
          <p:nvPr/>
        </p:nvSpPr>
        <p:spPr>
          <a:xfrm rot="2700000">
            <a:off x="1181405" y="3438144"/>
            <a:ext cx="77724" cy="77724"/>
          </a:xfrm>
          <a:prstGeom prst="rect">
            <a:avLst/>
          </a:prstGeom>
          <a:solidFill>
            <a:srgbClr val="1A5FA8">
              <a:alpha val="18000"/>
            </a:srgbClr>
          </a:solidFill>
          <a:ln w="12700">
            <a:solidFill>
              <a:srgbClr val="1A5FA8"/>
            </a:solidFill>
            <a:prstDash val="solid"/>
          </a:ln>
        </p:spPr>
      </p:sp>
      <p:sp>
        <p:nvSpPr>
          <p:cNvPr id="242" name="Shape 240"/>
          <p:cNvSpPr/>
          <p:nvPr/>
        </p:nvSpPr>
        <p:spPr>
          <a:xfrm rot="2700000">
            <a:off x="1298448" y="3438144"/>
            <a:ext cx="77724" cy="77724"/>
          </a:xfrm>
          <a:prstGeom prst="rect">
            <a:avLst/>
          </a:prstGeom>
          <a:solidFill>
            <a:srgbClr val="1A5FA8">
              <a:alpha val="18000"/>
            </a:srgbClr>
          </a:solidFill>
          <a:ln w="12700">
            <a:solidFill>
              <a:srgbClr val="1A5FA8"/>
            </a:solidFill>
            <a:prstDash val="solid"/>
          </a:ln>
        </p:spPr>
      </p:sp>
      <p:sp>
        <p:nvSpPr>
          <p:cNvPr id="243" name="Shape 241"/>
          <p:cNvSpPr/>
          <p:nvPr/>
        </p:nvSpPr>
        <p:spPr>
          <a:xfrm rot="2700000">
            <a:off x="1415491" y="3438144"/>
            <a:ext cx="77724" cy="77724"/>
          </a:xfrm>
          <a:prstGeom prst="rect">
            <a:avLst/>
          </a:prstGeom>
          <a:solidFill>
            <a:srgbClr val="1A5FA8">
              <a:alpha val="18000"/>
            </a:srgbClr>
          </a:solidFill>
          <a:ln w="12700">
            <a:solidFill>
              <a:srgbClr val="1A5FA8"/>
            </a:solidFill>
            <a:prstDash val="solid"/>
          </a:ln>
        </p:spPr>
      </p:sp>
      <p:sp>
        <p:nvSpPr>
          <p:cNvPr id="244" name="Shape 242"/>
          <p:cNvSpPr/>
          <p:nvPr/>
        </p:nvSpPr>
        <p:spPr>
          <a:xfrm rot="2700000">
            <a:off x="1532534" y="3438144"/>
            <a:ext cx="77724" cy="77724"/>
          </a:xfrm>
          <a:prstGeom prst="rect">
            <a:avLst/>
          </a:prstGeom>
          <a:solidFill>
            <a:srgbClr val="1A5FA8">
              <a:alpha val="18000"/>
            </a:srgbClr>
          </a:solidFill>
          <a:ln w="12700">
            <a:solidFill>
              <a:srgbClr val="1A5FA8"/>
            </a:solidFill>
            <a:prstDash val="solid"/>
          </a:ln>
        </p:spPr>
      </p:sp>
      <p:sp>
        <p:nvSpPr>
          <p:cNvPr id="245" name="Shape 243"/>
          <p:cNvSpPr/>
          <p:nvPr/>
        </p:nvSpPr>
        <p:spPr>
          <a:xfrm rot="2700000">
            <a:off x="1649578" y="3438144"/>
            <a:ext cx="77724" cy="77724"/>
          </a:xfrm>
          <a:prstGeom prst="rect">
            <a:avLst/>
          </a:prstGeom>
          <a:solidFill>
            <a:srgbClr val="1A5FA8">
              <a:alpha val="18000"/>
            </a:srgbClr>
          </a:solidFill>
          <a:ln w="12700">
            <a:solidFill>
              <a:srgbClr val="1A5FA8"/>
            </a:solidFill>
            <a:prstDash val="solid"/>
          </a:ln>
        </p:spPr>
      </p:sp>
      <p:sp>
        <p:nvSpPr>
          <p:cNvPr id="246" name="Shape 244"/>
          <p:cNvSpPr/>
          <p:nvPr/>
        </p:nvSpPr>
        <p:spPr>
          <a:xfrm rot="2700000">
            <a:off x="1766621" y="3438144"/>
            <a:ext cx="77724" cy="77724"/>
          </a:xfrm>
          <a:prstGeom prst="rect">
            <a:avLst/>
          </a:prstGeom>
          <a:solidFill>
            <a:srgbClr val="1A5FA8">
              <a:alpha val="18000"/>
            </a:srgbClr>
          </a:solidFill>
          <a:ln w="12700">
            <a:solidFill>
              <a:srgbClr val="1A5FA8"/>
            </a:solidFill>
            <a:prstDash val="solid"/>
          </a:ln>
        </p:spPr>
      </p:sp>
      <p:sp>
        <p:nvSpPr>
          <p:cNvPr id="247" name="Shape 245"/>
          <p:cNvSpPr/>
          <p:nvPr/>
        </p:nvSpPr>
        <p:spPr>
          <a:xfrm rot="2700000">
            <a:off x="1883664" y="3438144"/>
            <a:ext cx="77724" cy="77724"/>
          </a:xfrm>
          <a:prstGeom prst="rect">
            <a:avLst/>
          </a:prstGeom>
          <a:solidFill>
            <a:srgbClr val="1A5FA8">
              <a:alpha val="18000"/>
            </a:srgbClr>
          </a:solidFill>
          <a:ln w="12700">
            <a:solidFill>
              <a:srgbClr val="1A5FA8"/>
            </a:solidFill>
            <a:prstDash val="solid"/>
          </a:ln>
        </p:spPr>
      </p:sp>
      <p:sp>
        <p:nvSpPr>
          <p:cNvPr id="248" name="Shape 246"/>
          <p:cNvSpPr/>
          <p:nvPr/>
        </p:nvSpPr>
        <p:spPr>
          <a:xfrm rot="2700000">
            <a:off x="2000707" y="3438144"/>
            <a:ext cx="77724" cy="77724"/>
          </a:xfrm>
          <a:prstGeom prst="rect">
            <a:avLst/>
          </a:prstGeom>
          <a:solidFill>
            <a:srgbClr val="1A5FA8">
              <a:alpha val="18000"/>
            </a:srgbClr>
          </a:solidFill>
          <a:ln w="12700">
            <a:solidFill>
              <a:srgbClr val="1A5FA8"/>
            </a:solidFill>
            <a:prstDash val="solid"/>
          </a:ln>
        </p:spPr>
      </p:sp>
      <p:sp>
        <p:nvSpPr>
          <p:cNvPr id="249" name="Shape 247"/>
          <p:cNvSpPr/>
          <p:nvPr/>
        </p:nvSpPr>
        <p:spPr>
          <a:xfrm rot="2700000">
            <a:off x="2117750" y="3438144"/>
            <a:ext cx="77724" cy="77724"/>
          </a:xfrm>
          <a:prstGeom prst="rect">
            <a:avLst/>
          </a:prstGeom>
          <a:solidFill>
            <a:srgbClr val="1A5FA8">
              <a:alpha val="18000"/>
            </a:srgbClr>
          </a:solidFill>
          <a:ln w="12700">
            <a:solidFill>
              <a:srgbClr val="1A5FA8"/>
            </a:solidFill>
            <a:prstDash val="solid"/>
          </a:ln>
        </p:spPr>
      </p:sp>
      <p:sp>
        <p:nvSpPr>
          <p:cNvPr id="250" name="Shape 248"/>
          <p:cNvSpPr/>
          <p:nvPr/>
        </p:nvSpPr>
        <p:spPr>
          <a:xfrm rot="2700000">
            <a:off x="2234794" y="3438144"/>
            <a:ext cx="77724" cy="77724"/>
          </a:xfrm>
          <a:prstGeom prst="rect">
            <a:avLst/>
          </a:prstGeom>
          <a:solidFill>
            <a:srgbClr val="1A5FA8">
              <a:alpha val="18000"/>
            </a:srgbClr>
          </a:solidFill>
          <a:ln w="12700">
            <a:solidFill>
              <a:srgbClr val="1A5FA8"/>
            </a:solidFill>
            <a:prstDash val="solid"/>
          </a:ln>
        </p:spPr>
      </p:sp>
      <p:sp>
        <p:nvSpPr>
          <p:cNvPr id="251" name="Shape 249"/>
          <p:cNvSpPr/>
          <p:nvPr/>
        </p:nvSpPr>
        <p:spPr>
          <a:xfrm rot="2700000">
            <a:off x="2351837" y="3438144"/>
            <a:ext cx="77724" cy="77724"/>
          </a:xfrm>
          <a:prstGeom prst="rect">
            <a:avLst/>
          </a:prstGeom>
          <a:solidFill>
            <a:srgbClr val="1A5FA8">
              <a:alpha val="18000"/>
            </a:srgbClr>
          </a:solidFill>
          <a:ln w="12700">
            <a:solidFill>
              <a:srgbClr val="1A5FA8"/>
            </a:solidFill>
            <a:prstDash val="solid"/>
          </a:ln>
        </p:spPr>
      </p:sp>
      <p:sp>
        <p:nvSpPr>
          <p:cNvPr id="252" name="Shape 250"/>
          <p:cNvSpPr/>
          <p:nvPr/>
        </p:nvSpPr>
        <p:spPr>
          <a:xfrm rot="2700000">
            <a:off x="2468880" y="3438144"/>
            <a:ext cx="77724" cy="77724"/>
          </a:xfrm>
          <a:prstGeom prst="rect">
            <a:avLst/>
          </a:prstGeom>
          <a:solidFill>
            <a:srgbClr val="1A5FA8">
              <a:alpha val="18000"/>
            </a:srgbClr>
          </a:solidFill>
          <a:ln w="12700">
            <a:solidFill>
              <a:srgbClr val="1A5FA8"/>
            </a:solidFill>
            <a:prstDash val="solid"/>
          </a:ln>
        </p:spPr>
      </p:sp>
      <p:sp>
        <p:nvSpPr>
          <p:cNvPr id="253" name="Shape 251"/>
          <p:cNvSpPr/>
          <p:nvPr/>
        </p:nvSpPr>
        <p:spPr>
          <a:xfrm rot="2700000">
            <a:off x="2585923" y="3438144"/>
            <a:ext cx="77724" cy="77724"/>
          </a:xfrm>
          <a:prstGeom prst="rect">
            <a:avLst/>
          </a:prstGeom>
          <a:solidFill>
            <a:srgbClr val="1A5FA8">
              <a:alpha val="18000"/>
            </a:srgbClr>
          </a:solidFill>
          <a:ln w="12700">
            <a:solidFill>
              <a:srgbClr val="1A5FA8"/>
            </a:solidFill>
            <a:prstDash val="solid"/>
          </a:ln>
        </p:spPr>
      </p:sp>
      <p:sp>
        <p:nvSpPr>
          <p:cNvPr id="254" name="Shape 252"/>
          <p:cNvSpPr/>
          <p:nvPr/>
        </p:nvSpPr>
        <p:spPr>
          <a:xfrm rot="2700000">
            <a:off x="2702966" y="3438144"/>
            <a:ext cx="77724" cy="77724"/>
          </a:xfrm>
          <a:prstGeom prst="rect">
            <a:avLst/>
          </a:prstGeom>
          <a:solidFill>
            <a:srgbClr val="1A5FA8">
              <a:alpha val="18000"/>
            </a:srgbClr>
          </a:solidFill>
          <a:ln w="12700">
            <a:solidFill>
              <a:srgbClr val="1A5FA8"/>
            </a:solidFill>
            <a:prstDash val="solid"/>
          </a:ln>
        </p:spPr>
      </p:sp>
      <p:sp>
        <p:nvSpPr>
          <p:cNvPr id="255" name="Text 253"/>
          <p:cNvSpPr/>
          <p:nvPr/>
        </p:nvSpPr>
        <p:spPr>
          <a:xfrm>
            <a:off x="6272784"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La mise en service d'un brûleur GPL nécessite une analyse des fumées par un ingénieur certifié combustion GPL — pas un technicien chaudière généraliste. Inclure dans le périmètre de mise en service.</a:t>
            </a:r>
            <a:endParaRPr lang="en-US" sz="880" dirty="0"/>
          </a:p>
        </p:txBody>
      </p:sp>
      <p:sp>
        <p:nvSpPr>
          <p:cNvPr id="256" name="Shape 254"/>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259" name="Shape 257"/>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260" name="Shape 258"/>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261" name="Shape 259"/>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262" name="Shape 260"/>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263" name="Shape 261"/>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264" name="Shape 262"/>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265" name="Shape 263"/>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266" name="Shape 264"/>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267" name="Shape 265"/>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268" name="Shape 266"/>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269" name="Shape 267"/>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270" name="Shape 268"/>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271" name="Shape 269"/>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272" name="Shape 270"/>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273" name="Shape 271"/>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274" name="Shape 272"/>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75" name="Shape 273"/>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76" name="Shape 274"/>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77" name="Shape 275"/>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78" name="Shape 276"/>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79" name="Shape 277"/>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80" name="Shape 278"/>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81" name="Shape 279"/>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82" name="Shape 280"/>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83" name="Shape 281"/>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84" name="Shape 282"/>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85" name="Shape 283"/>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86" name="Shape 284"/>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87" name="Shape 285"/>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88" name="Shape 286"/>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89" name="Shape 287"/>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90" name="Shape 288"/>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91" name="Shape 289"/>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92" name="Shape 290"/>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93" name="Shape 291"/>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94" name="Shape 292"/>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95" name="Shape 293"/>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96" name="Shape 294"/>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97" name="Shape 295"/>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98" name="Shape 296"/>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99" name="Shape 297"/>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300" name="Shape 298"/>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301" name="Shape 299"/>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302" name="Shape 300"/>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303" name="Shape 301"/>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304" name="Shape 302"/>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305" name="Shape 303"/>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306" name="Shape 304"/>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307" name="Shape 305"/>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308" name="Shape 306"/>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309" name="Shape 307"/>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310" name="Shape 308"/>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311" name="Shape 309"/>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312" name="Shape 310"/>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313" name="Shape 311"/>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314" name="Shape 312"/>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315" name="Shape 313"/>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316" name="Shape 314"/>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317" name="Shape 315"/>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318" name="Shape 316"/>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319" name="Shape 317"/>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320" name="Shape 318"/>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321" name="Shape 319"/>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322" name="Shape 320"/>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323" name="Shape 321"/>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324" name="Shape 322"/>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325" name="Shape 323"/>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326" name="Shape 324"/>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327" name="Shape 325"/>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328" name="Shape 326"/>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329" name="Shape 327"/>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330" name="Shape 328"/>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331" name="Shape 329"/>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332" name="Shape 330"/>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333" name="Shape 331"/>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334" name="Text 332"/>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EXPORT UE &amp; USA — CE QUI COMPTE VRAIMENT</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La marque de la chaudière ne détermine pas votre certification export</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475488"/>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54864" cy="475488"/>
          </a:xfrm>
          <a:prstGeom prst="rect">
            <a:avLst/>
          </a:prstGeom>
          <a:solidFill>
            <a:srgbClr val="D4951A"/>
          </a:solidFill>
          <a:ln/>
        </p:spPr>
      </p:sp>
      <p:sp>
        <p:nvSpPr>
          <p:cNvPr id="90" name="Text 88"/>
          <p:cNvSpPr/>
          <p:nvPr/>
        </p:nvSpPr>
        <p:spPr>
          <a:xfrm>
            <a:off x="402336" y="969264"/>
            <a:ext cx="8321040" cy="402336"/>
          </a:xfrm>
          <a:prstGeom prst="rect">
            <a:avLst/>
          </a:prstGeom>
          <a:noFill/>
          <a:ln/>
        </p:spPr>
        <p:txBody>
          <a:bodyPr wrap="square" rtlCol="0" anchor="ctr"/>
          <a:lstStyle/>
          <a:p>
            <a:pPr indent="0" marL="0">
              <a:buNone/>
            </a:pPr>
            <a:r>
              <a:rPr lang="en-US" sz="1100" b="1" dirty="0">
                <a:solidFill>
                  <a:srgbClr val="D4951A"/>
                </a:solidFill>
                <a:latin typeface="Calibri" pitchFamily="34" charset="0"/>
                <a:ea typeface="Calibri" pitchFamily="34" charset="-122"/>
                <a:cs typeface="Calibri" pitchFamily="34" charset="-120"/>
              </a:rPr>
              <a:t>Principe fondamental : </a:t>
            </a:r>
            <a:pPr indent="0" marL="0">
              <a:buNone/>
            </a:pPr>
            <a:r>
              <a:rPr lang="en-US" sz="1050" dirty="0">
                <a:solidFill>
                  <a:srgbClr val="EDE0C8"/>
                </a:solidFill>
                <a:latin typeface="Calibri" pitchFamily="34" charset="0"/>
                <a:ea typeface="Calibri" pitchFamily="34" charset="-122"/>
                <a:cs typeface="Calibri" pitchFamily="34" charset="-120"/>
              </a:rPr>
              <a:t>Ni l'UE ni la FDA ne spécifient une marque ou technologie de chaudière. Ce qui est réglementé, c'est la qualité et la traçabilité de la vapeur produite — en tant qu'intrant process en contact avec l'aliment — et la façon dont vous la documentez.</a:t>
            </a:r>
            <a:endParaRPr lang="en-US" sz="1100" dirty="0"/>
          </a:p>
        </p:txBody>
      </p:sp>
      <p:sp>
        <p:nvSpPr>
          <p:cNvPr id="91" name="Shape 89"/>
          <p:cNvSpPr/>
          <p:nvPr/>
        </p:nvSpPr>
        <p:spPr>
          <a:xfrm>
            <a:off x="256032" y="1499616"/>
            <a:ext cx="8631936" cy="594360"/>
          </a:xfrm>
          <a:prstGeom prst="rect">
            <a:avLst/>
          </a:prstGeom>
          <a:solidFill>
            <a:srgbClr val="141418"/>
          </a:solidFill>
          <a:ln w="12700">
            <a:solidFill>
              <a:srgbClr val="1E1E26"/>
            </a:solidFill>
            <a:prstDash val="solid"/>
          </a:ln>
        </p:spPr>
      </p:sp>
      <p:sp>
        <p:nvSpPr>
          <p:cNvPr id="92" name="Shape 90"/>
          <p:cNvSpPr/>
          <p:nvPr/>
        </p:nvSpPr>
        <p:spPr>
          <a:xfrm>
            <a:off x="256032" y="1499616"/>
            <a:ext cx="502920" cy="594360"/>
          </a:xfrm>
          <a:prstGeom prst="rect">
            <a:avLst/>
          </a:prstGeom>
          <a:solidFill>
            <a:srgbClr val="1A5FA8"/>
          </a:solidFill>
          <a:ln/>
        </p:spPr>
      </p:sp>
      <p:sp>
        <p:nvSpPr>
          <p:cNvPr id="93" name="Text 91"/>
          <p:cNvSpPr/>
          <p:nvPr/>
        </p:nvSpPr>
        <p:spPr>
          <a:xfrm>
            <a:off x="256032" y="149961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01</a:t>
            </a:r>
            <a:endParaRPr lang="en-US" sz="1500" dirty="0"/>
          </a:p>
        </p:txBody>
      </p:sp>
      <p:sp>
        <p:nvSpPr>
          <p:cNvPr id="94" name="Text 92"/>
          <p:cNvSpPr/>
          <p:nvPr/>
        </p:nvSpPr>
        <p:spPr>
          <a:xfrm>
            <a:off x="841248" y="1536192"/>
            <a:ext cx="6766560" cy="237744"/>
          </a:xfrm>
          <a:prstGeom prst="rect">
            <a:avLst/>
          </a:prstGeom>
          <a:noFill/>
          <a:ln/>
        </p:spPr>
        <p:txBody>
          <a:bodyPr wrap="square" rtlCol="0" anchor="ctr"/>
          <a:lstStyle/>
          <a:p>
            <a:pPr indent="0" marL="0">
              <a:buNone/>
            </a:pPr>
            <a:r>
              <a:rPr lang="en-US" sz="1050" b="1" dirty="0">
                <a:solidFill>
                  <a:srgbClr val="1A5FA8"/>
                </a:solidFill>
                <a:latin typeface="Georgia" pitchFamily="34" charset="0"/>
                <a:ea typeface="Georgia" pitchFamily="34" charset="-122"/>
                <a:cs typeface="Georgia" pitchFamily="34" charset="-120"/>
              </a:rPr>
              <a:t>Marquage CE sous la Directive Équipements sous Pression 2014/68/UE</a:t>
            </a:r>
            <a:endParaRPr lang="en-US" sz="1050" dirty="0"/>
          </a:p>
        </p:txBody>
      </p:sp>
      <p:sp>
        <p:nvSpPr>
          <p:cNvPr id="95" name="Text 93"/>
          <p:cNvSpPr/>
          <p:nvPr/>
        </p:nvSpPr>
        <p:spPr>
          <a:xfrm>
            <a:off x="841248" y="177393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SEUL point où le choix de chaudière impacte directement la conformité export. Exiger le marquage CE dans l'AO — s'applique aussi bien au GVI qu'aux tubes de fumée. Vérifier explicitement avec chaque fournisseur.</a:t>
            </a:r>
            <a:endParaRPr lang="en-US" sz="850" dirty="0"/>
          </a:p>
        </p:txBody>
      </p:sp>
      <p:sp>
        <p:nvSpPr>
          <p:cNvPr id="96" name="Shape 94"/>
          <p:cNvSpPr/>
          <p:nvPr/>
        </p:nvSpPr>
        <p:spPr>
          <a:xfrm>
            <a:off x="7699248" y="1536192"/>
            <a:ext cx="475488" cy="219456"/>
          </a:xfrm>
          <a:prstGeom prst="rect">
            <a:avLst/>
          </a:prstGeom>
          <a:solidFill>
            <a:srgbClr val="1A3A8A"/>
          </a:solidFill>
          <a:ln/>
        </p:spPr>
      </p:sp>
      <p:sp>
        <p:nvSpPr>
          <p:cNvPr id="97" name="Text 95"/>
          <p:cNvSpPr/>
          <p:nvPr/>
        </p:nvSpPr>
        <p:spPr>
          <a:xfrm>
            <a:off x="7699248" y="153619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98" name="Shape 96"/>
          <p:cNvSpPr/>
          <p:nvPr/>
        </p:nvSpPr>
        <p:spPr>
          <a:xfrm>
            <a:off x="256032" y="2139696"/>
            <a:ext cx="8631936" cy="594360"/>
          </a:xfrm>
          <a:prstGeom prst="rect">
            <a:avLst/>
          </a:prstGeom>
          <a:solidFill>
            <a:srgbClr val="141418"/>
          </a:solidFill>
          <a:ln w="12700">
            <a:solidFill>
              <a:srgbClr val="1E1E26"/>
            </a:solidFill>
            <a:prstDash val="solid"/>
          </a:ln>
        </p:spPr>
      </p:sp>
      <p:sp>
        <p:nvSpPr>
          <p:cNvPr id="99" name="Shape 97"/>
          <p:cNvSpPr/>
          <p:nvPr/>
        </p:nvSpPr>
        <p:spPr>
          <a:xfrm>
            <a:off x="256032" y="2139696"/>
            <a:ext cx="502920" cy="594360"/>
          </a:xfrm>
          <a:prstGeom prst="rect">
            <a:avLst/>
          </a:prstGeom>
          <a:solidFill>
            <a:srgbClr val="1B9A8A"/>
          </a:solidFill>
          <a:ln/>
        </p:spPr>
      </p:sp>
      <p:sp>
        <p:nvSpPr>
          <p:cNvPr id="100" name="Text 98"/>
          <p:cNvSpPr/>
          <p:nvPr/>
        </p:nvSpPr>
        <p:spPr>
          <a:xfrm>
            <a:off x="256032" y="213969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02</a:t>
            </a:r>
            <a:endParaRPr lang="en-US" sz="1500" dirty="0"/>
          </a:p>
        </p:txBody>
      </p:sp>
      <p:sp>
        <p:nvSpPr>
          <p:cNvPr id="101" name="Text 99"/>
          <p:cNvSpPr/>
          <p:nvPr/>
        </p:nvSpPr>
        <p:spPr>
          <a:xfrm>
            <a:off x="841248" y="2176272"/>
            <a:ext cx="6766560" cy="237744"/>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Produits chimiques traitement eau homologués NSF H1</a:t>
            </a:r>
            <a:endParaRPr lang="en-US" sz="1050" dirty="0"/>
          </a:p>
        </p:txBody>
      </p:sp>
      <p:sp>
        <p:nvSpPr>
          <p:cNvPr id="102" name="Text 100"/>
          <p:cNvSpPr/>
          <p:nvPr/>
        </p:nvSpPr>
        <p:spPr>
          <a:xfrm>
            <a:off x="841248" y="241401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Les inhibiteurs tartre et désoxygénants industriels standard ne sont PAS acceptables. Reg. (CE) 183/2005 et FDA 21 CFR Part 507 exigent des intrants chimiques homologués alimentaires. S'applique à toute technologie chaudière.</a:t>
            </a:r>
            <a:endParaRPr lang="en-US" sz="850" dirty="0"/>
          </a:p>
        </p:txBody>
      </p:sp>
      <p:sp>
        <p:nvSpPr>
          <p:cNvPr id="103" name="Shape 101"/>
          <p:cNvSpPr/>
          <p:nvPr/>
        </p:nvSpPr>
        <p:spPr>
          <a:xfrm>
            <a:off x="7699248" y="2176272"/>
            <a:ext cx="475488" cy="219456"/>
          </a:xfrm>
          <a:prstGeom prst="rect">
            <a:avLst/>
          </a:prstGeom>
          <a:solidFill>
            <a:srgbClr val="1A3A8A"/>
          </a:solidFill>
          <a:ln/>
        </p:spPr>
      </p:sp>
      <p:sp>
        <p:nvSpPr>
          <p:cNvPr id="104" name="Text 102"/>
          <p:cNvSpPr/>
          <p:nvPr/>
        </p:nvSpPr>
        <p:spPr>
          <a:xfrm>
            <a:off x="7699248" y="217627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05" name="Shape 103"/>
          <p:cNvSpPr/>
          <p:nvPr/>
        </p:nvSpPr>
        <p:spPr>
          <a:xfrm>
            <a:off x="8266176" y="2176272"/>
            <a:ext cx="530352" cy="219456"/>
          </a:xfrm>
          <a:prstGeom prst="rect">
            <a:avLst/>
          </a:prstGeom>
          <a:solidFill>
            <a:srgbClr val="8A1A1A"/>
          </a:solidFill>
          <a:ln/>
        </p:spPr>
      </p:sp>
      <p:sp>
        <p:nvSpPr>
          <p:cNvPr id="106" name="Text 104"/>
          <p:cNvSpPr/>
          <p:nvPr/>
        </p:nvSpPr>
        <p:spPr>
          <a:xfrm>
            <a:off x="8266176" y="2176272"/>
            <a:ext cx="530352"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07" name="Shape 105"/>
          <p:cNvSpPr/>
          <p:nvPr/>
        </p:nvSpPr>
        <p:spPr>
          <a:xfrm>
            <a:off x="256032" y="2779776"/>
            <a:ext cx="8631936" cy="594360"/>
          </a:xfrm>
          <a:prstGeom prst="rect">
            <a:avLst/>
          </a:prstGeom>
          <a:solidFill>
            <a:srgbClr val="141418"/>
          </a:solidFill>
          <a:ln w="12700">
            <a:solidFill>
              <a:srgbClr val="1E1E26"/>
            </a:solidFill>
            <a:prstDash val="solid"/>
          </a:ln>
        </p:spPr>
      </p:sp>
      <p:sp>
        <p:nvSpPr>
          <p:cNvPr id="108" name="Shape 106"/>
          <p:cNvSpPr/>
          <p:nvPr/>
        </p:nvSpPr>
        <p:spPr>
          <a:xfrm>
            <a:off x="256032" y="2779776"/>
            <a:ext cx="502920" cy="594360"/>
          </a:xfrm>
          <a:prstGeom prst="rect">
            <a:avLst/>
          </a:prstGeom>
          <a:solidFill>
            <a:srgbClr val="D4951A"/>
          </a:solidFill>
          <a:ln/>
        </p:spPr>
      </p:sp>
      <p:sp>
        <p:nvSpPr>
          <p:cNvPr id="109" name="Text 107"/>
          <p:cNvSpPr/>
          <p:nvPr/>
        </p:nvSpPr>
        <p:spPr>
          <a:xfrm>
            <a:off x="256032" y="277977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03</a:t>
            </a:r>
            <a:endParaRPr lang="en-US" sz="1500" dirty="0"/>
          </a:p>
        </p:txBody>
      </p:sp>
      <p:sp>
        <p:nvSpPr>
          <p:cNvPr id="110" name="Text 108"/>
          <p:cNvSpPr/>
          <p:nvPr/>
        </p:nvSpPr>
        <p:spPr>
          <a:xfrm>
            <a:off x="841248" y="2816352"/>
            <a:ext cx="6766560" cy="237744"/>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Qualité vapeur documentée comme CCP dans le plan HACCP</a:t>
            </a:r>
            <a:endParaRPr lang="en-US" sz="1050" dirty="0"/>
          </a:p>
        </p:txBody>
      </p:sp>
      <p:sp>
        <p:nvSpPr>
          <p:cNvPr id="111" name="Text 109"/>
          <p:cNvSpPr/>
          <p:nvPr/>
        </p:nvSpPr>
        <p:spPr>
          <a:xfrm>
            <a:off x="841248" y="305409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Le circuit vapeur du conditionneur doit être identifié comme CCP. Procédure surveillance (pH, conductivité quotidiens), action corrective et résultats laboratoire indépendants trimestriels. L'auditeur demandera ces dossiers — la marque importe peu.</a:t>
            </a:r>
            <a:endParaRPr lang="en-US" sz="850" dirty="0"/>
          </a:p>
        </p:txBody>
      </p:sp>
      <p:sp>
        <p:nvSpPr>
          <p:cNvPr id="112" name="Shape 110"/>
          <p:cNvSpPr/>
          <p:nvPr/>
        </p:nvSpPr>
        <p:spPr>
          <a:xfrm>
            <a:off x="7699248" y="2816352"/>
            <a:ext cx="475488" cy="219456"/>
          </a:xfrm>
          <a:prstGeom prst="rect">
            <a:avLst/>
          </a:prstGeom>
          <a:solidFill>
            <a:srgbClr val="1A3A8A"/>
          </a:solidFill>
          <a:ln/>
        </p:spPr>
      </p:sp>
      <p:sp>
        <p:nvSpPr>
          <p:cNvPr id="113" name="Text 111"/>
          <p:cNvSpPr/>
          <p:nvPr/>
        </p:nvSpPr>
        <p:spPr>
          <a:xfrm>
            <a:off x="7699248" y="281635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14" name="Shape 112"/>
          <p:cNvSpPr/>
          <p:nvPr/>
        </p:nvSpPr>
        <p:spPr>
          <a:xfrm>
            <a:off x="8266176" y="2816352"/>
            <a:ext cx="530352" cy="219456"/>
          </a:xfrm>
          <a:prstGeom prst="rect">
            <a:avLst/>
          </a:prstGeom>
          <a:solidFill>
            <a:srgbClr val="8A1A1A"/>
          </a:solidFill>
          <a:ln/>
        </p:spPr>
      </p:sp>
      <p:sp>
        <p:nvSpPr>
          <p:cNvPr id="115" name="Text 113"/>
          <p:cNvSpPr/>
          <p:nvPr/>
        </p:nvSpPr>
        <p:spPr>
          <a:xfrm>
            <a:off x="8266176" y="2816352"/>
            <a:ext cx="530352"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16" name="Shape 114"/>
          <p:cNvSpPr/>
          <p:nvPr/>
        </p:nvSpPr>
        <p:spPr>
          <a:xfrm>
            <a:off x="256032" y="3419856"/>
            <a:ext cx="8631936" cy="594360"/>
          </a:xfrm>
          <a:prstGeom prst="rect">
            <a:avLst/>
          </a:prstGeom>
          <a:solidFill>
            <a:srgbClr val="141418"/>
          </a:solidFill>
          <a:ln w="12700">
            <a:solidFill>
              <a:srgbClr val="1E1E26"/>
            </a:solidFill>
            <a:prstDash val="solid"/>
          </a:ln>
        </p:spPr>
      </p:sp>
      <p:sp>
        <p:nvSpPr>
          <p:cNvPr id="117" name="Shape 115"/>
          <p:cNvSpPr/>
          <p:nvPr/>
        </p:nvSpPr>
        <p:spPr>
          <a:xfrm>
            <a:off x="256032" y="3419856"/>
            <a:ext cx="502920" cy="594360"/>
          </a:xfrm>
          <a:prstGeom prst="rect">
            <a:avLst/>
          </a:prstGeom>
          <a:solidFill>
            <a:srgbClr val="C0622B"/>
          </a:solidFill>
          <a:ln/>
        </p:spPr>
      </p:sp>
      <p:sp>
        <p:nvSpPr>
          <p:cNvPr id="118" name="Text 116"/>
          <p:cNvSpPr/>
          <p:nvPr/>
        </p:nvSpPr>
        <p:spPr>
          <a:xfrm>
            <a:off x="256032" y="341985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04</a:t>
            </a:r>
            <a:endParaRPr lang="en-US" sz="1500" dirty="0"/>
          </a:p>
        </p:txBody>
      </p:sp>
      <p:sp>
        <p:nvSpPr>
          <p:cNvPr id="119" name="Text 117"/>
          <p:cNvSpPr/>
          <p:nvPr/>
        </p:nvSpPr>
        <p:spPr>
          <a:xfrm>
            <a:off x="841248" y="3456432"/>
            <a:ext cx="6766560" cy="237744"/>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Traçabilité métrologique de tous les instruments</a:t>
            </a:r>
            <a:endParaRPr lang="en-US" sz="1050" dirty="0"/>
          </a:p>
        </p:txBody>
      </p:sp>
      <p:sp>
        <p:nvSpPr>
          <p:cNvPr id="120" name="Text 118"/>
          <p:cNvSpPr/>
          <p:nvPr/>
        </p:nvSpPr>
        <p:spPr>
          <a:xfrm>
            <a:off x="841248" y="369417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Manomètres, capteurs T°, soupapes sécurité, conductimètres — étalonnés par organisme accrédité, certificats 2 ans minimum. S'applique indifféremment au GVI et aux tubes de fumée.</a:t>
            </a:r>
            <a:endParaRPr lang="en-US" sz="850" dirty="0"/>
          </a:p>
        </p:txBody>
      </p:sp>
      <p:sp>
        <p:nvSpPr>
          <p:cNvPr id="121" name="Shape 119"/>
          <p:cNvSpPr/>
          <p:nvPr/>
        </p:nvSpPr>
        <p:spPr>
          <a:xfrm>
            <a:off x="7699248" y="3456432"/>
            <a:ext cx="475488" cy="219456"/>
          </a:xfrm>
          <a:prstGeom prst="rect">
            <a:avLst/>
          </a:prstGeom>
          <a:solidFill>
            <a:srgbClr val="1A3A8A"/>
          </a:solidFill>
          <a:ln/>
        </p:spPr>
      </p:sp>
      <p:sp>
        <p:nvSpPr>
          <p:cNvPr id="122" name="Text 120"/>
          <p:cNvSpPr/>
          <p:nvPr/>
        </p:nvSpPr>
        <p:spPr>
          <a:xfrm>
            <a:off x="7699248" y="345643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23" name="Shape 121"/>
          <p:cNvSpPr/>
          <p:nvPr/>
        </p:nvSpPr>
        <p:spPr>
          <a:xfrm>
            <a:off x="8266176" y="3456432"/>
            <a:ext cx="530352" cy="219456"/>
          </a:xfrm>
          <a:prstGeom prst="rect">
            <a:avLst/>
          </a:prstGeom>
          <a:solidFill>
            <a:srgbClr val="8A1A1A"/>
          </a:solidFill>
          <a:ln/>
        </p:spPr>
      </p:sp>
      <p:sp>
        <p:nvSpPr>
          <p:cNvPr id="124" name="Text 122"/>
          <p:cNvSpPr/>
          <p:nvPr/>
        </p:nvSpPr>
        <p:spPr>
          <a:xfrm>
            <a:off x="8266176" y="3456432"/>
            <a:ext cx="530352"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25" name="Shape 123"/>
          <p:cNvSpPr/>
          <p:nvPr/>
        </p:nvSpPr>
        <p:spPr>
          <a:xfrm>
            <a:off x="256032" y="4059936"/>
            <a:ext cx="8631936" cy="594360"/>
          </a:xfrm>
          <a:prstGeom prst="rect">
            <a:avLst/>
          </a:prstGeom>
          <a:solidFill>
            <a:srgbClr val="141418"/>
          </a:solidFill>
          <a:ln w="12700">
            <a:solidFill>
              <a:srgbClr val="1E1E26"/>
            </a:solidFill>
            <a:prstDash val="solid"/>
          </a:ln>
        </p:spPr>
      </p:sp>
      <p:sp>
        <p:nvSpPr>
          <p:cNvPr id="126" name="Shape 124"/>
          <p:cNvSpPr/>
          <p:nvPr/>
        </p:nvSpPr>
        <p:spPr>
          <a:xfrm>
            <a:off x="256032" y="4059936"/>
            <a:ext cx="502920" cy="594360"/>
          </a:xfrm>
          <a:prstGeom prst="rect">
            <a:avLst/>
          </a:prstGeom>
          <a:solidFill>
            <a:srgbClr val="E8A020"/>
          </a:solidFill>
          <a:ln/>
        </p:spPr>
      </p:sp>
      <p:sp>
        <p:nvSpPr>
          <p:cNvPr id="127" name="Text 125"/>
          <p:cNvSpPr/>
          <p:nvPr/>
        </p:nvSpPr>
        <p:spPr>
          <a:xfrm>
            <a:off x="256032" y="4059936"/>
            <a:ext cx="502920" cy="594360"/>
          </a:xfrm>
          <a:prstGeom prst="rect">
            <a:avLst/>
          </a:prstGeom>
          <a:noFill/>
          <a:ln/>
        </p:spPr>
        <p:txBody>
          <a:bodyPr wrap="square" rtlCol="0" anchor="ctr"/>
          <a:lstStyle/>
          <a:p>
            <a:pPr algn="ctr" indent="0" marL="0">
              <a:buNone/>
            </a:pPr>
            <a:r>
              <a:rPr lang="en-US" sz="1500" b="1" dirty="0">
                <a:solidFill>
                  <a:srgbClr val="09090F"/>
                </a:solidFill>
                <a:latin typeface="Georgia" pitchFamily="34" charset="0"/>
                <a:ea typeface="Georgia" pitchFamily="34" charset="-122"/>
                <a:cs typeface="Georgia" pitchFamily="34" charset="-120"/>
              </a:rPr>
              <a:t>05</a:t>
            </a:r>
            <a:endParaRPr lang="en-US" sz="1500" dirty="0"/>
          </a:p>
        </p:txBody>
      </p:sp>
      <p:sp>
        <p:nvSpPr>
          <p:cNvPr id="128" name="Text 126"/>
          <p:cNvSpPr/>
          <p:nvPr/>
        </p:nvSpPr>
        <p:spPr>
          <a:xfrm>
            <a:off x="841248" y="4096512"/>
            <a:ext cx="6766560" cy="237744"/>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Alimentation vapeur stable vers le CCP (étape de destruction)</a:t>
            </a:r>
            <a:endParaRPr lang="en-US" sz="1050" dirty="0"/>
          </a:p>
        </p:txBody>
      </p:sp>
      <p:sp>
        <p:nvSpPr>
          <p:cNvPr id="129" name="Text 127"/>
          <p:cNvSpPr/>
          <p:nvPr/>
        </p:nvSpPr>
        <p:spPr>
          <a:xfrm>
            <a:off x="841248" y="4334256"/>
            <a:ext cx="6766560" cy="292608"/>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Conditionneur + extrusion (≥80°C, ≥30 s) = barrière primaire sécurité alimentaire. La validation HACCP doit démontrer la stabilité. Le GVI a théoriquement l'avantage — mais une chaudière à tubes de fumée bien dimensionnée y répond aussi.</a:t>
            </a:r>
            <a:endParaRPr lang="en-US" sz="850" dirty="0"/>
          </a:p>
        </p:txBody>
      </p:sp>
      <p:sp>
        <p:nvSpPr>
          <p:cNvPr id="130" name="Shape 128"/>
          <p:cNvSpPr/>
          <p:nvPr/>
        </p:nvSpPr>
        <p:spPr>
          <a:xfrm>
            <a:off x="7699248" y="4096512"/>
            <a:ext cx="475488" cy="219456"/>
          </a:xfrm>
          <a:prstGeom prst="rect">
            <a:avLst/>
          </a:prstGeom>
          <a:solidFill>
            <a:srgbClr val="1A3A8A"/>
          </a:solidFill>
          <a:ln/>
        </p:spPr>
      </p:sp>
      <p:sp>
        <p:nvSpPr>
          <p:cNvPr id="131" name="Text 129"/>
          <p:cNvSpPr/>
          <p:nvPr/>
        </p:nvSpPr>
        <p:spPr>
          <a:xfrm>
            <a:off x="7699248" y="4096512"/>
            <a:ext cx="475488"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32" name="Shape 130"/>
          <p:cNvSpPr/>
          <p:nvPr/>
        </p:nvSpPr>
        <p:spPr>
          <a:xfrm>
            <a:off x="8266176" y="4096512"/>
            <a:ext cx="530352" cy="219456"/>
          </a:xfrm>
          <a:prstGeom prst="rect">
            <a:avLst/>
          </a:prstGeom>
          <a:solidFill>
            <a:srgbClr val="8A1A1A"/>
          </a:solidFill>
          <a:ln/>
        </p:spPr>
      </p:sp>
      <p:sp>
        <p:nvSpPr>
          <p:cNvPr id="133" name="Text 131"/>
          <p:cNvSpPr/>
          <p:nvPr/>
        </p:nvSpPr>
        <p:spPr>
          <a:xfrm>
            <a:off x="8266176" y="4096512"/>
            <a:ext cx="530352" cy="219456"/>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34" name="Shape 132"/>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12" name="Text 210"/>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PANORAMA FABRICANTS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Fournisseurs présélectionnés — données vérifiées, sans spéculation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329184"/>
          </a:xfrm>
          <a:prstGeom prst="rect">
            <a:avLst/>
          </a:prstGeom>
          <a:solidFill>
            <a:srgbClr val="130F08"/>
          </a:solidFill>
          <a:ln w="12700">
            <a:solidFill>
              <a:srgbClr val="C0622B"/>
            </a:solidFill>
            <a:prstDash val="solid"/>
          </a:ln>
        </p:spPr>
      </p:sp>
      <p:sp>
        <p:nvSpPr>
          <p:cNvPr id="89" name="Text 87"/>
          <p:cNvSpPr/>
          <p:nvPr/>
        </p:nvSpPr>
        <p:spPr>
          <a:xfrm>
            <a:off x="347472" y="950976"/>
            <a:ext cx="8357616" cy="292608"/>
          </a:xfrm>
          <a:prstGeom prst="rect">
            <a:avLst/>
          </a:prstGeom>
          <a:noFill/>
          <a:ln/>
        </p:spPr>
        <p:txBody>
          <a:bodyPr wrap="square" rtlCol="0" anchor="ctr"/>
          <a:lstStyle/>
          <a:p>
            <a:pPr indent="0" marL="0">
              <a:buNone/>
            </a:pPr>
            <a:r>
              <a:rPr lang="en-US" sz="850" i="1" dirty="0">
                <a:solidFill>
                  <a:srgbClr val="E8A020"/>
                </a:solidFill>
                <a:latin typeface="Calibri" pitchFamily="34" charset="0"/>
                <a:ea typeface="Calibri" pitchFamily="34" charset="-122"/>
                <a:cs typeface="Calibri" pitchFamily="34" charset="-120"/>
              </a:rPr>
              <a:t>⚠  Note : Prix, disponibilité actuelle au Maroc et délais doivent être confirmés directement auprès de chaque fournisseur. La garantie SAV local est la question clé à poser à chaque GVI.</a:t>
            </a:r>
            <a:endParaRPr lang="en-US" sz="850" dirty="0"/>
          </a:p>
        </p:txBody>
      </p:sp>
      <p:sp>
        <p:nvSpPr>
          <p:cNvPr id="90" name="Shape 88"/>
          <p:cNvSpPr/>
          <p:nvPr/>
        </p:nvSpPr>
        <p:spPr>
          <a:xfrm>
            <a:off x="256032" y="1335024"/>
            <a:ext cx="8631936" cy="676656"/>
          </a:xfrm>
          <a:prstGeom prst="rect">
            <a:avLst/>
          </a:prstGeom>
          <a:solidFill>
            <a:srgbClr val="141418"/>
          </a:solidFill>
          <a:ln w="12700">
            <a:solidFill>
              <a:srgbClr val="1E1E26"/>
            </a:solidFill>
            <a:prstDash val="solid"/>
          </a:ln>
        </p:spPr>
      </p:sp>
      <p:sp>
        <p:nvSpPr>
          <p:cNvPr id="91" name="Shape 89"/>
          <p:cNvSpPr/>
          <p:nvPr/>
        </p:nvSpPr>
        <p:spPr>
          <a:xfrm>
            <a:off x="256032" y="1335024"/>
            <a:ext cx="54864" cy="676656"/>
          </a:xfrm>
          <a:prstGeom prst="rect">
            <a:avLst/>
          </a:prstGeom>
          <a:solidFill>
            <a:srgbClr val="1B9A8A"/>
          </a:solidFill>
          <a:ln/>
        </p:spPr>
      </p:sp>
      <p:sp>
        <p:nvSpPr>
          <p:cNvPr id="92" name="Shape 90"/>
          <p:cNvSpPr/>
          <p:nvPr/>
        </p:nvSpPr>
        <p:spPr>
          <a:xfrm>
            <a:off x="7132320" y="1389888"/>
            <a:ext cx="1700784" cy="237744"/>
          </a:xfrm>
          <a:prstGeom prst="rect">
            <a:avLst/>
          </a:prstGeom>
          <a:solidFill>
            <a:srgbClr val="E8A020"/>
          </a:solidFill>
          <a:ln/>
        </p:spPr>
      </p:sp>
      <p:sp>
        <p:nvSpPr>
          <p:cNvPr id="93" name="Text 91"/>
          <p:cNvSpPr/>
          <p:nvPr/>
        </p:nvSpPr>
        <p:spPr>
          <a:xfrm>
            <a:off x="7132320" y="138988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CONDITIONNEL</a:t>
            </a:r>
            <a:endParaRPr lang="en-US" sz="700" dirty="0"/>
          </a:p>
        </p:txBody>
      </p:sp>
      <p:sp>
        <p:nvSpPr>
          <p:cNvPr id="94" name="Text 92"/>
          <p:cNvSpPr/>
          <p:nvPr/>
        </p:nvSpPr>
        <p:spPr>
          <a:xfrm>
            <a:off x="402336" y="1380744"/>
            <a:ext cx="1691640" cy="274320"/>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MIURA</a:t>
            </a:r>
            <a:endParaRPr lang="en-US" sz="1100" dirty="0"/>
          </a:p>
        </p:txBody>
      </p:sp>
      <p:sp>
        <p:nvSpPr>
          <p:cNvPr id="95" name="Text 93"/>
          <p:cNvSpPr/>
          <p:nvPr/>
        </p:nvSpPr>
        <p:spPr>
          <a:xfrm>
            <a:off x="402336" y="165506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Japon / Europe · GVI</a:t>
            </a:r>
            <a:endParaRPr lang="en-US" sz="800" dirty="0"/>
          </a:p>
        </p:txBody>
      </p:sp>
      <p:sp>
        <p:nvSpPr>
          <p:cNvPr id="96" name="Text 94"/>
          <p:cNvSpPr/>
          <p:nvPr/>
        </p:nvSpPr>
        <p:spPr>
          <a:xfrm>
            <a:off x="402336" y="182880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Séries LX / EX</a:t>
            </a:r>
            <a:endParaRPr lang="en-US" sz="750" dirty="0"/>
          </a:p>
        </p:txBody>
      </p:sp>
      <p:sp>
        <p:nvSpPr>
          <p:cNvPr id="97" name="Text 95"/>
          <p:cNvSpPr/>
          <p:nvPr/>
        </p:nvSpPr>
        <p:spPr>
          <a:xfrm>
            <a:off x="2194560" y="1371600"/>
            <a:ext cx="1170432" cy="201168"/>
          </a:xfrm>
          <a:prstGeom prst="rect">
            <a:avLst/>
          </a:prstGeom>
          <a:noFill/>
          <a:ln/>
        </p:spPr>
        <p:txBody>
          <a:bodyPr wrap="square" rtlCol="0" anchor="ctr"/>
          <a:lstStyle/>
          <a:p>
            <a:pPr indent="0" marL="0">
              <a:buNone/>
            </a:pPr>
            <a:r>
              <a:rPr lang="en-US" sz="750" b="1" dirty="0">
                <a:solidFill>
                  <a:srgbClr val="1B9A8A"/>
                </a:solidFill>
                <a:latin typeface="Calibri" pitchFamily="34" charset="0"/>
                <a:ea typeface="Calibri" pitchFamily="34" charset="-122"/>
                <a:cs typeface="Calibri" pitchFamily="34" charset="-120"/>
              </a:rPr>
              <a:t>Alim.</a:t>
            </a:r>
            <a:endParaRPr lang="en-US" sz="750" dirty="0"/>
          </a:p>
        </p:txBody>
      </p:sp>
      <p:sp>
        <p:nvSpPr>
          <p:cNvPr id="98" name="Text 96"/>
          <p:cNvSpPr/>
          <p:nvPr/>
        </p:nvSpPr>
        <p:spPr>
          <a:xfrm>
            <a:off x="2194560" y="155448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Référence mondiale pharma &amp; alim.</a:t>
            </a:r>
            <a:endParaRPr lang="en-US" sz="750" dirty="0"/>
          </a:p>
        </p:txBody>
      </p:sp>
      <p:sp>
        <p:nvSpPr>
          <p:cNvPr id="99" name="Text 97"/>
          <p:cNvSpPr/>
          <p:nvPr/>
        </p:nvSpPr>
        <p:spPr>
          <a:xfrm>
            <a:off x="3419856" y="1371600"/>
            <a:ext cx="1170432" cy="201168"/>
          </a:xfrm>
          <a:prstGeom prst="rect">
            <a:avLst/>
          </a:prstGeom>
          <a:noFill/>
          <a:ln/>
        </p:spPr>
        <p:txBody>
          <a:bodyPr wrap="square" rtlCol="0" anchor="ctr"/>
          <a:lstStyle/>
          <a:p>
            <a:pPr indent="0" marL="0">
              <a:buNone/>
            </a:pPr>
            <a:r>
              <a:rPr lang="en-US" sz="750" b="1" dirty="0">
                <a:solidFill>
                  <a:srgbClr val="1B9A8A"/>
                </a:solidFill>
                <a:latin typeface="Calibri" pitchFamily="34" charset="0"/>
                <a:ea typeface="Calibri" pitchFamily="34" charset="-122"/>
                <a:cs typeface="Calibri" pitchFamily="34" charset="-120"/>
              </a:rPr>
              <a:t>CE</a:t>
            </a:r>
            <a:endParaRPr lang="en-US" sz="750" dirty="0"/>
          </a:p>
        </p:txBody>
      </p:sp>
      <p:sp>
        <p:nvSpPr>
          <p:cNvPr id="100" name="Text 98"/>
          <p:cNvSpPr/>
          <p:nvPr/>
        </p:nvSpPr>
        <p:spPr>
          <a:xfrm>
            <a:off x="3419856" y="155448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Oui — unités origine Europe</a:t>
            </a:r>
            <a:endParaRPr lang="en-US" sz="750" dirty="0"/>
          </a:p>
        </p:txBody>
      </p:sp>
      <p:sp>
        <p:nvSpPr>
          <p:cNvPr id="101" name="Text 99"/>
          <p:cNvSpPr/>
          <p:nvPr/>
        </p:nvSpPr>
        <p:spPr>
          <a:xfrm>
            <a:off x="4645152" y="1371600"/>
            <a:ext cx="1170432" cy="201168"/>
          </a:xfrm>
          <a:prstGeom prst="rect">
            <a:avLst/>
          </a:prstGeom>
          <a:noFill/>
          <a:ln/>
        </p:spPr>
        <p:txBody>
          <a:bodyPr wrap="square" rtlCol="0" anchor="ctr"/>
          <a:lstStyle/>
          <a:p>
            <a:pPr indent="0" marL="0">
              <a:buNone/>
            </a:pPr>
            <a:r>
              <a:rPr lang="en-US" sz="750" b="1" dirty="0">
                <a:solidFill>
                  <a:srgbClr val="1B9A8A"/>
                </a:solidFill>
                <a:latin typeface="Calibri" pitchFamily="34" charset="0"/>
                <a:ea typeface="Calibri" pitchFamily="34" charset="-122"/>
                <a:cs typeface="Calibri" pitchFamily="34" charset="-120"/>
              </a:rPr>
              <a:t>GPL</a:t>
            </a:r>
            <a:endParaRPr lang="en-US" sz="750" dirty="0"/>
          </a:p>
        </p:txBody>
      </p:sp>
      <p:sp>
        <p:nvSpPr>
          <p:cNvPr id="102" name="Text 100"/>
          <p:cNvSpPr/>
          <p:nvPr/>
        </p:nvSpPr>
        <p:spPr>
          <a:xfrm>
            <a:off x="4645152" y="155448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Brûleurs GPL disponibles</a:t>
            </a:r>
            <a:endParaRPr lang="en-US" sz="750" dirty="0"/>
          </a:p>
        </p:txBody>
      </p:sp>
      <p:sp>
        <p:nvSpPr>
          <p:cNvPr id="103" name="Text 101"/>
          <p:cNvSpPr/>
          <p:nvPr/>
        </p:nvSpPr>
        <p:spPr>
          <a:xfrm>
            <a:off x="5870448" y="1371600"/>
            <a:ext cx="1170432" cy="201168"/>
          </a:xfrm>
          <a:prstGeom prst="rect">
            <a:avLst/>
          </a:prstGeom>
          <a:noFill/>
          <a:ln/>
        </p:spPr>
        <p:txBody>
          <a:bodyPr wrap="square" rtlCol="0" anchor="ctr"/>
          <a:lstStyle/>
          <a:p>
            <a:pPr indent="0" marL="0">
              <a:buNone/>
            </a:pPr>
            <a:r>
              <a:rPr lang="en-US" sz="750" b="1" dirty="0">
                <a:solidFill>
                  <a:srgbClr val="1B9A8A"/>
                </a:solidFill>
                <a:latin typeface="Calibri" pitchFamily="34" charset="0"/>
                <a:ea typeface="Calibri" pitchFamily="34" charset="-122"/>
                <a:cs typeface="Calibri" pitchFamily="34" charset="-120"/>
              </a:rPr>
              <a:t>SAV Afrique</a:t>
            </a:r>
            <a:endParaRPr lang="en-US" sz="750" dirty="0"/>
          </a:p>
        </p:txBody>
      </p:sp>
      <p:sp>
        <p:nvSpPr>
          <p:cNvPr id="104" name="Text 102"/>
          <p:cNvSpPr/>
          <p:nvPr/>
        </p:nvSpPr>
        <p:spPr>
          <a:xfrm>
            <a:off x="5870448" y="1554480"/>
            <a:ext cx="1170432" cy="347472"/>
          </a:xfrm>
          <a:prstGeom prst="rect">
            <a:avLst/>
          </a:prstGeom>
          <a:noFill/>
          <a:ln/>
        </p:spPr>
        <p:txBody>
          <a:bodyPr wrap="square" rtlCol="0" anchor="ctr"/>
          <a:lstStyle/>
          <a:p>
            <a:pPr indent="0" marL="0">
              <a:buNone/>
            </a:pPr>
            <a:r>
              <a:rPr lang="en-US" sz="750" dirty="0">
                <a:solidFill>
                  <a:srgbClr val="E8A020"/>
                </a:solidFill>
                <a:latin typeface="Calibri" pitchFamily="34" charset="0"/>
                <a:ea typeface="Calibri" pitchFamily="34" charset="-122"/>
                <a:cs typeface="Calibri" pitchFamily="34" charset="-120"/>
              </a:rPr>
              <a:t>❓ À confirmer — distributeur Afrique du Nord ?</a:t>
            </a:r>
            <a:endParaRPr lang="en-US" sz="750" dirty="0"/>
          </a:p>
        </p:txBody>
      </p:sp>
      <p:sp>
        <p:nvSpPr>
          <p:cNvPr id="105" name="Text 103"/>
          <p:cNvSpPr/>
          <p:nvPr/>
        </p:nvSpPr>
        <p:spPr>
          <a:xfrm>
            <a:off x="7132320" y="166420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Référence GVI mondiale. Condition : nommer partenaire SAV agréé au Maroc ou Espagne/France avec SLA contractuel.</a:t>
            </a:r>
            <a:endParaRPr lang="en-US" sz="750" dirty="0"/>
          </a:p>
        </p:txBody>
      </p:sp>
      <p:sp>
        <p:nvSpPr>
          <p:cNvPr id="106" name="Shape 104"/>
          <p:cNvSpPr/>
          <p:nvPr/>
        </p:nvSpPr>
        <p:spPr>
          <a:xfrm>
            <a:off x="256032" y="2066544"/>
            <a:ext cx="8631936" cy="676656"/>
          </a:xfrm>
          <a:prstGeom prst="rect">
            <a:avLst/>
          </a:prstGeom>
          <a:solidFill>
            <a:srgbClr val="111115"/>
          </a:solidFill>
          <a:ln w="12700">
            <a:solidFill>
              <a:srgbClr val="1E1E26"/>
            </a:solidFill>
            <a:prstDash val="solid"/>
          </a:ln>
        </p:spPr>
      </p:sp>
      <p:sp>
        <p:nvSpPr>
          <p:cNvPr id="107" name="Shape 105"/>
          <p:cNvSpPr/>
          <p:nvPr/>
        </p:nvSpPr>
        <p:spPr>
          <a:xfrm>
            <a:off x="256032" y="2066544"/>
            <a:ext cx="54864" cy="676656"/>
          </a:xfrm>
          <a:prstGeom prst="rect">
            <a:avLst/>
          </a:prstGeom>
          <a:solidFill>
            <a:srgbClr val="D4951A"/>
          </a:solidFill>
          <a:ln/>
        </p:spPr>
      </p:sp>
      <p:sp>
        <p:nvSpPr>
          <p:cNvPr id="108" name="Shape 106"/>
          <p:cNvSpPr/>
          <p:nvPr/>
        </p:nvSpPr>
        <p:spPr>
          <a:xfrm>
            <a:off x="7132320" y="2121408"/>
            <a:ext cx="1700784" cy="237744"/>
          </a:xfrm>
          <a:prstGeom prst="rect">
            <a:avLst/>
          </a:prstGeom>
          <a:solidFill>
            <a:srgbClr val="E8A020"/>
          </a:solidFill>
          <a:ln/>
        </p:spPr>
      </p:sp>
      <p:sp>
        <p:nvSpPr>
          <p:cNvPr id="109" name="Text 107"/>
          <p:cNvSpPr/>
          <p:nvPr/>
        </p:nvSpPr>
        <p:spPr>
          <a:xfrm>
            <a:off x="7132320" y="212140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CONDITIONNEL</a:t>
            </a:r>
            <a:endParaRPr lang="en-US" sz="700" dirty="0"/>
          </a:p>
        </p:txBody>
      </p:sp>
      <p:sp>
        <p:nvSpPr>
          <p:cNvPr id="110" name="Text 108"/>
          <p:cNvSpPr/>
          <p:nvPr/>
        </p:nvSpPr>
        <p:spPr>
          <a:xfrm>
            <a:off x="402336" y="2112264"/>
            <a:ext cx="1691640" cy="274320"/>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CLAYTON INDUSTRIES</a:t>
            </a:r>
            <a:endParaRPr lang="en-US" sz="1100" dirty="0"/>
          </a:p>
        </p:txBody>
      </p:sp>
      <p:sp>
        <p:nvSpPr>
          <p:cNvPr id="111" name="Text 109"/>
          <p:cNvSpPr/>
          <p:nvPr/>
        </p:nvSpPr>
        <p:spPr>
          <a:xfrm>
            <a:off x="402336" y="238658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USA / Belgique · GVI</a:t>
            </a:r>
            <a:endParaRPr lang="en-US" sz="800" dirty="0"/>
          </a:p>
        </p:txBody>
      </p:sp>
      <p:sp>
        <p:nvSpPr>
          <p:cNvPr id="112" name="Text 110"/>
          <p:cNvSpPr/>
          <p:nvPr/>
        </p:nvSpPr>
        <p:spPr>
          <a:xfrm>
            <a:off x="402336" y="256032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 E / EG</a:t>
            </a:r>
            <a:endParaRPr lang="en-US" sz="750" dirty="0"/>
          </a:p>
        </p:txBody>
      </p:sp>
      <p:sp>
        <p:nvSpPr>
          <p:cNvPr id="113" name="Text 111"/>
          <p:cNvSpPr/>
          <p:nvPr/>
        </p:nvSpPr>
        <p:spPr>
          <a:xfrm>
            <a:off x="2194560" y="2103120"/>
            <a:ext cx="1170432" cy="201168"/>
          </a:xfrm>
          <a:prstGeom prst="rect">
            <a:avLst/>
          </a:prstGeom>
          <a:noFill/>
          <a:ln/>
        </p:spPr>
        <p:txBody>
          <a:bodyPr wrap="square" rtlCol="0" anchor="ctr"/>
          <a:lstStyle/>
          <a:p>
            <a:pPr indent="0" marL="0">
              <a:buNone/>
            </a:pPr>
            <a:r>
              <a:rPr lang="en-US" sz="750" b="1" dirty="0">
                <a:solidFill>
                  <a:srgbClr val="D4951A"/>
                </a:solidFill>
                <a:latin typeface="Calibri" pitchFamily="34" charset="0"/>
                <a:ea typeface="Calibri" pitchFamily="34" charset="-122"/>
                <a:cs typeface="Calibri" pitchFamily="34" charset="-120"/>
              </a:rPr>
              <a:t>Alim.</a:t>
            </a:r>
            <a:endParaRPr lang="en-US" sz="750" dirty="0"/>
          </a:p>
        </p:txBody>
      </p:sp>
      <p:sp>
        <p:nvSpPr>
          <p:cNvPr id="114" name="Text 112"/>
          <p:cNvSpPr/>
          <p:nvPr/>
        </p:nvSpPr>
        <p:spPr>
          <a:xfrm>
            <a:off x="2194560" y="228600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Agroalimentaire &amp; process industriel</a:t>
            </a:r>
            <a:endParaRPr lang="en-US" sz="750" dirty="0"/>
          </a:p>
        </p:txBody>
      </p:sp>
      <p:sp>
        <p:nvSpPr>
          <p:cNvPr id="115" name="Text 113"/>
          <p:cNvSpPr/>
          <p:nvPr/>
        </p:nvSpPr>
        <p:spPr>
          <a:xfrm>
            <a:off x="3419856" y="2103120"/>
            <a:ext cx="1170432" cy="201168"/>
          </a:xfrm>
          <a:prstGeom prst="rect">
            <a:avLst/>
          </a:prstGeom>
          <a:noFill/>
          <a:ln/>
        </p:spPr>
        <p:txBody>
          <a:bodyPr wrap="square" rtlCol="0" anchor="ctr"/>
          <a:lstStyle/>
          <a:p>
            <a:pPr indent="0" marL="0">
              <a:buNone/>
            </a:pPr>
            <a:r>
              <a:rPr lang="en-US" sz="750" b="1" dirty="0">
                <a:solidFill>
                  <a:srgbClr val="D4951A"/>
                </a:solidFill>
                <a:latin typeface="Calibri" pitchFamily="34" charset="0"/>
                <a:ea typeface="Calibri" pitchFamily="34" charset="-122"/>
                <a:cs typeface="Calibri" pitchFamily="34" charset="-120"/>
              </a:rPr>
              <a:t>CE</a:t>
            </a:r>
            <a:endParaRPr lang="en-US" sz="750" dirty="0"/>
          </a:p>
        </p:txBody>
      </p:sp>
      <p:sp>
        <p:nvSpPr>
          <p:cNvPr id="116" name="Text 114"/>
          <p:cNvSpPr/>
          <p:nvPr/>
        </p:nvSpPr>
        <p:spPr>
          <a:xfrm>
            <a:off x="3419856" y="228600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Oui — fabriqué en Belgique</a:t>
            </a:r>
            <a:endParaRPr lang="en-US" sz="750" dirty="0"/>
          </a:p>
        </p:txBody>
      </p:sp>
      <p:sp>
        <p:nvSpPr>
          <p:cNvPr id="117" name="Text 115"/>
          <p:cNvSpPr/>
          <p:nvPr/>
        </p:nvSpPr>
        <p:spPr>
          <a:xfrm>
            <a:off x="4645152" y="2103120"/>
            <a:ext cx="1170432" cy="201168"/>
          </a:xfrm>
          <a:prstGeom prst="rect">
            <a:avLst/>
          </a:prstGeom>
          <a:noFill/>
          <a:ln/>
        </p:spPr>
        <p:txBody>
          <a:bodyPr wrap="square" rtlCol="0" anchor="ctr"/>
          <a:lstStyle/>
          <a:p>
            <a:pPr indent="0" marL="0">
              <a:buNone/>
            </a:pPr>
            <a:r>
              <a:rPr lang="en-US" sz="750" b="1" dirty="0">
                <a:solidFill>
                  <a:srgbClr val="D4951A"/>
                </a:solidFill>
                <a:latin typeface="Calibri" pitchFamily="34" charset="0"/>
                <a:ea typeface="Calibri" pitchFamily="34" charset="-122"/>
                <a:cs typeface="Calibri" pitchFamily="34" charset="-120"/>
              </a:rPr>
              <a:t>GPL</a:t>
            </a:r>
            <a:endParaRPr lang="en-US" sz="750" dirty="0"/>
          </a:p>
        </p:txBody>
      </p:sp>
      <p:sp>
        <p:nvSpPr>
          <p:cNvPr id="118" name="Text 116"/>
          <p:cNvSpPr/>
          <p:nvPr/>
        </p:nvSpPr>
        <p:spPr>
          <a:xfrm>
            <a:off x="4645152" y="228600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Configurations GPL disponibles</a:t>
            </a:r>
            <a:endParaRPr lang="en-US" sz="750" dirty="0"/>
          </a:p>
        </p:txBody>
      </p:sp>
      <p:sp>
        <p:nvSpPr>
          <p:cNvPr id="119" name="Text 117"/>
          <p:cNvSpPr/>
          <p:nvPr/>
        </p:nvSpPr>
        <p:spPr>
          <a:xfrm>
            <a:off x="5870448" y="2103120"/>
            <a:ext cx="1170432" cy="201168"/>
          </a:xfrm>
          <a:prstGeom prst="rect">
            <a:avLst/>
          </a:prstGeom>
          <a:noFill/>
          <a:ln/>
        </p:spPr>
        <p:txBody>
          <a:bodyPr wrap="square" rtlCol="0" anchor="ctr"/>
          <a:lstStyle/>
          <a:p>
            <a:pPr indent="0" marL="0">
              <a:buNone/>
            </a:pPr>
            <a:r>
              <a:rPr lang="en-US" sz="750" b="1" dirty="0">
                <a:solidFill>
                  <a:srgbClr val="D4951A"/>
                </a:solidFill>
                <a:latin typeface="Calibri" pitchFamily="34" charset="0"/>
                <a:ea typeface="Calibri" pitchFamily="34" charset="-122"/>
                <a:cs typeface="Calibri" pitchFamily="34" charset="-120"/>
              </a:rPr>
              <a:t>SAV Afrique</a:t>
            </a:r>
            <a:endParaRPr lang="en-US" sz="750" dirty="0"/>
          </a:p>
        </p:txBody>
      </p:sp>
      <p:sp>
        <p:nvSpPr>
          <p:cNvPr id="120" name="Text 118"/>
          <p:cNvSpPr/>
          <p:nvPr/>
        </p:nvSpPr>
        <p:spPr>
          <a:xfrm>
            <a:off x="5870448" y="2286000"/>
            <a:ext cx="1170432" cy="347472"/>
          </a:xfrm>
          <a:prstGeom prst="rect">
            <a:avLst/>
          </a:prstGeom>
          <a:noFill/>
          <a:ln/>
        </p:spPr>
        <p:txBody>
          <a:bodyPr wrap="square" rtlCol="0" anchor="ctr"/>
          <a:lstStyle/>
          <a:p>
            <a:pPr indent="0" marL="0">
              <a:buNone/>
            </a:pPr>
            <a:r>
              <a:rPr lang="en-US" sz="750" dirty="0">
                <a:solidFill>
                  <a:srgbClr val="E8A020"/>
                </a:solidFill>
                <a:latin typeface="Calibri" pitchFamily="34" charset="0"/>
                <a:ea typeface="Calibri" pitchFamily="34" charset="-122"/>
                <a:cs typeface="Calibri" pitchFamily="34" charset="-120"/>
              </a:rPr>
              <a:t>❓ À confirmer — réseau Afrique du Nord ?</a:t>
            </a:r>
            <a:endParaRPr lang="en-US" sz="750" dirty="0"/>
          </a:p>
        </p:txBody>
      </p:sp>
      <p:sp>
        <p:nvSpPr>
          <p:cNvPr id="121" name="Text 119"/>
          <p:cNvSpPr/>
          <p:nvPr/>
        </p:nvSpPr>
        <p:spPr>
          <a:xfrm>
            <a:off x="7132320" y="239572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Fabrication belge = logistique favorable. Même condition SAV que Miura — à vérifier impérativement.</a:t>
            </a:r>
            <a:endParaRPr lang="en-US" sz="750" dirty="0"/>
          </a:p>
        </p:txBody>
      </p:sp>
      <p:sp>
        <p:nvSpPr>
          <p:cNvPr id="122" name="Shape 120"/>
          <p:cNvSpPr/>
          <p:nvPr/>
        </p:nvSpPr>
        <p:spPr>
          <a:xfrm>
            <a:off x="256032" y="2798064"/>
            <a:ext cx="8631936" cy="676656"/>
          </a:xfrm>
          <a:prstGeom prst="rect">
            <a:avLst/>
          </a:prstGeom>
          <a:solidFill>
            <a:srgbClr val="141418"/>
          </a:solidFill>
          <a:ln w="12700">
            <a:solidFill>
              <a:srgbClr val="1E1E26"/>
            </a:solidFill>
            <a:prstDash val="solid"/>
          </a:ln>
        </p:spPr>
      </p:sp>
      <p:sp>
        <p:nvSpPr>
          <p:cNvPr id="123" name="Shape 121"/>
          <p:cNvSpPr/>
          <p:nvPr/>
        </p:nvSpPr>
        <p:spPr>
          <a:xfrm>
            <a:off x="256032" y="2798064"/>
            <a:ext cx="54864" cy="676656"/>
          </a:xfrm>
          <a:prstGeom prst="rect">
            <a:avLst/>
          </a:prstGeom>
          <a:solidFill>
            <a:srgbClr val="1A5FA8"/>
          </a:solidFill>
          <a:ln/>
        </p:spPr>
      </p:sp>
      <p:sp>
        <p:nvSpPr>
          <p:cNvPr id="124" name="Shape 122"/>
          <p:cNvSpPr/>
          <p:nvPr/>
        </p:nvSpPr>
        <p:spPr>
          <a:xfrm>
            <a:off x="7132320" y="2852928"/>
            <a:ext cx="1700784" cy="237744"/>
          </a:xfrm>
          <a:prstGeom prst="rect">
            <a:avLst/>
          </a:prstGeom>
          <a:solidFill>
            <a:srgbClr val="3DAF7A"/>
          </a:solidFill>
          <a:ln/>
        </p:spPr>
      </p:sp>
      <p:sp>
        <p:nvSpPr>
          <p:cNvPr id="125" name="Text 123"/>
          <p:cNvSpPr/>
          <p:nvPr/>
        </p:nvSpPr>
        <p:spPr>
          <a:xfrm>
            <a:off x="7132320" y="285292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RECOMMANDÉ SI SAV GVI KO</a:t>
            </a:r>
            <a:endParaRPr lang="en-US" sz="700" dirty="0"/>
          </a:p>
        </p:txBody>
      </p:sp>
      <p:sp>
        <p:nvSpPr>
          <p:cNvPr id="126" name="Text 124"/>
          <p:cNvSpPr/>
          <p:nvPr/>
        </p:nvSpPr>
        <p:spPr>
          <a:xfrm>
            <a:off x="402336" y="2843784"/>
            <a:ext cx="1691640" cy="274320"/>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ICI CALDAIE</a:t>
            </a:r>
            <a:endParaRPr lang="en-US" sz="1100" dirty="0"/>
          </a:p>
        </p:txBody>
      </p:sp>
      <p:sp>
        <p:nvSpPr>
          <p:cNvPr id="127" name="Text 125"/>
          <p:cNvSpPr/>
          <p:nvPr/>
        </p:nvSpPr>
        <p:spPr>
          <a:xfrm>
            <a:off x="402336" y="311810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Italie · Tubes de Fumée</a:t>
            </a:r>
            <a:endParaRPr lang="en-US" sz="800" dirty="0"/>
          </a:p>
        </p:txBody>
      </p:sp>
      <p:sp>
        <p:nvSpPr>
          <p:cNvPr id="128" name="Text 126"/>
          <p:cNvSpPr/>
          <p:nvPr/>
        </p:nvSpPr>
        <p:spPr>
          <a:xfrm>
            <a:off x="402336" y="329184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Séries TIGON / ELIA</a:t>
            </a:r>
            <a:endParaRPr lang="en-US" sz="750" dirty="0"/>
          </a:p>
        </p:txBody>
      </p:sp>
      <p:sp>
        <p:nvSpPr>
          <p:cNvPr id="129" name="Text 127"/>
          <p:cNvSpPr/>
          <p:nvPr/>
        </p:nvSpPr>
        <p:spPr>
          <a:xfrm>
            <a:off x="2194560" y="2834640"/>
            <a:ext cx="1170432" cy="201168"/>
          </a:xfrm>
          <a:prstGeom prst="rect">
            <a:avLst/>
          </a:prstGeom>
          <a:noFill/>
          <a:ln/>
        </p:spPr>
        <p:txBody>
          <a:bodyPr wrap="square" rtlCol="0" anchor="ctr"/>
          <a:lstStyle/>
          <a:p>
            <a:pPr indent="0" marL="0">
              <a:buNone/>
            </a:pPr>
            <a:r>
              <a:rPr lang="en-US" sz="750" b="1" dirty="0">
                <a:solidFill>
                  <a:srgbClr val="1A5FA8"/>
                </a:solidFill>
                <a:latin typeface="Calibri" pitchFamily="34" charset="0"/>
                <a:ea typeface="Calibri" pitchFamily="34" charset="-122"/>
                <a:cs typeface="Calibri" pitchFamily="34" charset="-120"/>
              </a:rPr>
              <a:t>Alim.</a:t>
            </a:r>
            <a:endParaRPr lang="en-US" sz="750" dirty="0"/>
          </a:p>
        </p:txBody>
      </p:sp>
      <p:sp>
        <p:nvSpPr>
          <p:cNvPr id="130" name="Text 128"/>
          <p:cNvSpPr/>
          <p:nvPr/>
        </p:nvSpPr>
        <p:spPr>
          <a:xfrm>
            <a:off x="2194560" y="301752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Process industriel dont agroalimentaire</a:t>
            </a:r>
            <a:endParaRPr lang="en-US" sz="750" dirty="0"/>
          </a:p>
        </p:txBody>
      </p:sp>
      <p:sp>
        <p:nvSpPr>
          <p:cNvPr id="131" name="Text 129"/>
          <p:cNvSpPr/>
          <p:nvPr/>
        </p:nvSpPr>
        <p:spPr>
          <a:xfrm>
            <a:off x="3419856" y="2834640"/>
            <a:ext cx="1170432" cy="201168"/>
          </a:xfrm>
          <a:prstGeom prst="rect">
            <a:avLst/>
          </a:prstGeom>
          <a:noFill/>
          <a:ln/>
        </p:spPr>
        <p:txBody>
          <a:bodyPr wrap="square" rtlCol="0" anchor="ctr"/>
          <a:lstStyle/>
          <a:p>
            <a:pPr indent="0" marL="0">
              <a:buNone/>
            </a:pPr>
            <a:r>
              <a:rPr lang="en-US" sz="750" b="1" dirty="0">
                <a:solidFill>
                  <a:srgbClr val="1A5FA8"/>
                </a:solidFill>
                <a:latin typeface="Calibri" pitchFamily="34" charset="0"/>
                <a:ea typeface="Calibri" pitchFamily="34" charset="-122"/>
                <a:cs typeface="Calibri" pitchFamily="34" charset="-120"/>
              </a:rPr>
              <a:t>CE</a:t>
            </a:r>
            <a:endParaRPr lang="en-US" sz="750" dirty="0"/>
          </a:p>
        </p:txBody>
      </p:sp>
      <p:sp>
        <p:nvSpPr>
          <p:cNvPr id="132" name="Text 130"/>
          <p:cNvSpPr/>
          <p:nvPr/>
        </p:nvSpPr>
        <p:spPr>
          <a:xfrm>
            <a:off x="3419856" y="301752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Oui — fabriqué en Italie</a:t>
            </a:r>
            <a:endParaRPr lang="en-US" sz="750" dirty="0"/>
          </a:p>
        </p:txBody>
      </p:sp>
      <p:sp>
        <p:nvSpPr>
          <p:cNvPr id="133" name="Text 131"/>
          <p:cNvSpPr/>
          <p:nvPr/>
        </p:nvSpPr>
        <p:spPr>
          <a:xfrm>
            <a:off x="4645152" y="2834640"/>
            <a:ext cx="1170432" cy="201168"/>
          </a:xfrm>
          <a:prstGeom prst="rect">
            <a:avLst/>
          </a:prstGeom>
          <a:noFill/>
          <a:ln/>
        </p:spPr>
        <p:txBody>
          <a:bodyPr wrap="square" rtlCol="0" anchor="ctr"/>
          <a:lstStyle/>
          <a:p>
            <a:pPr indent="0" marL="0">
              <a:buNone/>
            </a:pPr>
            <a:r>
              <a:rPr lang="en-US" sz="750" b="1" dirty="0">
                <a:solidFill>
                  <a:srgbClr val="1A5FA8"/>
                </a:solidFill>
                <a:latin typeface="Calibri" pitchFamily="34" charset="0"/>
                <a:ea typeface="Calibri" pitchFamily="34" charset="-122"/>
                <a:cs typeface="Calibri" pitchFamily="34" charset="-120"/>
              </a:rPr>
              <a:t>GPL</a:t>
            </a:r>
            <a:endParaRPr lang="en-US" sz="750" dirty="0"/>
          </a:p>
        </p:txBody>
      </p:sp>
      <p:sp>
        <p:nvSpPr>
          <p:cNvPr id="134" name="Text 132"/>
          <p:cNvSpPr/>
          <p:nvPr/>
        </p:nvSpPr>
        <p:spPr>
          <a:xfrm>
            <a:off x="4645152" y="301752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Configurations GPL disponibles</a:t>
            </a:r>
            <a:endParaRPr lang="en-US" sz="750" dirty="0"/>
          </a:p>
        </p:txBody>
      </p:sp>
      <p:sp>
        <p:nvSpPr>
          <p:cNvPr id="135" name="Text 133"/>
          <p:cNvSpPr/>
          <p:nvPr/>
        </p:nvSpPr>
        <p:spPr>
          <a:xfrm>
            <a:off x="5870448" y="2834640"/>
            <a:ext cx="1170432" cy="201168"/>
          </a:xfrm>
          <a:prstGeom prst="rect">
            <a:avLst/>
          </a:prstGeom>
          <a:noFill/>
          <a:ln/>
        </p:spPr>
        <p:txBody>
          <a:bodyPr wrap="square" rtlCol="0" anchor="ctr"/>
          <a:lstStyle/>
          <a:p>
            <a:pPr indent="0" marL="0">
              <a:buNone/>
            </a:pPr>
            <a:r>
              <a:rPr lang="en-US" sz="750" b="1" dirty="0">
                <a:solidFill>
                  <a:srgbClr val="1A5FA8"/>
                </a:solidFill>
                <a:latin typeface="Calibri" pitchFamily="34" charset="0"/>
                <a:ea typeface="Calibri" pitchFamily="34" charset="-122"/>
                <a:cs typeface="Calibri" pitchFamily="34" charset="-120"/>
              </a:rPr>
              <a:t>SAV Afrique</a:t>
            </a:r>
            <a:endParaRPr lang="en-US" sz="750" dirty="0"/>
          </a:p>
        </p:txBody>
      </p:sp>
      <p:sp>
        <p:nvSpPr>
          <p:cNvPr id="136" name="Text 134"/>
          <p:cNvSpPr/>
          <p:nvPr/>
        </p:nvSpPr>
        <p:spPr>
          <a:xfrm>
            <a:off x="5870448" y="3017520"/>
            <a:ext cx="1170432" cy="347472"/>
          </a:xfrm>
          <a:prstGeom prst="rect">
            <a:avLst/>
          </a:prstGeom>
          <a:noFill/>
          <a:ln/>
        </p:spPr>
        <p:txBody>
          <a:bodyPr wrap="square" rtlCol="0" anchor="ctr"/>
          <a:lstStyle/>
          <a:p>
            <a:pPr indent="0" marL="0">
              <a:buNone/>
            </a:pPr>
            <a:r>
              <a:rPr lang="en-US" sz="750" dirty="0">
                <a:solidFill>
                  <a:srgbClr val="3DAF7A"/>
                </a:solidFill>
                <a:latin typeface="Calibri" pitchFamily="34" charset="0"/>
                <a:ea typeface="Calibri" pitchFamily="34" charset="-122"/>
                <a:cs typeface="Calibri" pitchFamily="34" charset="-120"/>
              </a:rPr>
              <a:t>✅ Réseau méditerranéen &amp; Afrique du Nord reconnu</a:t>
            </a:r>
            <a:endParaRPr lang="en-US" sz="750" dirty="0"/>
          </a:p>
        </p:txBody>
      </p:sp>
      <p:sp>
        <p:nvSpPr>
          <p:cNvPr id="137" name="Text 135"/>
          <p:cNvSpPr/>
          <p:nvPr/>
        </p:nvSpPr>
        <p:spPr>
          <a:xfrm>
            <a:off x="7132320" y="312724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Avantage géographique clé. Si aucun GVI ne garantit le SAV local, ICI Caldaie devient la recommandation pragmatique.</a:t>
            </a:r>
            <a:endParaRPr lang="en-US" sz="750" dirty="0"/>
          </a:p>
        </p:txBody>
      </p:sp>
      <p:sp>
        <p:nvSpPr>
          <p:cNvPr id="138" name="Shape 136"/>
          <p:cNvSpPr/>
          <p:nvPr/>
        </p:nvSpPr>
        <p:spPr>
          <a:xfrm>
            <a:off x="256032" y="3529584"/>
            <a:ext cx="8631936" cy="676656"/>
          </a:xfrm>
          <a:prstGeom prst="rect">
            <a:avLst/>
          </a:prstGeom>
          <a:solidFill>
            <a:srgbClr val="111115"/>
          </a:solidFill>
          <a:ln w="12700">
            <a:solidFill>
              <a:srgbClr val="1E1E26"/>
            </a:solidFill>
            <a:prstDash val="solid"/>
          </a:ln>
        </p:spPr>
      </p:sp>
      <p:sp>
        <p:nvSpPr>
          <p:cNvPr id="139" name="Shape 137"/>
          <p:cNvSpPr/>
          <p:nvPr/>
        </p:nvSpPr>
        <p:spPr>
          <a:xfrm>
            <a:off x="256032" y="3529584"/>
            <a:ext cx="54864" cy="676656"/>
          </a:xfrm>
          <a:prstGeom prst="rect">
            <a:avLst/>
          </a:prstGeom>
          <a:solidFill>
            <a:srgbClr val="C0622B"/>
          </a:solidFill>
          <a:ln/>
        </p:spPr>
      </p:sp>
      <p:sp>
        <p:nvSpPr>
          <p:cNvPr id="140" name="Shape 138"/>
          <p:cNvSpPr/>
          <p:nvPr/>
        </p:nvSpPr>
        <p:spPr>
          <a:xfrm>
            <a:off x="7132320" y="3584448"/>
            <a:ext cx="1700784" cy="237744"/>
          </a:xfrm>
          <a:prstGeom prst="rect">
            <a:avLst/>
          </a:prstGeom>
          <a:solidFill>
            <a:srgbClr val="6B7A8A"/>
          </a:solidFill>
          <a:ln/>
        </p:spPr>
      </p:sp>
      <p:sp>
        <p:nvSpPr>
          <p:cNvPr id="141" name="Text 139"/>
          <p:cNvSpPr/>
          <p:nvPr/>
        </p:nvSpPr>
        <p:spPr>
          <a:xfrm>
            <a:off x="7132320" y="358444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ALTERNATIF</a:t>
            </a:r>
            <a:endParaRPr lang="en-US" sz="700" dirty="0"/>
          </a:p>
        </p:txBody>
      </p:sp>
      <p:sp>
        <p:nvSpPr>
          <p:cNvPr id="142" name="Text 140"/>
          <p:cNvSpPr/>
          <p:nvPr/>
        </p:nvSpPr>
        <p:spPr>
          <a:xfrm>
            <a:off x="402336" y="3575304"/>
            <a:ext cx="1691640" cy="274320"/>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CLEAVER-BROOKS</a:t>
            </a:r>
            <a:endParaRPr lang="en-US" sz="1100" dirty="0"/>
          </a:p>
        </p:txBody>
      </p:sp>
      <p:sp>
        <p:nvSpPr>
          <p:cNvPr id="143" name="Text 141"/>
          <p:cNvSpPr/>
          <p:nvPr/>
        </p:nvSpPr>
        <p:spPr>
          <a:xfrm>
            <a:off x="402336" y="384962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USA / Mondial · Tubes de Fumée</a:t>
            </a:r>
            <a:endParaRPr lang="en-US" sz="800" dirty="0"/>
          </a:p>
        </p:txBody>
      </p:sp>
      <p:sp>
        <p:nvSpPr>
          <p:cNvPr id="144" name="Text 142"/>
          <p:cNvSpPr/>
          <p:nvPr/>
        </p:nvSpPr>
        <p:spPr>
          <a:xfrm>
            <a:off x="402336" y="402336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Séries CBex / ClearFire</a:t>
            </a:r>
            <a:endParaRPr lang="en-US" sz="750" dirty="0"/>
          </a:p>
        </p:txBody>
      </p:sp>
      <p:sp>
        <p:nvSpPr>
          <p:cNvPr id="145" name="Text 143"/>
          <p:cNvSpPr/>
          <p:nvPr/>
        </p:nvSpPr>
        <p:spPr>
          <a:xfrm>
            <a:off x="2194560" y="3566160"/>
            <a:ext cx="1170432" cy="201168"/>
          </a:xfrm>
          <a:prstGeom prst="rect">
            <a:avLst/>
          </a:prstGeom>
          <a:noFill/>
          <a:ln/>
        </p:spPr>
        <p:txBody>
          <a:bodyPr wrap="square" rtlCol="0" anchor="ctr"/>
          <a:lstStyle/>
          <a:p>
            <a:pPr indent="0" marL="0">
              <a:buNone/>
            </a:pPr>
            <a:r>
              <a:rPr lang="en-US" sz="750" b="1" dirty="0">
                <a:solidFill>
                  <a:srgbClr val="C0622B"/>
                </a:solidFill>
                <a:latin typeface="Calibri" pitchFamily="34" charset="0"/>
                <a:ea typeface="Calibri" pitchFamily="34" charset="-122"/>
                <a:cs typeface="Calibri" pitchFamily="34" charset="-120"/>
              </a:rPr>
              <a:t>Alim.</a:t>
            </a:r>
            <a:endParaRPr lang="en-US" sz="750" dirty="0"/>
          </a:p>
        </p:txBody>
      </p:sp>
      <p:sp>
        <p:nvSpPr>
          <p:cNvPr id="146" name="Text 144"/>
          <p:cNvSpPr/>
          <p:nvPr/>
        </p:nvSpPr>
        <p:spPr>
          <a:xfrm>
            <a:off x="2194560" y="374904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Industriel large spectre</a:t>
            </a:r>
            <a:endParaRPr lang="en-US" sz="750" dirty="0"/>
          </a:p>
        </p:txBody>
      </p:sp>
      <p:sp>
        <p:nvSpPr>
          <p:cNvPr id="147" name="Text 145"/>
          <p:cNvSpPr/>
          <p:nvPr/>
        </p:nvSpPr>
        <p:spPr>
          <a:xfrm>
            <a:off x="3419856" y="3566160"/>
            <a:ext cx="1170432" cy="201168"/>
          </a:xfrm>
          <a:prstGeom prst="rect">
            <a:avLst/>
          </a:prstGeom>
          <a:noFill/>
          <a:ln/>
        </p:spPr>
        <p:txBody>
          <a:bodyPr wrap="square" rtlCol="0" anchor="ctr"/>
          <a:lstStyle/>
          <a:p>
            <a:pPr indent="0" marL="0">
              <a:buNone/>
            </a:pPr>
            <a:r>
              <a:rPr lang="en-US" sz="750" b="1" dirty="0">
                <a:solidFill>
                  <a:srgbClr val="C0622B"/>
                </a:solidFill>
                <a:latin typeface="Calibri" pitchFamily="34" charset="0"/>
                <a:ea typeface="Calibri" pitchFamily="34" charset="-122"/>
                <a:cs typeface="Calibri" pitchFamily="34" charset="-120"/>
              </a:rPr>
              <a:t>CE</a:t>
            </a:r>
            <a:endParaRPr lang="en-US" sz="750" dirty="0"/>
          </a:p>
        </p:txBody>
      </p:sp>
      <p:sp>
        <p:nvSpPr>
          <p:cNvPr id="148" name="Text 146"/>
          <p:cNvSpPr/>
          <p:nvPr/>
        </p:nvSpPr>
        <p:spPr>
          <a:xfrm>
            <a:off x="3419856" y="374904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CE sur gamme européenne</a:t>
            </a:r>
            <a:endParaRPr lang="en-US" sz="750" dirty="0"/>
          </a:p>
        </p:txBody>
      </p:sp>
      <p:sp>
        <p:nvSpPr>
          <p:cNvPr id="149" name="Text 147"/>
          <p:cNvSpPr/>
          <p:nvPr/>
        </p:nvSpPr>
        <p:spPr>
          <a:xfrm>
            <a:off x="4645152" y="3566160"/>
            <a:ext cx="1170432" cy="201168"/>
          </a:xfrm>
          <a:prstGeom prst="rect">
            <a:avLst/>
          </a:prstGeom>
          <a:noFill/>
          <a:ln/>
        </p:spPr>
        <p:txBody>
          <a:bodyPr wrap="square" rtlCol="0" anchor="ctr"/>
          <a:lstStyle/>
          <a:p>
            <a:pPr indent="0" marL="0">
              <a:buNone/>
            </a:pPr>
            <a:r>
              <a:rPr lang="en-US" sz="750" b="1" dirty="0">
                <a:solidFill>
                  <a:srgbClr val="C0622B"/>
                </a:solidFill>
                <a:latin typeface="Calibri" pitchFamily="34" charset="0"/>
                <a:ea typeface="Calibri" pitchFamily="34" charset="-122"/>
                <a:cs typeface="Calibri" pitchFamily="34" charset="-120"/>
              </a:rPr>
              <a:t>GPL</a:t>
            </a:r>
            <a:endParaRPr lang="en-US" sz="750" dirty="0"/>
          </a:p>
        </p:txBody>
      </p:sp>
      <p:sp>
        <p:nvSpPr>
          <p:cNvPr id="150" name="Text 148"/>
          <p:cNvSpPr/>
          <p:nvPr/>
        </p:nvSpPr>
        <p:spPr>
          <a:xfrm>
            <a:off x="4645152" y="374904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Brûleurs GPL en option</a:t>
            </a:r>
            <a:endParaRPr lang="en-US" sz="750" dirty="0"/>
          </a:p>
        </p:txBody>
      </p:sp>
      <p:sp>
        <p:nvSpPr>
          <p:cNvPr id="151" name="Text 149"/>
          <p:cNvSpPr/>
          <p:nvPr/>
        </p:nvSpPr>
        <p:spPr>
          <a:xfrm>
            <a:off x="5870448" y="3566160"/>
            <a:ext cx="1170432" cy="201168"/>
          </a:xfrm>
          <a:prstGeom prst="rect">
            <a:avLst/>
          </a:prstGeom>
          <a:noFill/>
          <a:ln/>
        </p:spPr>
        <p:txBody>
          <a:bodyPr wrap="square" rtlCol="0" anchor="ctr"/>
          <a:lstStyle/>
          <a:p>
            <a:pPr indent="0" marL="0">
              <a:buNone/>
            </a:pPr>
            <a:r>
              <a:rPr lang="en-US" sz="750" b="1" dirty="0">
                <a:solidFill>
                  <a:srgbClr val="C0622B"/>
                </a:solidFill>
                <a:latin typeface="Calibri" pitchFamily="34" charset="0"/>
                <a:ea typeface="Calibri" pitchFamily="34" charset="-122"/>
                <a:cs typeface="Calibri" pitchFamily="34" charset="-120"/>
              </a:rPr>
              <a:t>SAV Afrique</a:t>
            </a:r>
            <a:endParaRPr lang="en-US" sz="750" dirty="0"/>
          </a:p>
        </p:txBody>
      </p:sp>
      <p:sp>
        <p:nvSpPr>
          <p:cNvPr id="152" name="Text 150"/>
          <p:cNvSpPr/>
          <p:nvPr/>
        </p:nvSpPr>
        <p:spPr>
          <a:xfrm>
            <a:off x="5870448" y="3749040"/>
            <a:ext cx="1170432" cy="347472"/>
          </a:xfrm>
          <a:prstGeom prst="rect">
            <a:avLst/>
          </a:prstGeom>
          <a:noFill/>
          <a:ln/>
        </p:spPr>
        <p:txBody>
          <a:bodyPr wrap="square" rtlCol="0" anchor="ctr"/>
          <a:lstStyle/>
          <a:p>
            <a:pPr indent="0" marL="0">
              <a:buNone/>
            </a:pPr>
            <a:r>
              <a:rPr lang="en-US" sz="750" dirty="0">
                <a:solidFill>
                  <a:srgbClr val="E8A020"/>
                </a:solidFill>
                <a:latin typeface="Calibri" pitchFamily="34" charset="0"/>
                <a:ea typeface="Calibri" pitchFamily="34" charset="-122"/>
                <a:cs typeface="Calibri" pitchFamily="34" charset="-120"/>
              </a:rPr>
              <a:t>❓ Réseau mondial — vérifier Afrique du Nord</a:t>
            </a:r>
            <a:endParaRPr lang="en-US" sz="750" dirty="0"/>
          </a:p>
        </p:txBody>
      </p:sp>
      <p:sp>
        <p:nvSpPr>
          <p:cNvPr id="153" name="Text 151"/>
          <p:cNvSpPr/>
          <p:nvPr/>
        </p:nvSpPr>
        <p:spPr>
          <a:xfrm>
            <a:off x="7132320" y="385876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Référence internationale tubes de fumée. Moins efficient en GPL mais fiabilité éprouvée.</a:t>
            </a:r>
            <a:endParaRPr lang="en-US" sz="750" dirty="0"/>
          </a:p>
        </p:txBody>
      </p:sp>
      <p:sp>
        <p:nvSpPr>
          <p:cNvPr id="154" name="Shape 152"/>
          <p:cNvSpPr/>
          <p:nvPr/>
        </p:nvSpPr>
        <p:spPr>
          <a:xfrm>
            <a:off x="256032" y="4261104"/>
            <a:ext cx="8631936" cy="676656"/>
          </a:xfrm>
          <a:prstGeom prst="rect">
            <a:avLst/>
          </a:prstGeom>
          <a:solidFill>
            <a:srgbClr val="141418"/>
          </a:solidFill>
          <a:ln w="12700">
            <a:solidFill>
              <a:srgbClr val="1E1E26"/>
            </a:solidFill>
            <a:prstDash val="solid"/>
          </a:ln>
        </p:spPr>
      </p:sp>
      <p:sp>
        <p:nvSpPr>
          <p:cNvPr id="155" name="Shape 153"/>
          <p:cNvSpPr/>
          <p:nvPr/>
        </p:nvSpPr>
        <p:spPr>
          <a:xfrm>
            <a:off x="256032" y="4261104"/>
            <a:ext cx="54864" cy="676656"/>
          </a:xfrm>
          <a:prstGeom prst="rect">
            <a:avLst/>
          </a:prstGeom>
          <a:solidFill>
            <a:srgbClr val="E8A020"/>
          </a:solidFill>
          <a:ln/>
        </p:spPr>
      </p:sp>
      <p:sp>
        <p:nvSpPr>
          <p:cNvPr id="156" name="Shape 154"/>
          <p:cNvSpPr/>
          <p:nvPr/>
        </p:nvSpPr>
        <p:spPr>
          <a:xfrm>
            <a:off x="7132320" y="4315968"/>
            <a:ext cx="1700784" cy="237744"/>
          </a:xfrm>
          <a:prstGeom prst="rect">
            <a:avLst/>
          </a:prstGeom>
          <a:solidFill>
            <a:srgbClr val="6B7A8A"/>
          </a:solidFill>
          <a:ln/>
        </p:spPr>
      </p:sp>
      <p:sp>
        <p:nvSpPr>
          <p:cNvPr id="157" name="Text 155"/>
          <p:cNvSpPr/>
          <p:nvPr/>
        </p:nvSpPr>
        <p:spPr>
          <a:xfrm>
            <a:off x="7132320" y="4315968"/>
            <a:ext cx="1700784" cy="237744"/>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ALTERNATIF</a:t>
            </a:r>
            <a:endParaRPr lang="en-US" sz="700" dirty="0"/>
          </a:p>
        </p:txBody>
      </p:sp>
      <p:sp>
        <p:nvSpPr>
          <p:cNvPr id="158" name="Text 156"/>
          <p:cNvSpPr/>
          <p:nvPr/>
        </p:nvSpPr>
        <p:spPr>
          <a:xfrm>
            <a:off x="402336" y="4306824"/>
            <a:ext cx="1691640" cy="274320"/>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FULTON</a:t>
            </a:r>
            <a:endParaRPr lang="en-US" sz="1100" dirty="0"/>
          </a:p>
        </p:txBody>
      </p:sp>
      <p:sp>
        <p:nvSpPr>
          <p:cNvPr id="159" name="Text 157"/>
          <p:cNvSpPr/>
          <p:nvPr/>
        </p:nvSpPr>
        <p:spPr>
          <a:xfrm>
            <a:off x="402336" y="4581144"/>
            <a:ext cx="1691640" cy="201168"/>
          </a:xfrm>
          <a:prstGeom prst="rect">
            <a:avLst/>
          </a:prstGeom>
          <a:noFill/>
          <a:ln/>
        </p:spPr>
        <p:txBody>
          <a:bodyPr wrap="square" rtlCol="0" anchor="ctr"/>
          <a:lstStyle/>
          <a:p>
            <a:pPr indent="0" marL="0">
              <a:buNone/>
            </a:pPr>
            <a:r>
              <a:rPr lang="en-US" sz="800" dirty="0">
                <a:solidFill>
                  <a:srgbClr val="6B7A8A"/>
                </a:solidFill>
                <a:latin typeface="Calibri" pitchFamily="34" charset="0"/>
                <a:ea typeface="Calibri" pitchFamily="34" charset="-122"/>
                <a:cs typeface="Calibri" pitchFamily="34" charset="-120"/>
              </a:rPr>
              <a:t>USA / Royaume-Uni · GVI / Hybride</a:t>
            </a:r>
            <a:endParaRPr lang="en-US" sz="800" dirty="0"/>
          </a:p>
        </p:txBody>
      </p:sp>
      <p:sp>
        <p:nvSpPr>
          <p:cNvPr id="160" name="Text 158"/>
          <p:cNvSpPr/>
          <p:nvPr/>
        </p:nvSpPr>
        <p:spPr>
          <a:xfrm>
            <a:off x="402336" y="4754880"/>
            <a:ext cx="1691640" cy="164592"/>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Modèle : Série VSRT (serpentin spiralé)</a:t>
            </a:r>
            <a:endParaRPr lang="en-US" sz="750" dirty="0"/>
          </a:p>
        </p:txBody>
      </p:sp>
      <p:sp>
        <p:nvSpPr>
          <p:cNvPr id="161" name="Text 159"/>
          <p:cNvSpPr/>
          <p:nvPr/>
        </p:nvSpPr>
        <p:spPr>
          <a:xfrm>
            <a:off x="2194560" y="4297680"/>
            <a:ext cx="1170432" cy="201168"/>
          </a:xfrm>
          <a:prstGeom prst="rect">
            <a:avLst/>
          </a:prstGeom>
          <a:noFill/>
          <a:ln/>
        </p:spPr>
        <p:txBody>
          <a:bodyPr wrap="square" rtlCol="0" anchor="ctr"/>
          <a:lstStyle/>
          <a:p>
            <a:pPr indent="0" marL="0">
              <a:buNone/>
            </a:pPr>
            <a:r>
              <a:rPr lang="en-US" sz="750" b="1" dirty="0">
                <a:solidFill>
                  <a:srgbClr val="E8A020"/>
                </a:solidFill>
                <a:latin typeface="Calibri" pitchFamily="34" charset="0"/>
                <a:ea typeface="Calibri" pitchFamily="34" charset="-122"/>
                <a:cs typeface="Calibri" pitchFamily="34" charset="-120"/>
              </a:rPr>
              <a:t>Alim.</a:t>
            </a:r>
            <a:endParaRPr lang="en-US" sz="750" dirty="0"/>
          </a:p>
        </p:txBody>
      </p:sp>
      <p:sp>
        <p:nvSpPr>
          <p:cNvPr id="162" name="Text 160"/>
          <p:cNvSpPr/>
          <p:nvPr/>
        </p:nvSpPr>
        <p:spPr>
          <a:xfrm>
            <a:off x="2194560" y="448056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Bonne référence agroalimentaire Europe</a:t>
            </a:r>
            <a:endParaRPr lang="en-US" sz="750" dirty="0"/>
          </a:p>
        </p:txBody>
      </p:sp>
      <p:sp>
        <p:nvSpPr>
          <p:cNvPr id="163" name="Text 161"/>
          <p:cNvSpPr/>
          <p:nvPr/>
        </p:nvSpPr>
        <p:spPr>
          <a:xfrm>
            <a:off x="3419856" y="4297680"/>
            <a:ext cx="1170432" cy="201168"/>
          </a:xfrm>
          <a:prstGeom prst="rect">
            <a:avLst/>
          </a:prstGeom>
          <a:noFill/>
          <a:ln/>
        </p:spPr>
        <p:txBody>
          <a:bodyPr wrap="square" rtlCol="0" anchor="ctr"/>
          <a:lstStyle/>
          <a:p>
            <a:pPr indent="0" marL="0">
              <a:buNone/>
            </a:pPr>
            <a:r>
              <a:rPr lang="en-US" sz="750" b="1" dirty="0">
                <a:solidFill>
                  <a:srgbClr val="E8A020"/>
                </a:solidFill>
                <a:latin typeface="Calibri" pitchFamily="34" charset="0"/>
                <a:ea typeface="Calibri" pitchFamily="34" charset="-122"/>
                <a:cs typeface="Calibri" pitchFamily="34" charset="-120"/>
              </a:rPr>
              <a:t>CE</a:t>
            </a:r>
            <a:endParaRPr lang="en-US" sz="750" dirty="0"/>
          </a:p>
        </p:txBody>
      </p:sp>
      <p:sp>
        <p:nvSpPr>
          <p:cNvPr id="164" name="Text 162"/>
          <p:cNvSpPr/>
          <p:nvPr/>
        </p:nvSpPr>
        <p:spPr>
          <a:xfrm>
            <a:off x="3419856" y="448056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Oui — fabriqué au Royaume-Uni</a:t>
            </a:r>
            <a:endParaRPr lang="en-US" sz="750" dirty="0"/>
          </a:p>
        </p:txBody>
      </p:sp>
      <p:sp>
        <p:nvSpPr>
          <p:cNvPr id="165" name="Text 163"/>
          <p:cNvSpPr/>
          <p:nvPr/>
        </p:nvSpPr>
        <p:spPr>
          <a:xfrm>
            <a:off x="4645152" y="4297680"/>
            <a:ext cx="1170432" cy="201168"/>
          </a:xfrm>
          <a:prstGeom prst="rect">
            <a:avLst/>
          </a:prstGeom>
          <a:noFill/>
          <a:ln/>
        </p:spPr>
        <p:txBody>
          <a:bodyPr wrap="square" rtlCol="0" anchor="ctr"/>
          <a:lstStyle/>
          <a:p>
            <a:pPr indent="0" marL="0">
              <a:buNone/>
            </a:pPr>
            <a:r>
              <a:rPr lang="en-US" sz="750" b="1" dirty="0">
                <a:solidFill>
                  <a:srgbClr val="E8A020"/>
                </a:solidFill>
                <a:latin typeface="Calibri" pitchFamily="34" charset="0"/>
                <a:ea typeface="Calibri" pitchFamily="34" charset="-122"/>
                <a:cs typeface="Calibri" pitchFamily="34" charset="-120"/>
              </a:rPr>
              <a:t>GPL</a:t>
            </a:r>
            <a:endParaRPr lang="en-US" sz="750" dirty="0"/>
          </a:p>
        </p:txBody>
      </p:sp>
      <p:sp>
        <p:nvSpPr>
          <p:cNvPr id="166" name="Text 164"/>
          <p:cNvSpPr/>
          <p:nvPr/>
        </p:nvSpPr>
        <p:spPr>
          <a:xfrm>
            <a:off x="4645152" y="4480560"/>
            <a:ext cx="1170432" cy="347472"/>
          </a:xfrm>
          <a:prstGeom prst="rect">
            <a:avLst/>
          </a:prstGeom>
          <a:noFill/>
          <a:ln/>
        </p:spPr>
        <p:txBody>
          <a:bodyPr wrap="square" rtlCol="0" anchor="ctr"/>
          <a:lstStyle/>
          <a:p>
            <a:pPr indent="0" marL="0">
              <a:buNone/>
            </a:pPr>
            <a:r>
              <a:rPr lang="en-US" sz="750" dirty="0">
                <a:solidFill>
                  <a:srgbClr val="EDE0C8"/>
                </a:solidFill>
                <a:latin typeface="Calibri" pitchFamily="34" charset="0"/>
                <a:ea typeface="Calibri" pitchFamily="34" charset="-122"/>
                <a:cs typeface="Calibri" pitchFamily="34" charset="-120"/>
              </a:rPr>
              <a:t>GPL disponible</a:t>
            </a:r>
            <a:endParaRPr lang="en-US" sz="750" dirty="0"/>
          </a:p>
        </p:txBody>
      </p:sp>
      <p:sp>
        <p:nvSpPr>
          <p:cNvPr id="167" name="Text 165"/>
          <p:cNvSpPr/>
          <p:nvPr/>
        </p:nvSpPr>
        <p:spPr>
          <a:xfrm>
            <a:off x="5870448" y="4297680"/>
            <a:ext cx="1170432" cy="201168"/>
          </a:xfrm>
          <a:prstGeom prst="rect">
            <a:avLst/>
          </a:prstGeom>
          <a:noFill/>
          <a:ln/>
        </p:spPr>
        <p:txBody>
          <a:bodyPr wrap="square" rtlCol="0" anchor="ctr"/>
          <a:lstStyle/>
          <a:p>
            <a:pPr indent="0" marL="0">
              <a:buNone/>
            </a:pPr>
            <a:r>
              <a:rPr lang="en-US" sz="750" b="1" dirty="0">
                <a:solidFill>
                  <a:srgbClr val="E8A020"/>
                </a:solidFill>
                <a:latin typeface="Calibri" pitchFamily="34" charset="0"/>
                <a:ea typeface="Calibri" pitchFamily="34" charset="-122"/>
                <a:cs typeface="Calibri" pitchFamily="34" charset="-120"/>
              </a:rPr>
              <a:t>SAV Afrique</a:t>
            </a:r>
            <a:endParaRPr lang="en-US" sz="750" dirty="0"/>
          </a:p>
        </p:txBody>
      </p:sp>
      <p:sp>
        <p:nvSpPr>
          <p:cNvPr id="168" name="Text 166"/>
          <p:cNvSpPr/>
          <p:nvPr/>
        </p:nvSpPr>
        <p:spPr>
          <a:xfrm>
            <a:off x="5870448" y="4480560"/>
            <a:ext cx="1170432" cy="347472"/>
          </a:xfrm>
          <a:prstGeom prst="rect">
            <a:avLst/>
          </a:prstGeom>
          <a:noFill/>
          <a:ln/>
        </p:spPr>
        <p:txBody>
          <a:bodyPr wrap="square" rtlCol="0" anchor="ctr"/>
          <a:lstStyle/>
          <a:p>
            <a:pPr indent="0" marL="0">
              <a:buNone/>
            </a:pPr>
            <a:r>
              <a:rPr lang="en-US" sz="750" dirty="0">
                <a:solidFill>
                  <a:srgbClr val="E8A020"/>
                </a:solidFill>
                <a:latin typeface="Calibri" pitchFamily="34" charset="0"/>
                <a:ea typeface="Calibri" pitchFamily="34" charset="-122"/>
                <a:cs typeface="Calibri" pitchFamily="34" charset="-120"/>
              </a:rPr>
              <a:t>❓ Distribution UK — vérifier agent Maroc</a:t>
            </a:r>
            <a:endParaRPr lang="en-US" sz="750" dirty="0"/>
          </a:p>
        </p:txBody>
      </p:sp>
      <p:sp>
        <p:nvSpPr>
          <p:cNvPr id="169" name="Text 167"/>
          <p:cNvSpPr/>
          <p:nvPr/>
        </p:nvSpPr>
        <p:spPr>
          <a:xfrm>
            <a:off x="7132320" y="4590288"/>
            <a:ext cx="1700784" cy="320040"/>
          </a:xfrm>
          <a:prstGeom prst="rect">
            <a:avLst/>
          </a:prstGeom>
          <a:noFill/>
          <a:ln/>
        </p:spPr>
        <p:txBody>
          <a:bodyPr wrap="square" rtlCol="0" anchor="ctr"/>
          <a:lstStyle/>
          <a:p>
            <a:pPr indent="0" marL="0">
              <a:buNone/>
            </a:pPr>
            <a:r>
              <a:rPr lang="en-US" sz="750" i="1" dirty="0">
                <a:solidFill>
                  <a:srgbClr val="D8C9A8"/>
                </a:solidFill>
                <a:latin typeface="Calibri" pitchFamily="34" charset="0"/>
                <a:ea typeface="Calibri" pitchFamily="34" charset="-122"/>
                <a:cs typeface="Calibri" pitchFamily="34" charset="-120"/>
              </a:rPr>
              <a:t>Technologie hybride intéressante. Mêmes questions SAV que Miura/Clayton à poser.</a:t>
            </a:r>
            <a:endParaRPr lang="en-US" sz="750" dirty="0"/>
          </a:p>
        </p:txBody>
      </p:sp>
      <p:sp>
        <p:nvSpPr>
          <p:cNvPr id="170" name="Shape 168"/>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48" name="Text 246"/>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COÛT TOTAL DE POSSESSION — ANALYSE SUR 5 ANS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L'avantage TCO du GVI est réel mais conditionnel — les serpentins et le SAV comptent</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56032" y="932688"/>
          <a:ext cx="8631936" cy="914400"/>
        </p:xfrm>
        <a:graphic>
          <a:graphicData uri="http://schemas.openxmlformats.org/drawingml/2006/table">
            <a:tbl>
              <a:tblPr/>
              <a:tblGrid>
                <a:gridCol w="2377440"/>
                <a:gridCol w="1737360"/>
                <a:gridCol w="1737360"/>
                <a:gridCol w="2779776"/>
              </a:tblGrid>
              <a:tr h="310896">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Poste de coût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GVI</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Tubes de Fumée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Facteur clé</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Prix d'achat</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Plus élevé +20–35%</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Plus faible — référence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Avantage tubes fumée — CAPEX</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GPL démarrage quotidien</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Faible (3–5 min)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Élevé (purge 30–60 min)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Avantage GVI — 55 min/jour × 300 jours</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Efficacité d'exploitation GPL</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90–95% PCI</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82–88% PCI</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7% d'écart = économie annuelle réelle</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Remplacement serpentins (GVI)</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 Coût périodique réel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Non applicable — ballon dure &gt;20 ans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Nouveau : à quantifier dans l'AO</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SAV non planifié</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 Coûteux si technicien Europe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Moins coûteux — ressources locales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Nouveau : impact fort au Maroc</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Traitement eau (plus critique sur GVI)</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 Budget plus élevé requis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Moins exigeant en qualité eau</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GVI pardonne moins les imperfections</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10896">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Maintenance planifiée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Moins de procédures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Plus de procédures (purge, ballon)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Avantage GVI si bien installé</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10896">
                <a:tc>
                  <a:txBody>
                    <a:bodyPr/>
                    <a:lstStyle/>
                    <a:p>
                      <a:pPr indent="0" marL="0">
                        <a:buNone/>
                      </a:pPr>
                      <a:r>
                        <a:rPr lang="en-US" sz="950" b="1" dirty="0">
                          <a:solidFill>
                            <a:srgbClr val="D8C9A8"/>
                          </a:solidFill>
                          <a:latin typeface="Calibri" pitchFamily="34" charset="0"/>
                          <a:ea typeface="Calibri" pitchFamily="34" charset="-122"/>
                          <a:cs typeface="Calibri" pitchFamily="34" charset="-120"/>
                        </a:rPr>
                        <a:t>TCO 5 ans en GPL</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Inférieur — si SAV garanti</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Supérieur mais prévisible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Conditionnel au SAV local</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89" name="Shape 86"/>
          <p:cNvSpPr/>
          <p:nvPr/>
        </p:nvSpPr>
        <p:spPr>
          <a:xfrm>
            <a:off x="256032" y="4517136"/>
            <a:ext cx="8631936" cy="347472"/>
          </a:xfrm>
          <a:prstGeom prst="rect">
            <a:avLst/>
          </a:prstGeom>
          <a:solidFill>
            <a:srgbClr val="141418"/>
          </a:solidFill>
          <a:ln w="12700">
            <a:solidFill>
              <a:srgbClr val="E8A020"/>
            </a:solidFill>
            <a:prstDash val="solid"/>
          </a:ln>
        </p:spPr>
      </p:sp>
      <p:sp>
        <p:nvSpPr>
          <p:cNvPr id="90" name="Shape 87"/>
          <p:cNvSpPr/>
          <p:nvPr/>
        </p:nvSpPr>
        <p:spPr>
          <a:xfrm>
            <a:off x="256032" y="4517136"/>
            <a:ext cx="54864" cy="347472"/>
          </a:xfrm>
          <a:prstGeom prst="rect">
            <a:avLst/>
          </a:prstGeom>
          <a:solidFill>
            <a:srgbClr val="E8A020"/>
          </a:solidFill>
          <a:ln/>
        </p:spPr>
      </p:sp>
      <p:sp>
        <p:nvSpPr>
          <p:cNvPr id="91" name="Text 88"/>
          <p:cNvSpPr/>
          <p:nvPr/>
        </p:nvSpPr>
        <p:spPr>
          <a:xfrm>
            <a:off x="402336" y="4553712"/>
            <a:ext cx="8321040" cy="274320"/>
          </a:xfrm>
          <a:prstGeom prst="rect">
            <a:avLst/>
          </a:prstGeom>
          <a:noFill/>
          <a:ln/>
        </p:spPr>
        <p:txBody>
          <a:bodyPr wrap="square" rtlCol="0" anchor="ctr"/>
          <a:lstStyle/>
          <a:p>
            <a:pPr indent="0" marL="0">
              <a:buNone/>
            </a:pPr>
            <a:r>
              <a:rPr lang="en-US" sz="950" b="1" dirty="0">
                <a:solidFill>
                  <a:srgbClr val="E8A020"/>
                </a:solidFill>
                <a:latin typeface="Calibri" pitchFamily="34" charset="0"/>
                <a:ea typeface="Calibri" pitchFamily="34" charset="-122"/>
                <a:cs typeface="Calibri" pitchFamily="34" charset="-120"/>
              </a:rPr>
              <a:t>Action AO : </a:t>
            </a:r>
            <a:pPr indent="0" marL="0">
              <a:buNone/>
            </a:pPr>
            <a:r>
              <a:rPr lang="en-US" sz="950" dirty="0">
                <a:solidFill>
                  <a:srgbClr val="EDE0C8"/>
                </a:solidFill>
                <a:latin typeface="Calibri" pitchFamily="34" charset="0"/>
                <a:ea typeface="Calibri" pitchFamily="34" charset="-122"/>
                <a:cs typeface="Calibri" pitchFamily="34" charset="-120"/>
              </a:rPr>
              <a:t>Demander à Miura et Clayton leur TCO réel sur 5 et 10 ans avec données historiques de maintenance incluant remplacements serpentins. Comparer avec ICI Caldaie tubes de fumée avant toute décision.</a:t>
            </a:r>
            <a:endParaRPr lang="en-US" sz="950" dirty="0"/>
          </a:p>
        </p:txBody>
      </p:sp>
      <p:sp>
        <p:nvSpPr>
          <p:cNvPr id="92" name="Shape 8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3" name="Shape 9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70" name="Text 16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CONFIGURATION RECOMMANDÉE — POSITION RÉVISÉE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Recommandation conditionnelle selon la réponse des fournisseurs sur le SAV</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4206240" cy="475488"/>
          </a:xfrm>
          <a:prstGeom prst="rect">
            <a:avLst/>
          </a:prstGeom>
          <a:solidFill>
            <a:srgbClr val="1B9A8A"/>
          </a:solidFill>
          <a:ln/>
          <a:effectLst>
            <a:outerShdw sx="100000" sy="100000" kx="0" ky="0" algn="bl" rotWithShape="0" blurRad="76200" dist="25400" dir="8100000">
              <a:srgbClr val="000000">
                <a:alpha val="30000"/>
              </a:srgbClr>
            </a:outerShdw>
          </a:effectLst>
        </p:spPr>
      </p:sp>
      <p:sp>
        <p:nvSpPr>
          <p:cNvPr id="89" name="Text 87"/>
          <p:cNvSpPr/>
          <p:nvPr/>
        </p:nvSpPr>
        <p:spPr>
          <a:xfrm>
            <a:off x="365760" y="932688"/>
            <a:ext cx="4069080" cy="475488"/>
          </a:xfrm>
          <a:prstGeom prst="rect">
            <a:avLst/>
          </a:prstGeom>
          <a:noFill/>
          <a:ln/>
        </p:spPr>
        <p:txBody>
          <a:bodyPr wrap="square" rtlCol="0" anchor="ctr"/>
          <a:lstStyle/>
          <a:p>
            <a:pPr indent="0" marL="0">
              <a:buNone/>
            </a:pPr>
            <a:r>
              <a:rPr lang="en-US" sz="1100" b="1" dirty="0">
                <a:solidFill>
                  <a:srgbClr val="09090F"/>
                </a:solidFill>
                <a:latin typeface="Georgia" pitchFamily="34" charset="0"/>
                <a:ea typeface="Georgia" pitchFamily="34" charset="-122"/>
                <a:cs typeface="Georgia" pitchFamily="34" charset="-120"/>
              </a:rPr>
              <a:t>✅  SCÉNARIO A — Si SAV GVI garanti</a:t>
            </a:r>
            <a:endParaRPr lang="en-US" sz="1100" dirty="0"/>
          </a:p>
        </p:txBody>
      </p:sp>
      <p:sp>
        <p:nvSpPr>
          <p:cNvPr id="90" name="Shape 88"/>
          <p:cNvSpPr/>
          <p:nvPr/>
        </p:nvSpPr>
        <p:spPr>
          <a:xfrm>
            <a:off x="256032" y="1463040"/>
            <a:ext cx="4206240" cy="3310128"/>
          </a:xfrm>
          <a:prstGeom prst="rect">
            <a:avLst/>
          </a:prstGeom>
          <a:solidFill>
            <a:srgbClr val="130F0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91" name="Text 89"/>
          <p:cNvSpPr/>
          <p:nvPr/>
        </p:nvSpPr>
        <p:spPr>
          <a:xfrm>
            <a:off x="384048" y="1508760"/>
            <a:ext cx="4005072" cy="3218688"/>
          </a:xfrm>
          <a:prstGeom prst="rect">
            <a:avLst/>
          </a:prstGeom>
          <a:noFill/>
          <a:ln/>
        </p:spPr>
        <p:txBody>
          <a:bodyPr wrap="square" rtlCol="0" anchor="t"/>
          <a:lstStyle/>
          <a:p>
            <a:pPr indent="0" marL="0">
              <a:buNone/>
            </a:pPr>
            <a:r>
              <a:rPr lang="en-US" sz="1150" b="1" dirty="0">
                <a:solidFill>
                  <a:srgbClr val="1B9A8A"/>
                </a:solidFill>
                <a:latin typeface="Calibri" pitchFamily="34" charset="0"/>
                <a:ea typeface="Calibri" pitchFamily="34" charset="-122"/>
                <a:cs typeface="Calibri" pitchFamily="34" charset="-120"/>
              </a:rPr>
              <a:t>DEUX GVI INDÉPENDANTS
</a:t>
            </a:r>
            <a:pPr indent="0" marL="0">
              <a:buNone/>
            </a:pPr>
            <a:r>
              <a:rPr lang="en-US" sz="950" dirty="0">
                <a:solidFill>
                  <a:srgbClr val="D8C9A8"/>
                </a:solidFill>
                <a:latin typeface="Calibri" pitchFamily="34" charset="0"/>
                <a:ea typeface="Calibri" pitchFamily="34" charset="-122"/>
                <a:cs typeface="Calibri" pitchFamily="34" charset="-120"/>
              </a:rPr>
              <a:t>Miura LX ou Clayton Série E
</a:t>
            </a:r>
            <a:pPr indent="0" marL="0">
              <a:buNone/>
            </a:pPr>
            <a:r>
              <a:rPr lang="en-US" sz="850" i="1" dirty="0">
                <a:solidFill>
                  <a:srgbClr val="6B7A8A"/>
                </a:solidFill>
                <a:latin typeface="Calibri" pitchFamily="34" charset="0"/>
                <a:ea typeface="Calibri" pitchFamily="34" charset="-122"/>
                <a:cs typeface="Calibri" pitchFamily="34" charset="-120"/>
              </a:rPr>
              <a:t>2 400–2 600 Kg/H · 5 bar(e) · GPL bi-combustible · CE
</a:t>
            </a:r>
            <a:pPr indent="0" marL="0">
              <a:buNone/>
            </a:pPr>
            <a:r>
              <a:rPr lang="en-US" sz="900" b="1" dirty="0">
                <a:solidFill>
                  <a:srgbClr val="1B9A8A"/>
                </a:solidFill>
                <a:latin typeface="Calibri" pitchFamily="34" charset="0"/>
                <a:ea typeface="Calibri" pitchFamily="34" charset="-122"/>
                <a:cs typeface="Calibri" pitchFamily="34" charset="-120"/>
              </a:rPr>
              <a:t>Conditions obligatoires dans le contrat :
</a:t>
            </a:r>
            <a:pPr indent="0" marL="0">
              <a:buNone/>
            </a:pPr>
            <a:r>
              <a:rPr lang="en-US" sz="900" dirty="0">
                <a:solidFill>
                  <a:srgbClr val="EDE0C8"/>
                </a:solidFill>
                <a:latin typeface="Calibri" pitchFamily="34" charset="0"/>
                <a:ea typeface="Calibri" pitchFamily="34" charset="-122"/>
                <a:cs typeface="Calibri" pitchFamily="34" charset="-120"/>
              </a:rPr>
              <a:t>◆  Partenaire SAV nommé — Maroc, Espagne ou France
</a:t>
            </a:r>
            <a:pPr indent="0" marL="0">
              <a:buNone/>
            </a:pPr>
            <a:r>
              <a:rPr lang="en-US" sz="900" dirty="0">
                <a:solidFill>
                  <a:srgbClr val="EDE0C8"/>
                </a:solidFill>
                <a:latin typeface="Calibri" pitchFamily="34" charset="0"/>
                <a:ea typeface="Calibri" pitchFamily="34" charset="-122"/>
                <a:cs typeface="Calibri" pitchFamily="34" charset="-120"/>
              </a:rPr>
              <a:t>◆  Délai d'intervention max 72h pièces critiques (SLA contractuel)
</a:t>
            </a:r>
            <a:pPr indent="0" marL="0">
              <a:buNone/>
            </a:pPr>
            <a:r>
              <a:rPr lang="en-US" sz="900" dirty="0">
                <a:solidFill>
                  <a:srgbClr val="EDE0C8"/>
                </a:solidFill>
                <a:latin typeface="Calibri" pitchFamily="34" charset="0"/>
                <a:ea typeface="Calibri" pitchFamily="34" charset="-122"/>
                <a:cs typeface="Calibri" pitchFamily="34" charset="-120"/>
              </a:rPr>
              <a:t>◆  Prix remplacement serpentins garanti sur 5 ans
</a:t>
            </a:r>
            <a:pPr indent="0" marL="0">
              <a:buNone/>
            </a:pPr>
            <a:r>
              <a:rPr lang="en-US" sz="900" dirty="0">
                <a:solidFill>
                  <a:srgbClr val="EDE0C8"/>
                </a:solidFill>
                <a:latin typeface="Calibri" pitchFamily="34" charset="0"/>
                <a:ea typeface="Calibri" pitchFamily="34" charset="-122"/>
                <a:cs typeface="Calibri" pitchFamily="34" charset="-120"/>
              </a:rPr>
              <a:t>◆  TCO réel 5 et 10 ans fourni avec données historiques
</a:t>
            </a:r>
            <a:pPr indent="0" marL="0">
              <a:buNone/>
            </a:pPr>
            <a:r>
              <a:rPr lang="en-US" sz="900" dirty="0">
                <a:solidFill>
                  <a:srgbClr val="EDE0C8"/>
                </a:solidFill>
                <a:latin typeface="Calibri" pitchFamily="34" charset="0"/>
                <a:ea typeface="Calibri" pitchFamily="34" charset="-122"/>
                <a:cs typeface="Calibri" pitchFamily="34" charset="-120"/>
              </a:rPr>
              <a:t>◆  Training opérateurs et documentation en français
</a:t>
            </a:r>
            <a:pPr indent="0" marL="0">
              <a:buNone/>
            </a:pPr>
            <a:r>
              <a:rPr lang="en-US" sz="900" dirty="0">
                <a:solidFill>
                  <a:srgbClr val="EDE0C8"/>
                </a:solidFill>
                <a:latin typeface="Calibri" pitchFamily="34" charset="0"/>
                <a:ea typeface="Calibri" pitchFamily="34" charset="-122"/>
                <a:cs typeface="Calibri" pitchFamily="34" charset="-120"/>
              </a:rPr>
              <a:t>◆  Kit pièces critiques 2 ans inclus dans le périmètre</a:t>
            </a:r>
            <a:endParaRPr lang="en-US" sz="1150" dirty="0"/>
          </a:p>
        </p:txBody>
      </p:sp>
      <p:sp>
        <p:nvSpPr>
          <p:cNvPr id="92" name="Shape 90"/>
          <p:cNvSpPr/>
          <p:nvPr/>
        </p:nvSpPr>
        <p:spPr>
          <a:xfrm>
            <a:off x="4663440" y="932688"/>
            <a:ext cx="4224528" cy="475488"/>
          </a:xfrm>
          <a:prstGeom prst="rect">
            <a:avLst/>
          </a:prstGeom>
          <a:solidFill>
            <a:srgbClr val="1A5FA8"/>
          </a:solidFill>
          <a:ln/>
          <a:effectLst>
            <a:outerShdw sx="100000" sy="100000" kx="0" ky="0" algn="bl" rotWithShape="0" blurRad="76200" dist="25400" dir="8100000">
              <a:srgbClr val="000000">
                <a:alpha val="30000"/>
              </a:srgbClr>
            </a:outerShdw>
          </a:effectLst>
        </p:spPr>
      </p:sp>
      <p:sp>
        <p:nvSpPr>
          <p:cNvPr id="93" name="Text 91"/>
          <p:cNvSpPr/>
          <p:nvPr/>
        </p:nvSpPr>
        <p:spPr>
          <a:xfrm>
            <a:off x="4773168" y="932688"/>
            <a:ext cx="4087368" cy="475488"/>
          </a:xfrm>
          <a:prstGeom prst="rect">
            <a:avLst/>
          </a:prstGeom>
          <a:noFill/>
          <a:ln/>
        </p:spPr>
        <p:txBody>
          <a:bodyPr wrap="square" rtlCol="0" anchor="ctr"/>
          <a:lstStyle/>
          <a:p>
            <a:pPr indent="0" marL="0">
              <a:buNone/>
            </a:pPr>
            <a:r>
              <a:rPr lang="en-US" sz="1100" b="1" dirty="0">
                <a:solidFill>
                  <a:srgbClr val="09090F"/>
                </a:solidFill>
                <a:latin typeface="Georgia" pitchFamily="34" charset="0"/>
                <a:ea typeface="Georgia" pitchFamily="34" charset="-122"/>
                <a:cs typeface="Georgia" pitchFamily="34" charset="-120"/>
              </a:rPr>
              <a:t>⚡  SCÉNARIO B — Si SAV GVI non garanti</a:t>
            </a:r>
            <a:endParaRPr lang="en-US" sz="1100" dirty="0"/>
          </a:p>
        </p:txBody>
      </p:sp>
      <p:sp>
        <p:nvSpPr>
          <p:cNvPr id="94" name="Shape 92"/>
          <p:cNvSpPr/>
          <p:nvPr/>
        </p:nvSpPr>
        <p:spPr>
          <a:xfrm>
            <a:off x="4663440" y="1463040"/>
            <a:ext cx="4224528" cy="3310128"/>
          </a:xfrm>
          <a:prstGeom prst="rect">
            <a:avLst/>
          </a:prstGeom>
          <a:solidFill>
            <a:srgbClr val="130F08"/>
          </a:solidFill>
          <a:ln w="12700">
            <a:solidFill>
              <a:srgbClr val="1A5FA8"/>
            </a:solidFill>
            <a:prstDash val="solid"/>
          </a:ln>
          <a:effectLst>
            <a:outerShdw sx="100000" sy="100000" kx="0" ky="0" algn="bl" rotWithShape="0" blurRad="76200" dist="25400" dir="8100000">
              <a:srgbClr val="000000">
                <a:alpha val="30000"/>
              </a:srgbClr>
            </a:outerShdw>
          </a:effectLst>
        </p:spPr>
      </p:sp>
      <p:sp>
        <p:nvSpPr>
          <p:cNvPr id="95" name="Text 93"/>
          <p:cNvSpPr/>
          <p:nvPr/>
        </p:nvSpPr>
        <p:spPr>
          <a:xfrm>
            <a:off x="4791456" y="1508760"/>
            <a:ext cx="4023360" cy="3218688"/>
          </a:xfrm>
          <a:prstGeom prst="rect">
            <a:avLst/>
          </a:prstGeom>
          <a:noFill/>
          <a:ln/>
        </p:spPr>
        <p:txBody>
          <a:bodyPr wrap="square" rtlCol="0" anchor="t"/>
          <a:lstStyle/>
          <a:p>
            <a:pPr indent="0" marL="0">
              <a:buNone/>
            </a:pPr>
            <a:r>
              <a:rPr lang="en-US" sz="1150" b="1" dirty="0">
                <a:solidFill>
                  <a:srgbClr val="1A5FA8"/>
                </a:solidFill>
                <a:latin typeface="Calibri" pitchFamily="34" charset="0"/>
                <a:ea typeface="Calibri" pitchFamily="34" charset="-122"/>
                <a:cs typeface="Calibri" pitchFamily="34" charset="-120"/>
              </a:rPr>
              <a:t>DEUX CHAUDIÈRES TUBES DE FUMÉE
</a:t>
            </a:r>
            <a:pPr indent="0" marL="0">
              <a:buNone/>
            </a:pPr>
            <a:r>
              <a:rPr lang="en-US" sz="950" dirty="0">
                <a:solidFill>
                  <a:srgbClr val="D8C9A8"/>
                </a:solidFill>
                <a:latin typeface="Calibri" pitchFamily="34" charset="0"/>
                <a:ea typeface="Calibri" pitchFamily="34" charset="-122"/>
                <a:cs typeface="Calibri" pitchFamily="34" charset="-120"/>
              </a:rPr>
              <a:t>ICI Caldaie (prioritaire) ou Cleaver-Brooks
</a:t>
            </a:r>
            <a:pPr indent="0" marL="0">
              <a:buNone/>
            </a:pPr>
            <a:r>
              <a:rPr lang="en-US" sz="850" i="1" dirty="0">
                <a:solidFill>
                  <a:srgbClr val="6B7A8A"/>
                </a:solidFill>
                <a:latin typeface="Calibri" pitchFamily="34" charset="0"/>
                <a:ea typeface="Calibri" pitchFamily="34" charset="-122"/>
                <a:cs typeface="Calibri" pitchFamily="34" charset="-120"/>
              </a:rPr>
              <a:t>2 400–2 600 Kg/H · 5 bar(e) · GPL bi-combustible · CE
</a:t>
            </a:r>
            <a:pPr indent="0" marL="0">
              <a:buNone/>
            </a:pPr>
            <a:r>
              <a:rPr lang="en-US" sz="900" b="1" dirty="0">
                <a:solidFill>
                  <a:srgbClr val="1A5FA8"/>
                </a:solidFill>
                <a:latin typeface="Calibri" pitchFamily="34" charset="0"/>
                <a:ea typeface="Calibri" pitchFamily="34" charset="-122"/>
                <a:cs typeface="Calibri" pitchFamily="34" charset="-120"/>
              </a:rPr>
              <a:t>Pourquoi ce choix dans ce cas :
</a:t>
            </a:r>
            <a:pPr indent="0" marL="0">
              <a:buNone/>
            </a:pPr>
            <a:r>
              <a:rPr lang="en-US" sz="900" dirty="0">
                <a:solidFill>
                  <a:srgbClr val="EDE0C8"/>
                </a:solidFill>
                <a:latin typeface="Calibri" pitchFamily="34" charset="0"/>
                <a:ea typeface="Calibri" pitchFamily="34" charset="-122"/>
                <a:cs typeface="Calibri" pitchFamily="34" charset="-120"/>
              </a:rPr>
              <a:t>◆  SAV local disponible — réseau méditerranéen ICI Caldaie
</a:t>
            </a:r>
            <a:pPr indent="0" marL="0">
              <a:buNone/>
            </a:pPr>
            <a:r>
              <a:rPr lang="en-US" sz="900" dirty="0">
                <a:solidFill>
                  <a:srgbClr val="EDE0C8"/>
                </a:solidFill>
                <a:latin typeface="Calibri" pitchFamily="34" charset="0"/>
                <a:ea typeface="Calibri" pitchFamily="34" charset="-122"/>
                <a:cs typeface="Calibri" pitchFamily="34" charset="-120"/>
              </a:rPr>
              <a:t>◆  Pas de serpentins à remplacer — TCO prévisible sur 15 ans
</a:t>
            </a:r>
            <a:pPr indent="0" marL="0">
              <a:buNone/>
            </a:pPr>
            <a:r>
              <a:rPr lang="en-US" sz="900" dirty="0">
                <a:solidFill>
                  <a:srgbClr val="EDE0C8"/>
                </a:solidFill>
                <a:latin typeface="Calibri" pitchFamily="34" charset="0"/>
                <a:ea typeface="Calibri" pitchFamily="34" charset="-122"/>
                <a:cs typeface="Calibri" pitchFamily="34" charset="-120"/>
              </a:rPr>
              <a:t>◆  Tolérance supérieure aux variations qualité eau
</a:t>
            </a:r>
            <a:pPr indent="0" marL="0">
              <a:buNone/>
            </a:pPr>
            <a:r>
              <a:rPr lang="en-US" sz="900" dirty="0">
                <a:solidFill>
                  <a:srgbClr val="EDE0C8"/>
                </a:solidFill>
                <a:latin typeface="Calibri" pitchFamily="34" charset="0"/>
                <a:ea typeface="Calibri" pitchFamily="34" charset="-122"/>
                <a:cs typeface="Calibri" pitchFamily="34" charset="-120"/>
              </a:rPr>
              <a:t>◆  Pièces courantes disponibles localement
</a:t>
            </a:r>
            <a:pPr indent="0" marL="0">
              <a:buNone/>
            </a:pPr>
            <a:r>
              <a:rPr lang="en-US" sz="900" dirty="0">
                <a:solidFill>
                  <a:srgbClr val="E8A020"/>
                </a:solidFill>
                <a:latin typeface="Calibri" pitchFamily="34" charset="0"/>
                <a:ea typeface="Calibri" pitchFamily="34" charset="-122"/>
                <a:cs typeface="Calibri" pitchFamily="34" charset="-120"/>
              </a:rPr>
              <a:t>◆  Efficacité moindre en GPL — coût annuel supplémentaire
</a:t>
            </a:r>
            <a:pPr indent="0" marL="0">
              <a:buNone/>
            </a:pPr>
            <a:r>
              <a:rPr lang="en-US" sz="900" dirty="0">
                <a:solidFill>
                  <a:srgbClr val="E8A020"/>
                </a:solidFill>
                <a:latin typeface="Calibri" pitchFamily="34" charset="0"/>
                <a:ea typeface="Calibri" pitchFamily="34" charset="-122"/>
                <a:cs typeface="Calibri" pitchFamily="34" charset="-120"/>
              </a:rPr>
              <a:t>◆  Démarrage plus lent — coût GPL démarrage plus élevé</a:t>
            </a:r>
            <a:endParaRPr lang="en-US" sz="1150" dirty="0"/>
          </a:p>
        </p:txBody>
      </p:sp>
      <p:sp>
        <p:nvSpPr>
          <p:cNvPr id="96" name="Shape 94"/>
          <p:cNvSpPr/>
          <p:nvPr/>
        </p:nvSpPr>
        <p:spPr>
          <a:xfrm>
            <a:off x="256032" y="4828032"/>
            <a:ext cx="8631936" cy="36576"/>
          </a:xfrm>
          <a:prstGeom prst="rect">
            <a:avLst/>
          </a:prstGeom>
          <a:solidFill>
            <a:srgbClr val="D4951A"/>
          </a:solidFill>
          <a:ln/>
        </p:spPr>
      </p:sp>
      <p:sp>
        <p:nvSpPr>
          <p:cNvPr id="97" name="Shape 95"/>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8" name="Shape 96"/>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9" name="Shape 97"/>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00" name="Shape 98"/>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01" name="Shape 99"/>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02" name="Shape 100"/>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03" name="Shape 101"/>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04" name="Shape 102"/>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05" name="Shape 103"/>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06" name="Shape 104"/>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07" name="Shape 105"/>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8" name="Shape 106"/>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9" name="Shape 107"/>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10" name="Shape 108"/>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11" name="Shape 109"/>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12" name="Shape 110"/>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13" name="Shape 111"/>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14" name="Shape 112"/>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15" name="Shape 113"/>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16" name="Shape 114"/>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17" name="Shape 115"/>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8" name="Shape 116"/>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9" name="Shape 117"/>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20" name="Shape 118"/>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21" name="Shape 119"/>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22" name="Shape 120"/>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23" name="Shape 121"/>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24" name="Shape 122"/>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25" name="Shape 123"/>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26" name="Shape 124"/>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27" name="Shape 125"/>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8" name="Shape 126"/>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9" name="Shape 127"/>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30" name="Shape 128"/>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75" name="Text 173"/>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REGISTRE DES RISQUES — MIS À JOUR</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Intégrant les risques spécifiques GVI identifiés après analyse industrielle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56032" y="932688"/>
          <a:ext cx="8631936" cy="914400"/>
        </p:xfrm>
        <a:graphic>
          <a:graphicData uri="http://schemas.openxmlformats.org/drawingml/2006/table">
            <a:tbl>
              <a:tblPr/>
              <a:tblGrid>
                <a:gridCol w="2651760"/>
                <a:gridCol w="594360"/>
                <a:gridCol w="548640"/>
                <a:gridCol w="4837176"/>
              </a:tblGrid>
              <a:tr h="466344">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Risque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Proba.</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Mesure d'atténuation</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SAV GVI indisponible au Maroc — panne chaudière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Condition contractuelle obligatoire : partenaire SAV nommé + SLA 72h. Si non garanti : choisir tubes de fumée.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Rupture serpentins GVI — qualité eau insuffisante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Package traitement eau obligatoire : adoucisseur + désaérateur + conductivité en continu. NSF H1. Surveillance quotidienne.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Coupure alimentation eau → surchauffe serpentins GVI</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Pompe d'alimentation redondante. Interlock bas débit calibré. Protection standard dans installation bien spécifiée.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Interruption GPL — pas de carburant de secours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Brûleur bi-combustible GPL/GN. Stock tampon min. 10T GPL. Deux fournisseurs GPL contractés.</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Retard livraison chaudière — chemin critique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Émettre le BC chaudière en premier. GVI européens : 12–20 semaines. Tubes de fumée Europe : 8–14 semaines.</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TCO GVI supérieur si serpentins + SAV non chiffrés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Demander dans l'AO : TCO réel 5 et 10 ans avec données historiques. Comparer avant décision.</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Qualité vapeur hors spec → défaillance CCP HACCP</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FAIBLE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NSF H1 dès J1. Journal eau quotidien. Test labo vapeur trimestriel. SOP surveillance CCP avant premier export.</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66344">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Certificat APS non obtenu avant mise en service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FAIBLE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Contacter immédiatement l'autorité marocaine d'inspection APS. Certificat annuel = obligation légale.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89" name="Shape 86"/>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0" name="Shape 87"/>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1" name="Shape 88"/>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2" name="Shape 89"/>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3" name="Shape 90"/>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67" name="Text 164"/>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CAHIER DES CHARGES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Exigences obligatoires — applicables à GVI et tubes de fumée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14400"/>
            <a:ext cx="2834640" cy="45720"/>
          </a:xfrm>
          <a:prstGeom prst="rect">
            <a:avLst/>
          </a:prstGeom>
          <a:solidFill>
            <a:srgbClr val="D4951A"/>
          </a:solidFill>
          <a:ln/>
        </p:spPr>
      </p:sp>
      <p:sp>
        <p:nvSpPr>
          <p:cNvPr id="90" name="Shape 88"/>
          <p:cNvSpPr/>
          <p:nvPr/>
        </p:nvSpPr>
        <p:spPr>
          <a:xfrm rot="2700000">
            <a:off x="1554480" y="868680"/>
            <a:ext cx="91440" cy="91440"/>
          </a:xfrm>
          <a:prstGeom prst="rect">
            <a:avLst/>
          </a:prstGeom>
          <a:solidFill>
            <a:srgbClr val="D4951A"/>
          </a:solidFill>
          <a:ln w="12700">
            <a:solidFill>
              <a:srgbClr val="09090F"/>
            </a:solidFill>
            <a:prstDash val="solid"/>
          </a:ln>
        </p:spPr>
      </p:sp>
      <p:sp>
        <p:nvSpPr>
          <p:cNvPr id="91" name="Text 89"/>
          <p:cNvSpPr/>
          <p:nvPr/>
        </p:nvSpPr>
        <p:spPr>
          <a:xfrm>
            <a:off x="365760" y="969264"/>
            <a:ext cx="2651760" cy="365760"/>
          </a:xfrm>
          <a:prstGeom prst="rect">
            <a:avLst/>
          </a:prstGeom>
          <a:noFill/>
          <a:ln/>
        </p:spPr>
        <p:txBody>
          <a:bodyPr wrap="square" rtlCol="0" anchor="ctr"/>
          <a:lstStyle/>
          <a:p>
            <a:pPr indent="0" marL="0">
              <a:buNone/>
            </a:pPr>
            <a:r>
              <a:rPr lang="en-US" sz="950" b="1" dirty="0">
                <a:solidFill>
                  <a:srgbClr val="D4951A"/>
                </a:solidFill>
                <a:latin typeface="Georgia" pitchFamily="34" charset="0"/>
                <a:ea typeface="Georgia" pitchFamily="34" charset="-122"/>
                <a:cs typeface="Georgia" pitchFamily="34" charset="-120"/>
              </a:rPr>
              <a:t>SPÉCIFICATIONS TECHNIQUES OBLIGATOIRES</a:t>
            </a:r>
            <a:endParaRPr lang="en-US" sz="950" dirty="0"/>
          </a:p>
        </p:txBody>
      </p:sp>
      <p:sp>
        <p:nvSpPr>
          <p:cNvPr id="92" name="Shape 90"/>
          <p:cNvSpPr/>
          <p:nvPr/>
        </p:nvSpPr>
        <p:spPr>
          <a:xfrm rot="2700000">
            <a:off x="10973" y="1371600"/>
            <a:ext cx="77724" cy="77724"/>
          </a:xfrm>
          <a:prstGeom prst="rect">
            <a:avLst/>
          </a:prstGeom>
          <a:solidFill>
            <a:srgbClr val="D4951A">
              <a:alpha val="18000"/>
            </a:srgbClr>
          </a:solidFill>
          <a:ln w="12700">
            <a:solidFill>
              <a:srgbClr val="D4951A"/>
            </a:solidFill>
            <a:prstDash val="solid"/>
          </a:ln>
        </p:spPr>
      </p:sp>
      <p:sp>
        <p:nvSpPr>
          <p:cNvPr id="93" name="Shape 91"/>
          <p:cNvSpPr/>
          <p:nvPr/>
        </p:nvSpPr>
        <p:spPr>
          <a:xfrm rot="2700000">
            <a:off x="128016" y="1371600"/>
            <a:ext cx="77724" cy="77724"/>
          </a:xfrm>
          <a:prstGeom prst="rect">
            <a:avLst/>
          </a:prstGeom>
          <a:solidFill>
            <a:srgbClr val="D4951A">
              <a:alpha val="18000"/>
            </a:srgbClr>
          </a:solidFill>
          <a:ln w="12700">
            <a:solidFill>
              <a:srgbClr val="D4951A"/>
            </a:solidFill>
            <a:prstDash val="solid"/>
          </a:ln>
        </p:spPr>
      </p:sp>
      <p:sp>
        <p:nvSpPr>
          <p:cNvPr id="94" name="Shape 92"/>
          <p:cNvSpPr/>
          <p:nvPr/>
        </p:nvSpPr>
        <p:spPr>
          <a:xfrm rot="2700000">
            <a:off x="245059" y="1371600"/>
            <a:ext cx="77724" cy="77724"/>
          </a:xfrm>
          <a:prstGeom prst="rect">
            <a:avLst/>
          </a:prstGeom>
          <a:solidFill>
            <a:srgbClr val="D4951A">
              <a:alpha val="18000"/>
            </a:srgbClr>
          </a:solidFill>
          <a:ln w="12700">
            <a:solidFill>
              <a:srgbClr val="D4951A"/>
            </a:solidFill>
            <a:prstDash val="solid"/>
          </a:ln>
        </p:spPr>
      </p:sp>
      <p:sp>
        <p:nvSpPr>
          <p:cNvPr id="95" name="Shape 93"/>
          <p:cNvSpPr/>
          <p:nvPr/>
        </p:nvSpPr>
        <p:spPr>
          <a:xfrm rot="2700000">
            <a:off x="362102" y="1371600"/>
            <a:ext cx="77724" cy="77724"/>
          </a:xfrm>
          <a:prstGeom prst="rect">
            <a:avLst/>
          </a:prstGeom>
          <a:solidFill>
            <a:srgbClr val="D4951A">
              <a:alpha val="18000"/>
            </a:srgbClr>
          </a:solidFill>
          <a:ln w="12700">
            <a:solidFill>
              <a:srgbClr val="D4951A"/>
            </a:solidFill>
            <a:prstDash val="solid"/>
          </a:ln>
        </p:spPr>
      </p:sp>
      <p:sp>
        <p:nvSpPr>
          <p:cNvPr id="96" name="Shape 94"/>
          <p:cNvSpPr/>
          <p:nvPr/>
        </p:nvSpPr>
        <p:spPr>
          <a:xfrm rot="2700000">
            <a:off x="479146" y="1371600"/>
            <a:ext cx="77724" cy="77724"/>
          </a:xfrm>
          <a:prstGeom prst="rect">
            <a:avLst/>
          </a:prstGeom>
          <a:solidFill>
            <a:srgbClr val="D4951A">
              <a:alpha val="18000"/>
            </a:srgbClr>
          </a:solidFill>
          <a:ln w="12700">
            <a:solidFill>
              <a:srgbClr val="D4951A"/>
            </a:solidFill>
            <a:prstDash val="solid"/>
          </a:ln>
        </p:spPr>
      </p:sp>
      <p:sp>
        <p:nvSpPr>
          <p:cNvPr id="97" name="Shape 95"/>
          <p:cNvSpPr/>
          <p:nvPr/>
        </p:nvSpPr>
        <p:spPr>
          <a:xfrm rot="2700000">
            <a:off x="596189" y="1371600"/>
            <a:ext cx="77724" cy="77724"/>
          </a:xfrm>
          <a:prstGeom prst="rect">
            <a:avLst/>
          </a:prstGeom>
          <a:solidFill>
            <a:srgbClr val="D4951A">
              <a:alpha val="18000"/>
            </a:srgbClr>
          </a:solidFill>
          <a:ln w="12700">
            <a:solidFill>
              <a:srgbClr val="D4951A"/>
            </a:solidFill>
            <a:prstDash val="solid"/>
          </a:ln>
        </p:spPr>
      </p:sp>
      <p:sp>
        <p:nvSpPr>
          <p:cNvPr id="98" name="Shape 96"/>
          <p:cNvSpPr/>
          <p:nvPr/>
        </p:nvSpPr>
        <p:spPr>
          <a:xfrm rot="2700000">
            <a:off x="713232" y="1371600"/>
            <a:ext cx="77724" cy="77724"/>
          </a:xfrm>
          <a:prstGeom prst="rect">
            <a:avLst/>
          </a:prstGeom>
          <a:solidFill>
            <a:srgbClr val="D4951A">
              <a:alpha val="18000"/>
            </a:srgbClr>
          </a:solidFill>
          <a:ln w="12700">
            <a:solidFill>
              <a:srgbClr val="D4951A"/>
            </a:solidFill>
            <a:prstDash val="solid"/>
          </a:ln>
        </p:spPr>
      </p:sp>
      <p:sp>
        <p:nvSpPr>
          <p:cNvPr id="99" name="Shape 97"/>
          <p:cNvSpPr/>
          <p:nvPr/>
        </p:nvSpPr>
        <p:spPr>
          <a:xfrm rot="2700000">
            <a:off x="830275" y="1371600"/>
            <a:ext cx="77724" cy="77724"/>
          </a:xfrm>
          <a:prstGeom prst="rect">
            <a:avLst/>
          </a:prstGeom>
          <a:solidFill>
            <a:srgbClr val="D4951A">
              <a:alpha val="18000"/>
            </a:srgbClr>
          </a:solidFill>
          <a:ln w="12700">
            <a:solidFill>
              <a:srgbClr val="D4951A"/>
            </a:solidFill>
            <a:prstDash val="solid"/>
          </a:ln>
        </p:spPr>
      </p:sp>
      <p:sp>
        <p:nvSpPr>
          <p:cNvPr id="100" name="Shape 98"/>
          <p:cNvSpPr/>
          <p:nvPr/>
        </p:nvSpPr>
        <p:spPr>
          <a:xfrm rot="2700000">
            <a:off x="947318" y="1371600"/>
            <a:ext cx="77724" cy="77724"/>
          </a:xfrm>
          <a:prstGeom prst="rect">
            <a:avLst/>
          </a:prstGeom>
          <a:solidFill>
            <a:srgbClr val="D4951A">
              <a:alpha val="18000"/>
            </a:srgbClr>
          </a:solidFill>
          <a:ln w="12700">
            <a:solidFill>
              <a:srgbClr val="D4951A"/>
            </a:solidFill>
            <a:prstDash val="solid"/>
          </a:ln>
        </p:spPr>
      </p:sp>
      <p:sp>
        <p:nvSpPr>
          <p:cNvPr id="101" name="Shape 99"/>
          <p:cNvSpPr/>
          <p:nvPr/>
        </p:nvSpPr>
        <p:spPr>
          <a:xfrm rot="2700000">
            <a:off x="1064362" y="1371600"/>
            <a:ext cx="77724" cy="77724"/>
          </a:xfrm>
          <a:prstGeom prst="rect">
            <a:avLst/>
          </a:prstGeom>
          <a:solidFill>
            <a:srgbClr val="D4951A">
              <a:alpha val="18000"/>
            </a:srgbClr>
          </a:solidFill>
          <a:ln w="12700">
            <a:solidFill>
              <a:srgbClr val="D4951A"/>
            </a:solidFill>
            <a:prstDash val="solid"/>
          </a:ln>
        </p:spPr>
      </p:sp>
      <p:sp>
        <p:nvSpPr>
          <p:cNvPr id="102" name="Shape 100"/>
          <p:cNvSpPr/>
          <p:nvPr/>
        </p:nvSpPr>
        <p:spPr>
          <a:xfrm rot="2700000">
            <a:off x="1181405" y="1371600"/>
            <a:ext cx="77724" cy="77724"/>
          </a:xfrm>
          <a:prstGeom prst="rect">
            <a:avLst/>
          </a:prstGeom>
          <a:solidFill>
            <a:srgbClr val="D4951A">
              <a:alpha val="18000"/>
            </a:srgbClr>
          </a:solidFill>
          <a:ln w="12700">
            <a:solidFill>
              <a:srgbClr val="D4951A"/>
            </a:solidFill>
            <a:prstDash val="solid"/>
          </a:ln>
        </p:spPr>
      </p:sp>
      <p:sp>
        <p:nvSpPr>
          <p:cNvPr id="103" name="Shape 101"/>
          <p:cNvSpPr/>
          <p:nvPr/>
        </p:nvSpPr>
        <p:spPr>
          <a:xfrm rot="2700000">
            <a:off x="1298448" y="1371600"/>
            <a:ext cx="77724" cy="77724"/>
          </a:xfrm>
          <a:prstGeom prst="rect">
            <a:avLst/>
          </a:prstGeom>
          <a:solidFill>
            <a:srgbClr val="D4951A">
              <a:alpha val="18000"/>
            </a:srgbClr>
          </a:solidFill>
          <a:ln w="12700">
            <a:solidFill>
              <a:srgbClr val="D4951A"/>
            </a:solidFill>
            <a:prstDash val="solid"/>
          </a:ln>
        </p:spPr>
      </p:sp>
      <p:sp>
        <p:nvSpPr>
          <p:cNvPr id="104" name="Shape 102"/>
          <p:cNvSpPr/>
          <p:nvPr/>
        </p:nvSpPr>
        <p:spPr>
          <a:xfrm rot="2700000">
            <a:off x="1415491" y="1371600"/>
            <a:ext cx="77724" cy="77724"/>
          </a:xfrm>
          <a:prstGeom prst="rect">
            <a:avLst/>
          </a:prstGeom>
          <a:solidFill>
            <a:srgbClr val="D4951A">
              <a:alpha val="18000"/>
            </a:srgbClr>
          </a:solidFill>
          <a:ln w="12700">
            <a:solidFill>
              <a:srgbClr val="D4951A"/>
            </a:solidFill>
            <a:prstDash val="solid"/>
          </a:ln>
        </p:spPr>
      </p:sp>
      <p:sp>
        <p:nvSpPr>
          <p:cNvPr id="105" name="Shape 103"/>
          <p:cNvSpPr/>
          <p:nvPr/>
        </p:nvSpPr>
        <p:spPr>
          <a:xfrm rot="2700000">
            <a:off x="1532534" y="1371600"/>
            <a:ext cx="77724" cy="77724"/>
          </a:xfrm>
          <a:prstGeom prst="rect">
            <a:avLst/>
          </a:prstGeom>
          <a:solidFill>
            <a:srgbClr val="D4951A">
              <a:alpha val="18000"/>
            </a:srgbClr>
          </a:solidFill>
          <a:ln w="12700">
            <a:solidFill>
              <a:srgbClr val="D4951A"/>
            </a:solidFill>
            <a:prstDash val="solid"/>
          </a:ln>
        </p:spPr>
      </p:sp>
      <p:sp>
        <p:nvSpPr>
          <p:cNvPr id="106" name="Shape 104"/>
          <p:cNvSpPr/>
          <p:nvPr/>
        </p:nvSpPr>
        <p:spPr>
          <a:xfrm rot="2700000">
            <a:off x="1649578" y="1371600"/>
            <a:ext cx="77724" cy="77724"/>
          </a:xfrm>
          <a:prstGeom prst="rect">
            <a:avLst/>
          </a:prstGeom>
          <a:solidFill>
            <a:srgbClr val="D4951A">
              <a:alpha val="18000"/>
            </a:srgbClr>
          </a:solidFill>
          <a:ln w="12700">
            <a:solidFill>
              <a:srgbClr val="D4951A"/>
            </a:solidFill>
            <a:prstDash val="solid"/>
          </a:ln>
        </p:spPr>
      </p:sp>
      <p:sp>
        <p:nvSpPr>
          <p:cNvPr id="107" name="Shape 105"/>
          <p:cNvSpPr/>
          <p:nvPr/>
        </p:nvSpPr>
        <p:spPr>
          <a:xfrm rot="2700000">
            <a:off x="1766621" y="1371600"/>
            <a:ext cx="77724" cy="77724"/>
          </a:xfrm>
          <a:prstGeom prst="rect">
            <a:avLst/>
          </a:prstGeom>
          <a:solidFill>
            <a:srgbClr val="D4951A">
              <a:alpha val="18000"/>
            </a:srgbClr>
          </a:solidFill>
          <a:ln w="12700">
            <a:solidFill>
              <a:srgbClr val="D4951A"/>
            </a:solidFill>
            <a:prstDash val="solid"/>
          </a:ln>
        </p:spPr>
      </p:sp>
      <p:sp>
        <p:nvSpPr>
          <p:cNvPr id="108" name="Shape 106"/>
          <p:cNvSpPr/>
          <p:nvPr/>
        </p:nvSpPr>
        <p:spPr>
          <a:xfrm rot="2700000">
            <a:off x="1883664" y="1371600"/>
            <a:ext cx="77724" cy="77724"/>
          </a:xfrm>
          <a:prstGeom prst="rect">
            <a:avLst/>
          </a:prstGeom>
          <a:solidFill>
            <a:srgbClr val="D4951A">
              <a:alpha val="18000"/>
            </a:srgbClr>
          </a:solidFill>
          <a:ln w="12700">
            <a:solidFill>
              <a:srgbClr val="D4951A"/>
            </a:solidFill>
            <a:prstDash val="solid"/>
          </a:ln>
        </p:spPr>
      </p:sp>
      <p:sp>
        <p:nvSpPr>
          <p:cNvPr id="109" name="Shape 107"/>
          <p:cNvSpPr/>
          <p:nvPr/>
        </p:nvSpPr>
        <p:spPr>
          <a:xfrm rot="2700000">
            <a:off x="2000707" y="1371600"/>
            <a:ext cx="77724" cy="77724"/>
          </a:xfrm>
          <a:prstGeom prst="rect">
            <a:avLst/>
          </a:prstGeom>
          <a:solidFill>
            <a:srgbClr val="D4951A">
              <a:alpha val="18000"/>
            </a:srgbClr>
          </a:solidFill>
          <a:ln w="12700">
            <a:solidFill>
              <a:srgbClr val="D4951A"/>
            </a:solidFill>
            <a:prstDash val="solid"/>
          </a:ln>
        </p:spPr>
      </p:sp>
      <p:sp>
        <p:nvSpPr>
          <p:cNvPr id="110" name="Shape 108"/>
          <p:cNvSpPr/>
          <p:nvPr/>
        </p:nvSpPr>
        <p:spPr>
          <a:xfrm rot="2700000">
            <a:off x="2117750" y="1371600"/>
            <a:ext cx="77724" cy="77724"/>
          </a:xfrm>
          <a:prstGeom prst="rect">
            <a:avLst/>
          </a:prstGeom>
          <a:solidFill>
            <a:srgbClr val="D4951A">
              <a:alpha val="18000"/>
            </a:srgbClr>
          </a:solidFill>
          <a:ln w="12700">
            <a:solidFill>
              <a:srgbClr val="D4951A"/>
            </a:solidFill>
            <a:prstDash val="solid"/>
          </a:ln>
        </p:spPr>
      </p:sp>
      <p:sp>
        <p:nvSpPr>
          <p:cNvPr id="111" name="Shape 109"/>
          <p:cNvSpPr/>
          <p:nvPr/>
        </p:nvSpPr>
        <p:spPr>
          <a:xfrm rot="2700000">
            <a:off x="2234794" y="1371600"/>
            <a:ext cx="77724" cy="77724"/>
          </a:xfrm>
          <a:prstGeom prst="rect">
            <a:avLst/>
          </a:prstGeom>
          <a:solidFill>
            <a:srgbClr val="D4951A">
              <a:alpha val="18000"/>
            </a:srgbClr>
          </a:solidFill>
          <a:ln w="12700">
            <a:solidFill>
              <a:srgbClr val="D4951A"/>
            </a:solidFill>
            <a:prstDash val="solid"/>
          </a:ln>
        </p:spPr>
      </p:sp>
      <p:sp>
        <p:nvSpPr>
          <p:cNvPr id="112" name="Shape 110"/>
          <p:cNvSpPr/>
          <p:nvPr/>
        </p:nvSpPr>
        <p:spPr>
          <a:xfrm rot="2700000">
            <a:off x="2351837" y="1371600"/>
            <a:ext cx="77724" cy="77724"/>
          </a:xfrm>
          <a:prstGeom prst="rect">
            <a:avLst/>
          </a:prstGeom>
          <a:solidFill>
            <a:srgbClr val="D4951A">
              <a:alpha val="18000"/>
            </a:srgbClr>
          </a:solidFill>
          <a:ln w="12700">
            <a:solidFill>
              <a:srgbClr val="D4951A"/>
            </a:solidFill>
            <a:prstDash val="solid"/>
          </a:ln>
        </p:spPr>
      </p:sp>
      <p:sp>
        <p:nvSpPr>
          <p:cNvPr id="113" name="Shape 111"/>
          <p:cNvSpPr/>
          <p:nvPr/>
        </p:nvSpPr>
        <p:spPr>
          <a:xfrm rot="2700000">
            <a:off x="2468880" y="1371600"/>
            <a:ext cx="77724" cy="77724"/>
          </a:xfrm>
          <a:prstGeom prst="rect">
            <a:avLst/>
          </a:prstGeom>
          <a:solidFill>
            <a:srgbClr val="D4951A">
              <a:alpha val="18000"/>
            </a:srgbClr>
          </a:solidFill>
          <a:ln w="12700">
            <a:solidFill>
              <a:srgbClr val="D4951A"/>
            </a:solidFill>
            <a:prstDash val="solid"/>
          </a:ln>
        </p:spPr>
      </p:sp>
      <p:sp>
        <p:nvSpPr>
          <p:cNvPr id="114" name="Shape 112"/>
          <p:cNvSpPr/>
          <p:nvPr/>
        </p:nvSpPr>
        <p:spPr>
          <a:xfrm rot="2700000">
            <a:off x="2585923" y="1371600"/>
            <a:ext cx="77724" cy="77724"/>
          </a:xfrm>
          <a:prstGeom prst="rect">
            <a:avLst/>
          </a:prstGeom>
          <a:solidFill>
            <a:srgbClr val="D4951A">
              <a:alpha val="18000"/>
            </a:srgbClr>
          </a:solidFill>
          <a:ln w="12700">
            <a:solidFill>
              <a:srgbClr val="D4951A"/>
            </a:solidFill>
            <a:prstDash val="solid"/>
          </a:ln>
        </p:spPr>
      </p:sp>
      <p:sp>
        <p:nvSpPr>
          <p:cNvPr id="115" name="Shape 113"/>
          <p:cNvSpPr/>
          <p:nvPr/>
        </p:nvSpPr>
        <p:spPr>
          <a:xfrm rot="2700000">
            <a:off x="2702966" y="1371600"/>
            <a:ext cx="77724" cy="77724"/>
          </a:xfrm>
          <a:prstGeom prst="rect">
            <a:avLst/>
          </a:prstGeom>
          <a:solidFill>
            <a:srgbClr val="D4951A">
              <a:alpha val="18000"/>
            </a:srgbClr>
          </a:solidFill>
          <a:ln w="12700">
            <a:solidFill>
              <a:srgbClr val="D4951A"/>
            </a:solidFill>
            <a:prstDash val="solid"/>
          </a:ln>
        </p:spPr>
      </p:sp>
      <p:sp>
        <p:nvSpPr>
          <p:cNvPr id="116" name="Shape 114"/>
          <p:cNvSpPr/>
          <p:nvPr/>
        </p:nvSpPr>
        <p:spPr>
          <a:xfrm rot="2700000">
            <a:off x="2820010" y="1371600"/>
            <a:ext cx="77724" cy="77724"/>
          </a:xfrm>
          <a:prstGeom prst="rect">
            <a:avLst/>
          </a:prstGeom>
          <a:solidFill>
            <a:srgbClr val="D4951A">
              <a:alpha val="18000"/>
            </a:srgbClr>
          </a:solidFill>
          <a:ln w="12700">
            <a:solidFill>
              <a:srgbClr val="D4951A"/>
            </a:solidFill>
            <a:prstDash val="solid"/>
          </a:ln>
        </p:spPr>
      </p:sp>
      <p:sp>
        <p:nvSpPr>
          <p:cNvPr id="117" name="Shape 115"/>
          <p:cNvSpPr/>
          <p:nvPr/>
        </p:nvSpPr>
        <p:spPr>
          <a:xfrm rot="2700000">
            <a:off x="2937053" y="1371600"/>
            <a:ext cx="77724" cy="77724"/>
          </a:xfrm>
          <a:prstGeom prst="rect">
            <a:avLst/>
          </a:prstGeom>
          <a:solidFill>
            <a:srgbClr val="D4951A">
              <a:alpha val="18000"/>
            </a:srgbClr>
          </a:solidFill>
          <a:ln w="12700">
            <a:solidFill>
              <a:srgbClr val="D4951A"/>
            </a:solidFill>
            <a:prstDash val="solid"/>
          </a:ln>
        </p:spPr>
      </p:sp>
      <p:sp>
        <p:nvSpPr>
          <p:cNvPr id="118" name="Text 116"/>
          <p:cNvSpPr/>
          <p:nvPr/>
        </p:nvSpPr>
        <p:spPr>
          <a:xfrm>
            <a:off x="365760" y="1444752"/>
            <a:ext cx="2670048" cy="3364992"/>
          </a:xfrm>
          <a:prstGeom prst="rect">
            <a:avLst/>
          </a:prstGeom>
          <a:noFill/>
          <a:ln/>
        </p:spPr>
        <p:txBody>
          <a:bodyPr wrap="square" rtlCol="0" anchor="t"/>
          <a:lstStyle/>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Puissance nominale : 2 400–2 600 Kg/H minimum</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Pression de service : 5 bar(e) de conception</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Type vapeur : Saturée sèche, titre ≥0,95</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Carburant : GPL, brûleur bi-combustible GPL+GN recommandé</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Efficacité thermique : ≥90% PCI en GPL</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Marquage CE sous Directive EP 2014/68/UE — obligatoire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Soupape sécurité réglée usine, débit ≥ puissance totale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Détecteur bas niveau eau testé indépendamment</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Purge fumées automatique 4× volume foyer avant allumage</a:t>
            </a:r>
            <a:endParaRPr lang="en-US" sz="860" dirty="0"/>
          </a:p>
        </p:txBody>
      </p:sp>
      <p:sp>
        <p:nvSpPr>
          <p:cNvPr id="119" name="Shape 117"/>
          <p:cNvSpPr/>
          <p:nvPr/>
        </p:nvSpPr>
        <p:spPr>
          <a:xfrm>
            <a:off x="3200400"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0" name="Shape 118"/>
          <p:cNvSpPr/>
          <p:nvPr/>
        </p:nvSpPr>
        <p:spPr>
          <a:xfrm>
            <a:off x="3200400" y="914400"/>
            <a:ext cx="2834640" cy="45720"/>
          </a:xfrm>
          <a:prstGeom prst="rect">
            <a:avLst/>
          </a:prstGeom>
          <a:solidFill>
            <a:srgbClr val="E8A020"/>
          </a:solidFill>
          <a:ln/>
        </p:spPr>
      </p:sp>
      <p:sp>
        <p:nvSpPr>
          <p:cNvPr id="121" name="Shape 119"/>
          <p:cNvSpPr/>
          <p:nvPr/>
        </p:nvSpPr>
        <p:spPr>
          <a:xfrm rot="2700000">
            <a:off x="4498848" y="868680"/>
            <a:ext cx="91440" cy="91440"/>
          </a:xfrm>
          <a:prstGeom prst="rect">
            <a:avLst/>
          </a:prstGeom>
          <a:solidFill>
            <a:srgbClr val="E8A020"/>
          </a:solidFill>
          <a:ln w="12700">
            <a:solidFill>
              <a:srgbClr val="09090F"/>
            </a:solidFill>
            <a:prstDash val="solid"/>
          </a:ln>
        </p:spPr>
      </p:sp>
      <p:sp>
        <p:nvSpPr>
          <p:cNvPr id="122" name="Text 120"/>
          <p:cNvSpPr/>
          <p:nvPr/>
        </p:nvSpPr>
        <p:spPr>
          <a:xfrm>
            <a:off x="3310128" y="969264"/>
            <a:ext cx="2651760" cy="365760"/>
          </a:xfrm>
          <a:prstGeom prst="rect">
            <a:avLst/>
          </a:prstGeom>
          <a:noFill/>
          <a:ln/>
        </p:spPr>
        <p:txBody>
          <a:bodyPr wrap="square" rtlCol="0" anchor="ctr"/>
          <a:lstStyle/>
          <a:p>
            <a:pPr indent="0" marL="0">
              <a:buNone/>
            </a:pPr>
            <a:r>
              <a:rPr lang="en-US" sz="950" b="1" dirty="0">
                <a:solidFill>
                  <a:srgbClr val="E8A020"/>
                </a:solidFill>
                <a:latin typeface="Georgia" pitchFamily="34" charset="0"/>
                <a:ea typeface="Georgia" pitchFamily="34" charset="-122"/>
                <a:cs typeface="Georgia" pitchFamily="34" charset="-120"/>
              </a:rPr>
              <a:t>EXIGENCES SAV — NOUVELLES (GVI uniquement)</a:t>
            </a:r>
            <a:endParaRPr lang="en-US" sz="950" dirty="0"/>
          </a:p>
        </p:txBody>
      </p:sp>
      <p:sp>
        <p:nvSpPr>
          <p:cNvPr id="123" name="Shape 121"/>
          <p:cNvSpPr/>
          <p:nvPr/>
        </p:nvSpPr>
        <p:spPr>
          <a:xfrm rot="2700000">
            <a:off x="10973" y="1371600"/>
            <a:ext cx="77724" cy="77724"/>
          </a:xfrm>
          <a:prstGeom prst="rect">
            <a:avLst/>
          </a:prstGeom>
          <a:solidFill>
            <a:srgbClr val="E8A020">
              <a:alpha val="18000"/>
            </a:srgbClr>
          </a:solidFill>
          <a:ln w="12700">
            <a:solidFill>
              <a:srgbClr val="E8A020"/>
            </a:solidFill>
            <a:prstDash val="solid"/>
          </a:ln>
        </p:spPr>
      </p:sp>
      <p:sp>
        <p:nvSpPr>
          <p:cNvPr id="124" name="Shape 122"/>
          <p:cNvSpPr/>
          <p:nvPr/>
        </p:nvSpPr>
        <p:spPr>
          <a:xfrm rot="2700000">
            <a:off x="128016" y="1371600"/>
            <a:ext cx="77724" cy="77724"/>
          </a:xfrm>
          <a:prstGeom prst="rect">
            <a:avLst/>
          </a:prstGeom>
          <a:solidFill>
            <a:srgbClr val="E8A020">
              <a:alpha val="18000"/>
            </a:srgbClr>
          </a:solidFill>
          <a:ln w="12700">
            <a:solidFill>
              <a:srgbClr val="E8A020"/>
            </a:solidFill>
            <a:prstDash val="solid"/>
          </a:ln>
        </p:spPr>
      </p:sp>
      <p:sp>
        <p:nvSpPr>
          <p:cNvPr id="125" name="Shape 123"/>
          <p:cNvSpPr/>
          <p:nvPr/>
        </p:nvSpPr>
        <p:spPr>
          <a:xfrm rot="2700000">
            <a:off x="245059" y="1371600"/>
            <a:ext cx="77724" cy="77724"/>
          </a:xfrm>
          <a:prstGeom prst="rect">
            <a:avLst/>
          </a:prstGeom>
          <a:solidFill>
            <a:srgbClr val="E8A020">
              <a:alpha val="18000"/>
            </a:srgbClr>
          </a:solidFill>
          <a:ln w="12700">
            <a:solidFill>
              <a:srgbClr val="E8A020"/>
            </a:solidFill>
            <a:prstDash val="solid"/>
          </a:ln>
        </p:spPr>
      </p:sp>
      <p:sp>
        <p:nvSpPr>
          <p:cNvPr id="126" name="Shape 124"/>
          <p:cNvSpPr/>
          <p:nvPr/>
        </p:nvSpPr>
        <p:spPr>
          <a:xfrm rot="2700000">
            <a:off x="362102" y="1371600"/>
            <a:ext cx="77724" cy="77724"/>
          </a:xfrm>
          <a:prstGeom prst="rect">
            <a:avLst/>
          </a:prstGeom>
          <a:solidFill>
            <a:srgbClr val="E8A020">
              <a:alpha val="18000"/>
            </a:srgbClr>
          </a:solidFill>
          <a:ln w="12700">
            <a:solidFill>
              <a:srgbClr val="E8A020"/>
            </a:solidFill>
            <a:prstDash val="solid"/>
          </a:ln>
        </p:spPr>
      </p:sp>
      <p:sp>
        <p:nvSpPr>
          <p:cNvPr id="127" name="Shape 125"/>
          <p:cNvSpPr/>
          <p:nvPr/>
        </p:nvSpPr>
        <p:spPr>
          <a:xfrm rot="2700000">
            <a:off x="479146" y="1371600"/>
            <a:ext cx="77724" cy="77724"/>
          </a:xfrm>
          <a:prstGeom prst="rect">
            <a:avLst/>
          </a:prstGeom>
          <a:solidFill>
            <a:srgbClr val="E8A020">
              <a:alpha val="18000"/>
            </a:srgbClr>
          </a:solidFill>
          <a:ln w="12700">
            <a:solidFill>
              <a:srgbClr val="E8A020"/>
            </a:solidFill>
            <a:prstDash val="solid"/>
          </a:ln>
        </p:spPr>
      </p:sp>
      <p:sp>
        <p:nvSpPr>
          <p:cNvPr id="128" name="Shape 126"/>
          <p:cNvSpPr/>
          <p:nvPr/>
        </p:nvSpPr>
        <p:spPr>
          <a:xfrm rot="2700000">
            <a:off x="596189" y="1371600"/>
            <a:ext cx="77724" cy="77724"/>
          </a:xfrm>
          <a:prstGeom prst="rect">
            <a:avLst/>
          </a:prstGeom>
          <a:solidFill>
            <a:srgbClr val="E8A020">
              <a:alpha val="18000"/>
            </a:srgbClr>
          </a:solidFill>
          <a:ln w="12700">
            <a:solidFill>
              <a:srgbClr val="E8A020"/>
            </a:solidFill>
            <a:prstDash val="solid"/>
          </a:ln>
        </p:spPr>
      </p:sp>
      <p:sp>
        <p:nvSpPr>
          <p:cNvPr id="129" name="Shape 127"/>
          <p:cNvSpPr/>
          <p:nvPr/>
        </p:nvSpPr>
        <p:spPr>
          <a:xfrm rot="2700000">
            <a:off x="713232" y="1371600"/>
            <a:ext cx="77724" cy="77724"/>
          </a:xfrm>
          <a:prstGeom prst="rect">
            <a:avLst/>
          </a:prstGeom>
          <a:solidFill>
            <a:srgbClr val="E8A020">
              <a:alpha val="18000"/>
            </a:srgbClr>
          </a:solidFill>
          <a:ln w="12700">
            <a:solidFill>
              <a:srgbClr val="E8A020"/>
            </a:solidFill>
            <a:prstDash val="solid"/>
          </a:ln>
        </p:spPr>
      </p:sp>
      <p:sp>
        <p:nvSpPr>
          <p:cNvPr id="130" name="Shape 128"/>
          <p:cNvSpPr/>
          <p:nvPr/>
        </p:nvSpPr>
        <p:spPr>
          <a:xfrm rot="2700000">
            <a:off x="830275" y="1371600"/>
            <a:ext cx="77724" cy="77724"/>
          </a:xfrm>
          <a:prstGeom prst="rect">
            <a:avLst/>
          </a:prstGeom>
          <a:solidFill>
            <a:srgbClr val="E8A020">
              <a:alpha val="18000"/>
            </a:srgbClr>
          </a:solidFill>
          <a:ln w="12700">
            <a:solidFill>
              <a:srgbClr val="E8A020"/>
            </a:solidFill>
            <a:prstDash val="solid"/>
          </a:ln>
        </p:spPr>
      </p:sp>
      <p:sp>
        <p:nvSpPr>
          <p:cNvPr id="131" name="Shape 129"/>
          <p:cNvSpPr/>
          <p:nvPr/>
        </p:nvSpPr>
        <p:spPr>
          <a:xfrm rot="2700000">
            <a:off x="947318" y="1371600"/>
            <a:ext cx="77724" cy="77724"/>
          </a:xfrm>
          <a:prstGeom prst="rect">
            <a:avLst/>
          </a:prstGeom>
          <a:solidFill>
            <a:srgbClr val="E8A020">
              <a:alpha val="18000"/>
            </a:srgbClr>
          </a:solidFill>
          <a:ln w="12700">
            <a:solidFill>
              <a:srgbClr val="E8A020"/>
            </a:solidFill>
            <a:prstDash val="solid"/>
          </a:ln>
        </p:spPr>
      </p:sp>
      <p:sp>
        <p:nvSpPr>
          <p:cNvPr id="132" name="Shape 130"/>
          <p:cNvSpPr/>
          <p:nvPr/>
        </p:nvSpPr>
        <p:spPr>
          <a:xfrm rot="2700000">
            <a:off x="1064362" y="1371600"/>
            <a:ext cx="77724" cy="77724"/>
          </a:xfrm>
          <a:prstGeom prst="rect">
            <a:avLst/>
          </a:prstGeom>
          <a:solidFill>
            <a:srgbClr val="E8A020">
              <a:alpha val="18000"/>
            </a:srgbClr>
          </a:solidFill>
          <a:ln w="12700">
            <a:solidFill>
              <a:srgbClr val="E8A020"/>
            </a:solidFill>
            <a:prstDash val="solid"/>
          </a:ln>
        </p:spPr>
      </p:sp>
      <p:sp>
        <p:nvSpPr>
          <p:cNvPr id="133" name="Shape 131"/>
          <p:cNvSpPr/>
          <p:nvPr/>
        </p:nvSpPr>
        <p:spPr>
          <a:xfrm rot="2700000">
            <a:off x="1181405" y="1371600"/>
            <a:ext cx="77724" cy="77724"/>
          </a:xfrm>
          <a:prstGeom prst="rect">
            <a:avLst/>
          </a:prstGeom>
          <a:solidFill>
            <a:srgbClr val="E8A020">
              <a:alpha val="18000"/>
            </a:srgbClr>
          </a:solidFill>
          <a:ln w="12700">
            <a:solidFill>
              <a:srgbClr val="E8A020"/>
            </a:solidFill>
            <a:prstDash val="solid"/>
          </a:ln>
        </p:spPr>
      </p:sp>
      <p:sp>
        <p:nvSpPr>
          <p:cNvPr id="134" name="Shape 132"/>
          <p:cNvSpPr/>
          <p:nvPr/>
        </p:nvSpPr>
        <p:spPr>
          <a:xfrm rot="2700000">
            <a:off x="1298448" y="1371600"/>
            <a:ext cx="77724" cy="77724"/>
          </a:xfrm>
          <a:prstGeom prst="rect">
            <a:avLst/>
          </a:prstGeom>
          <a:solidFill>
            <a:srgbClr val="E8A020">
              <a:alpha val="18000"/>
            </a:srgbClr>
          </a:solidFill>
          <a:ln w="12700">
            <a:solidFill>
              <a:srgbClr val="E8A020"/>
            </a:solidFill>
            <a:prstDash val="solid"/>
          </a:ln>
        </p:spPr>
      </p:sp>
      <p:sp>
        <p:nvSpPr>
          <p:cNvPr id="135" name="Shape 133"/>
          <p:cNvSpPr/>
          <p:nvPr/>
        </p:nvSpPr>
        <p:spPr>
          <a:xfrm rot="2700000">
            <a:off x="1415491" y="1371600"/>
            <a:ext cx="77724" cy="77724"/>
          </a:xfrm>
          <a:prstGeom prst="rect">
            <a:avLst/>
          </a:prstGeom>
          <a:solidFill>
            <a:srgbClr val="E8A020">
              <a:alpha val="18000"/>
            </a:srgbClr>
          </a:solidFill>
          <a:ln w="12700">
            <a:solidFill>
              <a:srgbClr val="E8A020"/>
            </a:solidFill>
            <a:prstDash val="solid"/>
          </a:ln>
        </p:spPr>
      </p:sp>
      <p:sp>
        <p:nvSpPr>
          <p:cNvPr id="136" name="Shape 134"/>
          <p:cNvSpPr/>
          <p:nvPr/>
        </p:nvSpPr>
        <p:spPr>
          <a:xfrm rot="2700000">
            <a:off x="1532534" y="1371600"/>
            <a:ext cx="77724" cy="77724"/>
          </a:xfrm>
          <a:prstGeom prst="rect">
            <a:avLst/>
          </a:prstGeom>
          <a:solidFill>
            <a:srgbClr val="E8A020">
              <a:alpha val="18000"/>
            </a:srgbClr>
          </a:solidFill>
          <a:ln w="12700">
            <a:solidFill>
              <a:srgbClr val="E8A020"/>
            </a:solidFill>
            <a:prstDash val="solid"/>
          </a:ln>
        </p:spPr>
      </p:sp>
      <p:sp>
        <p:nvSpPr>
          <p:cNvPr id="137" name="Shape 135"/>
          <p:cNvSpPr/>
          <p:nvPr/>
        </p:nvSpPr>
        <p:spPr>
          <a:xfrm rot="2700000">
            <a:off x="1649578" y="1371600"/>
            <a:ext cx="77724" cy="77724"/>
          </a:xfrm>
          <a:prstGeom prst="rect">
            <a:avLst/>
          </a:prstGeom>
          <a:solidFill>
            <a:srgbClr val="E8A020">
              <a:alpha val="18000"/>
            </a:srgbClr>
          </a:solidFill>
          <a:ln w="12700">
            <a:solidFill>
              <a:srgbClr val="E8A020"/>
            </a:solidFill>
            <a:prstDash val="solid"/>
          </a:ln>
        </p:spPr>
      </p:sp>
      <p:sp>
        <p:nvSpPr>
          <p:cNvPr id="138" name="Shape 136"/>
          <p:cNvSpPr/>
          <p:nvPr/>
        </p:nvSpPr>
        <p:spPr>
          <a:xfrm rot="2700000">
            <a:off x="1766621" y="1371600"/>
            <a:ext cx="77724" cy="77724"/>
          </a:xfrm>
          <a:prstGeom prst="rect">
            <a:avLst/>
          </a:prstGeom>
          <a:solidFill>
            <a:srgbClr val="E8A020">
              <a:alpha val="18000"/>
            </a:srgbClr>
          </a:solidFill>
          <a:ln w="12700">
            <a:solidFill>
              <a:srgbClr val="E8A020"/>
            </a:solidFill>
            <a:prstDash val="solid"/>
          </a:ln>
        </p:spPr>
      </p:sp>
      <p:sp>
        <p:nvSpPr>
          <p:cNvPr id="139" name="Shape 137"/>
          <p:cNvSpPr/>
          <p:nvPr/>
        </p:nvSpPr>
        <p:spPr>
          <a:xfrm rot="2700000">
            <a:off x="1883664" y="1371600"/>
            <a:ext cx="77724" cy="77724"/>
          </a:xfrm>
          <a:prstGeom prst="rect">
            <a:avLst/>
          </a:prstGeom>
          <a:solidFill>
            <a:srgbClr val="E8A020">
              <a:alpha val="18000"/>
            </a:srgbClr>
          </a:solidFill>
          <a:ln w="12700">
            <a:solidFill>
              <a:srgbClr val="E8A020"/>
            </a:solidFill>
            <a:prstDash val="solid"/>
          </a:ln>
        </p:spPr>
      </p:sp>
      <p:sp>
        <p:nvSpPr>
          <p:cNvPr id="140" name="Shape 138"/>
          <p:cNvSpPr/>
          <p:nvPr/>
        </p:nvSpPr>
        <p:spPr>
          <a:xfrm rot="2700000">
            <a:off x="2000707" y="1371600"/>
            <a:ext cx="77724" cy="77724"/>
          </a:xfrm>
          <a:prstGeom prst="rect">
            <a:avLst/>
          </a:prstGeom>
          <a:solidFill>
            <a:srgbClr val="E8A020">
              <a:alpha val="18000"/>
            </a:srgbClr>
          </a:solidFill>
          <a:ln w="12700">
            <a:solidFill>
              <a:srgbClr val="E8A020"/>
            </a:solidFill>
            <a:prstDash val="solid"/>
          </a:ln>
        </p:spPr>
      </p:sp>
      <p:sp>
        <p:nvSpPr>
          <p:cNvPr id="141" name="Shape 139"/>
          <p:cNvSpPr/>
          <p:nvPr/>
        </p:nvSpPr>
        <p:spPr>
          <a:xfrm rot="2700000">
            <a:off x="2117750" y="1371600"/>
            <a:ext cx="77724" cy="77724"/>
          </a:xfrm>
          <a:prstGeom prst="rect">
            <a:avLst/>
          </a:prstGeom>
          <a:solidFill>
            <a:srgbClr val="E8A020">
              <a:alpha val="18000"/>
            </a:srgbClr>
          </a:solidFill>
          <a:ln w="12700">
            <a:solidFill>
              <a:srgbClr val="E8A020"/>
            </a:solidFill>
            <a:prstDash val="solid"/>
          </a:ln>
        </p:spPr>
      </p:sp>
      <p:sp>
        <p:nvSpPr>
          <p:cNvPr id="142" name="Shape 140"/>
          <p:cNvSpPr/>
          <p:nvPr/>
        </p:nvSpPr>
        <p:spPr>
          <a:xfrm rot="2700000">
            <a:off x="2234794" y="1371600"/>
            <a:ext cx="77724" cy="77724"/>
          </a:xfrm>
          <a:prstGeom prst="rect">
            <a:avLst/>
          </a:prstGeom>
          <a:solidFill>
            <a:srgbClr val="E8A020">
              <a:alpha val="18000"/>
            </a:srgbClr>
          </a:solidFill>
          <a:ln w="12700">
            <a:solidFill>
              <a:srgbClr val="E8A020"/>
            </a:solidFill>
            <a:prstDash val="solid"/>
          </a:ln>
        </p:spPr>
      </p:sp>
      <p:sp>
        <p:nvSpPr>
          <p:cNvPr id="143" name="Shape 141"/>
          <p:cNvSpPr/>
          <p:nvPr/>
        </p:nvSpPr>
        <p:spPr>
          <a:xfrm rot="2700000">
            <a:off x="2351837" y="1371600"/>
            <a:ext cx="77724" cy="77724"/>
          </a:xfrm>
          <a:prstGeom prst="rect">
            <a:avLst/>
          </a:prstGeom>
          <a:solidFill>
            <a:srgbClr val="E8A020">
              <a:alpha val="18000"/>
            </a:srgbClr>
          </a:solidFill>
          <a:ln w="12700">
            <a:solidFill>
              <a:srgbClr val="E8A020"/>
            </a:solidFill>
            <a:prstDash val="solid"/>
          </a:ln>
        </p:spPr>
      </p:sp>
      <p:sp>
        <p:nvSpPr>
          <p:cNvPr id="144" name="Shape 142"/>
          <p:cNvSpPr/>
          <p:nvPr/>
        </p:nvSpPr>
        <p:spPr>
          <a:xfrm rot="2700000">
            <a:off x="2468880" y="1371600"/>
            <a:ext cx="77724" cy="77724"/>
          </a:xfrm>
          <a:prstGeom prst="rect">
            <a:avLst/>
          </a:prstGeom>
          <a:solidFill>
            <a:srgbClr val="E8A020">
              <a:alpha val="18000"/>
            </a:srgbClr>
          </a:solidFill>
          <a:ln w="12700">
            <a:solidFill>
              <a:srgbClr val="E8A020"/>
            </a:solidFill>
            <a:prstDash val="solid"/>
          </a:ln>
        </p:spPr>
      </p:sp>
      <p:sp>
        <p:nvSpPr>
          <p:cNvPr id="145" name="Shape 143"/>
          <p:cNvSpPr/>
          <p:nvPr/>
        </p:nvSpPr>
        <p:spPr>
          <a:xfrm rot="2700000">
            <a:off x="2585923" y="1371600"/>
            <a:ext cx="77724" cy="77724"/>
          </a:xfrm>
          <a:prstGeom prst="rect">
            <a:avLst/>
          </a:prstGeom>
          <a:solidFill>
            <a:srgbClr val="E8A020">
              <a:alpha val="18000"/>
            </a:srgbClr>
          </a:solidFill>
          <a:ln w="12700">
            <a:solidFill>
              <a:srgbClr val="E8A020"/>
            </a:solidFill>
            <a:prstDash val="solid"/>
          </a:ln>
        </p:spPr>
      </p:sp>
      <p:sp>
        <p:nvSpPr>
          <p:cNvPr id="146" name="Shape 144"/>
          <p:cNvSpPr/>
          <p:nvPr/>
        </p:nvSpPr>
        <p:spPr>
          <a:xfrm rot="2700000">
            <a:off x="2702966" y="1371600"/>
            <a:ext cx="77724" cy="77724"/>
          </a:xfrm>
          <a:prstGeom prst="rect">
            <a:avLst/>
          </a:prstGeom>
          <a:solidFill>
            <a:srgbClr val="E8A020">
              <a:alpha val="18000"/>
            </a:srgbClr>
          </a:solidFill>
          <a:ln w="12700">
            <a:solidFill>
              <a:srgbClr val="E8A020"/>
            </a:solidFill>
            <a:prstDash val="solid"/>
          </a:ln>
        </p:spPr>
      </p:sp>
      <p:sp>
        <p:nvSpPr>
          <p:cNvPr id="147" name="Shape 145"/>
          <p:cNvSpPr/>
          <p:nvPr/>
        </p:nvSpPr>
        <p:spPr>
          <a:xfrm rot="2700000">
            <a:off x="2820010" y="1371600"/>
            <a:ext cx="77724" cy="77724"/>
          </a:xfrm>
          <a:prstGeom prst="rect">
            <a:avLst/>
          </a:prstGeom>
          <a:solidFill>
            <a:srgbClr val="E8A020">
              <a:alpha val="18000"/>
            </a:srgbClr>
          </a:solidFill>
          <a:ln w="12700">
            <a:solidFill>
              <a:srgbClr val="E8A020"/>
            </a:solidFill>
            <a:prstDash val="solid"/>
          </a:ln>
        </p:spPr>
      </p:sp>
      <p:sp>
        <p:nvSpPr>
          <p:cNvPr id="148" name="Shape 146"/>
          <p:cNvSpPr/>
          <p:nvPr/>
        </p:nvSpPr>
        <p:spPr>
          <a:xfrm rot="2700000">
            <a:off x="2937053" y="1371600"/>
            <a:ext cx="77724" cy="77724"/>
          </a:xfrm>
          <a:prstGeom prst="rect">
            <a:avLst/>
          </a:prstGeom>
          <a:solidFill>
            <a:srgbClr val="E8A020">
              <a:alpha val="18000"/>
            </a:srgbClr>
          </a:solidFill>
          <a:ln w="12700">
            <a:solidFill>
              <a:srgbClr val="E8A020"/>
            </a:solidFill>
            <a:prstDash val="solid"/>
          </a:ln>
        </p:spPr>
      </p:sp>
      <p:sp>
        <p:nvSpPr>
          <p:cNvPr id="149" name="Text 147"/>
          <p:cNvSpPr/>
          <p:nvPr/>
        </p:nvSpPr>
        <p:spPr>
          <a:xfrm>
            <a:off x="3310128" y="1444752"/>
            <a:ext cx="2670048" cy="3364992"/>
          </a:xfrm>
          <a:prstGeom prst="rect">
            <a:avLst/>
          </a:prstGeom>
          <a:noFill/>
          <a:ln/>
        </p:spPr>
        <p:txBody>
          <a:bodyPr wrap="square" rtlCol="0" anchor="t"/>
          <a:lstStyle/>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Partenaire SAV agréé nommé dans l'offre — Maroc, Espagne ou France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SLA contractuel : délai intervention max 72h pièces critiques</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Prix remplacement serpentins garanti sur 5 ans — devis inclus</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TCO réel 5 et 10 ans avec données historiques maintenance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Stock pièces critiques en Europe : liste fournie dans l'offre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Formation techniciens locaux incluse dans le périmètre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Hotline support technique 24/7 en français ou anglais</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Si GVI ne peut garantir ces points → offrir tubes de fumée</a:t>
            </a:r>
            <a:endParaRPr lang="en-US" sz="860" dirty="0"/>
          </a:p>
        </p:txBody>
      </p:sp>
      <p:sp>
        <p:nvSpPr>
          <p:cNvPr id="150" name="Shape 148"/>
          <p:cNvSpPr/>
          <p:nvPr/>
        </p:nvSpPr>
        <p:spPr>
          <a:xfrm>
            <a:off x="6144768"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51" name="Shape 149"/>
          <p:cNvSpPr/>
          <p:nvPr/>
        </p:nvSpPr>
        <p:spPr>
          <a:xfrm>
            <a:off x="6144768" y="914400"/>
            <a:ext cx="2834640" cy="45720"/>
          </a:xfrm>
          <a:prstGeom prst="rect">
            <a:avLst/>
          </a:prstGeom>
          <a:solidFill>
            <a:srgbClr val="C0622B"/>
          </a:solidFill>
          <a:ln/>
        </p:spPr>
      </p:sp>
      <p:sp>
        <p:nvSpPr>
          <p:cNvPr id="152" name="Shape 150"/>
          <p:cNvSpPr/>
          <p:nvPr/>
        </p:nvSpPr>
        <p:spPr>
          <a:xfrm rot="2700000">
            <a:off x="7443216" y="868680"/>
            <a:ext cx="91440" cy="91440"/>
          </a:xfrm>
          <a:prstGeom prst="rect">
            <a:avLst/>
          </a:prstGeom>
          <a:solidFill>
            <a:srgbClr val="C0622B"/>
          </a:solidFill>
          <a:ln w="12700">
            <a:solidFill>
              <a:srgbClr val="09090F"/>
            </a:solidFill>
            <a:prstDash val="solid"/>
          </a:ln>
        </p:spPr>
      </p:sp>
      <p:sp>
        <p:nvSpPr>
          <p:cNvPr id="153" name="Text 151"/>
          <p:cNvSpPr/>
          <p:nvPr/>
        </p:nvSpPr>
        <p:spPr>
          <a:xfrm>
            <a:off x="6254496" y="969264"/>
            <a:ext cx="2651760" cy="365760"/>
          </a:xfrm>
          <a:prstGeom prst="rect">
            <a:avLst/>
          </a:prstGeom>
          <a:noFill/>
          <a:ln/>
        </p:spPr>
        <p:txBody>
          <a:bodyPr wrap="square" rtlCol="0" anchor="ctr"/>
          <a:lstStyle/>
          <a:p>
            <a:pPr indent="0" marL="0">
              <a:buNone/>
            </a:pPr>
            <a:r>
              <a:rPr lang="en-US" sz="950" b="1" dirty="0">
                <a:solidFill>
                  <a:srgbClr val="C0622B"/>
                </a:solidFill>
                <a:latin typeface="Georgia" pitchFamily="34" charset="0"/>
                <a:ea typeface="Georgia" pitchFamily="34" charset="-122"/>
                <a:cs typeface="Georgia" pitchFamily="34" charset="-120"/>
              </a:rPr>
              <a:t>PÉRIMÈTRE DE FOURNITURE OBLIGATOIRE</a:t>
            </a:r>
            <a:endParaRPr lang="en-US" sz="950" dirty="0"/>
          </a:p>
        </p:txBody>
      </p:sp>
      <p:sp>
        <p:nvSpPr>
          <p:cNvPr id="154" name="Shape 152"/>
          <p:cNvSpPr/>
          <p:nvPr/>
        </p:nvSpPr>
        <p:spPr>
          <a:xfrm rot="2700000">
            <a:off x="10973" y="1371600"/>
            <a:ext cx="77724" cy="77724"/>
          </a:xfrm>
          <a:prstGeom prst="rect">
            <a:avLst/>
          </a:prstGeom>
          <a:solidFill>
            <a:srgbClr val="C0622B">
              <a:alpha val="18000"/>
            </a:srgbClr>
          </a:solidFill>
          <a:ln w="12700">
            <a:solidFill>
              <a:srgbClr val="C0622B"/>
            </a:solidFill>
            <a:prstDash val="solid"/>
          </a:ln>
        </p:spPr>
      </p:sp>
      <p:sp>
        <p:nvSpPr>
          <p:cNvPr id="155" name="Shape 153"/>
          <p:cNvSpPr/>
          <p:nvPr/>
        </p:nvSpPr>
        <p:spPr>
          <a:xfrm rot="2700000">
            <a:off x="128016" y="1371600"/>
            <a:ext cx="77724" cy="77724"/>
          </a:xfrm>
          <a:prstGeom prst="rect">
            <a:avLst/>
          </a:prstGeom>
          <a:solidFill>
            <a:srgbClr val="C0622B">
              <a:alpha val="18000"/>
            </a:srgbClr>
          </a:solidFill>
          <a:ln w="12700">
            <a:solidFill>
              <a:srgbClr val="C0622B"/>
            </a:solidFill>
            <a:prstDash val="solid"/>
          </a:ln>
        </p:spPr>
      </p:sp>
      <p:sp>
        <p:nvSpPr>
          <p:cNvPr id="156" name="Shape 154"/>
          <p:cNvSpPr/>
          <p:nvPr/>
        </p:nvSpPr>
        <p:spPr>
          <a:xfrm rot="2700000">
            <a:off x="245059" y="1371600"/>
            <a:ext cx="77724" cy="77724"/>
          </a:xfrm>
          <a:prstGeom prst="rect">
            <a:avLst/>
          </a:prstGeom>
          <a:solidFill>
            <a:srgbClr val="C0622B">
              <a:alpha val="18000"/>
            </a:srgbClr>
          </a:solidFill>
          <a:ln w="12700">
            <a:solidFill>
              <a:srgbClr val="C0622B"/>
            </a:solidFill>
            <a:prstDash val="solid"/>
          </a:ln>
        </p:spPr>
      </p:sp>
      <p:sp>
        <p:nvSpPr>
          <p:cNvPr id="157" name="Shape 155"/>
          <p:cNvSpPr/>
          <p:nvPr/>
        </p:nvSpPr>
        <p:spPr>
          <a:xfrm rot="2700000">
            <a:off x="362102" y="1371600"/>
            <a:ext cx="77724" cy="77724"/>
          </a:xfrm>
          <a:prstGeom prst="rect">
            <a:avLst/>
          </a:prstGeom>
          <a:solidFill>
            <a:srgbClr val="C0622B">
              <a:alpha val="18000"/>
            </a:srgbClr>
          </a:solidFill>
          <a:ln w="12700">
            <a:solidFill>
              <a:srgbClr val="C0622B"/>
            </a:solidFill>
            <a:prstDash val="solid"/>
          </a:ln>
        </p:spPr>
      </p:sp>
      <p:sp>
        <p:nvSpPr>
          <p:cNvPr id="158" name="Shape 156"/>
          <p:cNvSpPr/>
          <p:nvPr/>
        </p:nvSpPr>
        <p:spPr>
          <a:xfrm rot="2700000">
            <a:off x="479146" y="1371600"/>
            <a:ext cx="77724" cy="77724"/>
          </a:xfrm>
          <a:prstGeom prst="rect">
            <a:avLst/>
          </a:prstGeom>
          <a:solidFill>
            <a:srgbClr val="C0622B">
              <a:alpha val="18000"/>
            </a:srgbClr>
          </a:solidFill>
          <a:ln w="12700">
            <a:solidFill>
              <a:srgbClr val="C0622B"/>
            </a:solidFill>
            <a:prstDash val="solid"/>
          </a:ln>
        </p:spPr>
      </p:sp>
      <p:sp>
        <p:nvSpPr>
          <p:cNvPr id="159" name="Shape 157"/>
          <p:cNvSpPr/>
          <p:nvPr/>
        </p:nvSpPr>
        <p:spPr>
          <a:xfrm rot="2700000">
            <a:off x="596189" y="1371600"/>
            <a:ext cx="77724" cy="77724"/>
          </a:xfrm>
          <a:prstGeom prst="rect">
            <a:avLst/>
          </a:prstGeom>
          <a:solidFill>
            <a:srgbClr val="C0622B">
              <a:alpha val="18000"/>
            </a:srgbClr>
          </a:solidFill>
          <a:ln w="12700">
            <a:solidFill>
              <a:srgbClr val="C0622B"/>
            </a:solidFill>
            <a:prstDash val="solid"/>
          </a:ln>
        </p:spPr>
      </p:sp>
      <p:sp>
        <p:nvSpPr>
          <p:cNvPr id="160" name="Shape 158"/>
          <p:cNvSpPr/>
          <p:nvPr/>
        </p:nvSpPr>
        <p:spPr>
          <a:xfrm rot="2700000">
            <a:off x="713232" y="1371600"/>
            <a:ext cx="77724" cy="77724"/>
          </a:xfrm>
          <a:prstGeom prst="rect">
            <a:avLst/>
          </a:prstGeom>
          <a:solidFill>
            <a:srgbClr val="C0622B">
              <a:alpha val="18000"/>
            </a:srgbClr>
          </a:solidFill>
          <a:ln w="12700">
            <a:solidFill>
              <a:srgbClr val="C0622B"/>
            </a:solidFill>
            <a:prstDash val="solid"/>
          </a:ln>
        </p:spPr>
      </p:sp>
      <p:sp>
        <p:nvSpPr>
          <p:cNvPr id="161" name="Shape 159"/>
          <p:cNvSpPr/>
          <p:nvPr/>
        </p:nvSpPr>
        <p:spPr>
          <a:xfrm rot="2700000">
            <a:off x="830275" y="1371600"/>
            <a:ext cx="77724" cy="77724"/>
          </a:xfrm>
          <a:prstGeom prst="rect">
            <a:avLst/>
          </a:prstGeom>
          <a:solidFill>
            <a:srgbClr val="C0622B">
              <a:alpha val="18000"/>
            </a:srgbClr>
          </a:solidFill>
          <a:ln w="12700">
            <a:solidFill>
              <a:srgbClr val="C0622B"/>
            </a:solidFill>
            <a:prstDash val="solid"/>
          </a:ln>
        </p:spPr>
      </p:sp>
      <p:sp>
        <p:nvSpPr>
          <p:cNvPr id="162" name="Shape 160"/>
          <p:cNvSpPr/>
          <p:nvPr/>
        </p:nvSpPr>
        <p:spPr>
          <a:xfrm rot="2700000">
            <a:off x="947318" y="1371600"/>
            <a:ext cx="77724" cy="77724"/>
          </a:xfrm>
          <a:prstGeom prst="rect">
            <a:avLst/>
          </a:prstGeom>
          <a:solidFill>
            <a:srgbClr val="C0622B">
              <a:alpha val="18000"/>
            </a:srgbClr>
          </a:solidFill>
          <a:ln w="12700">
            <a:solidFill>
              <a:srgbClr val="C0622B"/>
            </a:solidFill>
            <a:prstDash val="solid"/>
          </a:ln>
        </p:spPr>
      </p:sp>
      <p:sp>
        <p:nvSpPr>
          <p:cNvPr id="163" name="Shape 161"/>
          <p:cNvSpPr/>
          <p:nvPr/>
        </p:nvSpPr>
        <p:spPr>
          <a:xfrm rot="2700000">
            <a:off x="1064362" y="1371600"/>
            <a:ext cx="77724" cy="77724"/>
          </a:xfrm>
          <a:prstGeom prst="rect">
            <a:avLst/>
          </a:prstGeom>
          <a:solidFill>
            <a:srgbClr val="C0622B">
              <a:alpha val="18000"/>
            </a:srgbClr>
          </a:solidFill>
          <a:ln w="12700">
            <a:solidFill>
              <a:srgbClr val="C0622B"/>
            </a:solidFill>
            <a:prstDash val="solid"/>
          </a:ln>
        </p:spPr>
      </p:sp>
      <p:sp>
        <p:nvSpPr>
          <p:cNvPr id="164" name="Shape 162"/>
          <p:cNvSpPr/>
          <p:nvPr/>
        </p:nvSpPr>
        <p:spPr>
          <a:xfrm rot="2700000">
            <a:off x="1181405" y="1371600"/>
            <a:ext cx="77724" cy="77724"/>
          </a:xfrm>
          <a:prstGeom prst="rect">
            <a:avLst/>
          </a:prstGeom>
          <a:solidFill>
            <a:srgbClr val="C0622B">
              <a:alpha val="18000"/>
            </a:srgbClr>
          </a:solidFill>
          <a:ln w="12700">
            <a:solidFill>
              <a:srgbClr val="C0622B"/>
            </a:solidFill>
            <a:prstDash val="solid"/>
          </a:ln>
        </p:spPr>
      </p:sp>
      <p:sp>
        <p:nvSpPr>
          <p:cNvPr id="165" name="Shape 163"/>
          <p:cNvSpPr/>
          <p:nvPr/>
        </p:nvSpPr>
        <p:spPr>
          <a:xfrm rot="2700000">
            <a:off x="1298448" y="1371600"/>
            <a:ext cx="77724" cy="77724"/>
          </a:xfrm>
          <a:prstGeom prst="rect">
            <a:avLst/>
          </a:prstGeom>
          <a:solidFill>
            <a:srgbClr val="C0622B">
              <a:alpha val="18000"/>
            </a:srgbClr>
          </a:solidFill>
          <a:ln w="12700">
            <a:solidFill>
              <a:srgbClr val="C0622B"/>
            </a:solidFill>
            <a:prstDash val="solid"/>
          </a:ln>
        </p:spPr>
      </p:sp>
      <p:sp>
        <p:nvSpPr>
          <p:cNvPr id="166" name="Shape 164"/>
          <p:cNvSpPr/>
          <p:nvPr/>
        </p:nvSpPr>
        <p:spPr>
          <a:xfrm rot="2700000">
            <a:off x="1415491" y="1371600"/>
            <a:ext cx="77724" cy="77724"/>
          </a:xfrm>
          <a:prstGeom prst="rect">
            <a:avLst/>
          </a:prstGeom>
          <a:solidFill>
            <a:srgbClr val="C0622B">
              <a:alpha val="18000"/>
            </a:srgbClr>
          </a:solidFill>
          <a:ln w="12700">
            <a:solidFill>
              <a:srgbClr val="C0622B"/>
            </a:solidFill>
            <a:prstDash val="solid"/>
          </a:ln>
        </p:spPr>
      </p:sp>
      <p:sp>
        <p:nvSpPr>
          <p:cNvPr id="167" name="Shape 165"/>
          <p:cNvSpPr/>
          <p:nvPr/>
        </p:nvSpPr>
        <p:spPr>
          <a:xfrm rot="2700000">
            <a:off x="1532534" y="1371600"/>
            <a:ext cx="77724" cy="77724"/>
          </a:xfrm>
          <a:prstGeom prst="rect">
            <a:avLst/>
          </a:prstGeom>
          <a:solidFill>
            <a:srgbClr val="C0622B">
              <a:alpha val="18000"/>
            </a:srgbClr>
          </a:solidFill>
          <a:ln w="12700">
            <a:solidFill>
              <a:srgbClr val="C0622B"/>
            </a:solidFill>
            <a:prstDash val="solid"/>
          </a:ln>
        </p:spPr>
      </p:sp>
      <p:sp>
        <p:nvSpPr>
          <p:cNvPr id="168" name="Shape 166"/>
          <p:cNvSpPr/>
          <p:nvPr/>
        </p:nvSpPr>
        <p:spPr>
          <a:xfrm rot="2700000">
            <a:off x="1649578" y="1371600"/>
            <a:ext cx="77724" cy="77724"/>
          </a:xfrm>
          <a:prstGeom prst="rect">
            <a:avLst/>
          </a:prstGeom>
          <a:solidFill>
            <a:srgbClr val="C0622B">
              <a:alpha val="18000"/>
            </a:srgbClr>
          </a:solidFill>
          <a:ln w="12700">
            <a:solidFill>
              <a:srgbClr val="C0622B"/>
            </a:solidFill>
            <a:prstDash val="solid"/>
          </a:ln>
        </p:spPr>
      </p:sp>
      <p:sp>
        <p:nvSpPr>
          <p:cNvPr id="169" name="Shape 167"/>
          <p:cNvSpPr/>
          <p:nvPr/>
        </p:nvSpPr>
        <p:spPr>
          <a:xfrm rot="2700000">
            <a:off x="1766621" y="1371600"/>
            <a:ext cx="77724" cy="77724"/>
          </a:xfrm>
          <a:prstGeom prst="rect">
            <a:avLst/>
          </a:prstGeom>
          <a:solidFill>
            <a:srgbClr val="C0622B">
              <a:alpha val="18000"/>
            </a:srgbClr>
          </a:solidFill>
          <a:ln w="12700">
            <a:solidFill>
              <a:srgbClr val="C0622B"/>
            </a:solidFill>
            <a:prstDash val="solid"/>
          </a:ln>
        </p:spPr>
      </p:sp>
      <p:sp>
        <p:nvSpPr>
          <p:cNvPr id="170" name="Shape 168"/>
          <p:cNvSpPr/>
          <p:nvPr/>
        </p:nvSpPr>
        <p:spPr>
          <a:xfrm rot="2700000">
            <a:off x="1883664" y="1371600"/>
            <a:ext cx="77724" cy="77724"/>
          </a:xfrm>
          <a:prstGeom prst="rect">
            <a:avLst/>
          </a:prstGeom>
          <a:solidFill>
            <a:srgbClr val="C0622B">
              <a:alpha val="18000"/>
            </a:srgbClr>
          </a:solidFill>
          <a:ln w="12700">
            <a:solidFill>
              <a:srgbClr val="C0622B"/>
            </a:solidFill>
            <a:prstDash val="solid"/>
          </a:ln>
        </p:spPr>
      </p:sp>
      <p:sp>
        <p:nvSpPr>
          <p:cNvPr id="171" name="Shape 169"/>
          <p:cNvSpPr/>
          <p:nvPr/>
        </p:nvSpPr>
        <p:spPr>
          <a:xfrm rot="2700000">
            <a:off x="2000707" y="1371600"/>
            <a:ext cx="77724" cy="77724"/>
          </a:xfrm>
          <a:prstGeom prst="rect">
            <a:avLst/>
          </a:prstGeom>
          <a:solidFill>
            <a:srgbClr val="C0622B">
              <a:alpha val="18000"/>
            </a:srgbClr>
          </a:solidFill>
          <a:ln w="12700">
            <a:solidFill>
              <a:srgbClr val="C0622B"/>
            </a:solidFill>
            <a:prstDash val="solid"/>
          </a:ln>
        </p:spPr>
      </p:sp>
      <p:sp>
        <p:nvSpPr>
          <p:cNvPr id="172" name="Shape 170"/>
          <p:cNvSpPr/>
          <p:nvPr/>
        </p:nvSpPr>
        <p:spPr>
          <a:xfrm rot="2700000">
            <a:off x="2117750" y="1371600"/>
            <a:ext cx="77724" cy="77724"/>
          </a:xfrm>
          <a:prstGeom prst="rect">
            <a:avLst/>
          </a:prstGeom>
          <a:solidFill>
            <a:srgbClr val="C0622B">
              <a:alpha val="18000"/>
            </a:srgbClr>
          </a:solidFill>
          <a:ln w="12700">
            <a:solidFill>
              <a:srgbClr val="C0622B"/>
            </a:solidFill>
            <a:prstDash val="solid"/>
          </a:ln>
        </p:spPr>
      </p:sp>
      <p:sp>
        <p:nvSpPr>
          <p:cNvPr id="173" name="Shape 171"/>
          <p:cNvSpPr/>
          <p:nvPr/>
        </p:nvSpPr>
        <p:spPr>
          <a:xfrm rot="2700000">
            <a:off x="2234794" y="1371600"/>
            <a:ext cx="77724" cy="77724"/>
          </a:xfrm>
          <a:prstGeom prst="rect">
            <a:avLst/>
          </a:prstGeom>
          <a:solidFill>
            <a:srgbClr val="C0622B">
              <a:alpha val="18000"/>
            </a:srgbClr>
          </a:solidFill>
          <a:ln w="12700">
            <a:solidFill>
              <a:srgbClr val="C0622B"/>
            </a:solidFill>
            <a:prstDash val="solid"/>
          </a:ln>
        </p:spPr>
      </p:sp>
      <p:sp>
        <p:nvSpPr>
          <p:cNvPr id="174" name="Shape 172"/>
          <p:cNvSpPr/>
          <p:nvPr/>
        </p:nvSpPr>
        <p:spPr>
          <a:xfrm rot="2700000">
            <a:off x="2351837" y="1371600"/>
            <a:ext cx="77724" cy="77724"/>
          </a:xfrm>
          <a:prstGeom prst="rect">
            <a:avLst/>
          </a:prstGeom>
          <a:solidFill>
            <a:srgbClr val="C0622B">
              <a:alpha val="18000"/>
            </a:srgbClr>
          </a:solidFill>
          <a:ln w="12700">
            <a:solidFill>
              <a:srgbClr val="C0622B"/>
            </a:solidFill>
            <a:prstDash val="solid"/>
          </a:ln>
        </p:spPr>
      </p:sp>
      <p:sp>
        <p:nvSpPr>
          <p:cNvPr id="175" name="Shape 173"/>
          <p:cNvSpPr/>
          <p:nvPr/>
        </p:nvSpPr>
        <p:spPr>
          <a:xfrm rot="2700000">
            <a:off x="2468880" y="1371600"/>
            <a:ext cx="77724" cy="77724"/>
          </a:xfrm>
          <a:prstGeom prst="rect">
            <a:avLst/>
          </a:prstGeom>
          <a:solidFill>
            <a:srgbClr val="C0622B">
              <a:alpha val="18000"/>
            </a:srgbClr>
          </a:solidFill>
          <a:ln w="12700">
            <a:solidFill>
              <a:srgbClr val="C0622B"/>
            </a:solidFill>
            <a:prstDash val="solid"/>
          </a:ln>
        </p:spPr>
      </p:sp>
      <p:sp>
        <p:nvSpPr>
          <p:cNvPr id="176" name="Shape 174"/>
          <p:cNvSpPr/>
          <p:nvPr/>
        </p:nvSpPr>
        <p:spPr>
          <a:xfrm rot="2700000">
            <a:off x="2585923" y="1371600"/>
            <a:ext cx="77724" cy="77724"/>
          </a:xfrm>
          <a:prstGeom prst="rect">
            <a:avLst/>
          </a:prstGeom>
          <a:solidFill>
            <a:srgbClr val="C0622B">
              <a:alpha val="18000"/>
            </a:srgbClr>
          </a:solidFill>
          <a:ln w="12700">
            <a:solidFill>
              <a:srgbClr val="C0622B"/>
            </a:solidFill>
            <a:prstDash val="solid"/>
          </a:ln>
        </p:spPr>
      </p:sp>
      <p:sp>
        <p:nvSpPr>
          <p:cNvPr id="177" name="Shape 175"/>
          <p:cNvSpPr/>
          <p:nvPr/>
        </p:nvSpPr>
        <p:spPr>
          <a:xfrm rot="2700000">
            <a:off x="2702966" y="1371600"/>
            <a:ext cx="77724" cy="77724"/>
          </a:xfrm>
          <a:prstGeom prst="rect">
            <a:avLst/>
          </a:prstGeom>
          <a:solidFill>
            <a:srgbClr val="C0622B">
              <a:alpha val="18000"/>
            </a:srgbClr>
          </a:solidFill>
          <a:ln w="12700">
            <a:solidFill>
              <a:srgbClr val="C0622B"/>
            </a:solidFill>
            <a:prstDash val="solid"/>
          </a:ln>
        </p:spPr>
      </p:sp>
      <p:sp>
        <p:nvSpPr>
          <p:cNvPr id="178" name="Shape 176"/>
          <p:cNvSpPr/>
          <p:nvPr/>
        </p:nvSpPr>
        <p:spPr>
          <a:xfrm rot="2700000">
            <a:off x="2820010" y="1371600"/>
            <a:ext cx="77724" cy="77724"/>
          </a:xfrm>
          <a:prstGeom prst="rect">
            <a:avLst/>
          </a:prstGeom>
          <a:solidFill>
            <a:srgbClr val="C0622B">
              <a:alpha val="18000"/>
            </a:srgbClr>
          </a:solidFill>
          <a:ln w="12700">
            <a:solidFill>
              <a:srgbClr val="C0622B"/>
            </a:solidFill>
            <a:prstDash val="solid"/>
          </a:ln>
        </p:spPr>
      </p:sp>
      <p:sp>
        <p:nvSpPr>
          <p:cNvPr id="179" name="Shape 177"/>
          <p:cNvSpPr/>
          <p:nvPr/>
        </p:nvSpPr>
        <p:spPr>
          <a:xfrm rot="2700000">
            <a:off x="2937053" y="1371600"/>
            <a:ext cx="77724" cy="77724"/>
          </a:xfrm>
          <a:prstGeom prst="rect">
            <a:avLst/>
          </a:prstGeom>
          <a:solidFill>
            <a:srgbClr val="C0622B">
              <a:alpha val="18000"/>
            </a:srgbClr>
          </a:solidFill>
          <a:ln w="12700">
            <a:solidFill>
              <a:srgbClr val="C0622B"/>
            </a:solidFill>
            <a:prstDash val="solid"/>
          </a:ln>
        </p:spPr>
      </p:sp>
      <p:sp>
        <p:nvSpPr>
          <p:cNvPr id="180" name="Text 178"/>
          <p:cNvSpPr/>
          <p:nvPr/>
        </p:nvSpPr>
        <p:spPr>
          <a:xfrm>
            <a:off x="6254496" y="1444752"/>
            <a:ext cx="2670048" cy="3364992"/>
          </a:xfrm>
          <a:prstGeom prst="rect">
            <a:avLst/>
          </a:prstGeom>
          <a:noFill/>
          <a:ln/>
        </p:spPr>
        <p:txBody>
          <a:bodyPr wrap="square" rtlCol="0" anchor="t"/>
          <a:lstStyle/>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Package traitement eau complet (adoucisseur + désaérateur + dosage NSF H1)</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Cuve GPL en vrac ou documentation interface — périmètre civil</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Mise en service complète par ingénieur constructeur</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Analyse combustion GPL à la mise en service — ingénieur certifié</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Formation opérateurs : min. 2 jours, en français ou anglais</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Kit pièces de rechange 2 ans critique inclus dans l'offre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Manuel O&amp;M en français ou anglais — obligatoire</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Déclaration de Conformité CE remise à la livraison</a:t>
            </a:r>
            <a:endParaRPr lang="en-US" sz="860" dirty="0"/>
          </a:p>
          <a:p>
            <a:pPr indent="0" marL="0">
              <a:spcAft>
                <a:spcPts val="350"/>
              </a:spcAft>
              <a:buNone/>
            </a:pPr>
            <a:r>
              <a:rPr lang="en-US" sz="860" dirty="0">
                <a:solidFill>
                  <a:srgbClr val="EDE0C8"/>
                </a:solidFill>
                <a:latin typeface="Calibri" pitchFamily="34" charset="0"/>
                <a:ea typeface="Calibri" pitchFamily="34" charset="-122"/>
                <a:cs typeface="Calibri" pitchFamily="34" charset="-120"/>
              </a:rPr>
              <a:t>◆  Certificat épreuve APS en usine + sur site</a:t>
            </a:r>
            <a:endParaRPr lang="en-US" sz="860" dirty="0"/>
          </a:p>
        </p:txBody>
      </p:sp>
      <p:sp>
        <p:nvSpPr>
          <p:cNvPr id="181" name="Shape 17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49" name="Shape 24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50" name="Shape 24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51" name="Shape 24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52" name="Shape 25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53" name="Shape 25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54" name="Shape 25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55" name="Shape 25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56" name="Shape 25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59" name="Text 25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FEUILLE DE ROUTE DE MISE EN ŒUVRE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De la décision à la première vapeur</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2834640" cy="1965960"/>
          </a:xfrm>
          <a:prstGeom prst="rect">
            <a:avLst/>
          </a:prstGeom>
          <a:solidFill>
            <a:srgbClr val="141418"/>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530352" cy="1965960"/>
          </a:xfrm>
          <a:prstGeom prst="rect">
            <a:avLst/>
          </a:prstGeom>
          <a:solidFill>
            <a:srgbClr val="C0622B"/>
          </a:solidFill>
          <a:ln/>
        </p:spPr>
      </p:sp>
      <p:sp>
        <p:nvSpPr>
          <p:cNvPr id="90" name="Shape 88"/>
          <p:cNvSpPr/>
          <p:nvPr/>
        </p:nvSpPr>
        <p:spPr>
          <a:xfrm rot="2700000">
            <a:off x="457200" y="1847088"/>
            <a:ext cx="128016" cy="128016"/>
          </a:xfrm>
          <a:prstGeom prst="rect">
            <a:avLst/>
          </a:prstGeom>
          <a:solidFill>
            <a:srgbClr val="09090F"/>
          </a:solidFill>
          <a:ln w="12700">
            <a:solidFill>
              <a:srgbClr val="09090F"/>
            </a:solidFill>
            <a:prstDash val="solid"/>
          </a:ln>
        </p:spPr>
      </p:sp>
      <p:sp>
        <p:nvSpPr>
          <p:cNvPr id="91" name="Text 89"/>
          <p:cNvSpPr/>
          <p:nvPr/>
        </p:nvSpPr>
        <p:spPr>
          <a:xfrm>
            <a:off x="256032"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01</a:t>
            </a:r>
            <a:endParaRPr lang="en-US" sz="2200" dirty="0"/>
          </a:p>
        </p:txBody>
      </p:sp>
      <p:sp>
        <p:nvSpPr>
          <p:cNvPr id="92" name="Text 90"/>
          <p:cNvSpPr/>
          <p:nvPr/>
        </p:nvSpPr>
        <p:spPr>
          <a:xfrm>
            <a:off x="859536" y="987552"/>
            <a:ext cx="2176272" cy="438912"/>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Valider la</a:t>
            </a:r>
            <a:endParaRPr lang="en-US" sz="1100" dirty="0"/>
          </a:p>
          <a:p>
            <a:pPr indent="0" marL="0">
              <a:buNone/>
            </a:pPr>
            <a:r>
              <a:rPr lang="en-US" sz="1100" b="1" dirty="0">
                <a:solidFill>
                  <a:srgbClr val="C0622B"/>
                </a:solidFill>
                <a:latin typeface="Georgia" pitchFamily="34" charset="0"/>
                <a:ea typeface="Georgia" pitchFamily="34" charset="-122"/>
                <a:cs typeface="Georgia" pitchFamily="34" charset="-120"/>
              </a:rPr>
              <a:t>Demande Vapeur</a:t>
            </a:r>
            <a:endParaRPr lang="en-US" sz="1100" dirty="0"/>
          </a:p>
        </p:txBody>
      </p:sp>
      <p:sp>
        <p:nvSpPr>
          <p:cNvPr id="93" name="Text 91"/>
          <p:cNvSpPr/>
          <p:nvPr/>
        </p:nvSpPr>
        <p:spPr>
          <a:xfrm>
            <a:off x="859536"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MAINTENANT — 2 semaines</a:t>
            </a:r>
            <a:endParaRPr lang="en-US" sz="750" dirty="0"/>
          </a:p>
        </p:txBody>
      </p:sp>
      <p:sp>
        <p:nvSpPr>
          <p:cNvPr id="94" name="Text 92"/>
          <p:cNvSpPr/>
          <p:nvPr/>
        </p:nvSpPr>
        <p:spPr>
          <a:xfrm>
            <a:off x="859536"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Obtenir le tableau consommation vapeur FAMSUN par étape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Vérifier que 2 123 Kg/H est le total confirmé</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la pression entrée conditionneur FAMSUN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demande vapeur sécheur, CIP, traçage thermique séparément</a:t>
            </a:r>
            <a:endParaRPr lang="en-US" sz="800" dirty="0"/>
          </a:p>
        </p:txBody>
      </p:sp>
      <p:sp>
        <p:nvSpPr>
          <p:cNvPr id="95" name="Shape 93"/>
          <p:cNvSpPr/>
          <p:nvPr/>
        </p:nvSpPr>
        <p:spPr>
          <a:xfrm>
            <a:off x="3200400" y="932688"/>
            <a:ext cx="2834640" cy="1965960"/>
          </a:xfrm>
          <a:prstGeom prst="rect">
            <a:avLst/>
          </a:prstGeom>
          <a:solidFill>
            <a:srgbClr val="14141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96" name="Shape 94"/>
          <p:cNvSpPr/>
          <p:nvPr/>
        </p:nvSpPr>
        <p:spPr>
          <a:xfrm>
            <a:off x="3200400" y="932688"/>
            <a:ext cx="530352" cy="1965960"/>
          </a:xfrm>
          <a:prstGeom prst="rect">
            <a:avLst/>
          </a:prstGeom>
          <a:solidFill>
            <a:srgbClr val="E8A020"/>
          </a:solidFill>
          <a:ln/>
        </p:spPr>
      </p:sp>
      <p:sp>
        <p:nvSpPr>
          <p:cNvPr id="97" name="Shape 95"/>
          <p:cNvSpPr/>
          <p:nvPr/>
        </p:nvSpPr>
        <p:spPr>
          <a:xfrm rot="2700000">
            <a:off x="3401568" y="1847088"/>
            <a:ext cx="128016" cy="128016"/>
          </a:xfrm>
          <a:prstGeom prst="rect">
            <a:avLst/>
          </a:prstGeom>
          <a:solidFill>
            <a:srgbClr val="09090F"/>
          </a:solidFill>
          <a:ln w="12700">
            <a:solidFill>
              <a:srgbClr val="09090F"/>
            </a:solidFill>
            <a:prstDash val="solid"/>
          </a:ln>
        </p:spPr>
      </p:sp>
      <p:sp>
        <p:nvSpPr>
          <p:cNvPr id="98" name="Text 96"/>
          <p:cNvSpPr/>
          <p:nvPr/>
        </p:nvSpPr>
        <p:spPr>
          <a:xfrm>
            <a:off x="3200400"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02</a:t>
            </a:r>
            <a:endParaRPr lang="en-US" sz="2200" dirty="0"/>
          </a:p>
        </p:txBody>
      </p:sp>
      <p:sp>
        <p:nvSpPr>
          <p:cNvPr id="99" name="Text 97"/>
          <p:cNvSpPr/>
          <p:nvPr/>
        </p:nvSpPr>
        <p:spPr>
          <a:xfrm>
            <a:off x="3803904" y="987552"/>
            <a:ext cx="2176272" cy="43891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Confirmer</a:t>
            </a:r>
            <a:endParaRPr lang="en-US" sz="1100" dirty="0"/>
          </a:p>
          <a:p>
            <a:pPr indent="0" marL="0">
              <a:buNone/>
            </a:pPr>
            <a:r>
              <a:rPr lang="en-US" sz="1100" b="1" dirty="0">
                <a:solidFill>
                  <a:srgbClr val="E8A020"/>
                </a:solidFill>
                <a:latin typeface="Georgia" pitchFamily="34" charset="0"/>
                <a:ea typeface="Georgia" pitchFamily="34" charset="-122"/>
                <a:cs typeface="Georgia" pitchFamily="34" charset="-120"/>
              </a:rPr>
              <a:t>Carburant &amp; GPL</a:t>
            </a:r>
            <a:endParaRPr lang="en-US" sz="1100" dirty="0"/>
          </a:p>
        </p:txBody>
      </p:sp>
      <p:sp>
        <p:nvSpPr>
          <p:cNvPr id="100" name="Text 98"/>
          <p:cNvSpPr/>
          <p:nvPr/>
        </p:nvSpPr>
        <p:spPr>
          <a:xfrm>
            <a:off x="3803904"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MAINTENANT — 2 semaines</a:t>
            </a:r>
            <a:endParaRPr lang="en-US" sz="750" dirty="0"/>
          </a:p>
        </p:txBody>
      </p:sp>
      <p:sp>
        <p:nvSpPr>
          <p:cNvPr id="101" name="Text 99"/>
          <p:cNvSpPr/>
          <p:nvPr/>
        </p:nvSpPr>
        <p:spPr>
          <a:xfrm>
            <a:off x="3803904"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fournisseur GPL et logistique sur site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Accès site pour cuve 15T en vrac</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Décision : brûleur bi-combustible maintenant ?</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Génie civil : merlon GPL et détection gaz</a:t>
            </a:r>
            <a:endParaRPr lang="en-US" sz="800" dirty="0"/>
          </a:p>
        </p:txBody>
      </p:sp>
      <p:sp>
        <p:nvSpPr>
          <p:cNvPr id="102" name="Shape 100"/>
          <p:cNvSpPr/>
          <p:nvPr/>
        </p:nvSpPr>
        <p:spPr>
          <a:xfrm>
            <a:off x="6144768" y="932688"/>
            <a:ext cx="2834640" cy="1965960"/>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3" name="Shape 101"/>
          <p:cNvSpPr/>
          <p:nvPr/>
        </p:nvSpPr>
        <p:spPr>
          <a:xfrm>
            <a:off x="6144768" y="932688"/>
            <a:ext cx="530352" cy="1965960"/>
          </a:xfrm>
          <a:prstGeom prst="rect">
            <a:avLst/>
          </a:prstGeom>
          <a:solidFill>
            <a:srgbClr val="D4951A"/>
          </a:solidFill>
          <a:ln/>
        </p:spPr>
      </p:sp>
      <p:sp>
        <p:nvSpPr>
          <p:cNvPr id="104" name="Shape 102"/>
          <p:cNvSpPr/>
          <p:nvPr/>
        </p:nvSpPr>
        <p:spPr>
          <a:xfrm rot="2700000">
            <a:off x="6345936" y="1847088"/>
            <a:ext cx="128016" cy="128016"/>
          </a:xfrm>
          <a:prstGeom prst="rect">
            <a:avLst/>
          </a:prstGeom>
          <a:solidFill>
            <a:srgbClr val="09090F"/>
          </a:solidFill>
          <a:ln w="12700">
            <a:solidFill>
              <a:srgbClr val="09090F"/>
            </a:solidFill>
            <a:prstDash val="solid"/>
          </a:ln>
        </p:spPr>
      </p:sp>
      <p:sp>
        <p:nvSpPr>
          <p:cNvPr id="105" name="Text 103"/>
          <p:cNvSpPr/>
          <p:nvPr/>
        </p:nvSpPr>
        <p:spPr>
          <a:xfrm>
            <a:off x="6144768"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03</a:t>
            </a:r>
            <a:endParaRPr lang="en-US" sz="2200" dirty="0"/>
          </a:p>
        </p:txBody>
      </p:sp>
      <p:sp>
        <p:nvSpPr>
          <p:cNvPr id="106" name="Text 104"/>
          <p:cNvSpPr/>
          <p:nvPr/>
        </p:nvSpPr>
        <p:spPr>
          <a:xfrm>
            <a:off x="6748272" y="987552"/>
            <a:ext cx="2176272" cy="438912"/>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Émettre AO</a:t>
            </a:r>
            <a:endParaRPr lang="en-US" sz="1100" dirty="0"/>
          </a:p>
          <a:p>
            <a:pPr indent="0" marL="0">
              <a:buNone/>
            </a:pPr>
            <a:r>
              <a:rPr lang="en-US" sz="1100" b="1" dirty="0">
                <a:solidFill>
                  <a:srgbClr val="D4951A"/>
                </a:solidFill>
                <a:latin typeface="Georgia" pitchFamily="34" charset="0"/>
                <a:ea typeface="Georgia" pitchFamily="34" charset="-122"/>
                <a:cs typeface="Georgia" pitchFamily="34" charset="-120"/>
              </a:rPr>
              <a:t>&amp; Évaluer SAV</a:t>
            </a:r>
            <a:endParaRPr lang="en-US" sz="1100" dirty="0"/>
          </a:p>
        </p:txBody>
      </p:sp>
      <p:sp>
        <p:nvSpPr>
          <p:cNvPr id="107" name="Text 105"/>
          <p:cNvSpPr/>
          <p:nvPr/>
        </p:nvSpPr>
        <p:spPr>
          <a:xfrm>
            <a:off x="6748272"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Semaines 2–6</a:t>
            </a:r>
            <a:endParaRPr lang="en-US" sz="750" dirty="0"/>
          </a:p>
        </p:txBody>
      </p:sp>
      <p:sp>
        <p:nvSpPr>
          <p:cNvPr id="108" name="Text 106"/>
          <p:cNvSpPr/>
          <p:nvPr/>
        </p:nvSpPr>
        <p:spPr>
          <a:xfrm>
            <a:off x="6748272"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RFQ à Miura, Clayton, ICI Caldaie, Cleaver-Brooks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Exiger réponse SAV nommé + SLA pour tout GVI</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Demander TCO réel 5/10 ans avec données historiques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Évaluer sur TCO + SAV — pas uniquement prix d'achat</a:t>
            </a:r>
            <a:endParaRPr lang="en-US" sz="800" dirty="0"/>
          </a:p>
        </p:txBody>
      </p:sp>
      <p:sp>
        <p:nvSpPr>
          <p:cNvPr id="109" name="Shape 107"/>
          <p:cNvSpPr/>
          <p:nvPr/>
        </p:nvSpPr>
        <p:spPr>
          <a:xfrm>
            <a:off x="256032" y="2980944"/>
            <a:ext cx="2834640" cy="196596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10" name="Shape 108"/>
          <p:cNvSpPr/>
          <p:nvPr/>
        </p:nvSpPr>
        <p:spPr>
          <a:xfrm>
            <a:off x="256032" y="2980944"/>
            <a:ext cx="530352" cy="1965960"/>
          </a:xfrm>
          <a:prstGeom prst="rect">
            <a:avLst/>
          </a:prstGeom>
          <a:solidFill>
            <a:srgbClr val="1B9A8A"/>
          </a:solidFill>
          <a:ln/>
        </p:spPr>
      </p:sp>
      <p:sp>
        <p:nvSpPr>
          <p:cNvPr id="111" name="Shape 109"/>
          <p:cNvSpPr/>
          <p:nvPr/>
        </p:nvSpPr>
        <p:spPr>
          <a:xfrm rot="2700000">
            <a:off x="457200" y="3895344"/>
            <a:ext cx="128016" cy="128016"/>
          </a:xfrm>
          <a:prstGeom prst="rect">
            <a:avLst/>
          </a:prstGeom>
          <a:solidFill>
            <a:srgbClr val="09090F"/>
          </a:solidFill>
          <a:ln w="12700">
            <a:solidFill>
              <a:srgbClr val="09090F"/>
            </a:solidFill>
            <a:prstDash val="solid"/>
          </a:ln>
        </p:spPr>
      </p:sp>
      <p:sp>
        <p:nvSpPr>
          <p:cNvPr id="112" name="Text 110"/>
          <p:cNvSpPr/>
          <p:nvPr/>
        </p:nvSpPr>
        <p:spPr>
          <a:xfrm>
            <a:off x="256032"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04</a:t>
            </a:r>
            <a:endParaRPr lang="en-US" sz="2200" dirty="0"/>
          </a:p>
        </p:txBody>
      </p:sp>
      <p:sp>
        <p:nvSpPr>
          <p:cNvPr id="113" name="Text 111"/>
          <p:cNvSpPr/>
          <p:nvPr/>
        </p:nvSpPr>
        <p:spPr>
          <a:xfrm>
            <a:off x="859536" y="3035808"/>
            <a:ext cx="2176272" cy="438912"/>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Décision</a:t>
            </a:r>
            <a:endParaRPr lang="en-US" sz="1100" dirty="0"/>
          </a:p>
          <a:p>
            <a:pPr indent="0" marL="0">
              <a:buNone/>
            </a:pPr>
            <a:r>
              <a:rPr lang="en-US" sz="1100" b="1" dirty="0">
                <a:solidFill>
                  <a:srgbClr val="1B9A8A"/>
                </a:solidFill>
                <a:latin typeface="Georgia" pitchFamily="34" charset="0"/>
                <a:ea typeface="Georgia" pitchFamily="34" charset="-122"/>
                <a:cs typeface="Georgia" pitchFamily="34" charset="-120"/>
              </a:rPr>
              <a:t>Technologie</a:t>
            </a:r>
            <a:endParaRPr lang="en-US" sz="1100" dirty="0"/>
          </a:p>
        </p:txBody>
      </p:sp>
      <p:sp>
        <p:nvSpPr>
          <p:cNvPr id="114" name="Text 112"/>
          <p:cNvSpPr/>
          <p:nvPr/>
        </p:nvSpPr>
        <p:spPr>
          <a:xfrm>
            <a:off x="859536"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Semaine 6–7</a:t>
            </a:r>
            <a:endParaRPr lang="en-US" sz="750" dirty="0"/>
          </a:p>
        </p:txBody>
      </p:sp>
      <p:sp>
        <p:nvSpPr>
          <p:cNvPr id="115" name="Text 113"/>
          <p:cNvSpPr/>
          <p:nvPr/>
        </p:nvSpPr>
        <p:spPr>
          <a:xfrm>
            <a:off x="859536"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GVI si SAV local garanti contractuellement → Scénario A</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Tubes de fumée si SAV GVI non garanti → Scénario B</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Émettre BC — la chaudière est sur le chemin critique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Contacter autorité inspection APS marocaine immédiatement</a:t>
            </a:r>
            <a:endParaRPr lang="en-US" sz="800" dirty="0"/>
          </a:p>
        </p:txBody>
      </p:sp>
      <p:sp>
        <p:nvSpPr>
          <p:cNvPr id="116" name="Shape 114"/>
          <p:cNvSpPr/>
          <p:nvPr/>
        </p:nvSpPr>
        <p:spPr>
          <a:xfrm>
            <a:off x="3200400" y="2980944"/>
            <a:ext cx="2834640" cy="1965960"/>
          </a:xfrm>
          <a:prstGeom prst="rect">
            <a:avLst/>
          </a:prstGeom>
          <a:solidFill>
            <a:srgbClr val="141418"/>
          </a:solidFill>
          <a:ln w="12700">
            <a:solidFill>
              <a:srgbClr val="1A5FA8"/>
            </a:solidFill>
            <a:prstDash val="solid"/>
          </a:ln>
          <a:effectLst>
            <a:outerShdw sx="100000" sy="100000" kx="0" ky="0" algn="bl" rotWithShape="0" blurRad="76200" dist="25400" dir="8100000">
              <a:srgbClr val="000000">
                <a:alpha val="30000"/>
              </a:srgbClr>
            </a:outerShdw>
          </a:effectLst>
        </p:spPr>
      </p:sp>
      <p:sp>
        <p:nvSpPr>
          <p:cNvPr id="117" name="Shape 115"/>
          <p:cNvSpPr/>
          <p:nvPr/>
        </p:nvSpPr>
        <p:spPr>
          <a:xfrm>
            <a:off x="3200400" y="2980944"/>
            <a:ext cx="530352" cy="1965960"/>
          </a:xfrm>
          <a:prstGeom prst="rect">
            <a:avLst/>
          </a:prstGeom>
          <a:solidFill>
            <a:srgbClr val="1A5FA8"/>
          </a:solidFill>
          <a:ln/>
        </p:spPr>
      </p:sp>
      <p:sp>
        <p:nvSpPr>
          <p:cNvPr id="118" name="Shape 116"/>
          <p:cNvSpPr/>
          <p:nvPr/>
        </p:nvSpPr>
        <p:spPr>
          <a:xfrm rot="2700000">
            <a:off x="3401568" y="3895344"/>
            <a:ext cx="128016" cy="128016"/>
          </a:xfrm>
          <a:prstGeom prst="rect">
            <a:avLst/>
          </a:prstGeom>
          <a:solidFill>
            <a:srgbClr val="09090F"/>
          </a:solidFill>
          <a:ln w="12700">
            <a:solidFill>
              <a:srgbClr val="09090F"/>
            </a:solidFill>
            <a:prstDash val="solid"/>
          </a:ln>
        </p:spPr>
      </p:sp>
      <p:sp>
        <p:nvSpPr>
          <p:cNvPr id="119" name="Text 117"/>
          <p:cNvSpPr/>
          <p:nvPr/>
        </p:nvSpPr>
        <p:spPr>
          <a:xfrm>
            <a:off x="3200400"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05</a:t>
            </a:r>
            <a:endParaRPr lang="en-US" sz="2200" dirty="0"/>
          </a:p>
        </p:txBody>
      </p:sp>
      <p:sp>
        <p:nvSpPr>
          <p:cNvPr id="120" name="Text 118"/>
          <p:cNvSpPr/>
          <p:nvPr/>
        </p:nvSpPr>
        <p:spPr>
          <a:xfrm>
            <a:off x="3803904" y="3035808"/>
            <a:ext cx="2176272" cy="438912"/>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Installer &amp;</a:t>
            </a:r>
            <a:endParaRPr lang="en-US" sz="1100" dirty="0"/>
          </a:p>
          <a:p>
            <a:pPr indent="0" marL="0">
              <a:buNone/>
            </a:pPr>
            <a:r>
              <a:rPr lang="en-US" sz="1100" b="1" dirty="0">
                <a:solidFill>
                  <a:srgbClr val="1A5FA8"/>
                </a:solidFill>
                <a:latin typeface="Georgia" pitchFamily="34" charset="0"/>
                <a:ea typeface="Georgia" pitchFamily="34" charset="-122"/>
                <a:cs typeface="Georgia" pitchFamily="34" charset="-120"/>
              </a:rPr>
              <a:t>Mettre en Service</a:t>
            </a:r>
            <a:endParaRPr lang="en-US" sz="1100" dirty="0"/>
          </a:p>
        </p:txBody>
      </p:sp>
      <p:sp>
        <p:nvSpPr>
          <p:cNvPr id="121" name="Text 119"/>
          <p:cNvSpPr/>
          <p:nvPr/>
        </p:nvSpPr>
        <p:spPr>
          <a:xfrm>
            <a:off x="3803904"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Selon planning Gantt</a:t>
            </a:r>
            <a:endParaRPr lang="en-US" sz="750" dirty="0"/>
          </a:p>
        </p:txBody>
      </p:sp>
      <p:sp>
        <p:nvSpPr>
          <p:cNvPr id="122" name="Text 120"/>
          <p:cNvSpPr/>
          <p:nvPr/>
        </p:nvSpPr>
        <p:spPr>
          <a:xfrm>
            <a:off x="3803904"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Génie civil salle chaudière avant livraison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Séquence : utilités en premier — chaudière avant extrudeur</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Analyse combustion GPL par ingénieur certifié</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Test soupape sécurité, bas niveau eau — documentés</a:t>
            </a:r>
            <a:endParaRPr lang="en-US" sz="800" dirty="0"/>
          </a:p>
        </p:txBody>
      </p:sp>
      <p:sp>
        <p:nvSpPr>
          <p:cNvPr id="123" name="Shape 121"/>
          <p:cNvSpPr/>
          <p:nvPr/>
        </p:nvSpPr>
        <p:spPr>
          <a:xfrm>
            <a:off x="6144768" y="2980944"/>
            <a:ext cx="2834640" cy="1965960"/>
          </a:xfrm>
          <a:prstGeom prst="rect">
            <a:avLst/>
          </a:prstGeom>
          <a:solidFill>
            <a:srgbClr val="141418"/>
          </a:solidFill>
          <a:ln w="12700">
            <a:solidFill>
              <a:srgbClr val="3DAF7A"/>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6144768" y="2980944"/>
            <a:ext cx="530352" cy="1965960"/>
          </a:xfrm>
          <a:prstGeom prst="rect">
            <a:avLst/>
          </a:prstGeom>
          <a:solidFill>
            <a:srgbClr val="3DAF7A"/>
          </a:solidFill>
          <a:ln/>
        </p:spPr>
      </p:sp>
      <p:sp>
        <p:nvSpPr>
          <p:cNvPr id="125" name="Shape 123"/>
          <p:cNvSpPr/>
          <p:nvPr/>
        </p:nvSpPr>
        <p:spPr>
          <a:xfrm rot="2700000">
            <a:off x="6345936" y="3895344"/>
            <a:ext cx="128016" cy="128016"/>
          </a:xfrm>
          <a:prstGeom prst="rect">
            <a:avLst/>
          </a:prstGeom>
          <a:solidFill>
            <a:srgbClr val="09090F"/>
          </a:solidFill>
          <a:ln w="12700">
            <a:solidFill>
              <a:srgbClr val="09090F"/>
            </a:solidFill>
            <a:prstDash val="solid"/>
          </a:ln>
        </p:spPr>
      </p:sp>
      <p:sp>
        <p:nvSpPr>
          <p:cNvPr id="126" name="Text 124"/>
          <p:cNvSpPr/>
          <p:nvPr/>
        </p:nvSpPr>
        <p:spPr>
          <a:xfrm>
            <a:off x="6144768"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06</a:t>
            </a:r>
            <a:endParaRPr lang="en-US" sz="2200" dirty="0"/>
          </a:p>
        </p:txBody>
      </p:sp>
      <p:sp>
        <p:nvSpPr>
          <p:cNvPr id="127" name="Text 125"/>
          <p:cNvSpPr/>
          <p:nvPr/>
        </p:nvSpPr>
        <p:spPr>
          <a:xfrm>
            <a:off x="6748272" y="3035808"/>
            <a:ext cx="2176272" cy="438912"/>
          </a:xfrm>
          <a:prstGeom prst="rect">
            <a:avLst/>
          </a:prstGeom>
          <a:noFill/>
          <a:ln/>
        </p:spPr>
        <p:txBody>
          <a:bodyPr wrap="square" rtlCol="0" anchor="ctr"/>
          <a:lstStyle/>
          <a:p>
            <a:pPr indent="0" marL="0">
              <a:buNone/>
            </a:pPr>
            <a:r>
              <a:rPr lang="en-US" sz="1100" b="1" dirty="0">
                <a:solidFill>
                  <a:srgbClr val="3DAF7A"/>
                </a:solidFill>
                <a:latin typeface="Georgia" pitchFamily="34" charset="0"/>
                <a:ea typeface="Georgia" pitchFamily="34" charset="-122"/>
                <a:cs typeface="Georgia" pitchFamily="34" charset="-120"/>
              </a:rPr>
              <a:t>Validation</a:t>
            </a:r>
            <a:endParaRPr lang="en-US" sz="1100" dirty="0"/>
          </a:p>
          <a:p>
            <a:pPr indent="0" marL="0">
              <a:buNone/>
            </a:pPr>
            <a:r>
              <a:rPr lang="en-US" sz="1100" b="1" dirty="0">
                <a:solidFill>
                  <a:srgbClr val="3DAF7A"/>
                </a:solidFill>
                <a:latin typeface="Georgia" pitchFamily="34" charset="0"/>
                <a:ea typeface="Georgia" pitchFamily="34" charset="-122"/>
                <a:cs typeface="Georgia" pitchFamily="34" charset="-120"/>
              </a:rPr>
              <a:t>Sécurité Alim.</a:t>
            </a:r>
            <a:endParaRPr lang="en-US" sz="1100" dirty="0"/>
          </a:p>
        </p:txBody>
      </p:sp>
      <p:sp>
        <p:nvSpPr>
          <p:cNvPr id="128" name="Text 126"/>
          <p:cNvSpPr/>
          <p:nvPr/>
        </p:nvSpPr>
        <p:spPr>
          <a:xfrm>
            <a:off x="6748272"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Post mise en service</a:t>
            </a:r>
            <a:endParaRPr lang="en-US" sz="750" dirty="0"/>
          </a:p>
        </p:txBody>
      </p:sp>
      <p:sp>
        <p:nvSpPr>
          <p:cNvPr id="129" name="Text 127"/>
          <p:cNvSpPr/>
          <p:nvPr/>
        </p:nvSpPr>
        <p:spPr>
          <a:xfrm>
            <a:off x="6748272"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Premier prélèvement qualité vapeur — laboratoire accrédité</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HACCP : vapeur conditionneur documentée comme CCP</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Journal d'exploitation chaudière opérationnel</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Inspection annuelle APS planifiée et réservée</a:t>
            </a:r>
            <a:endParaRPr lang="en-US" sz="800" dirty="0"/>
          </a:p>
        </p:txBody>
      </p:sp>
      <p:sp>
        <p:nvSpPr>
          <p:cNvPr id="130" name="Shape 128"/>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8" name="Text 206"/>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50A"/>
          </a:solidFill>
          <a:ln/>
        </p:spPr>
      </p:sp>
      <p:sp>
        <p:nvSpPr>
          <p:cNvPr id="3" name="Shape 1"/>
          <p:cNvSpPr/>
          <p:nvPr/>
        </p:nvSpPr>
        <p:spPr>
          <a:xfrm>
            <a:off x="0" y="0"/>
            <a:ext cx="64008" cy="960120"/>
          </a:xfrm>
          <a:prstGeom prst="rect">
            <a:avLst/>
          </a:prstGeom>
          <a:solidFill>
            <a:srgbClr val="D4951A"/>
          </a:solidFill>
          <a:ln/>
        </p:spPr>
      </p:sp>
      <p:sp>
        <p:nvSpPr>
          <p:cNvPr id="4" name="Shape 2"/>
          <p:cNvSpPr/>
          <p:nvPr/>
        </p:nvSpPr>
        <p:spPr>
          <a:xfrm rot="2700000">
            <a:off x="10973" y="841248"/>
            <a:ext cx="77724" cy="77724"/>
          </a:xfrm>
          <a:prstGeom prst="rect">
            <a:avLst/>
          </a:prstGeom>
          <a:solidFill>
            <a:srgbClr val="D4951A">
              <a:alpha val="45000"/>
            </a:srgbClr>
          </a:solidFill>
          <a:ln w="12700">
            <a:solidFill>
              <a:srgbClr val="D4951A"/>
            </a:solidFill>
            <a:prstDash val="solid"/>
          </a:ln>
        </p:spPr>
      </p:sp>
      <p:sp>
        <p:nvSpPr>
          <p:cNvPr id="5" name="Shape 3"/>
          <p:cNvSpPr/>
          <p:nvPr/>
        </p:nvSpPr>
        <p:spPr>
          <a:xfrm rot="2700000">
            <a:off x="128016" y="841248"/>
            <a:ext cx="77724" cy="77724"/>
          </a:xfrm>
          <a:prstGeom prst="rect">
            <a:avLst/>
          </a:prstGeom>
          <a:solidFill>
            <a:srgbClr val="D4951A">
              <a:alpha val="45000"/>
            </a:srgbClr>
          </a:solidFill>
          <a:ln w="12700">
            <a:solidFill>
              <a:srgbClr val="D4951A"/>
            </a:solidFill>
            <a:prstDash val="solid"/>
          </a:ln>
        </p:spPr>
      </p:sp>
      <p:sp>
        <p:nvSpPr>
          <p:cNvPr id="6" name="Shape 4"/>
          <p:cNvSpPr/>
          <p:nvPr/>
        </p:nvSpPr>
        <p:spPr>
          <a:xfrm rot="2700000">
            <a:off x="245059" y="841248"/>
            <a:ext cx="77724" cy="77724"/>
          </a:xfrm>
          <a:prstGeom prst="rect">
            <a:avLst/>
          </a:prstGeom>
          <a:solidFill>
            <a:srgbClr val="D4951A">
              <a:alpha val="45000"/>
            </a:srgbClr>
          </a:solidFill>
          <a:ln w="12700">
            <a:solidFill>
              <a:srgbClr val="D4951A"/>
            </a:solidFill>
            <a:prstDash val="solid"/>
          </a:ln>
        </p:spPr>
      </p:sp>
      <p:sp>
        <p:nvSpPr>
          <p:cNvPr id="7" name="Shape 5"/>
          <p:cNvSpPr/>
          <p:nvPr/>
        </p:nvSpPr>
        <p:spPr>
          <a:xfrm rot="2700000">
            <a:off x="362102" y="841248"/>
            <a:ext cx="77724" cy="77724"/>
          </a:xfrm>
          <a:prstGeom prst="rect">
            <a:avLst/>
          </a:prstGeom>
          <a:solidFill>
            <a:srgbClr val="D4951A">
              <a:alpha val="45000"/>
            </a:srgbClr>
          </a:solidFill>
          <a:ln w="12700">
            <a:solidFill>
              <a:srgbClr val="D4951A"/>
            </a:solidFill>
            <a:prstDash val="solid"/>
          </a:ln>
        </p:spPr>
      </p:sp>
      <p:sp>
        <p:nvSpPr>
          <p:cNvPr id="8" name="Shape 6"/>
          <p:cNvSpPr/>
          <p:nvPr/>
        </p:nvSpPr>
        <p:spPr>
          <a:xfrm rot="2700000">
            <a:off x="479146" y="841248"/>
            <a:ext cx="77724" cy="77724"/>
          </a:xfrm>
          <a:prstGeom prst="rect">
            <a:avLst/>
          </a:prstGeom>
          <a:solidFill>
            <a:srgbClr val="D4951A">
              <a:alpha val="45000"/>
            </a:srgbClr>
          </a:solidFill>
          <a:ln w="12700">
            <a:solidFill>
              <a:srgbClr val="D4951A"/>
            </a:solidFill>
            <a:prstDash val="solid"/>
          </a:ln>
        </p:spPr>
      </p:sp>
      <p:sp>
        <p:nvSpPr>
          <p:cNvPr id="9" name="Shape 7"/>
          <p:cNvSpPr/>
          <p:nvPr/>
        </p:nvSpPr>
        <p:spPr>
          <a:xfrm rot="2700000">
            <a:off x="596189" y="841248"/>
            <a:ext cx="77724" cy="77724"/>
          </a:xfrm>
          <a:prstGeom prst="rect">
            <a:avLst/>
          </a:prstGeom>
          <a:solidFill>
            <a:srgbClr val="D4951A">
              <a:alpha val="45000"/>
            </a:srgbClr>
          </a:solidFill>
          <a:ln w="12700">
            <a:solidFill>
              <a:srgbClr val="D4951A"/>
            </a:solidFill>
            <a:prstDash val="solid"/>
          </a:ln>
        </p:spPr>
      </p:sp>
      <p:sp>
        <p:nvSpPr>
          <p:cNvPr id="10" name="Shape 8"/>
          <p:cNvSpPr/>
          <p:nvPr/>
        </p:nvSpPr>
        <p:spPr>
          <a:xfrm rot="2700000">
            <a:off x="713232" y="841248"/>
            <a:ext cx="77724" cy="77724"/>
          </a:xfrm>
          <a:prstGeom prst="rect">
            <a:avLst/>
          </a:prstGeom>
          <a:solidFill>
            <a:srgbClr val="D4951A">
              <a:alpha val="45000"/>
            </a:srgbClr>
          </a:solidFill>
          <a:ln w="12700">
            <a:solidFill>
              <a:srgbClr val="D4951A"/>
            </a:solidFill>
            <a:prstDash val="solid"/>
          </a:ln>
        </p:spPr>
      </p:sp>
      <p:sp>
        <p:nvSpPr>
          <p:cNvPr id="11" name="Shape 9"/>
          <p:cNvSpPr/>
          <p:nvPr/>
        </p:nvSpPr>
        <p:spPr>
          <a:xfrm rot="2700000">
            <a:off x="830275" y="841248"/>
            <a:ext cx="77724" cy="77724"/>
          </a:xfrm>
          <a:prstGeom prst="rect">
            <a:avLst/>
          </a:prstGeom>
          <a:solidFill>
            <a:srgbClr val="D4951A">
              <a:alpha val="45000"/>
            </a:srgbClr>
          </a:solidFill>
          <a:ln w="12700">
            <a:solidFill>
              <a:srgbClr val="D4951A"/>
            </a:solidFill>
            <a:prstDash val="solid"/>
          </a:ln>
        </p:spPr>
      </p:sp>
      <p:sp>
        <p:nvSpPr>
          <p:cNvPr id="12" name="Shape 10"/>
          <p:cNvSpPr/>
          <p:nvPr/>
        </p:nvSpPr>
        <p:spPr>
          <a:xfrm rot="2700000">
            <a:off x="947318" y="841248"/>
            <a:ext cx="77724" cy="77724"/>
          </a:xfrm>
          <a:prstGeom prst="rect">
            <a:avLst/>
          </a:prstGeom>
          <a:solidFill>
            <a:srgbClr val="D4951A">
              <a:alpha val="45000"/>
            </a:srgbClr>
          </a:solidFill>
          <a:ln w="12700">
            <a:solidFill>
              <a:srgbClr val="D4951A"/>
            </a:solidFill>
            <a:prstDash val="solid"/>
          </a:ln>
        </p:spPr>
      </p:sp>
      <p:sp>
        <p:nvSpPr>
          <p:cNvPr id="13" name="Shape 11"/>
          <p:cNvSpPr/>
          <p:nvPr/>
        </p:nvSpPr>
        <p:spPr>
          <a:xfrm rot="2700000">
            <a:off x="1064362" y="841248"/>
            <a:ext cx="77724" cy="77724"/>
          </a:xfrm>
          <a:prstGeom prst="rect">
            <a:avLst/>
          </a:prstGeom>
          <a:solidFill>
            <a:srgbClr val="D4951A">
              <a:alpha val="45000"/>
            </a:srgbClr>
          </a:solidFill>
          <a:ln w="12700">
            <a:solidFill>
              <a:srgbClr val="D4951A"/>
            </a:solidFill>
            <a:prstDash val="solid"/>
          </a:ln>
        </p:spPr>
      </p:sp>
      <p:sp>
        <p:nvSpPr>
          <p:cNvPr id="14" name="Shape 12"/>
          <p:cNvSpPr/>
          <p:nvPr/>
        </p:nvSpPr>
        <p:spPr>
          <a:xfrm rot="2700000">
            <a:off x="1181405" y="841248"/>
            <a:ext cx="77724" cy="77724"/>
          </a:xfrm>
          <a:prstGeom prst="rect">
            <a:avLst/>
          </a:prstGeom>
          <a:solidFill>
            <a:srgbClr val="D4951A">
              <a:alpha val="45000"/>
            </a:srgbClr>
          </a:solidFill>
          <a:ln w="12700">
            <a:solidFill>
              <a:srgbClr val="D4951A"/>
            </a:solidFill>
            <a:prstDash val="solid"/>
          </a:ln>
        </p:spPr>
      </p:sp>
      <p:sp>
        <p:nvSpPr>
          <p:cNvPr id="15" name="Shape 13"/>
          <p:cNvSpPr/>
          <p:nvPr/>
        </p:nvSpPr>
        <p:spPr>
          <a:xfrm rot="2700000">
            <a:off x="1298448" y="841248"/>
            <a:ext cx="77724" cy="77724"/>
          </a:xfrm>
          <a:prstGeom prst="rect">
            <a:avLst/>
          </a:prstGeom>
          <a:solidFill>
            <a:srgbClr val="D4951A">
              <a:alpha val="45000"/>
            </a:srgbClr>
          </a:solidFill>
          <a:ln w="12700">
            <a:solidFill>
              <a:srgbClr val="D4951A"/>
            </a:solidFill>
            <a:prstDash val="solid"/>
          </a:ln>
        </p:spPr>
      </p:sp>
      <p:sp>
        <p:nvSpPr>
          <p:cNvPr id="16" name="Shape 14"/>
          <p:cNvSpPr/>
          <p:nvPr/>
        </p:nvSpPr>
        <p:spPr>
          <a:xfrm rot="2700000">
            <a:off x="1415491" y="841248"/>
            <a:ext cx="77724" cy="77724"/>
          </a:xfrm>
          <a:prstGeom prst="rect">
            <a:avLst/>
          </a:prstGeom>
          <a:solidFill>
            <a:srgbClr val="D4951A">
              <a:alpha val="45000"/>
            </a:srgbClr>
          </a:solidFill>
          <a:ln w="12700">
            <a:solidFill>
              <a:srgbClr val="D4951A"/>
            </a:solidFill>
            <a:prstDash val="solid"/>
          </a:ln>
        </p:spPr>
      </p:sp>
      <p:sp>
        <p:nvSpPr>
          <p:cNvPr id="17" name="Shape 15"/>
          <p:cNvSpPr/>
          <p:nvPr/>
        </p:nvSpPr>
        <p:spPr>
          <a:xfrm rot="2700000">
            <a:off x="1532534" y="841248"/>
            <a:ext cx="77724" cy="77724"/>
          </a:xfrm>
          <a:prstGeom prst="rect">
            <a:avLst/>
          </a:prstGeom>
          <a:solidFill>
            <a:srgbClr val="D4951A">
              <a:alpha val="45000"/>
            </a:srgbClr>
          </a:solidFill>
          <a:ln w="12700">
            <a:solidFill>
              <a:srgbClr val="D4951A"/>
            </a:solidFill>
            <a:prstDash val="solid"/>
          </a:ln>
        </p:spPr>
      </p:sp>
      <p:sp>
        <p:nvSpPr>
          <p:cNvPr id="18" name="Shape 16"/>
          <p:cNvSpPr/>
          <p:nvPr/>
        </p:nvSpPr>
        <p:spPr>
          <a:xfrm rot="2700000">
            <a:off x="1649578" y="841248"/>
            <a:ext cx="77724" cy="77724"/>
          </a:xfrm>
          <a:prstGeom prst="rect">
            <a:avLst/>
          </a:prstGeom>
          <a:solidFill>
            <a:srgbClr val="D4951A">
              <a:alpha val="45000"/>
            </a:srgbClr>
          </a:solidFill>
          <a:ln w="12700">
            <a:solidFill>
              <a:srgbClr val="D4951A"/>
            </a:solidFill>
            <a:prstDash val="solid"/>
          </a:ln>
        </p:spPr>
      </p:sp>
      <p:sp>
        <p:nvSpPr>
          <p:cNvPr id="19" name="Shape 17"/>
          <p:cNvSpPr/>
          <p:nvPr/>
        </p:nvSpPr>
        <p:spPr>
          <a:xfrm rot="2700000">
            <a:off x="1766621" y="841248"/>
            <a:ext cx="77724" cy="77724"/>
          </a:xfrm>
          <a:prstGeom prst="rect">
            <a:avLst/>
          </a:prstGeom>
          <a:solidFill>
            <a:srgbClr val="D4951A">
              <a:alpha val="45000"/>
            </a:srgbClr>
          </a:solidFill>
          <a:ln w="12700">
            <a:solidFill>
              <a:srgbClr val="D4951A"/>
            </a:solidFill>
            <a:prstDash val="solid"/>
          </a:ln>
        </p:spPr>
      </p:sp>
      <p:sp>
        <p:nvSpPr>
          <p:cNvPr id="20" name="Shape 18"/>
          <p:cNvSpPr/>
          <p:nvPr/>
        </p:nvSpPr>
        <p:spPr>
          <a:xfrm rot="2700000">
            <a:off x="1883664" y="841248"/>
            <a:ext cx="77724" cy="77724"/>
          </a:xfrm>
          <a:prstGeom prst="rect">
            <a:avLst/>
          </a:prstGeom>
          <a:solidFill>
            <a:srgbClr val="D4951A">
              <a:alpha val="45000"/>
            </a:srgbClr>
          </a:solidFill>
          <a:ln w="12700">
            <a:solidFill>
              <a:srgbClr val="D4951A"/>
            </a:solidFill>
            <a:prstDash val="solid"/>
          </a:ln>
        </p:spPr>
      </p:sp>
      <p:sp>
        <p:nvSpPr>
          <p:cNvPr id="21" name="Shape 19"/>
          <p:cNvSpPr/>
          <p:nvPr/>
        </p:nvSpPr>
        <p:spPr>
          <a:xfrm rot="2700000">
            <a:off x="2000707" y="841248"/>
            <a:ext cx="77724" cy="77724"/>
          </a:xfrm>
          <a:prstGeom prst="rect">
            <a:avLst/>
          </a:prstGeom>
          <a:solidFill>
            <a:srgbClr val="D4951A">
              <a:alpha val="45000"/>
            </a:srgbClr>
          </a:solidFill>
          <a:ln w="12700">
            <a:solidFill>
              <a:srgbClr val="D4951A"/>
            </a:solidFill>
            <a:prstDash val="solid"/>
          </a:ln>
        </p:spPr>
      </p:sp>
      <p:sp>
        <p:nvSpPr>
          <p:cNvPr id="22" name="Shape 20"/>
          <p:cNvSpPr/>
          <p:nvPr/>
        </p:nvSpPr>
        <p:spPr>
          <a:xfrm rot="2700000">
            <a:off x="2117750" y="841248"/>
            <a:ext cx="77724" cy="77724"/>
          </a:xfrm>
          <a:prstGeom prst="rect">
            <a:avLst/>
          </a:prstGeom>
          <a:solidFill>
            <a:srgbClr val="D4951A">
              <a:alpha val="45000"/>
            </a:srgbClr>
          </a:solidFill>
          <a:ln w="12700">
            <a:solidFill>
              <a:srgbClr val="D4951A"/>
            </a:solidFill>
            <a:prstDash val="solid"/>
          </a:ln>
        </p:spPr>
      </p:sp>
      <p:sp>
        <p:nvSpPr>
          <p:cNvPr id="23" name="Shape 21"/>
          <p:cNvSpPr/>
          <p:nvPr/>
        </p:nvSpPr>
        <p:spPr>
          <a:xfrm rot="2700000">
            <a:off x="2234794" y="841248"/>
            <a:ext cx="77724" cy="77724"/>
          </a:xfrm>
          <a:prstGeom prst="rect">
            <a:avLst/>
          </a:prstGeom>
          <a:solidFill>
            <a:srgbClr val="D4951A">
              <a:alpha val="45000"/>
            </a:srgbClr>
          </a:solidFill>
          <a:ln w="12700">
            <a:solidFill>
              <a:srgbClr val="D4951A"/>
            </a:solidFill>
            <a:prstDash val="solid"/>
          </a:ln>
        </p:spPr>
      </p:sp>
      <p:sp>
        <p:nvSpPr>
          <p:cNvPr id="24" name="Shape 22"/>
          <p:cNvSpPr/>
          <p:nvPr/>
        </p:nvSpPr>
        <p:spPr>
          <a:xfrm rot="2700000">
            <a:off x="2351837" y="841248"/>
            <a:ext cx="77724" cy="77724"/>
          </a:xfrm>
          <a:prstGeom prst="rect">
            <a:avLst/>
          </a:prstGeom>
          <a:solidFill>
            <a:srgbClr val="D4951A">
              <a:alpha val="45000"/>
            </a:srgbClr>
          </a:solidFill>
          <a:ln w="12700">
            <a:solidFill>
              <a:srgbClr val="D4951A"/>
            </a:solidFill>
            <a:prstDash val="solid"/>
          </a:ln>
        </p:spPr>
      </p:sp>
      <p:sp>
        <p:nvSpPr>
          <p:cNvPr id="25" name="Shape 23"/>
          <p:cNvSpPr/>
          <p:nvPr/>
        </p:nvSpPr>
        <p:spPr>
          <a:xfrm rot="2700000">
            <a:off x="2468880" y="841248"/>
            <a:ext cx="77724" cy="77724"/>
          </a:xfrm>
          <a:prstGeom prst="rect">
            <a:avLst/>
          </a:prstGeom>
          <a:solidFill>
            <a:srgbClr val="D4951A">
              <a:alpha val="45000"/>
            </a:srgbClr>
          </a:solidFill>
          <a:ln w="12700">
            <a:solidFill>
              <a:srgbClr val="D4951A"/>
            </a:solidFill>
            <a:prstDash val="solid"/>
          </a:ln>
        </p:spPr>
      </p:sp>
      <p:sp>
        <p:nvSpPr>
          <p:cNvPr id="26" name="Shape 24"/>
          <p:cNvSpPr/>
          <p:nvPr/>
        </p:nvSpPr>
        <p:spPr>
          <a:xfrm rot="2700000">
            <a:off x="2585923" y="841248"/>
            <a:ext cx="77724" cy="77724"/>
          </a:xfrm>
          <a:prstGeom prst="rect">
            <a:avLst/>
          </a:prstGeom>
          <a:solidFill>
            <a:srgbClr val="D4951A">
              <a:alpha val="45000"/>
            </a:srgbClr>
          </a:solidFill>
          <a:ln w="12700">
            <a:solidFill>
              <a:srgbClr val="D4951A"/>
            </a:solidFill>
            <a:prstDash val="solid"/>
          </a:ln>
        </p:spPr>
      </p:sp>
      <p:sp>
        <p:nvSpPr>
          <p:cNvPr id="27" name="Shape 25"/>
          <p:cNvSpPr/>
          <p:nvPr/>
        </p:nvSpPr>
        <p:spPr>
          <a:xfrm rot="2700000">
            <a:off x="2702966" y="841248"/>
            <a:ext cx="77724" cy="77724"/>
          </a:xfrm>
          <a:prstGeom prst="rect">
            <a:avLst/>
          </a:prstGeom>
          <a:solidFill>
            <a:srgbClr val="D4951A">
              <a:alpha val="45000"/>
            </a:srgbClr>
          </a:solidFill>
          <a:ln w="12700">
            <a:solidFill>
              <a:srgbClr val="D4951A"/>
            </a:solidFill>
            <a:prstDash val="solid"/>
          </a:ln>
        </p:spPr>
      </p:sp>
      <p:sp>
        <p:nvSpPr>
          <p:cNvPr id="28" name="Shape 26"/>
          <p:cNvSpPr/>
          <p:nvPr/>
        </p:nvSpPr>
        <p:spPr>
          <a:xfrm rot="2700000">
            <a:off x="2820010" y="841248"/>
            <a:ext cx="77724" cy="77724"/>
          </a:xfrm>
          <a:prstGeom prst="rect">
            <a:avLst/>
          </a:prstGeom>
          <a:solidFill>
            <a:srgbClr val="D4951A">
              <a:alpha val="45000"/>
            </a:srgbClr>
          </a:solidFill>
          <a:ln w="12700">
            <a:solidFill>
              <a:srgbClr val="D4951A"/>
            </a:solidFill>
            <a:prstDash val="solid"/>
          </a:ln>
        </p:spPr>
      </p:sp>
      <p:sp>
        <p:nvSpPr>
          <p:cNvPr id="29" name="Shape 27"/>
          <p:cNvSpPr/>
          <p:nvPr/>
        </p:nvSpPr>
        <p:spPr>
          <a:xfrm rot="2700000">
            <a:off x="2937053" y="841248"/>
            <a:ext cx="77724" cy="77724"/>
          </a:xfrm>
          <a:prstGeom prst="rect">
            <a:avLst/>
          </a:prstGeom>
          <a:solidFill>
            <a:srgbClr val="D4951A">
              <a:alpha val="45000"/>
            </a:srgbClr>
          </a:solidFill>
          <a:ln w="12700">
            <a:solidFill>
              <a:srgbClr val="D4951A"/>
            </a:solidFill>
            <a:prstDash val="solid"/>
          </a:ln>
        </p:spPr>
      </p:sp>
      <p:sp>
        <p:nvSpPr>
          <p:cNvPr id="30" name="Shape 28"/>
          <p:cNvSpPr/>
          <p:nvPr/>
        </p:nvSpPr>
        <p:spPr>
          <a:xfrm rot="2700000">
            <a:off x="3054096" y="841248"/>
            <a:ext cx="77724" cy="77724"/>
          </a:xfrm>
          <a:prstGeom prst="rect">
            <a:avLst/>
          </a:prstGeom>
          <a:solidFill>
            <a:srgbClr val="D4951A">
              <a:alpha val="45000"/>
            </a:srgbClr>
          </a:solidFill>
          <a:ln w="12700">
            <a:solidFill>
              <a:srgbClr val="D4951A"/>
            </a:solidFill>
            <a:prstDash val="solid"/>
          </a:ln>
        </p:spPr>
      </p:sp>
      <p:sp>
        <p:nvSpPr>
          <p:cNvPr id="31" name="Shape 29"/>
          <p:cNvSpPr/>
          <p:nvPr/>
        </p:nvSpPr>
        <p:spPr>
          <a:xfrm rot="2700000">
            <a:off x="3171139" y="841248"/>
            <a:ext cx="77724" cy="77724"/>
          </a:xfrm>
          <a:prstGeom prst="rect">
            <a:avLst/>
          </a:prstGeom>
          <a:solidFill>
            <a:srgbClr val="D4951A">
              <a:alpha val="45000"/>
            </a:srgbClr>
          </a:solidFill>
          <a:ln w="12700">
            <a:solidFill>
              <a:srgbClr val="D4951A"/>
            </a:solidFill>
            <a:prstDash val="solid"/>
          </a:ln>
        </p:spPr>
      </p:sp>
      <p:sp>
        <p:nvSpPr>
          <p:cNvPr id="32" name="Shape 30"/>
          <p:cNvSpPr/>
          <p:nvPr/>
        </p:nvSpPr>
        <p:spPr>
          <a:xfrm rot="2700000">
            <a:off x="3288182" y="841248"/>
            <a:ext cx="77724" cy="77724"/>
          </a:xfrm>
          <a:prstGeom prst="rect">
            <a:avLst/>
          </a:prstGeom>
          <a:solidFill>
            <a:srgbClr val="D4951A">
              <a:alpha val="45000"/>
            </a:srgbClr>
          </a:solidFill>
          <a:ln w="12700">
            <a:solidFill>
              <a:srgbClr val="D4951A"/>
            </a:solidFill>
            <a:prstDash val="solid"/>
          </a:ln>
        </p:spPr>
      </p:sp>
      <p:sp>
        <p:nvSpPr>
          <p:cNvPr id="33" name="Shape 31"/>
          <p:cNvSpPr/>
          <p:nvPr/>
        </p:nvSpPr>
        <p:spPr>
          <a:xfrm rot="2700000">
            <a:off x="3405226" y="841248"/>
            <a:ext cx="77724" cy="77724"/>
          </a:xfrm>
          <a:prstGeom prst="rect">
            <a:avLst/>
          </a:prstGeom>
          <a:solidFill>
            <a:srgbClr val="D4951A">
              <a:alpha val="45000"/>
            </a:srgbClr>
          </a:solidFill>
          <a:ln w="12700">
            <a:solidFill>
              <a:srgbClr val="D4951A"/>
            </a:solidFill>
            <a:prstDash val="solid"/>
          </a:ln>
        </p:spPr>
      </p:sp>
      <p:sp>
        <p:nvSpPr>
          <p:cNvPr id="34" name="Shape 32"/>
          <p:cNvSpPr/>
          <p:nvPr/>
        </p:nvSpPr>
        <p:spPr>
          <a:xfrm rot="2700000">
            <a:off x="3522269" y="841248"/>
            <a:ext cx="77724" cy="77724"/>
          </a:xfrm>
          <a:prstGeom prst="rect">
            <a:avLst/>
          </a:prstGeom>
          <a:solidFill>
            <a:srgbClr val="D4951A">
              <a:alpha val="45000"/>
            </a:srgbClr>
          </a:solidFill>
          <a:ln w="12700">
            <a:solidFill>
              <a:srgbClr val="D4951A"/>
            </a:solidFill>
            <a:prstDash val="solid"/>
          </a:ln>
        </p:spPr>
      </p:sp>
      <p:sp>
        <p:nvSpPr>
          <p:cNvPr id="35" name="Shape 33"/>
          <p:cNvSpPr/>
          <p:nvPr/>
        </p:nvSpPr>
        <p:spPr>
          <a:xfrm rot="2700000">
            <a:off x="3639312" y="841248"/>
            <a:ext cx="77724" cy="77724"/>
          </a:xfrm>
          <a:prstGeom prst="rect">
            <a:avLst/>
          </a:prstGeom>
          <a:solidFill>
            <a:srgbClr val="D4951A">
              <a:alpha val="45000"/>
            </a:srgbClr>
          </a:solidFill>
          <a:ln w="12700">
            <a:solidFill>
              <a:srgbClr val="D4951A"/>
            </a:solidFill>
            <a:prstDash val="solid"/>
          </a:ln>
        </p:spPr>
      </p:sp>
      <p:sp>
        <p:nvSpPr>
          <p:cNvPr id="36" name="Shape 34"/>
          <p:cNvSpPr/>
          <p:nvPr/>
        </p:nvSpPr>
        <p:spPr>
          <a:xfrm rot="2700000">
            <a:off x="3756355" y="841248"/>
            <a:ext cx="77724" cy="77724"/>
          </a:xfrm>
          <a:prstGeom prst="rect">
            <a:avLst/>
          </a:prstGeom>
          <a:solidFill>
            <a:srgbClr val="D4951A">
              <a:alpha val="45000"/>
            </a:srgbClr>
          </a:solidFill>
          <a:ln w="12700">
            <a:solidFill>
              <a:srgbClr val="D4951A"/>
            </a:solidFill>
            <a:prstDash val="solid"/>
          </a:ln>
        </p:spPr>
      </p:sp>
      <p:sp>
        <p:nvSpPr>
          <p:cNvPr id="37" name="Shape 35"/>
          <p:cNvSpPr/>
          <p:nvPr/>
        </p:nvSpPr>
        <p:spPr>
          <a:xfrm rot="2700000">
            <a:off x="3873398" y="841248"/>
            <a:ext cx="77724" cy="77724"/>
          </a:xfrm>
          <a:prstGeom prst="rect">
            <a:avLst/>
          </a:prstGeom>
          <a:solidFill>
            <a:srgbClr val="D4951A">
              <a:alpha val="45000"/>
            </a:srgbClr>
          </a:solidFill>
          <a:ln w="12700">
            <a:solidFill>
              <a:srgbClr val="D4951A"/>
            </a:solidFill>
            <a:prstDash val="solid"/>
          </a:ln>
        </p:spPr>
      </p:sp>
      <p:sp>
        <p:nvSpPr>
          <p:cNvPr id="38" name="Shape 36"/>
          <p:cNvSpPr/>
          <p:nvPr/>
        </p:nvSpPr>
        <p:spPr>
          <a:xfrm rot="2700000">
            <a:off x="3990442" y="841248"/>
            <a:ext cx="77724" cy="77724"/>
          </a:xfrm>
          <a:prstGeom prst="rect">
            <a:avLst/>
          </a:prstGeom>
          <a:solidFill>
            <a:srgbClr val="D4951A">
              <a:alpha val="45000"/>
            </a:srgbClr>
          </a:solidFill>
          <a:ln w="12700">
            <a:solidFill>
              <a:srgbClr val="D4951A"/>
            </a:solidFill>
            <a:prstDash val="solid"/>
          </a:ln>
        </p:spPr>
      </p:sp>
      <p:sp>
        <p:nvSpPr>
          <p:cNvPr id="39" name="Shape 37"/>
          <p:cNvSpPr/>
          <p:nvPr/>
        </p:nvSpPr>
        <p:spPr>
          <a:xfrm rot="2700000">
            <a:off x="4107485" y="841248"/>
            <a:ext cx="77724" cy="77724"/>
          </a:xfrm>
          <a:prstGeom prst="rect">
            <a:avLst/>
          </a:prstGeom>
          <a:solidFill>
            <a:srgbClr val="D4951A">
              <a:alpha val="45000"/>
            </a:srgbClr>
          </a:solidFill>
          <a:ln w="12700">
            <a:solidFill>
              <a:srgbClr val="D4951A"/>
            </a:solidFill>
            <a:prstDash val="solid"/>
          </a:ln>
        </p:spPr>
      </p:sp>
      <p:sp>
        <p:nvSpPr>
          <p:cNvPr id="40" name="Shape 38"/>
          <p:cNvSpPr/>
          <p:nvPr/>
        </p:nvSpPr>
        <p:spPr>
          <a:xfrm rot="2700000">
            <a:off x="4224528" y="841248"/>
            <a:ext cx="77724" cy="77724"/>
          </a:xfrm>
          <a:prstGeom prst="rect">
            <a:avLst/>
          </a:prstGeom>
          <a:solidFill>
            <a:srgbClr val="D4951A">
              <a:alpha val="45000"/>
            </a:srgbClr>
          </a:solidFill>
          <a:ln w="12700">
            <a:solidFill>
              <a:srgbClr val="D4951A"/>
            </a:solidFill>
            <a:prstDash val="solid"/>
          </a:ln>
        </p:spPr>
      </p:sp>
      <p:sp>
        <p:nvSpPr>
          <p:cNvPr id="41" name="Shape 39"/>
          <p:cNvSpPr/>
          <p:nvPr/>
        </p:nvSpPr>
        <p:spPr>
          <a:xfrm rot="2700000">
            <a:off x="4341571" y="841248"/>
            <a:ext cx="77724" cy="77724"/>
          </a:xfrm>
          <a:prstGeom prst="rect">
            <a:avLst/>
          </a:prstGeom>
          <a:solidFill>
            <a:srgbClr val="D4951A">
              <a:alpha val="45000"/>
            </a:srgbClr>
          </a:solidFill>
          <a:ln w="12700">
            <a:solidFill>
              <a:srgbClr val="D4951A"/>
            </a:solidFill>
            <a:prstDash val="solid"/>
          </a:ln>
        </p:spPr>
      </p:sp>
      <p:sp>
        <p:nvSpPr>
          <p:cNvPr id="42" name="Shape 40"/>
          <p:cNvSpPr/>
          <p:nvPr/>
        </p:nvSpPr>
        <p:spPr>
          <a:xfrm rot="2700000">
            <a:off x="4458614" y="841248"/>
            <a:ext cx="77724" cy="77724"/>
          </a:xfrm>
          <a:prstGeom prst="rect">
            <a:avLst/>
          </a:prstGeom>
          <a:solidFill>
            <a:srgbClr val="D4951A">
              <a:alpha val="45000"/>
            </a:srgbClr>
          </a:solidFill>
          <a:ln w="12700">
            <a:solidFill>
              <a:srgbClr val="D4951A"/>
            </a:solidFill>
            <a:prstDash val="solid"/>
          </a:ln>
        </p:spPr>
      </p:sp>
      <p:sp>
        <p:nvSpPr>
          <p:cNvPr id="43" name="Shape 41"/>
          <p:cNvSpPr/>
          <p:nvPr/>
        </p:nvSpPr>
        <p:spPr>
          <a:xfrm rot="2700000">
            <a:off x="4575658" y="841248"/>
            <a:ext cx="77724" cy="77724"/>
          </a:xfrm>
          <a:prstGeom prst="rect">
            <a:avLst/>
          </a:prstGeom>
          <a:solidFill>
            <a:srgbClr val="D4951A">
              <a:alpha val="45000"/>
            </a:srgbClr>
          </a:solidFill>
          <a:ln w="12700">
            <a:solidFill>
              <a:srgbClr val="D4951A"/>
            </a:solidFill>
            <a:prstDash val="solid"/>
          </a:ln>
        </p:spPr>
      </p:sp>
      <p:sp>
        <p:nvSpPr>
          <p:cNvPr id="44" name="Shape 42"/>
          <p:cNvSpPr/>
          <p:nvPr/>
        </p:nvSpPr>
        <p:spPr>
          <a:xfrm rot="2700000">
            <a:off x="4692701" y="841248"/>
            <a:ext cx="77724" cy="77724"/>
          </a:xfrm>
          <a:prstGeom prst="rect">
            <a:avLst/>
          </a:prstGeom>
          <a:solidFill>
            <a:srgbClr val="D4951A">
              <a:alpha val="45000"/>
            </a:srgbClr>
          </a:solidFill>
          <a:ln w="12700">
            <a:solidFill>
              <a:srgbClr val="D4951A"/>
            </a:solidFill>
            <a:prstDash val="solid"/>
          </a:ln>
        </p:spPr>
      </p:sp>
      <p:sp>
        <p:nvSpPr>
          <p:cNvPr id="45" name="Shape 43"/>
          <p:cNvSpPr/>
          <p:nvPr/>
        </p:nvSpPr>
        <p:spPr>
          <a:xfrm rot="2700000">
            <a:off x="4809744" y="841248"/>
            <a:ext cx="77724" cy="77724"/>
          </a:xfrm>
          <a:prstGeom prst="rect">
            <a:avLst/>
          </a:prstGeom>
          <a:solidFill>
            <a:srgbClr val="D4951A">
              <a:alpha val="45000"/>
            </a:srgbClr>
          </a:solidFill>
          <a:ln w="12700">
            <a:solidFill>
              <a:srgbClr val="D4951A"/>
            </a:solidFill>
            <a:prstDash val="solid"/>
          </a:ln>
        </p:spPr>
      </p:sp>
      <p:sp>
        <p:nvSpPr>
          <p:cNvPr id="46" name="Shape 44"/>
          <p:cNvSpPr/>
          <p:nvPr/>
        </p:nvSpPr>
        <p:spPr>
          <a:xfrm rot="2700000">
            <a:off x="4926787" y="841248"/>
            <a:ext cx="77724" cy="77724"/>
          </a:xfrm>
          <a:prstGeom prst="rect">
            <a:avLst/>
          </a:prstGeom>
          <a:solidFill>
            <a:srgbClr val="D4951A">
              <a:alpha val="45000"/>
            </a:srgbClr>
          </a:solidFill>
          <a:ln w="12700">
            <a:solidFill>
              <a:srgbClr val="D4951A"/>
            </a:solidFill>
            <a:prstDash val="solid"/>
          </a:ln>
        </p:spPr>
      </p:sp>
      <p:sp>
        <p:nvSpPr>
          <p:cNvPr id="47" name="Shape 45"/>
          <p:cNvSpPr/>
          <p:nvPr/>
        </p:nvSpPr>
        <p:spPr>
          <a:xfrm rot="2700000">
            <a:off x="5043830" y="841248"/>
            <a:ext cx="77724" cy="77724"/>
          </a:xfrm>
          <a:prstGeom prst="rect">
            <a:avLst/>
          </a:prstGeom>
          <a:solidFill>
            <a:srgbClr val="D4951A">
              <a:alpha val="45000"/>
            </a:srgbClr>
          </a:solidFill>
          <a:ln w="12700">
            <a:solidFill>
              <a:srgbClr val="D4951A"/>
            </a:solidFill>
            <a:prstDash val="solid"/>
          </a:ln>
        </p:spPr>
      </p:sp>
      <p:sp>
        <p:nvSpPr>
          <p:cNvPr id="48" name="Shape 46"/>
          <p:cNvSpPr/>
          <p:nvPr/>
        </p:nvSpPr>
        <p:spPr>
          <a:xfrm rot="2700000">
            <a:off x="5160874" y="841248"/>
            <a:ext cx="77724" cy="77724"/>
          </a:xfrm>
          <a:prstGeom prst="rect">
            <a:avLst/>
          </a:prstGeom>
          <a:solidFill>
            <a:srgbClr val="D4951A">
              <a:alpha val="45000"/>
            </a:srgbClr>
          </a:solidFill>
          <a:ln w="12700">
            <a:solidFill>
              <a:srgbClr val="D4951A"/>
            </a:solidFill>
            <a:prstDash val="solid"/>
          </a:ln>
        </p:spPr>
      </p:sp>
      <p:sp>
        <p:nvSpPr>
          <p:cNvPr id="49" name="Shape 47"/>
          <p:cNvSpPr/>
          <p:nvPr/>
        </p:nvSpPr>
        <p:spPr>
          <a:xfrm rot="2700000">
            <a:off x="5277917" y="841248"/>
            <a:ext cx="77724" cy="77724"/>
          </a:xfrm>
          <a:prstGeom prst="rect">
            <a:avLst/>
          </a:prstGeom>
          <a:solidFill>
            <a:srgbClr val="D4951A">
              <a:alpha val="45000"/>
            </a:srgbClr>
          </a:solidFill>
          <a:ln w="12700">
            <a:solidFill>
              <a:srgbClr val="D4951A"/>
            </a:solidFill>
            <a:prstDash val="solid"/>
          </a:ln>
        </p:spPr>
      </p:sp>
      <p:sp>
        <p:nvSpPr>
          <p:cNvPr id="50" name="Shape 48"/>
          <p:cNvSpPr/>
          <p:nvPr/>
        </p:nvSpPr>
        <p:spPr>
          <a:xfrm rot="2700000">
            <a:off x="5394960" y="841248"/>
            <a:ext cx="77724" cy="77724"/>
          </a:xfrm>
          <a:prstGeom prst="rect">
            <a:avLst/>
          </a:prstGeom>
          <a:solidFill>
            <a:srgbClr val="D4951A">
              <a:alpha val="45000"/>
            </a:srgbClr>
          </a:solidFill>
          <a:ln w="12700">
            <a:solidFill>
              <a:srgbClr val="D4951A"/>
            </a:solidFill>
            <a:prstDash val="solid"/>
          </a:ln>
        </p:spPr>
      </p:sp>
      <p:sp>
        <p:nvSpPr>
          <p:cNvPr id="51" name="Shape 49"/>
          <p:cNvSpPr/>
          <p:nvPr/>
        </p:nvSpPr>
        <p:spPr>
          <a:xfrm rot="2700000">
            <a:off x="5512003" y="841248"/>
            <a:ext cx="77724" cy="77724"/>
          </a:xfrm>
          <a:prstGeom prst="rect">
            <a:avLst/>
          </a:prstGeom>
          <a:solidFill>
            <a:srgbClr val="D4951A">
              <a:alpha val="45000"/>
            </a:srgbClr>
          </a:solidFill>
          <a:ln w="12700">
            <a:solidFill>
              <a:srgbClr val="D4951A"/>
            </a:solidFill>
            <a:prstDash val="solid"/>
          </a:ln>
        </p:spPr>
      </p:sp>
      <p:sp>
        <p:nvSpPr>
          <p:cNvPr id="52" name="Shape 50"/>
          <p:cNvSpPr/>
          <p:nvPr/>
        </p:nvSpPr>
        <p:spPr>
          <a:xfrm rot="2700000">
            <a:off x="5629046" y="841248"/>
            <a:ext cx="77724" cy="77724"/>
          </a:xfrm>
          <a:prstGeom prst="rect">
            <a:avLst/>
          </a:prstGeom>
          <a:solidFill>
            <a:srgbClr val="D4951A">
              <a:alpha val="45000"/>
            </a:srgbClr>
          </a:solidFill>
          <a:ln w="12700">
            <a:solidFill>
              <a:srgbClr val="D4951A"/>
            </a:solidFill>
            <a:prstDash val="solid"/>
          </a:ln>
        </p:spPr>
      </p:sp>
      <p:sp>
        <p:nvSpPr>
          <p:cNvPr id="53" name="Shape 51"/>
          <p:cNvSpPr/>
          <p:nvPr/>
        </p:nvSpPr>
        <p:spPr>
          <a:xfrm rot="2700000">
            <a:off x="5746090" y="841248"/>
            <a:ext cx="77724" cy="77724"/>
          </a:xfrm>
          <a:prstGeom prst="rect">
            <a:avLst/>
          </a:prstGeom>
          <a:solidFill>
            <a:srgbClr val="D4951A">
              <a:alpha val="45000"/>
            </a:srgbClr>
          </a:solidFill>
          <a:ln w="12700">
            <a:solidFill>
              <a:srgbClr val="D4951A"/>
            </a:solidFill>
            <a:prstDash val="solid"/>
          </a:ln>
        </p:spPr>
      </p:sp>
      <p:sp>
        <p:nvSpPr>
          <p:cNvPr id="54" name="Shape 52"/>
          <p:cNvSpPr/>
          <p:nvPr/>
        </p:nvSpPr>
        <p:spPr>
          <a:xfrm rot="2700000">
            <a:off x="5863133" y="841248"/>
            <a:ext cx="77724" cy="77724"/>
          </a:xfrm>
          <a:prstGeom prst="rect">
            <a:avLst/>
          </a:prstGeom>
          <a:solidFill>
            <a:srgbClr val="D4951A">
              <a:alpha val="45000"/>
            </a:srgbClr>
          </a:solidFill>
          <a:ln w="12700">
            <a:solidFill>
              <a:srgbClr val="D4951A"/>
            </a:solidFill>
            <a:prstDash val="solid"/>
          </a:ln>
        </p:spPr>
      </p:sp>
      <p:sp>
        <p:nvSpPr>
          <p:cNvPr id="55" name="Shape 53"/>
          <p:cNvSpPr/>
          <p:nvPr/>
        </p:nvSpPr>
        <p:spPr>
          <a:xfrm rot="2700000">
            <a:off x="5980176" y="841248"/>
            <a:ext cx="77724" cy="77724"/>
          </a:xfrm>
          <a:prstGeom prst="rect">
            <a:avLst/>
          </a:prstGeom>
          <a:solidFill>
            <a:srgbClr val="D4951A">
              <a:alpha val="45000"/>
            </a:srgbClr>
          </a:solidFill>
          <a:ln w="12700">
            <a:solidFill>
              <a:srgbClr val="D4951A"/>
            </a:solidFill>
            <a:prstDash val="solid"/>
          </a:ln>
        </p:spPr>
      </p:sp>
      <p:sp>
        <p:nvSpPr>
          <p:cNvPr id="56" name="Shape 54"/>
          <p:cNvSpPr/>
          <p:nvPr/>
        </p:nvSpPr>
        <p:spPr>
          <a:xfrm rot="2700000">
            <a:off x="6097219" y="841248"/>
            <a:ext cx="77724" cy="77724"/>
          </a:xfrm>
          <a:prstGeom prst="rect">
            <a:avLst/>
          </a:prstGeom>
          <a:solidFill>
            <a:srgbClr val="D4951A">
              <a:alpha val="45000"/>
            </a:srgbClr>
          </a:solidFill>
          <a:ln w="12700">
            <a:solidFill>
              <a:srgbClr val="D4951A"/>
            </a:solidFill>
            <a:prstDash val="solid"/>
          </a:ln>
        </p:spPr>
      </p:sp>
      <p:sp>
        <p:nvSpPr>
          <p:cNvPr id="57" name="Shape 55"/>
          <p:cNvSpPr/>
          <p:nvPr/>
        </p:nvSpPr>
        <p:spPr>
          <a:xfrm rot="2700000">
            <a:off x="6214262" y="841248"/>
            <a:ext cx="77724" cy="77724"/>
          </a:xfrm>
          <a:prstGeom prst="rect">
            <a:avLst/>
          </a:prstGeom>
          <a:solidFill>
            <a:srgbClr val="D4951A">
              <a:alpha val="45000"/>
            </a:srgbClr>
          </a:solidFill>
          <a:ln w="12700">
            <a:solidFill>
              <a:srgbClr val="D4951A"/>
            </a:solidFill>
            <a:prstDash val="solid"/>
          </a:ln>
        </p:spPr>
      </p:sp>
      <p:sp>
        <p:nvSpPr>
          <p:cNvPr id="58" name="Shape 56"/>
          <p:cNvSpPr/>
          <p:nvPr/>
        </p:nvSpPr>
        <p:spPr>
          <a:xfrm rot="2700000">
            <a:off x="6331306" y="841248"/>
            <a:ext cx="77724" cy="77724"/>
          </a:xfrm>
          <a:prstGeom prst="rect">
            <a:avLst/>
          </a:prstGeom>
          <a:solidFill>
            <a:srgbClr val="D4951A">
              <a:alpha val="45000"/>
            </a:srgbClr>
          </a:solidFill>
          <a:ln w="12700">
            <a:solidFill>
              <a:srgbClr val="D4951A"/>
            </a:solidFill>
            <a:prstDash val="solid"/>
          </a:ln>
        </p:spPr>
      </p:sp>
      <p:sp>
        <p:nvSpPr>
          <p:cNvPr id="59" name="Shape 57"/>
          <p:cNvSpPr/>
          <p:nvPr/>
        </p:nvSpPr>
        <p:spPr>
          <a:xfrm rot="2700000">
            <a:off x="6448349" y="841248"/>
            <a:ext cx="77724" cy="77724"/>
          </a:xfrm>
          <a:prstGeom prst="rect">
            <a:avLst/>
          </a:prstGeom>
          <a:solidFill>
            <a:srgbClr val="D4951A">
              <a:alpha val="45000"/>
            </a:srgbClr>
          </a:solidFill>
          <a:ln w="12700">
            <a:solidFill>
              <a:srgbClr val="D4951A"/>
            </a:solidFill>
            <a:prstDash val="solid"/>
          </a:ln>
        </p:spPr>
      </p:sp>
      <p:sp>
        <p:nvSpPr>
          <p:cNvPr id="60" name="Shape 58"/>
          <p:cNvSpPr/>
          <p:nvPr/>
        </p:nvSpPr>
        <p:spPr>
          <a:xfrm rot="2700000">
            <a:off x="6565392" y="841248"/>
            <a:ext cx="77724" cy="77724"/>
          </a:xfrm>
          <a:prstGeom prst="rect">
            <a:avLst/>
          </a:prstGeom>
          <a:solidFill>
            <a:srgbClr val="D4951A">
              <a:alpha val="45000"/>
            </a:srgbClr>
          </a:solidFill>
          <a:ln w="12700">
            <a:solidFill>
              <a:srgbClr val="D4951A"/>
            </a:solidFill>
            <a:prstDash val="solid"/>
          </a:ln>
        </p:spPr>
      </p:sp>
      <p:sp>
        <p:nvSpPr>
          <p:cNvPr id="61" name="Shape 59"/>
          <p:cNvSpPr/>
          <p:nvPr/>
        </p:nvSpPr>
        <p:spPr>
          <a:xfrm rot="2700000">
            <a:off x="6682435" y="841248"/>
            <a:ext cx="77724" cy="77724"/>
          </a:xfrm>
          <a:prstGeom prst="rect">
            <a:avLst/>
          </a:prstGeom>
          <a:solidFill>
            <a:srgbClr val="D4951A">
              <a:alpha val="45000"/>
            </a:srgbClr>
          </a:solidFill>
          <a:ln w="12700">
            <a:solidFill>
              <a:srgbClr val="D4951A"/>
            </a:solidFill>
            <a:prstDash val="solid"/>
          </a:ln>
        </p:spPr>
      </p:sp>
      <p:sp>
        <p:nvSpPr>
          <p:cNvPr id="62" name="Shape 60"/>
          <p:cNvSpPr/>
          <p:nvPr/>
        </p:nvSpPr>
        <p:spPr>
          <a:xfrm rot="2700000">
            <a:off x="6799478" y="841248"/>
            <a:ext cx="77724" cy="77724"/>
          </a:xfrm>
          <a:prstGeom prst="rect">
            <a:avLst/>
          </a:prstGeom>
          <a:solidFill>
            <a:srgbClr val="D4951A">
              <a:alpha val="45000"/>
            </a:srgbClr>
          </a:solidFill>
          <a:ln w="12700">
            <a:solidFill>
              <a:srgbClr val="D4951A"/>
            </a:solidFill>
            <a:prstDash val="solid"/>
          </a:ln>
        </p:spPr>
      </p:sp>
      <p:sp>
        <p:nvSpPr>
          <p:cNvPr id="63" name="Shape 61"/>
          <p:cNvSpPr/>
          <p:nvPr/>
        </p:nvSpPr>
        <p:spPr>
          <a:xfrm rot="2700000">
            <a:off x="6916522" y="841248"/>
            <a:ext cx="77724" cy="77724"/>
          </a:xfrm>
          <a:prstGeom prst="rect">
            <a:avLst/>
          </a:prstGeom>
          <a:solidFill>
            <a:srgbClr val="D4951A">
              <a:alpha val="45000"/>
            </a:srgbClr>
          </a:solidFill>
          <a:ln w="12700">
            <a:solidFill>
              <a:srgbClr val="D4951A"/>
            </a:solidFill>
            <a:prstDash val="solid"/>
          </a:ln>
        </p:spPr>
      </p:sp>
      <p:sp>
        <p:nvSpPr>
          <p:cNvPr id="64" name="Shape 62"/>
          <p:cNvSpPr/>
          <p:nvPr/>
        </p:nvSpPr>
        <p:spPr>
          <a:xfrm rot="2700000">
            <a:off x="7033565" y="841248"/>
            <a:ext cx="77724" cy="77724"/>
          </a:xfrm>
          <a:prstGeom prst="rect">
            <a:avLst/>
          </a:prstGeom>
          <a:solidFill>
            <a:srgbClr val="D4951A">
              <a:alpha val="45000"/>
            </a:srgbClr>
          </a:solidFill>
          <a:ln w="12700">
            <a:solidFill>
              <a:srgbClr val="D4951A"/>
            </a:solidFill>
            <a:prstDash val="solid"/>
          </a:ln>
        </p:spPr>
      </p:sp>
      <p:sp>
        <p:nvSpPr>
          <p:cNvPr id="65" name="Shape 63"/>
          <p:cNvSpPr/>
          <p:nvPr/>
        </p:nvSpPr>
        <p:spPr>
          <a:xfrm rot="2700000">
            <a:off x="7150608" y="841248"/>
            <a:ext cx="77724" cy="77724"/>
          </a:xfrm>
          <a:prstGeom prst="rect">
            <a:avLst/>
          </a:prstGeom>
          <a:solidFill>
            <a:srgbClr val="D4951A">
              <a:alpha val="45000"/>
            </a:srgbClr>
          </a:solidFill>
          <a:ln w="12700">
            <a:solidFill>
              <a:srgbClr val="D4951A"/>
            </a:solidFill>
            <a:prstDash val="solid"/>
          </a:ln>
        </p:spPr>
      </p:sp>
      <p:sp>
        <p:nvSpPr>
          <p:cNvPr id="66" name="Shape 64"/>
          <p:cNvSpPr/>
          <p:nvPr/>
        </p:nvSpPr>
        <p:spPr>
          <a:xfrm rot="2700000">
            <a:off x="7267651" y="841248"/>
            <a:ext cx="77724" cy="77724"/>
          </a:xfrm>
          <a:prstGeom prst="rect">
            <a:avLst/>
          </a:prstGeom>
          <a:solidFill>
            <a:srgbClr val="D4951A">
              <a:alpha val="45000"/>
            </a:srgbClr>
          </a:solidFill>
          <a:ln w="12700">
            <a:solidFill>
              <a:srgbClr val="D4951A"/>
            </a:solidFill>
            <a:prstDash val="solid"/>
          </a:ln>
        </p:spPr>
      </p:sp>
      <p:sp>
        <p:nvSpPr>
          <p:cNvPr id="67" name="Shape 65"/>
          <p:cNvSpPr/>
          <p:nvPr/>
        </p:nvSpPr>
        <p:spPr>
          <a:xfrm rot="2700000">
            <a:off x="7384694" y="841248"/>
            <a:ext cx="77724" cy="77724"/>
          </a:xfrm>
          <a:prstGeom prst="rect">
            <a:avLst/>
          </a:prstGeom>
          <a:solidFill>
            <a:srgbClr val="D4951A">
              <a:alpha val="45000"/>
            </a:srgbClr>
          </a:solidFill>
          <a:ln w="12700">
            <a:solidFill>
              <a:srgbClr val="D4951A"/>
            </a:solidFill>
            <a:prstDash val="solid"/>
          </a:ln>
        </p:spPr>
      </p:sp>
      <p:sp>
        <p:nvSpPr>
          <p:cNvPr id="68" name="Shape 66"/>
          <p:cNvSpPr/>
          <p:nvPr/>
        </p:nvSpPr>
        <p:spPr>
          <a:xfrm rot="2700000">
            <a:off x="7501738" y="841248"/>
            <a:ext cx="77724" cy="77724"/>
          </a:xfrm>
          <a:prstGeom prst="rect">
            <a:avLst/>
          </a:prstGeom>
          <a:solidFill>
            <a:srgbClr val="D4951A">
              <a:alpha val="45000"/>
            </a:srgbClr>
          </a:solidFill>
          <a:ln w="12700">
            <a:solidFill>
              <a:srgbClr val="D4951A"/>
            </a:solidFill>
            <a:prstDash val="solid"/>
          </a:ln>
        </p:spPr>
      </p:sp>
      <p:sp>
        <p:nvSpPr>
          <p:cNvPr id="69" name="Shape 67"/>
          <p:cNvSpPr/>
          <p:nvPr/>
        </p:nvSpPr>
        <p:spPr>
          <a:xfrm rot="2700000">
            <a:off x="7618781" y="841248"/>
            <a:ext cx="77724" cy="77724"/>
          </a:xfrm>
          <a:prstGeom prst="rect">
            <a:avLst/>
          </a:prstGeom>
          <a:solidFill>
            <a:srgbClr val="D4951A">
              <a:alpha val="45000"/>
            </a:srgbClr>
          </a:solidFill>
          <a:ln w="12700">
            <a:solidFill>
              <a:srgbClr val="D4951A"/>
            </a:solidFill>
            <a:prstDash val="solid"/>
          </a:ln>
        </p:spPr>
      </p:sp>
      <p:sp>
        <p:nvSpPr>
          <p:cNvPr id="70" name="Shape 68"/>
          <p:cNvSpPr/>
          <p:nvPr/>
        </p:nvSpPr>
        <p:spPr>
          <a:xfrm rot="2700000">
            <a:off x="7735824" y="841248"/>
            <a:ext cx="77724" cy="77724"/>
          </a:xfrm>
          <a:prstGeom prst="rect">
            <a:avLst/>
          </a:prstGeom>
          <a:solidFill>
            <a:srgbClr val="D4951A">
              <a:alpha val="45000"/>
            </a:srgbClr>
          </a:solidFill>
          <a:ln w="12700">
            <a:solidFill>
              <a:srgbClr val="D4951A"/>
            </a:solidFill>
            <a:prstDash val="solid"/>
          </a:ln>
        </p:spPr>
      </p:sp>
      <p:sp>
        <p:nvSpPr>
          <p:cNvPr id="71" name="Shape 69"/>
          <p:cNvSpPr/>
          <p:nvPr/>
        </p:nvSpPr>
        <p:spPr>
          <a:xfrm rot="2700000">
            <a:off x="7852867" y="841248"/>
            <a:ext cx="77724" cy="77724"/>
          </a:xfrm>
          <a:prstGeom prst="rect">
            <a:avLst/>
          </a:prstGeom>
          <a:solidFill>
            <a:srgbClr val="D4951A">
              <a:alpha val="45000"/>
            </a:srgbClr>
          </a:solidFill>
          <a:ln w="12700">
            <a:solidFill>
              <a:srgbClr val="D4951A"/>
            </a:solidFill>
            <a:prstDash val="solid"/>
          </a:ln>
        </p:spPr>
      </p:sp>
      <p:sp>
        <p:nvSpPr>
          <p:cNvPr id="72" name="Shape 70"/>
          <p:cNvSpPr/>
          <p:nvPr/>
        </p:nvSpPr>
        <p:spPr>
          <a:xfrm rot="2700000">
            <a:off x="7969910" y="841248"/>
            <a:ext cx="77724" cy="77724"/>
          </a:xfrm>
          <a:prstGeom prst="rect">
            <a:avLst/>
          </a:prstGeom>
          <a:solidFill>
            <a:srgbClr val="D4951A">
              <a:alpha val="45000"/>
            </a:srgbClr>
          </a:solidFill>
          <a:ln w="12700">
            <a:solidFill>
              <a:srgbClr val="D4951A"/>
            </a:solidFill>
            <a:prstDash val="solid"/>
          </a:ln>
        </p:spPr>
      </p:sp>
      <p:sp>
        <p:nvSpPr>
          <p:cNvPr id="73" name="Shape 71"/>
          <p:cNvSpPr/>
          <p:nvPr/>
        </p:nvSpPr>
        <p:spPr>
          <a:xfrm rot="2700000">
            <a:off x="8086954" y="841248"/>
            <a:ext cx="77724" cy="77724"/>
          </a:xfrm>
          <a:prstGeom prst="rect">
            <a:avLst/>
          </a:prstGeom>
          <a:solidFill>
            <a:srgbClr val="D4951A">
              <a:alpha val="45000"/>
            </a:srgbClr>
          </a:solidFill>
          <a:ln w="12700">
            <a:solidFill>
              <a:srgbClr val="D4951A"/>
            </a:solidFill>
            <a:prstDash val="solid"/>
          </a:ln>
        </p:spPr>
      </p:sp>
      <p:sp>
        <p:nvSpPr>
          <p:cNvPr id="74" name="Shape 72"/>
          <p:cNvSpPr/>
          <p:nvPr/>
        </p:nvSpPr>
        <p:spPr>
          <a:xfrm rot="2700000">
            <a:off x="8203997" y="841248"/>
            <a:ext cx="77724" cy="77724"/>
          </a:xfrm>
          <a:prstGeom prst="rect">
            <a:avLst/>
          </a:prstGeom>
          <a:solidFill>
            <a:srgbClr val="D4951A">
              <a:alpha val="45000"/>
            </a:srgbClr>
          </a:solidFill>
          <a:ln w="12700">
            <a:solidFill>
              <a:srgbClr val="D4951A"/>
            </a:solidFill>
            <a:prstDash val="solid"/>
          </a:ln>
        </p:spPr>
      </p:sp>
      <p:sp>
        <p:nvSpPr>
          <p:cNvPr id="75" name="Shape 73"/>
          <p:cNvSpPr/>
          <p:nvPr/>
        </p:nvSpPr>
        <p:spPr>
          <a:xfrm rot="2700000">
            <a:off x="8321040" y="841248"/>
            <a:ext cx="77724" cy="77724"/>
          </a:xfrm>
          <a:prstGeom prst="rect">
            <a:avLst/>
          </a:prstGeom>
          <a:solidFill>
            <a:srgbClr val="D4951A">
              <a:alpha val="45000"/>
            </a:srgbClr>
          </a:solidFill>
          <a:ln w="12700">
            <a:solidFill>
              <a:srgbClr val="D4951A"/>
            </a:solidFill>
            <a:prstDash val="solid"/>
          </a:ln>
        </p:spPr>
      </p:sp>
      <p:sp>
        <p:nvSpPr>
          <p:cNvPr id="76" name="Shape 74"/>
          <p:cNvSpPr/>
          <p:nvPr/>
        </p:nvSpPr>
        <p:spPr>
          <a:xfrm rot="2700000">
            <a:off x="8438083" y="841248"/>
            <a:ext cx="77724" cy="77724"/>
          </a:xfrm>
          <a:prstGeom prst="rect">
            <a:avLst/>
          </a:prstGeom>
          <a:solidFill>
            <a:srgbClr val="D4951A">
              <a:alpha val="45000"/>
            </a:srgbClr>
          </a:solidFill>
          <a:ln w="12700">
            <a:solidFill>
              <a:srgbClr val="D4951A"/>
            </a:solidFill>
            <a:prstDash val="solid"/>
          </a:ln>
        </p:spPr>
      </p:sp>
      <p:sp>
        <p:nvSpPr>
          <p:cNvPr id="77" name="Shape 75"/>
          <p:cNvSpPr/>
          <p:nvPr/>
        </p:nvSpPr>
        <p:spPr>
          <a:xfrm rot="2700000">
            <a:off x="8555126" y="841248"/>
            <a:ext cx="77724" cy="77724"/>
          </a:xfrm>
          <a:prstGeom prst="rect">
            <a:avLst/>
          </a:prstGeom>
          <a:solidFill>
            <a:srgbClr val="D4951A">
              <a:alpha val="45000"/>
            </a:srgbClr>
          </a:solidFill>
          <a:ln w="12700">
            <a:solidFill>
              <a:srgbClr val="D4951A"/>
            </a:solidFill>
            <a:prstDash val="solid"/>
          </a:ln>
        </p:spPr>
      </p:sp>
      <p:sp>
        <p:nvSpPr>
          <p:cNvPr id="78" name="Shape 76"/>
          <p:cNvSpPr/>
          <p:nvPr/>
        </p:nvSpPr>
        <p:spPr>
          <a:xfrm rot="2700000">
            <a:off x="8672170" y="841248"/>
            <a:ext cx="77724" cy="77724"/>
          </a:xfrm>
          <a:prstGeom prst="rect">
            <a:avLst/>
          </a:prstGeom>
          <a:solidFill>
            <a:srgbClr val="D4951A">
              <a:alpha val="45000"/>
            </a:srgbClr>
          </a:solidFill>
          <a:ln w="12700">
            <a:solidFill>
              <a:srgbClr val="D4951A"/>
            </a:solidFill>
            <a:prstDash val="solid"/>
          </a:ln>
        </p:spPr>
      </p:sp>
      <p:sp>
        <p:nvSpPr>
          <p:cNvPr id="79" name="Shape 77"/>
          <p:cNvSpPr/>
          <p:nvPr/>
        </p:nvSpPr>
        <p:spPr>
          <a:xfrm rot="2700000">
            <a:off x="8789213" y="841248"/>
            <a:ext cx="77724" cy="77724"/>
          </a:xfrm>
          <a:prstGeom prst="rect">
            <a:avLst/>
          </a:prstGeom>
          <a:solidFill>
            <a:srgbClr val="D4951A">
              <a:alpha val="45000"/>
            </a:srgbClr>
          </a:solidFill>
          <a:ln w="12700">
            <a:solidFill>
              <a:srgbClr val="D4951A"/>
            </a:solidFill>
            <a:prstDash val="solid"/>
          </a:ln>
        </p:spPr>
      </p:sp>
      <p:sp>
        <p:nvSpPr>
          <p:cNvPr id="80" name="Shape 78"/>
          <p:cNvSpPr/>
          <p:nvPr/>
        </p:nvSpPr>
        <p:spPr>
          <a:xfrm rot="2700000">
            <a:off x="8906256" y="841248"/>
            <a:ext cx="77724" cy="77724"/>
          </a:xfrm>
          <a:prstGeom prst="rect">
            <a:avLst/>
          </a:prstGeom>
          <a:solidFill>
            <a:srgbClr val="D4951A">
              <a:alpha val="45000"/>
            </a:srgbClr>
          </a:solidFill>
          <a:ln w="12700">
            <a:solidFill>
              <a:srgbClr val="D4951A"/>
            </a:solidFill>
            <a:prstDash val="solid"/>
          </a:ln>
        </p:spPr>
      </p:sp>
      <p:sp>
        <p:nvSpPr>
          <p:cNvPr id="81" name="Shape 79"/>
          <p:cNvSpPr/>
          <p:nvPr/>
        </p:nvSpPr>
        <p:spPr>
          <a:xfrm rot="2700000">
            <a:off x="9023299" y="841248"/>
            <a:ext cx="77724" cy="77724"/>
          </a:xfrm>
          <a:prstGeom prst="rect">
            <a:avLst/>
          </a:prstGeom>
          <a:solidFill>
            <a:srgbClr val="D4951A">
              <a:alpha val="45000"/>
            </a:srgbClr>
          </a:solidFill>
          <a:ln w="12700">
            <a:solidFill>
              <a:srgbClr val="D4951A"/>
            </a:solidFill>
            <a:prstDash val="solid"/>
          </a:ln>
        </p:spPr>
      </p:sp>
      <p:sp>
        <p:nvSpPr>
          <p:cNvPr id="82" name="Text 80"/>
          <p:cNvSpPr/>
          <p:nvPr/>
        </p:nvSpPr>
        <p:spPr>
          <a:xfrm>
            <a:off x="201168" y="0"/>
            <a:ext cx="8595360" cy="960120"/>
          </a:xfrm>
          <a:prstGeom prst="rect">
            <a:avLst/>
          </a:prstGeom>
          <a:noFill/>
          <a:ln/>
        </p:spPr>
        <p:txBody>
          <a:bodyPr wrap="square" rtlCol="0" anchor="ctr"/>
          <a:lstStyle/>
          <a:p>
            <a:pPr indent="0" marL="0">
              <a:buNone/>
            </a:pPr>
            <a:r>
              <a:rPr lang="en-US" sz="1900" b="1" spc="80" kern="0" dirty="0">
                <a:solidFill>
                  <a:srgbClr val="D4951A"/>
                </a:solidFill>
                <a:latin typeface="Georgia" pitchFamily="34" charset="0"/>
                <a:ea typeface="Georgia" pitchFamily="34" charset="-122"/>
                <a:cs typeface="Georgia" pitchFamily="34" charset="-120"/>
              </a:rPr>
              <a:t>DÉCISIONS REQUISES DE LA DIRECTION</a:t>
            </a:r>
            <a:endParaRPr lang="en-US" sz="1900" dirty="0"/>
          </a:p>
        </p:txBody>
      </p:sp>
      <p:sp>
        <p:nvSpPr>
          <p:cNvPr id="83" name="Shape 81"/>
          <p:cNvSpPr/>
          <p:nvPr/>
        </p:nvSpPr>
        <p:spPr>
          <a:xfrm rot="2700000">
            <a:off x="8613648" y="182880"/>
            <a:ext cx="82296" cy="82296"/>
          </a:xfrm>
          <a:prstGeom prst="rect">
            <a:avLst/>
          </a:prstGeom>
          <a:solidFill>
            <a:srgbClr val="D4951A"/>
          </a:solidFill>
          <a:ln w="12700">
            <a:solidFill>
              <a:srgbClr val="05050A"/>
            </a:solidFill>
            <a:prstDash val="solid"/>
          </a:ln>
        </p:spPr>
      </p:sp>
      <p:sp>
        <p:nvSpPr>
          <p:cNvPr id="84" name="Shape 82"/>
          <p:cNvSpPr/>
          <p:nvPr/>
        </p:nvSpPr>
        <p:spPr>
          <a:xfrm rot="2700000">
            <a:off x="8485632" y="182880"/>
            <a:ext cx="82296" cy="82296"/>
          </a:xfrm>
          <a:prstGeom prst="rect">
            <a:avLst/>
          </a:prstGeom>
          <a:solidFill>
            <a:srgbClr val="1B9A8A"/>
          </a:solidFill>
          <a:ln w="12700">
            <a:solidFill>
              <a:srgbClr val="05050A"/>
            </a:solidFill>
            <a:prstDash val="solid"/>
          </a:ln>
        </p:spPr>
      </p:sp>
      <p:sp>
        <p:nvSpPr>
          <p:cNvPr id="85" name="Shape 83"/>
          <p:cNvSpPr/>
          <p:nvPr/>
        </p:nvSpPr>
        <p:spPr>
          <a:xfrm rot="2700000">
            <a:off x="8357616" y="182880"/>
            <a:ext cx="82296" cy="82296"/>
          </a:xfrm>
          <a:prstGeom prst="rect">
            <a:avLst/>
          </a:prstGeom>
          <a:solidFill>
            <a:srgbClr val="D4951A"/>
          </a:solidFill>
          <a:ln w="12700">
            <a:solidFill>
              <a:srgbClr val="05050A"/>
            </a:solidFill>
            <a:prstDash val="solid"/>
          </a:ln>
        </p:spPr>
      </p:sp>
      <p:sp>
        <p:nvSpPr>
          <p:cNvPr id="86" name="Shape 84"/>
          <p:cNvSpPr/>
          <p:nvPr/>
        </p:nvSpPr>
        <p:spPr>
          <a:xfrm rot="2700000">
            <a:off x="8229600" y="182880"/>
            <a:ext cx="82296" cy="82296"/>
          </a:xfrm>
          <a:prstGeom prst="rect">
            <a:avLst/>
          </a:prstGeom>
          <a:solidFill>
            <a:srgbClr val="1B9A8A"/>
          </a:solidFill>
          <a:ln w="12700">
            <a:solidFill>
              <a:srgbClr val="05050A"/>
            </a:solidFill>
            <a:prstDash val="solid"/>
          </a:ln>
        </p:spPr>
      </p:sp>
      <p:sp>
        <p:nvSpPr>
          <p:cNvPr id="87" name="Shape 85"/>
          <p:cNvSpPr/>
          <p:nvPr/>
        </p:nvSpPr>
        <p:spPr>
          <a:xfrm rot="2700000">
            <a:off x="8101584" y="182880"/>
            <a:ext cx="82296" cy="82296"/>
          </a:xfrm>
          <a:prstGeom prst="rect">
            <a:avLst/>
          </a:prstGeom>
          <a:solidFill>
            <a:srgbClr val="D4951A"/>
          </a:solidFill>
          <a:ln w="12700">
            <a:solidFill>
              <a:srgbClr val="05050A"/>
            </a:solidFill>
            <a:prstDash val="solid"/>
          </a:ln>
        </p:spPr>
      </p:sp>
      <p:sp>
        <p:nvSpPr>
          <p:cNvPr id="88" name="Shape 86"/>
          <p:cNvSpPr/>
          <p:nvPr/>
        </p:nvSpPr>
        <p:spPr>
          <a:xfrm>
            <a:off x="256032" y="1024128"/>
            <a:ext cx="8631936" cy="438912"/>
          </a:xfrm>
          <a:prstGeom prst="rect">
            <a:avLst/>
          </a:prstGeom>
          <a:solidFill>
            <a:srgbClr val="130F08"/>
          </a:solidFill>
          <a:ln w="12700">
            <a:solidFill>
              <a:srgbClr val="1E1E26"/>
            </a:solidFill>
            <a:prstDash val="solid"/>
          </a:ln>
        </p:spPr>
      </p:sp>
      <p:sp>
        <p:nvSpPr>
          <p:cNvPr id="89" name="Shape 87"/>
          <p:cNvSpPr/>
          <p:nvPr/>
        </p:nvSpPr>
        <p:spPr>
          <a:xfrm>
            <a:off x="256032" y="1024128"/>
            <a:ext cx="960120" cy="438912"/>
          </a:xfrm>
          <a:prstGeom prst="rect">
            <a:avLst/>
          </a:prstGeom>
          <a:solidFill>
            <a:srgbClr val="D94040"/>
          </a:solidFill>
          <a:ln/>
        </p:spPr>
      </p:sp>
      <p:sp>
        <p:nvSpPr>
          <p:cNvPr id="90" name="Text 88"/>
          <p:cNvSpPr/>
          <p:nvPr/>
        </p:nvSpPr>
        <p:spPr>
          <a:xfrm>
            <a:off x="256032" y="1024128"/>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IMMÉDIAT</a:t>
            </a:r>
            <a:endParaRPr lang="en-US" sz="700" dirty="0"/>
          </a:p>
        </p:txBody>
      </p:sp>
      <p:sp>
        <p:nvSpPr>
          <p:cNvPr id="91" name="Text 89"/>
          <p:cNvSpPr/>
          <p:nvPr/>
        </p:nvSpPr>
        <p:spPr>
          <a:xfrm>
            <a:off x="1298448" y="1024128"/>
            <a:ext cx="1280160" cy="438912"/>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Direction</a:t>
            </a:r>
            <a:endParaRPr lang="en-US" sz="800" dirty="0"/>
          </a:p>
        </p:txBody>
      </p:sp>
      <p:sp>
        <p:nvSpPr>
          <p:cNvPr id="92" name="Text 90"/>
          <p:cNvSpPr/>
          <p:nvPr/>
        </p:nvSpPr>
        <p:spPr>
          <a:xfrm>
            <a:off x="2651760" y="1042416"/>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Approuver la stratégie deux chaudières indépendantes — une par ligne de production</a:t>
            </a:r>
            <a:endParaRPr lang="en-US" sz="900" dirty="0"/>
          </a:p>
        </p:txBody>
      </p:sp>
      <p:sp>
        <p:nvSpPr>
          <p:cNvPr id="93" name="Text 91"/>
          <p:cNvSpPr/>
          <p:nvPr/>
        </p:nvSpPr>
        <p:spPr>
          <a:xfrm>
            <a:off x="2651760" y="1261872"/>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Décision CAPEX structurante. Deux unités recommandées pour résilience opérationnelle et indépendance Ligne 2.</a:t>
            </a:r>
            <a:endParaRPr lang="en-US" sz="800" dirty="0"/>
          </a:p>
        </p:txBody>
      </p:sp>
      <p:sp>
        <p:nvSpPr>
          <p:cNvPr id="94" name="Shape 92"/>
          <p:cNvSpPr/>
          <p:nvPr/>
        </p:nvSpPr>
        <p:spPr>
          <a:xfrm>
            <a:off x="256032" y="1517904"/>
            <a:ext cx="8631936" cy="438912"/>
          </a:xfrm>
          <a:prstGeom prst="rect">
            <a:avLst/>
          </a:prstGeom>
          <a:solidFill>
            <a:srgbClr val="111115"/>
          </a:solidFill>
          <a:ln w="12700">
            <a:solidFill>
              <a:srgbClr val="1E1E26"/>
            </a:solidFill>
            <a:prstDash val="solid"/>
          </a:ln>
        </p:spPr>
      </p:sp>
      <p:sp>
        <p:nvSpPr>
          <p:cNvPr id="95" name="Shape 93"/>
          <p:cNvSpPr/>
          <p:nvPr/>
        </p:nvSpPr>
        <p:spPr>
          <a:xfrm>
            <a:off x="256032" y="1517904"/>
            <a:ext cx="960120" cy="438912"/>
          </a:xfrm>
          <a:prstGeom prst="rect">
            <a:avLst/>
          </a:prstGeom>
          <a:solidFill>
            <a:srgbClr val="D94040"/>
          </a:solidFill>
          <a:ln/>
        </p:spPr>
      </p:sp>
      <p:sp>
        <p:nvSpPr>
          <p:cNvPr id="96" name="Text 94"/>
          <p:cNvSpPr/>
          <p:nvPr/>
        </p:nvSpPr>
        <p:spPr>
          <a:xfrm>
            <a:off x="256032" y="1517904"/>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IMMÉDIAT</a:t>
            </a:r>
            <a:endParaRPr lang="en-US" sz="700" dirty="0"/>
          </a:p>
        </p:txBody>
      </p:sp>
      <p:sp>
        <p:nvSpPr>
          <p:cNvPr id="97" name="Text 95"/>
          <p:cNvSpPr/>
          <p:nvPr/>
        </p:nvSpPr>
        <p:spPr>
          <a:xfrm>
            <a:off x="1298448" y="1517904"/>
            <a:ext cx="1280160" cy="438912"/>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Ingénierie</a:t>
            </a:r>
            <a:endParaRPr lang="en-US" sz="800" dirty="0"/>
          </a:p>
        </p:txBody>
      </p:sp>
      <p:sp>
        <p:nvSpPr>
          <p:cNvPr id="98" name="Text 96"/>
          <p:cNvSpPr/>
          <p:nvPr/>
        </p:nvSpPr>
        <p:spPr>
          <a:xfrm>
            <a:off x="2651760" y="1536192"/>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Obtenir le tableau de consommation vapeur FAMSUN — valider 2 123 Kg/H avant commande</a:t>
            </a:r>
            <a:endParaRPr lang="en-US" sz="900" dirty="0"/>
          </a:p>
        </p:txBody>
      </p:sp>
      <p:sp>
        <p:nvSpPr>
          <p:cNvPr id="99" name="Text 97"/>
          <p:cNvSpPr/>
          <p:nvPr/>
        </p:nvSpPr>
        <p:spPr>
          <a:xfrm>
            <a:off x="2651760" y="1755648"/>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Si la demande réelle diffère, vous risquez de commander la mauvaise taille de chaudière.</a:t>
            </a:r>
            <a:endParaRPr lang="en-US" sz="800" dirty="0"/>
          </a:p>
        </p:txBody>
      </p:sp>
      <p:sp>
        <p:nvSpPr>
          <p:cNvPr id="100" name="Shape 98"/>
          <p:cNvSpPr/>
          <p:nvPr/>
        </p:nvSpPr>
        <p:spPr>
          <a:xfrm>
            <a:off x="256032" y="2011680"/>
            <a:ext cx="8631936" cy="438912"/>
          </a:xfrm>
          <a:prstGeom prst="rect">
            <a:avLst/>
          </a:prstGeom>
          <a:solidFill>
            <a:srgbClr val="130F08"/>
          </a:solidFill>
          <a:ln w="12700">
            <a:solidFill>
              <a:srgbClr val="1E1E26"/>
            </a:solidFill>
            <a:prstDash val="solid"/>
          </a:ln>
        </p:spPr>
      </p:sp>
      <p:sp>
        <p:nvSpPr>
          <p:cNvPr id="101" name="Shape 99"/>
          <p:cNvSpPr/>
          <p:nvPr/>
        </p:nvSpPr>
        <p:spPr>
          <a:xfrm>
            <a:off x="256032" y="2011680"/>
            <a:ext cx="960120" cy="438912"/>
          </a:xfrm>
          <a:prstGeom prst="rect">
            <a:avLst/>
          </a:prstGeom>
          <a:solidFill>
            <a:srgbClr val="D94040"/>
          </a:solidFill>
          <a:ln/>
        </p:spPr>
      </p:sp>
      <p:sp>
        <p:nvSpPr>
          <p:cNvPr id="102" name="Text 100"/>
          <p:cNvSpPr/>
          <p:nvPr/>
        </p:nvSpPr>
        <p:spPr>
          <a:xfrm>
            <a:off x="256032" y="2011680"/>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IMMÉDIAT</a:t>
            </a:r>
            <a:endParaRPr lang="en-US" sz="700" dirty="0"/>
          </a:p>
        </p:txBody>
      </p:sp>
      <p:sp>
        <p:nvSpPr>
          <p:cNvPr id="103" name="Text 101"/>
          <p:cNvSpPr/>
          <p:nvPr/>
        </p:nvSpPr>
        <p:spPr>
          <a:xfrm>
            <a:off x="1298448" y="2011680"/>
            <a:ext cx="1280160" cy="438912"/>
          </a:xfrm>
          <a:prstGeom prst="rect">
            <a:avLst/>
          </a:prstGeom>
          <a:noFill/>
          <a:ln/>
        </p:spPr>
        <p:txBody>
          <a:bodyPr wrap="square" rtlCol="0" anchor="ctr"/>
          <a:lstStyle/>
          <a:p>
            <a:pPr indent="0" marL="0">
              <a:buNone/>
            </a:pPr>
            <a:r>
              <a:rPr lang="en-US" sz="800" b="1" dirty="0">
                <a:solidFill>
                  <a:srgbClr val="D94040"/>
                </a:solidFill>
                <a:latin typeface="Calibri" pitchFamily="34" charset="0"/>
                <a:ea typeface="Calibri" pitchFamily="34" charset="-122"/>
                <a:cs typeface="Calibri" pitchFamily="34" charset="-120"/>
              </a:rPr>
              <a:t>Ingénierie + Achats</a:t>
            </a:r>
            <a:endParaRPr lang="en-US" sz="800" dirty="0"/>
          </a:p>
        </p:txBody>
      </p:sp>
      <p:sp>
        <p:nvSpPr>
          <p:cNvPr id="104" name="Text 102"/>
          <p:cNvSpPr/>
          <p:nvPr/>
        </p:nvSpPr>
        <p:spPr>
          <a:xfrm>
            <a:off x="2651760" y="2029968"/>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Confirmer le GPL comme carburant et lancer la conception cuve + contrat fournisseur GPL</a:t>
            </a:r>
            <a:endParaRPr lang="en-US" sz="900" dirty="0"/>
          </a:p>
        </p:txBody>
      </p:sp>
      <p:sp>
        <p:nvSpPr>
          <p:cNvPr id="105" name="Text 103"/>
          <p:cNvSpPr/>
          <p:nvPr/>
        </p:nvSpPr>
        <p:spPr>
          <a:xfrm>
            <a:off x="2651760" y="2249424"/>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L'AO chaudière ne peut être émis sans carburant spécifié. Cuve GPL = 8–14 semaines de délai.</a:t>
            </a:r>
            <a:endParaRPr lang="en-US" sz="800" dirty="0"/>
          </a:p>
        </p:txBody>
      </p:sp>
      <p:sp>
        <p:nvSpPr>
          <p:cNvPr id="106" name="Shape 104"/>
          <p:cNvSpPr/>
          <p:nvPr/>
        </p:nvSpPr>
        <p:spPr>
          <a:xfrm>
            <a:off x="256032" y="2505456"/>
            <a:ext cx="8631936" cy="438912"/>
          </a:xfrm>
          <a:prstGeom prst="rect">
            <a:avLst/>
          </a:prstGeom>
          <a:solidFill>
            <a:srgbClr val="111115"/>
          </a:solidFill>
          <a:ln w="12700">
            <a:solidFill>
              <a:srgbClr val="1E1E26"/>
            </a:solidFill>
            <a:prstDash val="solid"/>
          </a:ln>
        </p:spPr>
      </p:sp>
      <p:sp>
        <p:nvSpPr>
          <p:cNvPr id="107" name="Shape 105"/>
          <p:cNvSpPr/>
          <p:nvPr/>
        </p:nvSpPr>
        <p:spPr>
          <a:xfrm>
            <a:off x="256032" y="2505456"/>
            <a:ext cx="960120" cy="438912"/>
          </a:xfrm>
          <a:prstGeom prst="rect">
            <a:avLst/>
          </a:prstGeom>
          <a:solidFill>
            <a:srgbClr val="C0622B"/>
          </a:solidFill>
          <a:ln/>
        </p:spPr>
      </p:sp>
      <p:sp>
        <p:nvSpPr>
          <p:cNvPr id="108" name="Text 106"/>
          <p:cNvSpPr/>
          <p:nvPr/>
        </p:nvSpPr>
        <p:spPr>
          <a:xfrm>
            <a:off x="256032" y="2505456"/>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1–2</a:t>
            </a:r>
            <a:endParaRPr lang="en-US" sz="700" dirty="0"/>
          </a:p>
        </p:txBody>
      </p:sp>
      <p:sp>
        <p:nvSpPr>
          <p:cNvPr id="109" name="Text 107"/>
          <p:cNvSpPr/>
          <p:nvPr/>
        </p:nvSpPr>
        <p:spPr>
          <a:xfrm>
            <a:off x="1298448" y="2505456"/>
            <a:ext cx="1280160" cy="438912"/>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Achats</a:t>
            </a:r>
            <a:endParaRPr lang="en-US" sz="800" dirty="0"/>
          </a:p>
        </p:txBody>
      </p:sp>
      <p:sp>
        <p:nvSpPr>
          <p:cNvPr id="110" name="Text 108"/>
          <p:cNvSpPr/>
          <p:nvPr/>
        </p:nvSpPr>
        <p:spPr>
          <a:xfrm>
            <a:off x="2651760" y="2523744"/>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Émettre RFQ à Miura, Clayton (GVI) ET ICI Caldaie, Cleaver-Brooks (tubes de fumée)</a:t>
            </a:r>
            <a:endParaRPr lang="en-US" sz="900" dirty="0"/>
          </a:p>
        </p:txBody>
      </p:sp>
      <p:sp>
        <p:nvSpPr>
          <p:cNvPr id="111" name="Text 109"/>
          <p:cNvSpPr/>
          <p:nvPr/>
        </p:nvSpPr>
        <p:spPr>
          <a:xfrm>
            <a:off x="2651760" y="2743200"/>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Les deux technologies doivent être en compétition. La décision finale dépend de la réponse SAV des GVI.</a:t>
            </a:r>
            <a:endParaRPr lang="en-US" sz="800" dirty="0"/>
          </a:p>
        </p:txBody>
      </p:sp>
      <p:sp>
        <p:nvSpPr>
          <p:cNvPr id="112" name="Shape 110"/>
          <p:cNvSpPr/>
          <p:nvPr/>
        </p:nvSpPr>
        <p:spPr>
          <a:xfrm>
            <a:off x="256032" y="2999232"/>
            <a:ext cx="8631936" cy="438912"/>
          </a:xfrm>
          <a:prstGeom prst="rect">
            <a:avLst/>
          </a:prstGeom>
          <a:solidFill>
            <a:srgbClr val="130F08"/>
          </a:solidFill>
          <a:ln w="12700">
            <a:solidFill>
              <a:srgbClr val="1E1E26"/>
            </a:solidFill>
            <a:prstDash val="solid"/>
          </a:ln>
        </p:spPr>
      </p:sp>
      <p:sp>
        <p:nvSpPr>
          <p:cNvPr id="113" name="Shape 111"/>
          <p:cNvSpPr/>
          <p:nvPr/>
        </p:nvSpPr>
        <p:spPr>
          <a:xfrm>
            <a:off x="256032" y="2999232"/>
            <a:ext cx="960120" cy="438912"/>
          </a:xfrm>
          <a:prstGeom prst="rect">
            <a:avLst/>
          </a:prstGeom>
          <a:solidFill>
            <a:srgbClr val="C0622B"/>
          </a:solidFill>
          <a:ln/>
        </p:spPr>
      </p:sp>
      <p:sp>
        <p:nvSpPr>
          <p:cNvPr id="114" name="Text 112"/>
          <p:cNvSpPr/>
          <p:nvPr/>
        </p:nvSpPr>
        <p:spPr>
          <a:xfrm>
            <a:off x="256032" y="2999232"/>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1–2</a:t>
            </a:r>
            <a:endParaRPr lang="en-US" sz="700" dirty="0"/>
          </a:p>
        </p:txBody>
      </p:sp>
      <p:sp>
        <p:nvSpPr>
          <p:cNvPr id="115" name="Text 113"/>
          <p:cNvSpPr/>
          <p:nvPr/>
        </p:nvSpPr>
        <p:spPr>
          <a:xfrm>
            <a:off x="1298448" y="2999232"/>
            <a:ext cx="1280160" cy="438912"/>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Ingénierie</a:t>
            </a:r>
            <a:endParaRPr lang="en-US" sz="800" dirty="0"/>
          </a:p>
        </p:txBody>
      </p:sp>
      <p:sp>
        <p:nvSpPr>
          <p:cNvPr id="116" name="Text 114"/>
          <p:cNvSpPr/>
          <p:nvPr/>
        </p:nvSpPr>
        <p:spPr>
          <a:xfrm>
            <a:off x="2651760" y="3017520"/>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Exiger dans l'AO GVI : partenaire SAV nommé + SLA 72h + prix serpentins 5 ans + TCO historique</a:t>
            </a:r>
            <a:endParaRPr lang="en-US" sz="900" dirty="0"/>
          </a:p>
        </p:txBody>
      </p:sp>
      <p:sp>
        <p:nvSpPr>
          <p:cNvPr id="117" name="Text 115"/>
          <p:cNvSpPr/>
          <p:nvPr/>
        </p:nvSpPr>
        <p:spPr>
          <a:xfrm>
            <a:off x="2651760" y="3236976"/>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Sans ces éléments, la comparaison GVI vs tubes de fumée est incomplète et la décision sera biaisée.</a:t>
            </a:r>
            <a:endParaRPr lang="en-US" sz="800" dirty="0"/>
          </a:p>
        </p:txBody>
      </p:sp>
      <p:sp>
        <p:nvSpPr>
          <p:cNvPr id="118" name="Shape 116"/>
          <p:cNvSpPr/>
          <p:nvPr/>
        </p:nvSpPr>
        <p:spPr>
          <a:xfrm>
            <a:off x="256032" y="3493008"/>
            <a:ext cx="8631936" cy="438912"/>
          </a:xfrm>
          <a:prstGeom prst="rect">
            <a:avLst/>
          </a:prstGeom>
          <a:solidFill>
            <a:srgbClr val="111115"/>
          </a:solidFill>
          <a:ln w="12700">
            <a:solidFill>
              <a:srgbClr val="1E1E26"/>
            </a:solidFill>
            <a:prstDash val="solid"/>
          </a:ln>
        </p:spPr>
      </p:sp>
      <p:sp>
        <p:nvSpPr>
          <p:cNvPr id="119" name="Shape 117"/>
          <p:cNvSpPr/>
          <p:nvPr/>
        </p:nvSpPr>
        <p:spPr>
          <a:xfrm>
            <a:off x="256032" y="3493008"/>
            <a:ext cx="960120" cy="438912"/>
          </a:xfrm>
          <a:prstGeom prst="rect">
            <a:avLst/>
          </a:prstGeom>
          <a:solidFill>
            <a:srgbClr val="D4951A"/>
          </a:solidFill>
          <a:ln/>
        </p:spPr>
      </p:sp>
      <p:sp>
        <p:nvSpPr>
          <p:cNvPr id="120" name="Text 118"/>
          <p:cNvSpPr/>
          <p:nvPr/>
        </p:nvSpPr>
        <p:spPr>
          <a:xfrm>
            <a:off x="256032" y="3493008"/>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2–4</a:t>
            </a:r>
            <a:endParaRPr lang="en-US" sz="700" dirty="0"/>
          </a:p>
        </p:txBody>
      </p:sp>
      <p:sp>
        <p:nvSpPr>
          <p:cNvPr id="121" name="Text 119"/>
          <p:cNvSpPr/>
          <p:nvPr/>
        </p:nvSpPr>
        <p:spPr>
          <a:xfrm>
            <a:off x="1298448" y="3493008"/>
            <a:ext cx="1280160" cy="438912"/>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Ingénierie + Qualité</a:t>
            </a:r>
            <a:endParaRPr lang="en-US" sz="800" dirty="0"/>
          </a:p>
        </p:txBody>
      </p:sp>
      <p:sp>
        <p:nvSpPr>
          <p:cNvPr id="122" name="Text 120"/>
          <p:cNvSpPr/>
          <p:nvPr/>
        </p:nvSpPr>
        <p:spPr>
          <a:xfrm>
            <a:off x="2651760" y="3511296"/>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Sélectionner fournisseur produits chimiques traitement eau certifiés NSF H1</a:t>
            </a:r>
            <a:endParaRPr lang="en-US" sz="900" dirty="0"/>
          </a:p>
        </p:txBody>
      </p:sp>
      <p:sp>
        <p:nvSpPr>
          <p:cNvPr id="123" name="Text 121"/>
          <p:cNvSpPr/>
          <p:nvPr/>
        </p:nvSpPr>
        <p:spPr>
          <a:xfrm>
            <a:off x="2651760" y="3730752"/>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Traitement eau homologué alimentaire obligatoire export UE et USA. Plus critique encore sur GVI.</a:t>
            </a:r>
            <a:endParaRPr lang="en-US" sz="800" dirty="0"/>
          </a:p>
        </p:txBody>
      </p:sp>
      <p:sp>
        <p:nvSpPr>
          <p:cNvPr id="124" name="Shape 122"/>
          <p:cNvSpPr/>
          <p:nvPr/>
        </p:nvSpPr>
        <p:spPr>
          <a:xfrm>
            <a:off x="256032" y="3986784"/>
            <a:ext cx="8631936" cy="438912"/>
          </a:xfrm>
          <a:prstGeom prst="rect">
            <a:avLst/>
          </a:prstGeom>
          <a:solidFill>
            <a:srgbClr val="130F08"/>
          </a:solidFill>
          <a:ln w="12700">
            <a:solidFill>
              <a:srgbClr val="1E1E26"/>
            </a:solidFill>
            <a:prstDash val="solid"/>
          </a:ln>
        </p:spPr>
      </p:sp>
      <p:sp>
        <p:nvSpPr>
          <p:cNvPr id="125" name="Shape 123"/>
          <p:cNvSpPr/>
          <p:nvPr/>
        </p:nvSpPr>
        <p:spPr>
          <a:xfrm>
            <a:off x="256032" y="3986784"/>
            <a:ext cx="960120" cy="438912"/>
          </a:xfrm>
          <a:prstGeom prst="rect">
            <a:avLst/>
          </a:prstGeom>
          <a:solidFill>
            <a:srgbClr val="D4951A"/>
          </a:solidFill>
          <a:ln/>
        </p:spPr>
      </p:sp>
      <p:sp>
        <p:nvSpPr>
          <p:cNvPr id="126" name="Text 124"/>
          <p:cNvSpPr/>
          <p:nvPr/>
        </p:nvSpPr>
        <p:spPr>
          <a:xfrm>
            <a:off x="256032" y="3986784"/>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2–4</a:t>
            </a:r>
            <a:endParaRPr lang="en-US" sz="700" dirty="0"/>
          </a:p>
        </p:txBody>
      </p:sp>
      <p:sp>
        <p:nvSpPr>
          <p:cNvPr id="127" name="Text 125"/>
          <p:cNvSpPr/>
          <p:nvPr/>
        </p:nvSpPr>
        <p:spPr>
          <a:xfrm>
            <a:off x="1298448" y="3986784"/>
            <a:ext cx="1280160" cy="438912"/>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Réglementaire</a:t>
            </a:r>
            <a:endParaRPr lang="en-US" sz="800" dirty="0"/>
          </a:p>
        </p:txBody>
      </p:sp>
      <p:sp>
        <p:nvSpPr>
          <p:cNvPr id="128" name="Text 126"/>
          <p:cNvSpPr/>
          <p:nvPr/>
        </p:nvSpPr>
        <p:spPr>
          <a:xfrm>
            <a:off x="2651760" y="4005072"/>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Identifier et contacter l'autorité marocaine d'inspection appareils sous pression (APS)</a:t>
            </a:r>
            <a:endParaRPr lang="en-US" sz="900" dirty="0"/>
          </a:p>
        </p:txBody>
      </p:sp>
      <p:sp>
        <p:nvSpPr>
          <p:cNvPr id="129" name="Text 127"/>
          <p:cNvSpPr/>
          <p:nvPr/>
        </p:nvSpPr>
        <p:spPr>
          <a:xfrm>
            <a:off x="2651760" y="4224528"/>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Certificat annuel = obligation légale. La chaudière ne peut pas être mise en service sans.</a:t>
            </a:r>
            <a:endParaRPr lang="en-US" sz="800" dirty="0"/>
          </a:p>
        </p:txBody>
      </p:sp>
      <p:sp>
        <p:nvSpPr>
          <p:cNvPr id="130" name="Shape 128"/>
          <p:cNvSpPr/>
          <p:nvPr/>
        </p:nvSpPr>
        <p:spPr>
          <a:xfrm>
            <a:off x="256032" y="4480560"/>
            <a:ext cx="8631936" cy="438912"/>
          </a:xfrm>
          <a:prstGeom prst="rect">
            <a:avLst/>
          </a:prstGeom>
          <a:solidFill>
            <a:srgbClr val="111115"/>
          </a:solidFill>
          <a:ln w="12700">
            <a:solidFill>
              <a:srgbClr val="1E1E26"/>
            </a:solidFill>
            <a:prstDash val="solid"/>
          </a:ln>
        </p:spPr>
      </p:sp>
      <p:sp>
        <p:nvSpPr>
          <p:cNvPr id="131" name="Shape 129"/>
          <p:cNvSpPr/>
          <p:nvPr/>
        </p:nvSpPr>
        <p:spPr>
          <a:xfrm>
            <a:off x="256032" y="4480560"/>
            <a:ext cx="960120" cy="438912"/>
          </a:xfrm>
          <a:prstGeom prst="rect">
            <a:avLst/>
          </a:prstGeom>
          <a:solidFill>
            <a:srgbClr val="1B9A8A"/>
          </a:solidFill>
          <a:ln/>
        </p:spPr>
      </p:sp>
      <p:sp>
        <p:nvSpPr>
          <p:cNvPr id="132" name="Text 130"/>
          <p:cNvSpPr/>
          <p:nvPr/>
        </p:nvSpPr>
        <p:spPr>
          <a:xfrm>
            <a:off x="256032" y="4480560"/>
            <a:ext cx="960120" cy="438912"/>
          </a:xfrm>
          <a:prstGeom prst="rect">
            <a:avLst/>
          </a:prstGeom>
          <a:noFill/>
          <a:ln/>
        </p:spPr>
        <p:txBody>
          <a:bodyPr wrap="square" rtlCol="0" anchor="ctr"/>
          <a:lstStyle/>
          <a:p>
            <a:pPr algn="ctr" indent="0" marL="0">
              <a:buNone/>
            </a:pPr>
            <a:r>
              <a:rPr lang="en-US" sz="700" b="1" dirty="0">
                <a:solidFill>
                  <a:srgbClr val="09090F"/>
                </a:solidFill>
                <a:latin typeface="Calibri" pitchFamily="34" charset="0"/>
                <a:ea typeface="Calibri" pitchFamily="34" charset="-122"/>
                <a:cs typeface="Calibri" pitchFamily="34" charset="-120"/>
              </a:rPr>
              <a:t>SEMAINE 6–7</a:t>
            </a:r>
            <a:endParaRPr lang="en-US" sz="700" dirty="0"/>
          </a:p>
        </p:txBody>
      </p:sp>
      <p:sp>
        <p:nvSpPr>
          <p:cNvPr id="133" name="Text 131"/>
          <p:cNvSpPr/>
          <p:nvPr/>
        </p:nvSpPr>
        <p:spPr>
          <a:xfrm>
            <a:off x="1298448" y="4480560"/>
            <a:ext cx="1280160" cy="438912"/>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Direction + Ingénierie</a:t>
            </a:r>
            <a:endParaRPr lang="en-US" sz="800" dirty="0"/>
          </a:p>
        </p:txBody>
      </p:sp>
      <p:sp>
        <p:nvSpPr>
          <p:cNvPr id="134" name="Text 132"/>
          <p:cNvSpPr/>
          <p:nvPr/>
        </p:nvSpPr>
        <p:spPr>
          <a:xfrm>
            <a:off x="2651760" y="4498848"/>
            <a:ext cx="6126480" cy="201168"/>
          </a:xfrm>
          <a:prstGeom prst="rect">
            <a:avLst/>
          </a:prstGeom>
          <a:noFill/>
          <a:ln/>
        </p:spPr>
        <p:txBody>
          <a:bodyPr wrap="square" rtlCol="0" anchor="ctr"/>
          <a:lstStyle/>
          <a:p>
            <a:pPr indent="0" marL="0">
              <a:buNone/>
            </a:pPr>
            <a:r>
              <a:rPr lang="en-US" sz="900" b="1" dirty="0">
                <a:solidFill>
                  <a:srgbClr val="EDE0C8"/>
                </a:solidFill>
                <a:latin typeface="Calibri" pitchFamily="34" charset="0"/>
                <a:ea typeface="Calibri" pitchFamily="34" charset="-122"/>
                <a:cs typeface="Calibri" pitchFamily="34" charset="-120"/>
              </a:rPr>
              <a:t>Décision finale : GVI (Scénario A) si SAV garanti — ou Tubes de Fumée (Scénario B) sinon</a:t>
            </a:r>
            <a:endParaRPr lang="en-US" sz="900" dirty="0"/>
          </a:p>
        </p:txBody>
      </p:sp>
      <p:sp>
        <p:nvSpPr>
          <p:cNvPr id="135" name="Text 133"/>
          <p:cNvSpPr/>
          <p:nvPr/>
        </p:nvSpPr>
        <p:spPr>
          <a:xfrm>
            <a:off x="2651760" y="4718304"/>
            <a:ext cx="6126480" cy="182880"/>
          </a:xfrm>
          <a:prstGeom prst="rect">
            <a:avLst/>
          </a:prstGeom>
          <a:noFill/>
          <a:ln/>
        </p:spPr>
        <p:txBody>
          <a:bodyPr wrap="square" rtlCol="0" anchor="ctr"/>
          <a:lstStyle/>
          <a:p>
            <a:pPr indent="0" marL="0">
              <a:buNone/>
            </a:pPr>
            <a:r>
              <a:rPr lang="en-US" sz="800" i="1" dirty="0">
                <a:solidFill>
                  <a:srgbClr val="6B7A8A"/>
                </a:solidFill>
                <a:latin typeface="Calibri" pitchFamily="34" charset="0"/>
                <a:ea typeface="Calibri" pitchFamily="34" charset="-122"/>
                <a:cs typeface="Calibri" pitchFamily="34" charset="-120"/>
              </a:rPr>
              <a:t>Pourquoi : Cette décision ne peut pas être prise avant réception et évaluation des offres AO complètes.</a:t>
            </a:r>
            <a:endParaRPr lang="en-US" sz="800" dirty="0"/>
          </a:p>
        </p:txBody>
      </p:sp>
      <p:sp>
        <p:nvSpPr>
          <p:cNvPr id="136" name="Shape 134"/>
          <p:cNvSpPr/>
          <p:nvPr/>
        </p:nvSpPr>
        <p:spPr>
          <a:xfrm rot="2700000">
            <a:off x="10973" y="4809744"/>
            <a:ext cx="77724" cy="77724"/>
          </a:xfrm>
          <a:prstGeom prst="rect">
            <a:avLst/>
          </a:prstGeom>
          <a:solidFill>
            <a:srgbClr val="D4951A">
              <a:alpha val="20000"/>
            </a:srgbClr>
          </a:solidFill>
          <a:ln w="12700">
            <a:solidFill>
              <a:srgbClr val="D4951A"/>
            </a:solidFill>
            <a:prstDash val="solid"/>
          </a:ln>
        </p:spPr>
      </p:sp>
      <p:sp>
        <p:nvSpPr>
          <p:cNvPr id="137" name="Shape 135"/>
          <p:cNvSpPr/>
          <p:nvPr/>
        </p:nvSpPr>
        <p:spPr>
          <a:xfrm rot="2700000">
            <a:off x="128016" y="4809744"/>
            <a:ext cx="77724" cy="77724"/>
          </a:xfrm>
          <a:prstGeom prst="rect">
            <a:avLst/>
          </a:prstGeom>
          <a:solidFill>
            <a:srgbClr val="D4951A">
              <a:alpha val="20000"/>
            </a:srgbClr>
          </a:solidFill>
          <a:ln w="12700">
            <a:solidFill>
              <a:srgbClr val="D4951A"/>
            </a:solidFill>
            <a:prstDash val="solid"/>
          </a:ln>
        </p:spPr>
      </p:sp>
      <p:sp>
        <p:nvSpPr>
          <p:cNvPr id="138" name="Shape 136"/>
          <p:cNvSpPr/>
          <p:nvPr/>
        </p:nvSpPr>
        <p:spPr>
          <a:xfrm rot="2700000">
            <a:off x="245059" y="4809744"/>
            <a:ext cx="77724" cy="77724"/>
          </a:xfrm>
          <a:prstGeom prst="rect">
            <a:avLst/>
          </a:prstGeom>
          <a:solidFill>
            <a:srgbClr val="D4951A">
              <a:alpha val="20000"/>
            </a:srgbClr>
          </a:solidFill>
          <a:ln w="12700">
            <a:solidFill>
              <a:srgbClr val="D4951A"/>
            </a:solidFill>
            <a:prstDash val="solid"/>
          </a:ln>
        </p:spPr>
      </p:sp>
      <p:sp>
        <p:nvSpPr>
          <p:cNvPr id="139" name="Shape 137"/>
          <p:cNvSpPr/>
          <p:nvPr/>
        </p:nvSpPr>
        <p:spPr>
          <a:xfrm rot="2700000">
            <a:off x="362102" y="4809744"/>
            <a:ext cx="77724" cy="77724"/>
          </a:xfrm>
          <a:prstGeom prst="rect">
            <a:avLst/>
          </a:prstGeom>
          <a:solidFill>
            <a:srgbClr val="D4951A">
              <a:alpha val="20000"/>
            </a:srgbClr>
          </a:solidFill>
          <a:ln w="12700">
            <a:solidFill>
              <a:srgbClr val="D4951A"/>
            </a:solidFill>
            <a:prstDash val="solid"/>
          </a:ln>
        </p:spPr>
      </p:sp>
      <p:sp>
        <p:nvSpPr>
          <p:cNvPr id="140" name="Shape 138"/>
          <p:cNvSpPr/>
          <p:nvPr/>
        </p:nvSpPr>
        <p:spPr>
          <a:xfrm rot="2700000">
            <a:off x="479146" y="4809744"/>
            <a:ext cx="77724" cy="77724"/>
          </a:xfrm>
          <a:prstGeom prst="rect">
            <a:avLst/>
          </a:prstGeom>
          <a:solidFill>
            <a:srgbClr val="D4951A">
              <a:alpha val="20000"/>
            </a:srgbClr>
          </a:solidFill>
          <a:ln w="12700">
            <a:solidFill>
              <a:srgbClr val="D4951A"/>
            </a:solidFill>
            <a:prstDash val="solid"/>
          </a:ln>
        </p:spPr>
      </p:sp>
      <p:sp>
        <p:nvSpPr>
          <p:cNvPr id="141" name="Shape 139"/>
          <p:cNvSpPr/>
          <p:nvPr/>
        </p:nvSpPr>
        <p:spPr>
          <a:xfrm rot="2700000">
            <a:off x="596189" y="4809744"/>
            <a:ext cx="77724" cy="77724"/>
          </a:xfrm>
          <a:prstGeom prst="rect">
            <a:avLst/>
          </a:prstGeom>
          <a:solidFill>
            <a:srgbClr val="D4951A">
              <a:alpha val="20000"/>
            </a:srgbClr>
          </a:solidFill>
          <a:ln w="12700">
            <a:solidFill>
              <a:srgbClr val="D4951A"/>
            </a:solidFill>
            <a:prstDash val="solid"/>
          </a:ln>
        </p:spPr>
      </p:sp>
      <p:sp>
        <p:nvSpPr>
          <p:cNvPr id="142" name="Shape 140"/>
          <p:cNvSpPr/>
          <p:nvPr/>
        </p:nvSpPr>
        <p:spPr>
          <a:xfrm rot="2700000">
            <a:off x="713232" y="4809744"/>
            <a:ext cx="77724" cy="77724"/>
          </a:xfrm>
          <a:prstGeom prst="rect">
            <a:avLst/>
          </a:prstGeom>
          <a:solidFill>
            <a:srgbClr val="D4951A">
              <a:alpha val="20000"/>
            </a:srgbClr>
          </a:solidFill>
          <a:ln w="12700">
            <a:solidFill>
              <a:srgbClr val="D4951A"/>
            </a:solidFill>
            <a:prstDash val="solid"/>
          </a:ln>
        </p:spPr>
      </p:sp>
      <p:sp>
        <p:nvSpPr>
          <p:cNvPr id="143" name="Shape 141"/>
          <p:cNvSpPr/>
          <p:nvPr/>
        </p:nvSpPr>
        <p:spPr>
          <a:xfrm rot="2700000">
            <a:off x="830275" y="4809744"/>
            <a:ext cx="77724" cy="77724"/>
          </a:xfrm>
          <a:prstGeom prst="rect">
            <a:avLst/>
          </a:prstGeom>
          <a:solidFill>
            <a:srgbClr val="D4951A">
              <a:alpha val="20000"/>
            </a:srgbClr>
          </a:solidFill>
          <a:ln w="12700">
            <a:solidFill>
              <a:srgbClr val="D4951A"/>
            </a:solidFill>
            <a:prstDash val="solid"/>
          </a:ln>
        </p:spPr>
      </p:sp>
      <p:sp>
        <p:nvSpPr>
          <p:cNvPr id="144" name="Shape 142"/>
          <p:cNvSpPr/>
          <p:nvPr/>
        </p:nvSpPr>
        <p:spPr>
          <a:xfrm rot="2700000">
            <a:off x="947318" y="4809744"/>
            <a:ext cx="77724" cy="77724"/>
          </a:xfrm>
          <a:prstGeom prst="rect">
            <a:avLst/>
          </a:prstGeom>
          <a:solidFill>
            <a:srgbClr val="D4951A">
              <a:alpha val="20000"/>
            </a:srgbClr>
          </a:solidFill>
          <a:ln w="12700">
            <a:solidFill>
              <a:srgbClr val="D4951A"/>
            </a:solidFill>
            <a:prstDash val="solid"/>
          </a:ln>
        </p:spPr>
      </p:sp>
      <p:sp>
        <p:nvSpPr>
          <p:cNvPr id="145" name="Shape 143"/>
          <p:cNvSpPr/>
          <p:nvPr/>
        </p:nvSpPr>
        <p:spPr>
          <a:xfrm rot="2700000">
            <a:off x="1064362" y="4809744"/>
            <a:ext cx="77724" cy="77724"/>
          </a:xfrm>
          <a:prstGeom prst="rect">
            <a:avLst/>
          </a:prstGeom>
          <a:solidFill>
            <a:srgbClr val="D4951A">
              <a:alpha val="20000"/>
            </a:srgbClr>
          </a:solidFill>
          <a:ln w="12700">
            <a:solidFill>
              <a:srgbClr val="D4951A"/>
            </a:solidFill>
            <a:prstDash val="solid"/>
          </a:ln>
        </p:spPr>
      </p:sp>
      <p:sp>
        <p:nvSpPr>
          <p:cNvPr id="146" name="Shape 144"/>
          <p:cNvSpPr/>
          <p:nvPr/>
        </p:nvSpPr>
        <p:spPr>
          <a:xfrm rot="2700000">
            <a:off x="1181405" y="4809744"/>
            <a:ext cx="77724" cy="77724"/>
          </a:xfrm>
          <a:prstGeom prst="rect">
            <a:avLst/>
          </a:prstGeom>
          <a:solidFill>
            <a:srgbClr val="D4951A">
              <a:alpha val="20000"/>
            </a:srgbClr>
          </a:solidFill>
          <a:ln w="12700">
            <a:solidFill>
              <a:srgbClr val="D4951A"/>
            </a:solidFill>
            <a:prstDash val="solid"/>
          </a:ln>
        </p:spPr>
      </p:sp>
      <p:sp>
        <p:nvSpPr>
          <p:cNvPr id="147" name="Shape 145"/>
          <p:cNvSpPr/>
          <p:nvPr/>
        </p:nvSpPr>
        <p:spPr>
          <a:xfrm rot="2700000">
            <a:off x="1298448" y="4809744"/>
            <a:ext cx="77724" cy="77724"/>
          </a:xfrm>
          <a:prstGeom prst="rect">
            <a:avLst/>
          </a:prstGeom>
          <a:solidFill>
            <a:srgbClr val="D4951A">
              <a:alpha val="20000"/>
            </a:srgbClr>
          </a:solidFill>
          <a:ln w="12700">
            <a:solidFill>
              <a:srgbClr val="D4951A"/>
            </a:solidFill>
            <a:prstDash val="solid"/>
          </a:ln>
        </p:spPr>
      </p:sp>
      <p:sp>
        <p:nvSpPr>
          <p:cNvPr id="148" name="Shape 146"/>
          <p:cNvSpPr/>
          <p:nvPr/>
        </p:nvSpPr>
        <p:spPr>
          <a:xfrm rot="2700000">
            <a:off x="1415491" y="4809744"/>
            <a:ext cx="77724" cy="77724"/>
          </a:xfrm>
          <a:prstGeom prst="rect">
            <a:avLst/>
          </a:prstGeom>
          <a:solidFill>
            <a:srgbClr val="D4951A">
              <a:alpha val="20000"/>
            </a:srgbClr>
          </a:solidFill>
          <a:ln w="12700">
            <a:solidFill>
              <a:srgbClr val="D4951A"/>
            </a:solidFill>
            <a:prstDash val="solid"/>
          </a:ln>
        </p:spPr>
      </p:sp>
      <p:sp>
        <p:nvSpPr>
          <p:cNvPr id="149" name="Shape 147"/>
          <p:cNvSpPr/>
          <p:nvPr/>
        </p:nvSpPr>
        <p:spPr>
          <a:xfrm rot="2700000">
            <a:off x="1532534" y="4809744"/>
            <a:ext cx="77724" cy="77724"/>
          </a:xfrm>
          <a:prstGeom prst="rect">
            <a:avLst/>
          </a:prstGeom>
          <a:solidFill>
            <a:srgbClr val="D4951A">
              <a:alpha val="20000"/>
            </a:srgbClr>
          </a:solidFill>
          <a:ln w="12700">
            <a:solidFill>
              <a:srgbClr val="D4951A"/>
            </a:solidFill>
            <a:prstDash val="solid"/>
          </a:ln>
        </p:spPr>
      </p:sp>
      <p:sp>
        <p:nvSpPr>
          <p:cNvPr id="150" name="Shape 148"/>
          <p:cNvSpPr/>
          <p:nvPr/>
        </p:nvSpPr>
        <p:spPr>
          <a:xfrm rot="2700000">
            <a:off x="1649578" y="4809744"/>
            <a:ext cx="77724" cy="77724"/>
          </a:xfrm>
          <a:prstGeom prst="rect">
            <a:avLst/>
          </a:prstGeom>
          <a:solidFill>
            <a:srgbClr val="D4951A">
              <a:alpha val="20000"/>
            </a:srgbClr>
          </a:solidFill>
          <a:ln w="12700">
            <a:solidFill>
              <a:srgbClr val="D4951A"/>
            </a:solidFill>
            <a:prstDash val="solid"/>
          </a:ln>
        </p:spPr>
      </p:sp>
      <p:sp>
        <p:nvSpPr>
          <p:cNvPr id="151" name="Shape 149"/>
          <p:cNvSpPr/>
          <p:nvPr/>
        </p:nvSpPr>
        <p:spPr>
          <a:xfrm rot="2700000">
            <a:off x="1766621" y="4809744"/>
            <a:ext cx="77724" cy="77724"/>
          </a:xfrm>
          <a:prstGeom prst="rect">
            <a:avLst/>
          </a:prstGeom>
          <a:solidFill>
            <a:srgbClr val="D4951A">
              <a:alpha val="20000"/>
            </a:srgbClr>
          </a:solidFill>
          <a:ln w="12700">
            <a:solidFill>
              <a:srgbClr val="D4951A"/>
            </a:solidFill>
            <a:prstDash val="solid"/>
          </a:ln>
        </p:spPr>
      </p:sp>
      <p:sp>
        <p:nvSpPr>
          <p:cNvPr id="152" name="Shape 150"/>
          <p:cNvSpPr/>
          <p:nvPr/>
        </p:nvSpPr>
        <p:spPr>
          <a:xfrm rot="2700000">
            <a:off x="1883664" y="4809744"/>
            <a:ext cx="77724" cy="77724"/>
          </a:xfrm>
          <a:prstGeom prst="rect">
            <a:avLst/>
          </a:prstGeom>
          <a:solidFill>
            <a:srgbClr val="D4951A">
              <a:alpha val="20000"/>
            </a:srgbClr>
          </a:solidFill>
          <a:ln w="12700">
            <a:solidFill>
              <a:srgbClr val="D4951A"/>
            </a:solidFill>
            <a:prstDash val="solid"/>
          </a:ln>
        </p:spPr>
      </p:sp>
      <p:sp>
        <p:nvSpPr>
          <p:cNvPr id="153" name="Shape 151"/>
          <p:cNvSpPr/>
          <p:nvPr/>
        </p:nvSpPr>
        <p:spPr>
          <a:xfrm rot="2700000">
            <a:off x="2000707" y="4809744"/>
            <a:ext cx="77724" cy="77724"/>
          </a:xfrm>
          <a:prstGeom prst="rect">
            <a:avLst/>
          </a:prstGeom>
          <a:solidFill>
            <a:srgbClr val="D4951A">
              <a:alpha val="20000"/>
            </a:srgbClr>
          </a:solidFill>
          <a:ln w="12700">
            <a:solidFill>
              <a:srgbClr val="D4951A"/>
            </a:solidFill>
            <a:prstDash val="solid"/>
          </a:ln>
        </p:spPr>
      </p:sp>
      <p:sp>
        <p:nvSpPr>
          <p:cNvPr id="154" name="Shape 152"/>
          <p:cNvSpPr/>
          <p:nvPr/>
        </p:nvSpPr>
        <p:spPr>
          <a:xfrm rot="2700000">
            <a:off x="2117750" y="4809744"/>
            <a:ext cx="77724" cy="77724"/>
          </a:xfrm>
          <a:prstGeom prst="rect">
            <a:avLst/>
          </a:prstGeom>
          <a:solidFill>
            <a:srgbClr val="D4951A">
              <a:alpha val="20000"/>
            </a:srgbClr>
          </a:solidFill>
          <a:ln w="12700">
            <a:solidFill>
              <a:srgbClr val="D4951A"/>
            </a:solidFill>
            <a:prstDash val="solid"/>
          </a:ln>
        </p:spPr>
      </p:sp>
      <p:sp>
        <p:nvSpPr>
          <p:cNvPr id="155" name="Shape 153"/>
          <p:cNvSpPr/>
          <p:nvPr/>
        </p:nvSpPr>
        <p:spPr>
          <a:xfrm rot="2700000">
            <a:off x="2234794" y="4809744"/>
            <a:ext cx="77724" cy="77724"/>
          </a:xfrm>
          <a:prstGeom prst="rect">
            <a:avLst/>
          </a:prstGeom>
          <a:solidFill>
            <a:srgbClr val="D4951A">
              <a:alpha val="20000"/>
            </a:srgbClr>
          </a:solidFill>
          <a:ln w="12700">
            <a:solidFill>
              <a:srgbClr val="D4951A"/>
            </a:solidFill>
            <a:prstDash val="solid"/>
          </a:ln>
        </p:spPr>
      </p:sp>
      <p:sp>
        <p:nvSpPr>
          <p:cNvPr id="156" name="Shape 154"/>
          <p:cNvSpPr/>
          <p:nvPr/>
        </p:nvSpPr>
        <p:spPr>
          <a:xfrm rot="2700000">
            <a:off x="2351837" y="4809744"/>
            <a:ext cx="77724" cy="77724"/>
          </a:xfrm>
          <a:prstGeom prst="rect">
            <a:avLst/>
          </a:prstGeom>
          <a:solidFill>
            <a:srgbClr val="D4951A">
              <a:alpha val="20000"/>
            </a:srgbClr>
          </a:solidFill>
          <a:ln w="12700">
            <a:solidFill>
              <a:srgbClr val="D4951A"/>
            </a:solidFill>
            <a:prstDash val="solid"/>
          </a:ln>
        </p:spPr>
      </p:sp>
      <p:sp>
        <p:nvSpPr>
          <p:cNvPr id="157" name="Shape 155"/>
          <p:cNvSpPr/>
          <p:nvPr/>
        </p:nvSpPr>
        <p:spPr>
          <a:xfrm rot="2700000">
            <a:off x="2468880" y="4809744"/>
            <a:ext cx="77724" cy="77724"/>
          </a:xfrm>
          <a:prstGeom prst="rect">
            <a:avLst/>
          </a:prstGeom>
          <a:solidFill>
            <a:srgbClr val="D4951A">
              <a:alpha val="20000"/>
            </a:srgbClr>
          </a:solidFill>
          <a:ln w="12700">
            <a:solidFill>
              <a:srgbClr val="D4951A"/>
            </a:solidFill>
            <a:prstDash val="solid"/>
          </a:ln>
        </p:spPr>
      </p:sp>
      <p:sp>
        <p:nvSpPr>
          <p:cNvPr id="158" name="Shape 156"/>
          <p:cNvSpPr/>
          <p:nvPr/>
        </p:nvSpPr>
        <p:spPr>
          <a:xfrm rot="2700000">
            <a:off x="2585923" y="4809744"/>
            <a:ext cx="77724" cy="77724"/>
          </a:xfrm>
          <a:prstGeom prst="rect">
            <a:avLst/>
          </a:prstGeom>
          <a:solidFill>
            <a:srgbClr val="D4951A">
              <a:alpha val="20000"/>
            </a:srgbClr>
          </a:solidFill>
          <a:ln w="12700">
            <a:solidFill>
              <a:srgbClr val="D4951A"/>
            </a:solidFill>
            <a:prstDash val="solid"/>
          </a:ln>
        </p:spPr>
      </p:sp>
      <p:sp>
        <p:nvSpPr>
          <p:cNvPr id="159" name="Shape 157"/>
          <p:cNvSpPr/>
          <p:nvPr/>
        </p:nvSpPr>
        <p:spPr>
          <a:xfrm rot="2700000">
            <a:off x="2702966" y="4809744"/>
            <a:ext cx="77724" cy="77724"/>
          </a:xfrm>
          <a:prstGeom prst="rect">
            <a:avLst/>
          </a:prstGeom>
          <a:solidFill>
            <a:srgbClr val="D4951A">
              <a:alpha val="20000"/>
            </a:srgbClr>
          </a:solidFill>
          <a:ln w="12700">
            <a:solidFill>
              <a:srgbClr val="D4951A"/>
            </a:solidFill>
            <a:prstDash val="solid"/>
          </a:ln>
        </p:spPr>
      </p:sp>
      <p:sp>
        <p:nvSpPr>
          <p:cNvPr id="160" name="Shape 158"/>
          <p:cNvSpPr/>
          <p:nvPr/>
        </p:nvSpPr>
        <p:spPr>
          <a:xfrm rot="2700000">
            <a:off x="2820010" y="4809744"/>
            <a:ext cx="77724" cy="77724"/>
          </a:xfrm>
          <a:prstGeom prst="rect">
            <a:avLst/>
          </a:prstGeom>
          <a:solidFill>
            <a:srgbClr val="D4951A">
              <a:alpha val="20000"/>
            </a:srgbClr>
          </a:solidFill>
          <a:ln w="12700">
            <a:solidFill>
              <a:srgbClr val="D4951A"/>
            </a:solidFill>
            <a:prstDash val="solid"/>
          </a:ln>
        </p:spPr>
      </p:sp>
      <p:sp>
        <p:nvSpPr>
          <p:cNvPr id="161" name="Shape 159"/>
          <p:cNvSpPr/>
          <p:nvPr/>
        </p:nvSpPr>
        <p:spPr>
          <a:xfrm rot="2700000">
            <a:off x="2937053" y="4809744"/>
            <a:ext cx="77724" cy="77724"/>
          </a:xfrm>
          <a:prstGeom prst="rect">
            <a:avLst/>
          </a:prstGeom>
          <a:solidFill>
            <a:srgbClr val="D4951A">
              <a:alpha val="20000"/>
            </a:srgbClr>
          </a:solidFill>
          <a:ln w="12700">
            <a:solidFill>
              <a:srgbClr val="D4951A"/>
            </a:solidFill>
            <a:prstDash val="solid"/>
          </a:ln>
        </p:spPr>
      </p:sp>
      <p:sp>
        <p:nvSpPr>
          <p:cNvPr id="162" name="Shape 160"/>
          <p:cNvSpPr/>
          <p:nvPr/>
        </p:nvSpPr>
        <p:spPr>
          <a:xfrm rot="2700000">
            <a:off x="3054096" y="4809744"/>
            <a:ext cx="77724" cy="77724"/>
          </a:xfrm>
          <a:prstGeom prst="rect">
            <a:avLst/>
          </a:prstGeom>
          <a:solidFill>
            <a:srgbClr val="D4951A">
              <a:alpha val="20000"/>
            </a:srgbClr>
          </a:solidFill>
          <a:ln w="12700">
            <a:solidFill>
              <a:srgbClr val="D4951A"/>
            </a:solidFill>
            <a:prstDash val="solid"/>
          </a:ln>
        </p:spPr>
      </p:sp>
      <p:sp>
        <p:nvSpPr>
          <p:cNvPr id="163" name="Shape 161"/>
          <p:cNvSpPr/>
          <p:nvPr/>
        </p:nvSpPr>
        <p:spPr>
          <a:xfrm rot="2700000">
            <a:off x="3171139" y="4809744"/>
            <a:ext cx="77724" cy="77724"/>
          </a:xfrm>
          <a:prstGeom prst="rect">
            <a:avLst/>
          </a:prstGeom>
          <a:solidFill>
            <a:srgbClr val="D4951A">
              <a:alpha val="20000"/>
            </a:srgbClr>
          </a:solidFill>
          <a:ln w="12700">
            <a:solidFill>
              <a:srgbClr val="D4951A"/>
            </a:solidFill>
            <a:prstDash val="solid"/>
          </a:ln>
        </p:spPr>
      </p:sp>
      <p:sp>
        <p:nvSpPr>
          <p:cNvPr id="164" name="Shape 162"/>
          <p:cNvSpPr/>
          <p:nvPr/>
        </p:nvSpPr>
        <p:spPr>
          <a:xfrm rot="2700000">
            <a:off x="3288182" y="4809744"/>
            <a:ext cx="77724" cy="77724"/>
          </a:xfrm>
          <a:prstGeom prst="rect">
            <a:avLst/>
          </a:prstGeom>
          <a:solidFill>
            <a:srgbClr val="D4951A">
              <a:alpha val="20000"/>
            </a:srgbClr>
          </a:solidFill>
          <a:ln w="12700">
            <a:solidFill>
              <a:srgbClr val="D4951A"/>
            </a:solidFill>
            <a:prstDash val="solid"/>
          </a:ln>
        </p:spPr>
      </p:sp>
      <p:sp>
        <p:nvSpPr>
          <p:cNvPr id="165" name="Shape 163"/>
          <p:cNvSpPr/>
          <p:nvPr/>
        </p:nvSpPr>
        <p:spPr>
          <a:xfrm rot="2700000">
            <a:off x="3405226" y="4809744"/>
            <a:ext cx="77724" cy="77724"/>
          </a:xfrm>
          <a:prstGeom prst="rect">
            <a:avLst/>
          </a:prstGeom>
          <a:solidFill>
            <a:srgbClr val="D4951A">
              <a:alpha val="20000"/>
            </a:srgbClr>
          </a:solidFill>
          <a:ln w="12700">
            <a:solidFill>
              <a:srgbClr val="D4951A"/>
            </a:solidFill>
            <a:prstDash val="solid"/>
          </a:ln>
        </p:spPr>
      </p:sp>
      <p:sp>
        <p:nvSpPr>
          <p:cNvPr id="166" name="Shape 164"/>
          <p:cNvSpPr/>
          <p:nvPr/>
        </p:nvSpPr>
        <p:spPr>
          <a:xfrm rot="2700000">
            <a:off x="3522269" y="4809744"/>
            <a:ext cx="77724" cy="77724"/>
          </a:xfrm>
          <a:prstGeom prst="rect">
            <a:avLst/>
          </a:prstGeom>
          <a:solidFill>
            <a:srgbClr val="D4951A">
              <a:alpha val="20000"/>
            </a:srgbClr>
          </a:solidFill>
          <a:ln w="12700">
            <a:solidFill>
              <a:srgbClr val="D4951A"/>
            </a:solidFill>
            <a:prstDash val="solid"/>
          </a:ln>
        </p:spPr>
      </p:sp>
      <p:sp>
        <p:nvSpPr>
          <p:cNvPr id="167" name="Shape 165"/>
          <p:cNvSpPr/>
          <p:nvPr/>
        </p:nvSpPr>
        <p:spPr>
          <a:xfrm rot="2700000">
            <a:off x="3639312" y="4809744"/>
            <a:ext cx="77724" cy="77724"/>
          </a:xfrm>
          <a:prstGeom prst="rect">
            <a:avLst/>
          </a:prstGeom>
          <a:solidFill>
            <a:srgbClr val="D4951A">
              <a:alpha val="20000"/>
            </a:srgbClr>
          </a:solidFill>
          <a:ln w="12700">
            <a:solidFill>
              <a:srgbClr val="D4951A"/>
            </a:solidFill>
            <a:prstDash val="solid"/>
          </a:ln>
        </p:spPr>
      </p:sp>
      <p:sp>
        <p:nvSpPr>
          <p:cNvPr id="168" name="Shape 166"/>
          <p:cNvSpPr/>
          <p:nvPr/>
        </p:nvSpPr>
        <p:spPr>
          <a:xfrm rot="2700000">
            <a:off x="3756355" y="4809744"/>
            <a:ext cx="77724" cy="77724"/>
          </a:xfrm>
          <a:prstGeom prst="rect">
            <a:avLst/>
          </a:prstGeom>
          <a:solidFill>
            <a:srgbClr val="D4951A">
              <a:alpha val="20000"/>
            </a:srgbClr>
          </a:solidFill>
          <a:ln w="12700">
            <a:solidFill>
              <a:srgbClr val="D4951A"/>
            </a:solidFill>
            <a:prstDash val="solid"/>
          </a:ln>
        </p:spPr>
      </p:sp>
      <p:sp>
        <p:nvSpPr>
          <p:cNvPr id="169" name="Shape 167"/>
          <p:cNvSpPr/>
          <p:nvPr/>
        </p:nvSpPr>
        <p:spPr>
          <a:xfrm rot="2700000">
            <a:off x="3873398" y="4809744"/>
            <a:ext cx="77724" cy="77724"/>
          </a:xfrm>
          <a:prstGeom prst="rect">
            <a:avLst/>
          </a:prstGeom>
          <a:solidFill>
            <a:srgbClr val="D4951A">
              <a:alpha val="20000"/>
            </a:srgbClr>
          </a:solidFill>
          <a:ln w="12700">
            <a:solidFill>
              <a:srgbClr val="D4951A"/>
            </a:solidFill>
            <a:prstDash val="solid"/>
          </a:ln>
        </p:spPr>
      </p:sp>
      <p:sp>
        <p:nvSpPr>
          <p:cNvPr id="170" name="Shape 168"/>
          <p:cNvSpPr/>
          <p:nvPr/>
        </p:nvSpPr>
        <p:spPr>
          <a:xfrm rot="2700000">
            <a:off x="3990442" y="4809744"/>
            <a:ext cx="77724" cy="77724"/>
          </a:xfrm>
          <a:prstGeom prst="rect">
            <a:avLst/>
          </a:prstGeom>
          <a:solidFill>
            <a:srgbClr val="D4951A">
              <a:alpha val="20000"/>
            </a:srgbClr>
          </a:solidFill>
          <a:ln w="12700">
            <a:solidFill>
              <a:srgbClr val="D4951A"/>
            </a:solidFill>
            <a:prstDash val="solid"/>
          </a:ln>
        </p:spPr>
      </p:sp>
      <p:sp>
        <p:nvSpPr>
          <p:cNvPr id="171" name="Shape 169"/>
          <p:cNvSpPr/>
          <p:nvPr/>
        </p:nvSpPr>
        <p:spPr>
          <a:xfrm rot="2700000">
            <a:off x="4107485" y="4809744"/>
            <a:ext cx="77724" cy="77724"/>
          </a:xfrm>
          <a:prstGeom prst="rect">
            <a:avLst/>
          </a:prstGeom>
          <a:solidFill>
            <a:srgbClr val="D4951A">
              <a:alpha val="20000"/>
            </a:srgbClr>
          </a:solidFill>
          <a:ln w="12700">
            <a:solidFill>
              <a:srgbClr val="D4951A"/>
            </a:solidFill>
            <a:prstDash val="solid"/>
          </a:ln>
        </p:spPr>
      </p:sp>
      <p:sp>
        <p:nvSpPr>
          <p:cNvPr id="172" name="Shape 170"/>
          <p:cNvSpPr/>
          <p:nvPr/>
        </p:nvSpPr>
        <p:spPr>
          <a:xfrm rot="2700000">
            <a:off x="4224528" y="4809744"/>
            <a:ext cx="77724" cy="77724"/>
          </a:xfrm>
          <a:prstGeom prst="rect">
            <a:avLst/>
          </a:prstGeom>
          <a:solidFill>
            <a:srgbClr val="D4951A">
              <a:alpha val="20000"/>
            </a:srgbClr>
          </a:solidFill>
          <a:ln w="12700">
            <a:solidFill>
              <a:srgbClr val="D4951A"/>
            </a:solidFill>
            <a:prstDash val="solid"/>
          </a:ln>
        </p:spPr>
      </p:sp>
      <p:sp>
        <p:nvSpPr>
          <p:cNvPr id="173" name="Shape 171"/>
          <p:cNvSpPr/>
          <p:nvPr/>
        </p:nvSpPr>
        <p:spPr>
          <a:xfrm rot="2700000">
            <a:off x="4341571" y="4809744"/>
            <a:ext cx="77724" cy="77724"/>
          </a:xfrm>
          <a:prstGeom prst="rect">
            <a:avLst/>
          </a:prstGeom>
          <a:solidFill>
            <a:srgbClr val="D4951A">
              <a:alpha val="20000"/>
            </a:srgbClr>
          </a:solidFill>
          <a:ln w="12700">
            <a:solidFill>
              <a:srgbClr val="D4951A"/>
            </a:solidFill>
            <a:prstDash val="solid"/>
          </a:ln>
        </p:spPr>
      </p:sp>
      <p:sp>
        <p:nvSpPr>
          <p:cNvPr id="174" name="Shape 172"/>
          <p:cNvSpPr/>
          <p:nvPr/>
        </p:nvSpPr>
        <p:spPr>
          <a:xfrm rot="2700000">
            <a:off x="4458614" y="4809744"/>
            <a:ext cx="77724" cy="77724"/>
          </a:xfrm>
          <a:prstGeom prst="rect">
            <a:avLst/>
          </a:prstGeom>
          <a:solidFill>
            <a:srgbClr val="D4951A">
              <a:alpha val="20000"/>
            </a:srgbClr>
          </a:solidFill>
          <a:ln w="12700">
            <a:solidFill>
              <a:srgbClr val="D4951A"/>
            </a:solidFill>
            <a:prstDash val="solid"/>
          </a:ln>
        </p:spPr>
      </p:sp>
      <p:sp>
        <p:nvSpPr>
          <p:cNvPr id="175" name="Shape 173"/>
          <p:cNvSpPr/>
          <p:nvPr/>
        </p:nvSpPr>
        <p:spPr>
          <a:xfrm rot="2700000">
            <a:off x="4575658" y="4809744"/>
            <a:ext cx="77724" cy="77724"/>
          </a:xfrm>
          <a:prstGeom prst="rect">
            <a:avLst/>
          </a:prstGeom>
          <a:solidFill>
            <a:srgbClr val="D4951A">
              <a:alpha val="20000"/>
            </a:srgbClr>
          </a:solidFill>
          <a:ln w="12700">
            <a:solidFill>
              <a:srgbClr val="D4951A"/>
            </a:solidFill>
            <a:prstDash val="solid"/>
          </a:ln>
        </p:spPr>
      </p:sp>
      <p:sp>
        <p:nvSpPr>
          <p:cNvPr id="176" name="Shape 174"/>
          <p:cNvSpPr/>
          <p:nvPr/>
        </p:nvSpPr>
        <p:spPr>
          <a:xfrm rot="2700000">
            <a:off x="4692701" y="4809744"/>
            <a:ext cx="77724" cy="77724"/>
          </a:xfrm>
          <a:prstGeom prst="rect">
            <a:avLst/>
          </a:prstGeom>
          <a:solidFill>
            <a:srgbClr val="D4951A">
              <a:alpha val="20000"/>
            </a:srgbClr>
          </a:solidFill>
          <a:ln w="12700">
            <a:solidFill>
              <a:srgbClr val="D4951A"/>
            </a:solidFill>
            <a:prstDash val="solid"/>
          </a:ln>
        </p:spPr>
      </p:sp>
      <p:sp>
        <p:nvSpPr>
          <p:cNvPr id="177" name="Shape 175"/>
          <p:cNvSpPr/>
          <p:nvPr/>
        </p:nvSpPr>
        <p:spPr>
          <a:xfrm rot="2700000">
            <a:off x="4809744" y="4809744"/>
            <a:ext cx="77724" cy="77724"/>
          </a:xfrm>
          <a:prstGeom prst="rect">
            <a:avLst/>
          </a:prstGeom>
          <a:solidFill>
            <a:srgbClr val="D4951A">
              <a:alpha val="20000"/>
            </a:srgbClr>
          </a:solidFill>
          <a:ln w="12700">
            <a:solidFill>
              <a:srgbClr val="D4951A"/>
            </a:solidFill>
            <a:prstDash val="solid"/>
          </a:ln>
        </p:spPr>
      </p:sp>
      <p:sp>
        <p:nvSpPr>
          <p:cNvPr id="178" name="Shape 176"/>
          <p:cNvSpPr/>
          <p:nvPr/>
        </p:nvSpPr>
        <p:spPr>
          <a:xfrm rot="2700000">
            <a:off x="4926787" y="4809744"/>
            <a:ext cx="77724" cy="77724"/>
          </a:xfrm>
          <a:prstGeom prst="rect">
            <a:avLst/>
          </a:prstGeom>
          <a:solidFill>
            <a:srgbClr val="D4951A">
              <a:alpha val="20000"/>
            </a:srgbClr>
          </a:solidFill>
          <a:ln w="12700">
            <a:solidFill>
              <a:srgbClr val="D4951A"/>
            </a:solidFill>
            <a:prstDash val="solid"/>
          </a:ln>
        </p:spPr>
      </p:sp>
      <p:sp>
        <p:nvSpPr>
          <p:cNvPr id="179" name="Shape 177"/>
          <p:cNvSpPr/>
          <p:nvPr/>
        </p:nvSpPr>
        <p:spPr>
          <a:xfrm rot="2700000">
            <a:off x="5043830" y="4809744"/>
            <a:ext cx="77724" cy="77724"/>
          </a:xfrm>
          <a:prstGeom prst="rect">
            <a:avLst/>
          </a:prstGeom>
          <a:solidFill>
            <a:srgbClr val="D4951A">
              <a:alpha val="20000"/>
            </a:srgbClr>
          </a:solidFill>
          <a:ln w="12700">
            <a:solidFill>
              <a:srgbClr val="D4951A"/>
            </a:solidFill>
            <a:prstDash val="solid"/>
          </a:ln>
        </p:spPr>
      </p:sp>
      <p:sp>
        <p:nvSpPr>
          <p:cNvPr id="180" name="Shape 178"/>
          <p:cNvSpPr/>
          <p:nvPr/>
        </p:nvSpPr>
        <p:spPr>
          <a:xfrm rot="2700000">
            <a:off x="5160874" y="4809744"/>
            <a:ext cx="77724" cy="77724"/>
          </a:xfrm>
          <a:prstGeom prst="rect">
            <a:avLst/>
          </a:prstGeom>
          <a:solidFill>
            <a:srgbClr val="D4951A">
              <a:alpha val="20000"/>
            </a:srgbClr>
          </a:solidFill>
          <a:ln w="12700">
            <a:solidFill>
              <a:srgbClr val="D4951A"/>
            </a:solidFill>
            <a:prstDash val="solid"/>
          </a:ln>
        </p:spPr>
      </p:sp>
      <p:sp>
        <p:nvSpPr>
          <p:cNvPr id="181" name="Shape 179"/>
          <p:cNvSpPr/>
          <p:nvPr/>
        </p:nvSpPr>
        <p:spPr>
          <a:xfrm rot="2700000">
            <a:off x="5277917" y="4809744"/>
            <a:ext cx="77724" cy="77724"/>
          </a:xfrm>
          <a:prstGeom prst="rect">
            <a:avLst/>
          </a:prstGeom>
          <a:solidFill>
            <a:srgbClr val="D4951A">
              <a:alpha val="20000"/>
            </a:srgbClr>
          </a:solidFill>
          <a:ln w="12700">
            <a:solidFill>
              <a:srgbClr val="D4951A"/>
            </a:solidFill>
            <a:prstDash val="solid"/>
          </a:ln>
        </p:spPr>
      </p:sp>
      <p:sp>
        <p:nvSpPr>
          <p:cNvPr id="182" name="Shape 180"/>
          <p:cNvSpPr/>
          <p:nvPr/>
        </p:nvSpPr>
        <p:spPr>
          <a:xfrm rot="2700000">
            <a:off x="5394960" y="4809744"/>
            <a:ext cx="77724" cy="77724"/>
          </a:xfrm>
          <a:prstGeom prst="rect">
            <a:avLst/>
          </a:prstGeom>
          <a:solidFill>
            <a:srgbClr val="D4951A">
              <a:alpha val="20000"/>
            </a:srgbClr>
          </a:solidFill>
          <a:ln w="12700">
            <a:solidFill>
              <a:srgbClr val="D4951A"/>
            </a:solidFill>
            <a:prstDash val="solid"/>
          </a:ln>
        </p:spPr>
      </p:sp>
      <p:sp>
        <p:nvSpPr>
          <p:cNvPr id="183" name="Shape 181"/>
          <p:cNvSpPr/>
          <p:nvPr/>
        </p:nvSpPr>
        <p:spPr>
          <a:xfrm rot="2700000">
            <a:off x="5512003" y="4809744"/>
            <a:ext cx="77724" cy="77724"/>
          </a:xfrm>
          <a:prstGeom prst="rect">
            <a:avLst/>
          </a:prstGeom>
          <a:solidFill>
            <a:srgbClr val="D4951A">
              <a:alpha val="20000"/>
            </a:srgbClr>
          </a:solidFill>
          <a:ln w="12700">
            <a:solidFill>
              <a:srgbClr val="D4951A"/>
            </a:solidFill>
            <a:prstDash val="solid"/>
          </a:ln>
        </p:spPr>
      </p:sp>
      <p:sp>
        <p:nvSpPr>
          <p:cNvPr id="184" name="Shape 182"/>
          <p:cNvSpPr/>
          <p:nvPr/>
        </p:nvSpPr>
        <p:spPr>
          <a:xfrm rot="2700000">
            <a:off x="5629046" y="4809744"/>
            <a:ext cx="77724" cy="77724"/>
          </a:xfrm>
          <a:prstGeom prst="rect">
            <a:avLst/>
          </a:prstGeom>
          <a:solidFill>
            <a:srgbClr val="D4951A">
              <a:alpha val="20000"/>
            </a:srgbClr>
          </a:solidFill>
          <a:ln w="12700">
            <a:solidFill>
              <a:srgbClr val="D4951A"/>
            </a:solidFill>
            <a:prstDash val="solid"/>
          </a:ln>
        </p:spPr>
      </p:sp>
      <p:sp>
        <p:nvSpPr>
          <p:cNvPr id="185" name="Shape 183"/>
          <p:cNvSpPr/>
          <p:nvPr/>
        </p:nvSpPr>
        <p:spPr>
          <a:xfrm rot="2700000">
            <a:off x="5746090" y="4809744"/>
            <a:ext cx="77724" cy="77724"/>
          </a:xfrm>
          <a:prstGeom prst="rect">
            <a:avLst/>
          </a:prstGeom>
          <a:solidFill>
            <a:srgbClr val="D4951A">
              <a:alpha val="20000"/>
            </a:srgbClr>
          </a:solidFill>
          <a:ln w="12700">
            <a:solidFill>
              <a:srgbClr val="D4951A"/>
            </a:solidFill>
            <a:prstDash val="solid"/>
          </a:ln>
        </p:spPr>
      </p:sp>
      <p:sp>
        <p:nvSpPr>
          <p:cNvPr id="186" name="Shape 184"/>
          <p:cNvSpPr/>
          <p:nvPr/>
        </p:nvSpPr>
        <p:spPr>
          <a:xfrm rot="2700000">
            <a:off x="5863133" y="4809744"/>
            <a:ext cx="77724" cy="77724"/>
          </a:xfrm>
          <a:prstGeom prst="rect">
            <a:avLst/>
          </a:prstGeom>
          <a:solidFill>
            <a:srgbClr val="D4951A">
              <a:alpha val="20000"/>
            </a:srgbClr>
          </a:solidFill>
          <a:ln w="12700">
            <a:solidFill>
              <a:srgbClr val="D4951A"/>
            </a:solidFill>
            <a:prstDash val="solid"/>
          </a:ln>
        </p:spPr>
      </p:sp>
      <p:sp>
        <p:nvSpPr>
          <p:cNvPr id="187" name="Shape 185"/>
          <p:cNvSpPr/>
          <p:nvPr/>
        </p:nvSpPr>
        <p:spPr>
          <a:xfrm rot="2700000">
            <a:off x="5980176" y="4809744"/>
            <a:ext cx="77724" cy="77724"/>
          </a:xfrm>
          <a:prstGeom prst="rect">
            <a:avLst/>
          </a:prstGeom>
          <a:solidFill>
            <a:srgbClr val="D4951A">
              <a:alpha val="20000"/>
            </a:srgbClr>
          </a:solidFill>
          <a:ln w="12700">
            <a:solidFill>
              <a:srgbClr val="D4951A"/>
            </a:solidFill>
            <a:prstDash val="solid"/>
          </a:ln>
        </p:spPr>
      </p:sp>
      <p:sp>
        <p:nvSpPr>
          <p:cNvPr id="188" name="Shape 186"/>
          <p:cNvSpPr/>
          <p:nvPr/>
        </p:nvSpPr>
        <p:spPr>
          <a:xfrm rot="2700000">
            <a:off x="6097219" y="4809744"/>
            <a:ext cx="77724" cy="77724"/>
          </a:xfrm>
          <a:prstGeom prst="rect">
            <a:avLst/>
          </a:prstGeom>
          <a:solidFill>
            <a:srgbClr val="D4951A">
              <a:alpha val="20000"/>
            </a:srgbClr>
          </a:solidFill>
          <a:ln w="12700">
            <a:solidFill>
              <a:srgbClr val="D4951A"/>
            </a:solidFill>
            <a:prstDash val="solid"/>
          </a:ln>
        </p:spPr>
      </p:sp>
      <p:sp>
        <p:nvSpPr>
          <p:cNvPr id="189" name="Shape 187"/>
          <p:cNvSpPr/>
          <p:nvPr/>
        </p:nvSpPr>
        <p:spPr>
          <a:xfrm rot="2700000">
            <a:off x="6214262" y="4809744"/>
            <a:ext cx="77724" cy="77724"/>
          </a:xfrm>
          <a:prstGeom prst="rect">
            <a:avLst/>
          </a:prstGeom>
          <a:solidFill>
            <a:srgbClr val="D4951A">
              <a:alpha val="20000"/>
            </a:srgbClr>
          </a:solidFill>
          <a:ln w="12700">
            <a:solidFill>
              <a:srgbClr val="D4951A"/>
            </a:solidFill>
            <a:prstDash val="solid"/>
          </a:ln>
        </p:spPr>
      </p:sp>
      <p:sp>
        <p:nvSpPr>
          <p:cNvPr id="190" name="Shape 188"/>
          <p:cNvSpPr/>
          <p:nvPr/>
        </p:nvSpPr>
        <p:spPr>
          <a:xfrm rot="2700000">
            <a:off x="6331306" y="4809744"/>
            <a:ext cx="77724" cy="77724"/>
          </a:xfrm>
          <a:prstGeom prst="rect">
            <a:avLst/>
          </a:prstGeom>
          <a:solidFill>
            <a:srgbClr val="D4951A">
              <a:alpha val="20000"/>
            </a:srgbClr>
          </a:solidFill>
          <a:ln w="12700">
            <a:solidFill>
              <a:srgbClr val="D4951A"/>
            </a:solidFill>
            <a:prstDash val="solid"/>
          </a:ln>
        </p:spPr>
      </p:sp>
      <p:sp>
        <p:nvSpPr>
          <p:cNvPr id="191" name="Shape 189"/>
          <p:cNvSpPr/>
          <p:nvPr/>
        </p:nvSpPr>
        <p:spPr>
          <a:xfrm rot="2700000">
            <a:off x="6448349" y="4809744"/>
            <a:ext cx="77724" cy="77724"/>
          </a:xfrm>
          <a:prstGeom prst="rect">
            <a:avLst/>
          </a:prstGeom>
          <a:solidFill>
            <a:srgbClr val="D4951A">
              <a:alpha val="20000"/>
            </a:srgbClr>
          </a:solidFill>
          <a:ln w="12700">
            <a:solidFill>
              <a:srgbClr val="D4951A"/>
            </a:solidFill>
            <a:prstDash val="solid"/>
          </a:ln>
        </p:spPr>
      </p:sp>
      <p:sp>
        <p:nvSpPr>
          <p:cNvPr id="192" name="Shape 190"/>
          <p:cNvSpPr/>
          <p:nvPr/>
        </p:nvSpPr>
        <p:spPr>
          <a:xfrm rot="2700000">
            <a:off x="6565392" y="4809744"/>
            <a:ext cx="77724" cy="77724"/>
          </a:xfrm>
          <a:prstGeom prst="rect">
            <a:avLst/>
          </a:prstGeom>
          <a:solidFill>
            <a:srgbClr val="D4951A">
              <a:alpha val="20000"/>
            </a:srgbClr>
          </a:solidFill>
          <a:ln w="12700">
            <a:solidFill>
              <a:srgbClr val="D4951A"/>
            </a:solidFill>
            <a:prstDash val="solid"/>
          </a:ln>
        </p:spPr>
      </p:sp>
      <p:sp>
        <p:nvSpPr>
          <p:cNvPr id="193" name="Shape 191"/>
          <p:cNvSpPr/>
          <p:nvPr/>
        </p:nvSpPr>
        <p:spPr>
          <a:xfrm rot="2700000">
            <a:off x="6682435" y="4809744"/>
            <a:ext cx="77724" cy="77724"/>
          </a:xfrm>
          <a:prstGeom prst="rect">
            <a:avLst/>
          </a:prstGeom>
          <a:solidFill>
            <a:srgbClr val="D4951A">
              <a:alpha val="20000"/>
            </a:srgbClr>
          </a:solidFill>
          <a:ln w="12700">
            <a:solidFill>
              <a:srgbClr val="D4951A"/>
            </a:solidFill>
            <a:prstDash val="solid"/>
          </a:ln>
        </p:spPr>
      </p:sp>
      <p:sp>
        <p:nvSpPr>
          <p:cNvPr id="194" name="Shape 192"/>
          <p:cNvSpPr/>
          <p:nvPr/>
        </p:nvSpPr>
        <p:spPr>
          <a:xfrm rot="2700000">
            <a:off x="6799478" y="4809744"/>
            <a:ext cx="77724" cy="77724"/>
          </a:xfrm>
          <a:prstGeom prst="rect">
            <a:avLst/>
          </a:prstGeom>
          <a:solidFill>
            <a:srgbClr val="D4951A">
              <a:alpha val="20000"/>
            </a:srgbClr>
          </a:solidFill>
          <a:ln w="12700">
            <a:solidFill>
              <a:srgbClr val="D4951A"/>
            </a:solidFill>
            <a:prstDash val="solid"/>
          </a:ln>
        </p:spPr>
      </p:sp>
      <p:sp>
        <p:nvSpPr>
          <p:cNvPr id="195" name="Shape 193"/>
          <p:cNvSpPr/>
          <p:nvPr/>
        </p:nvSpPr>
        <p:spPr>
          <a:xfrm rot="2700000">
            <a:off x="6916522" y="4809744"/>
            <a:ext cx="77724" cy="77724"/>
          </a:xfrm>
          <a:prstGeom prst="rect">
            <a:avLst/>
          </a:prstGeom>
          <a:solidFill>
            <a:srgbClr val="D4951A">
              <a:alpha val="20000"/>
            </a:srgbClr>
          </a:solidFill>
          <a:ln w="12700">
            <a:solidFill>
              <a:srgbClr val="D4951A"/>
            </a:solidFill>
            <a:prstDash val="solid"/>
          </a:ln>
        </p:spPr>
      </p:sp>
      <p:sp>
        <p:nvSpPr>
          <p:cNvPr id="196" name="Shape 194"/>
          <p:cNvSpPr/>
          <p:nvPr/>
        </p:nvSpPr>
        <p:spPr>
          <a:xfrm rot="2700000">
            <a:off x="7033565" y="4809744"/>
            <a:ext cx="77724" cy="77724"/>
          </a:xfrm>
          <a:prstGeom prst="rect">
            <a:avLst/>
          </a:prstGeom>
          <a:solidFill>
            <a:srgbClr val="D4951A">
              <a:alpha val="20000"/>
            </a:srgbClr>
          </a:solidFill>
          <a:ln w="12700">
            <a:solidFill>
              <a:srgbClr val="D4951A"/>
            </a:solidFill>
            <a:prstDash val="solid"/>
          </a:ln>
        </p:spPr>
      </p:sp>
      <p:sp>
        <p:nvSpPr>
          <p:cNvPr id="197" name="Shape 195"/>
          <p:cNvSpPr/>
          <p:nvPr/>
        </p:nvSpPr>
        <p:spPr>
          <a:xfrm rot="2700000">
            <a:off x="7150608" y="4809744"/>
            <a:ext cx="77724" cy="77724"/>
          </a:xfrm>
          <a:prstGeom prst="rect">
            <a:avLst/>
          </a:prstGeom>
          <a:solidFill>
            <a:srgbClr val="D4951A">
              <a:alpha val="20000"/>
            </a:srgbClr>
          </a:solidFill>
          <a:ln w="12700">
            <a:solidFill>
              <a:srgbClr val="D4951A"/>
            </a:solidFill>
            <a:prstDash val="solid"/>
          </a:ln>
        </p:spPr>
      </p:sp>
      <p:sp>
        <p:nvSpPr>
          <p:cNvPr id="198" name="Shape 196"/>
          <p:cNvSpPr/>
          <p:nvPr/>
        </p:nvSpPr>
        <p:spPr>
          <a:xfrm rot="2700000">
            <a:off x="7267651" y="4809744"/>
            <a:ext cx="77724" cy="77724"/>
          </a:xfrm>
          <a:prstGeom prst="rect">
            <a:avLst/>
          </a:prstGeom>
          <a:solidFill>
            <a:srgbClr val="D4951A">
              <a:alpha val="20000"/>
            </a:srgbClr>
          </a:solidFill>
          <a:ln w="12700">
            <a:solidFill>
              <a:srgbClr val="D4951A"/>
            </a:solidFill>
            <a:prstDash val="solid"/>
          </a:ln>
        </p:spPr>
      </p:sp>
      <p:sp>
        <p:nvSpPr>
          <p:cNvPr id="199" name="Shape 197"/>
          <p:cNvSpPr/>
          <p:nvPr/>
        </p:nvSpPr>
        <p:spPr>
          <a:xfrm rot="2700000">
            <a:off x="7384694" y="4809744"/>
            <a:ext cx="77724" cy="77724"/>
          </a:xfrm>
          <a:prstGeom prst="rect">
            <a:avLst/>
          </a:prstGeom>
          <a:solidFill>
            <a:srgbClr val="D4951A">
              <a:alpha val="20000"/>
            </a:srgbClr>
          </a:solidFill>
          <a:ln w="12700">
            <a:solidFill>
              <a:srgbClr val="D4951A"/>
            </a:solidFill>
            <a:prstDash val="solid"/>
          </a:ln>
        </p:spPr>
      </p:sp>
      <p:sp>
        <p:nvSpPr>
          <p:cNvPr id="200" name="Shape 198"/>
          <p:cNvSpPr/>
          <p:nvPr/>
        </p:nvSpPr>
        <p:spPr>
          <a:xfrm rot="2700000">
            <a:off x="7501738" y="4809744"/>
            <a:ext cx="77724" cy="77724"/>
          </a:xfrm>
          <a:prstGeom prst="rect">
            <a:avLst/>
          </a:prstGeom>
          <a:solidFill>
            <a:srgbClr val="D4951A">
              <a:alpha val="20000"/>
            </a:srgbClr>
          </a:solidFill>
          <a:ln w="12700">
            <a:solidFill>
              <a:srgbClr val="D4951A"/>
            </a:solidFill>
            <a:prstDash val="solid"/>
          </a:ln>
        </p:spPr>
      </p:sp>
      <p:sp>
        <p:nvSpPr>
          <p:cNvPr id="201" name="Shape 199"/>
          <p:cNvSpPr/>
          <p:nvPr/>
        </p:nvSpPr>
        <p:spPr>
          <a:xfrm rot="2700000">
            <a:off x="7618781" y="4809744"/>
            <a:ext cx="77724" cy="77724"/>
          </a:xfrm>
          <a:prstGeom prst="rect">
            <a:avLst/>
          </a:prstGeom>
          <a:solidFill>
            <a:srgbClr val="D4951A">
              <a:alpha val="20000"/>
            </a:srgbClr>
          </a:solidFill>
          <a:ln w="12700">
            <a:solidFill>
              <a:srgbClr val="D4951A"/>
            </a:solidFill>
            <a:prstDash val="solid"/>
          </a:ln>
        </p:spPr>
      </p:sp>
      <p:sp>
        <p:nvSpPr>
          <p:cNvPr id="202" name="Shape 200"/>
          <p:cNvSpPr/>
          <p:nvPr/>
        </p:nvSpPr>
        <p:spPr>
          <a:xfrm rot="2700000">
            <a:off x="7735824" y="4809744"/>
            <a:ext cx="77724" cy="77724"/>
          </a:xfrm>
          <a:prstGeom prst="rect">
            <a:avLst/>
          </a:prstGeom>
          <a:solidFill>
            <a:srgbClr val="D4951A">
              <a:alpha val="20000"/>
            </a:srgbClr>
          </a:solidFill>
          <a:ln w="12700">
            <a:solidFill>
              <a:srgbClr val="D4951A"/>
            </a:solidFill>
            <a:prstDash val="solid"/>
          </a:ln>
        </p:spPr>
      </p:sp>
      <p:sp>
        <p:nvSpPr>
          <p:cNvPr id="203" name="Shape 201"/>
          <p:cNvSpPr/>
          <p:nvPr/>
        </p:nvSpPr>
        <p:spPr>
          <a:xfrm rot="2700000">
            <a:off x="7852867" y="4809744"/>
            <a:ext cx="77724" cy="77724"/>
          </a:xfrm>
          <a:prstGeom prst="rect">
            <a:avLst/>
          </a:prstGeom>
          <a:solidFill>
            <a:srgbClr val="D4951A">
              <a:alpha val="20000"/>
            </a:srgbClr>
          </a:solidFill>
          <a:ln w="12700">
            <a:solidFill>
              <a:srgbClr val="D4951A"/>
            </a:solidFill>
            <a:prstDash val="solid"/>
          </a:ln>
        </p:spPr>
      </p:sp>
      <p:sp>
        <p:nvSpPr>
          <p:cNvPr id="204" name="Shape 202"/>
          <p:cNvSpPr/>
          <p:nvPr/>
        </p:nvSpPr>
        <p:spPr>
          <a:xfrm rot="2700000">
            <a:off x="7969910" y="4809744"/>
            <a:ext cx="77724" cy="77724"/>
          </a:xfrm>
          <a:prstGeom prst="rect">
            <a:avLst/>
          </a:prstGeom>
          <a:solidFill>
            <a:srgbClr val="D4951A">
              <a:alpha val="20000"/>
            </a:srgbClr>
          </a:solidFill>
          <a:ln w="12700">
            <a:solidFill>
              <a:srgbClr val="D4951A"/>
            </a:solidFill>
            <a:prstDash val="solid"/>
          </a:ln>
        </p:spPr>
      </p:sp>
      <p:sp>
        <p:nvSpPr>
          <p:cNvPr id="205" name="Shape 203"/>
          <p:cNvSpPr/>
          <p:nvPr/>
        </p:nvSpPr>
        <p:spPr>
          <a:xfrm rot="2700000">
            <a:off x="8086954" y="4809744"/>
            <a:ext cx="77724" cy="77724"/>
          </a:xfrm>
          <a:prstGeom prst="rect">
            <a:avLst/>
          </a:prstGeom>
          <a:solidFill>
            <a:srgbClr val="D4951A">
              <a:alpha val="20000"/>
            </a:srgbClr>
          </a:solidFill>
          <a:ln w="12700">
            <a:solidFill>
              <a:srgbClr val="D4951A"/>
            </a:solidFill>
            <a:prstDash val="solid"/>
          </a:ln>
        </p:spPr>
      </p:sp>
      <p:sp>
        <p:nvSpPr>
          <p:cNvPr id="206" name="Shape 204"/>
          <p:cNvSpPr/>
          <p:nvPr/>
        </p:nvSpPr>
        <p:spPr>
          <a:xfrm rot="2700000">
            <a:off x="8203997" y="4809744"/>
            <a:ext cx="77724" cy="77724"/>
          </a:xfrm>
          <a:prstGeom prst="rect">
            <a:avLst/>
          </a:prstGeom>
          <a:solidFill>
            <a:srgbClr val="D4951A">
              <a:alpha val="20000"/>
            </a:srgbClr>
          </a:solidFill>
          <a:ln w="12700">
            <a:solidFill>
              <a:srgbClr val="D4951A"/>
            </a:solidFill>
            <a:prstDash val="solid"/>
          </a:ln>
        </p:spPr>
      </p:sp>
      <p:sp>
        <p:nvSpPr>
          <p:cNvPr id="207" name="Shape 205"/>
          <p:cNvSpPr/>
          <p:nvPr/>
        </p:nvSpPr>
        <p:spPr>
          <a:xfrm rot="2700000">
            <a:off x="8321040" y="4809744"/>
            <a:ext cx="77724" cy="77724"/>
          </a:xfrm>
          <a:prstGeom prst="rect">
            <a:avLst/>
          </a:prstGeom>
          <a:solidFill>
            <a:srgbClr val="D4951A">
              <a:alpha val="20000"/>
            </a:srgbClr>
          </a:solidFill>
          <a:ln w="12700">
            <a:solidFill>
              <a:srgbClr val="D4951A"/>
            </a:solidFill>
            <a:prstDash val="solid"/>
          </a:ln>
        </p:spPr>
      </p:sp>
      <p:sp>
        <p:nvSpPr>
          <p:cNvPr id="208" name="Shape 206"/>
          <p:cNvSpPr/>
          <p:nvPr/>
        </p:nvSpPr>
        <p:spPr>
          <a:xfrm rot="2700000">
            <a:off x="8438083" y="4809744"/>
            <a:ext cx="77724" cy="77724"/>
          </a:xfrm>
          <a:prstGeom prst="rect">
            <a:avLst/>
          </a:prstGeom>
          <a:solidFill>
            <a:srgbClr val="D4951A">
              <a:alpha val="20000"/>
            </a:srgbClr>
          </a:solidFill>
          <a:ln w="12700">
            <a:solidFill>
              <a:srgbClr val="D4951A"/>
            </a:solidFill>
            <a:prstDash val="solid"/>
          </a:ln>
        </p:spPr>
      </p:sp>
      <p:sp>
        <p:nvSpPr>
          <p:cNvPr id="209" name="Shape 207"/>
          <p:cNvSpPr/>
          <p:nvPr/>
        </p:nvSpPr>
        <p:spPr>
          <a:xfrm rot="2700000">
            <a:off x="8555126" y="4809744"/>
            <a:ext cx="77724" cy="77724"/>
          </a:xfrm>
          <a:prstGeom prst="rect">
            <a:avLst/>
          </a:prstGeom>
          <a:solidFill>
            <a:srgbClr val="D4951A">
              <a:alpha val="20000"/>
            </a:srgbClr>
          </a:solidFill>
          <a:ln w="12700">
            <a:solidFill>
              <a:srgbClr val="D4951A"/>
            </a:solidFill>
            <a:prstDash val="solid"/>
          </a:ln>
        </p:spPr>
      </p:sp>
      <p:sp>
        <p:nvSpPr>
          <p:cNvPr id="210" name="Shape 208"/>
          <p:cNvSpPr/>
          <p:nvPr/>
        </p:nvSpPr>
        <p:spPr>
          <a:xfrm rot="2700000">
            <a:off x="8672170" y="4809744"/>
            <a:ext cx="77724" cy="77724"/>
          </a:xfrm>
          <a:prstGeom prst="rect">
            <a:avLst/>
          </a:prstGeom>
          <a:solidFill>
            <a:srgbClr val="D4951A">
              <a:alpha val="20000"/>
            </a:srgbClr>
          </a:solidFill>
          <a:ln w="12700">
            <a:solidFill>
              <a:srgbClr val="D4951A"/>
            </a:solidFill>
            <a:prstDash val="solid"/>
          </a:ln>
        </p:spPr>
      </p:sp>
      <p:sp>
        <p:nvSpPr>
          <p:cNvPr id="211" name="Shape 209"/>
          <p:cNvSpPr/>
          <p:nvPr/>
        </p:nvSpPr>
        <p:spPr>
          <a:xfrm rot="2700000">
            <a:off x="8789213" y="4809744"/>
            <a:ext cx="77724" cy="77724"/>
          </a:xfrm>
          <a:prstGeom prst="rect">
            <a:avLst/>
          </a:prstGeom>
          <a:solidFill>
            <a:srgbClr val="D4951A">
              <a:alpha val="20000"/>
            </a:srgbClr>
          </a:solidFill>
          <a:ln w="12700">
            <a:solidFill>
              <a:srgbClr val="D4951A"/>
            </a:solidFill>
            <a:prstDash val="solid"/>
          </a:ln>
        </p:spPr>
      </p:sp>
      <p:sp>
        <p:nvSpPr>
          <p:cNvPr id="212" name="Shape 210"/>
          <p:cNvSpPr/>
          <p:nvPr/>
        </p:nvSpPr>
        <p:spPr>
          <a:xfrm rot="2700000">
            <a:off x="8906256" y="4809744"/>
            <a:ext cx="77724" cy="77724"/>
          </a:xfrm>
          <a:prstGeom prst="rect">
            <a:avLst/>
          </a:prstGeom>
          <a:solidFill>
            <a:srgbClr val="D4951A">
              <a:alpha val="20000"/>
            </a:srgbClr>
          </a:solidFill>
          <a:ln w="12700">
            <a:solidFill>
              <a:srgbClr val="D4951A"/>
            </a:solidFill>
            <a:prstDash val="solid"/>
          </a:ln>
        </p:spPr>
      </p:sp>
      <p:sp>
        <p:nvSpPr>
          <p:cNvPr id="213" name="Shape 211"/>
          <p:cNvSpPr/>
          <p:nvPr/>
        </p:nvSpPr>
        <p:spPr>
          <a:xfrm rot="2700000">
            <a:off x="9023299" y="4809744"/>
            <a:ext cx="77724" cy="77724"/>
          </a:xfrm>
          <a:prstGeom prst="rect">
            <a:avLst/>
          </a:prstGeom>
          <a:solidFill>
            <a:srgbClr val="D4951A">
              <a:alpha val="20000"/>
            </a:srgbClr>
          </a:solidFill>
          <a:ln w="12700">
            <a:solidFill>
              <a:srgbClr val="D4951A"/>
            </a:solidFill>
            <a:prstDash val="solid"/>
          </a:ln>
        </p:spPr>
      </p:sp>
      <p:sp>
        <p:nvSpPr>
          <p:cNvPr id="214" name="Text 212"/>
          <p:cNvSpPr/>
          <p:nvPr/>
        </p:nvSpPr>
        <p:spPr>
          <a:xfrm>
            <a:off x="274320" y="4864608"/>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POSITION RÉVISÉE  ·  CONFIDENTIEL</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Sélection Chaudière — Pet Factory Maroc — Position Révisée</dc:title>
  <dc:subject>PptxGenJS Presentation</dc:subject>
  <dc:creator>PptxGenJS</dc:creator>
  <cp:lastModifiedBy>PptxGenJS</cp:lastModifiedBy>
  <cp:revision>1</cp:revision>
  <dcterms:created xsi:type="dcterms:W3CDTF">2026-05-06T20:59:50Z</dcterms:created>
  <dcterms:modified xsi:type="dcterms:W3CDTF">2026-05-06T20:59:50Z</dcterms:modified>
</cp:coreProperties>
</file>