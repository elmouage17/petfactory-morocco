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0E0A04"/>
          </a:solidFill>
          <a:ln/>
        </p:spPr>
      </p:sp>
      <p:sp>
        <p:nvSpPr>
          <p:cNvPr id="3" name="Shape 1"/>
          <p:cNvSpPr/>
          <p:nvPr/>
        </p:nvSpPr>
        <p:spPr>
          <a:xfrm rot="2700000">
            <a:off x="9144" y="-36576"/>
            <a:ext cx="219456" cy="219456"/>
          </a:xfrm>
          <a:prstGeom prst="rect">
            <a:avLst/>
          </a:prstGeom>
          <a:solidFill>
            <a:srgbClr val="D4951A">
              <a:alpha val="58000"/>
            </a:srgbClr>
          </a:solidFill>
          <a:ln w="12700">
            <a:solidFill>
              <a:srgbClr val="0E0A04"/>
            </a:solidFill>
            <a:prstDash val="solid"/>
          </a:ln>
        </p:spPr>
      </p:sp>
      <p:sp>
        <p:nvSpPr>
          <p:cNvPr id="4" name="Shape 2"/>
          <p:cNvSpPr/>
          <p:nvPr/>
        </p:nvSpPr>
        <p:spPr>
          <a:xfrm rot="2700000">
            <a:off x="429768" y="-36576"/>
            <a:ext cx="109728" cy="109728"/>
          </a:xfrm>
          <a:prstGeom prst="rect">
            <a:avLst/>
          </a:prstGeom>
          <a:solidFill>
            <a:srgbClr val="C0622B">
              <a:alpha val="58000"/>
            </a:srgbClr>
          </a:solidFill>
          <a:ln w="12700">
            <a:solidFill>
              <a:srgbClr val="0E0A04"/>
            </a:solidFill>
            <a:prstDash val="solid"/>
          </a:ln>
        </p:spPr>
      </p:sp>
      <p:sp>
        <p:nvSpPr>
          <p:cNvPr id="5" name="Shape 3"/>
          <p:cNvSpPr/>
          <p:nvPr/>
        </p:nvSpPr>
        <p:spPr>
          <a:xfrm rot="2700000">
            <a:off x="850392" y="-36576"/>
            <a:ext cx="109728" cy="109728"/>
          </a:xfrm>
          <a:prstGeom prst="rect">
            <a:avLst/>
          </a:prstGeom>
          <a:solidFill>
            <a:srgbClr val="1B9A8A">
              <a:alpha val="58000"/>
            </a:srgbClr>
          </a:solidFill>
          <a:ln w="12700">
            <a:solidFill>
              <a:srgbClr val="0E0A04"/>
            </a:solidFill>
            <a:prstDash val="solid"/>
          </a:ln>
        </p:spPr>
      </p:sp>
      <p:sp>
        <p:nvSpPr>
          <p:cNvPr id="6" name="Shape 4"/>
          <p:cNvSpPr/>
          <p:nvPr/>
        </p:nvSpPr>
        <p:spPr>
          <a:xfrm rot="2700000">
            <a:off x="1271016" y="-36576"/>
            <a:ext cx="155448" cy="155448"/>
          </a:xfrm>
          <a:prstGeom prst="rect">
            <a:avLst/>
          </a:prstGeom>
          <a:solidFill>
            <a:srgbClr val="D8C9A8">
              <a:alpha val="58000"/>
            </a:srgbClr>
          </a:solidFill>
          <a:ln w="12700">
            <a:solidFill>
              <a:srgbClr val="0E0A04"/>
            </a:solidFill>
            <a:prstDash val="solid"/>
          </a:ln>
        </p:spPr>
      </p:sp>
      <p:sp>
        <p:nvSpPr>
          <p:cNvPr id="7" name="Shape 5"/>
          <p:cNvSpPr/>
          <p:nvPr/>
        </p:nvSpPr>
        <p:spPr>
          <a:xfrm rot="2700000">
            <a:off x="1691640" y="-36576"/>
            <a:ext cx="109728" cy="109728"/>
          </a:xfrm>
          <a:prstGeom prst="rect">
            <a:avLst/>
          </a:prstGeom>
          <a:solidFill>
            <a:srgbClr val="8B2252">
              <a:alpha val="58000"/>
            </a:srgbClr>
          </a:solidFill>
          <a:ln w="12700">
            <a:solidFill>
              <a:srgbClr val="0E0A04"/>
            </a:solidFill>
            <a:prstDash val="solid"/>
          </a:ln>
        </p:spPr>
      </p:sp>
      <p:sp>
        <p:nvSpPr>
          <p:cNvPr id="8" name="Shape 6"/>
          <p:cNvSpPr/>
          <p:nvPr/>
        </p:nvSpPr>
        <p:spPr>
          <a:xfrm rot="2700000">
            <a:off x="2112264" y="-36576"/>
            <a:ext cx="219456" cy="219456"/>
          </a:xfrm>
          <a:prstGeom prst="rect">
            <a:avLst/>
          </a:prstGeom>
          <a:solidFill>
            <a:srgbClr val="6B4C20">
              <a:alpha val="58000"/>
            </a:srgbClr>
          </a:solidFill>
          <a:ln w="12700">
            <a:solidFill>
              <a:srgbClr val="0E0A04"/>
            </a:solidFill>
            <a:prstDash val="solid"/>
          </a:ln>
        </p:spPr>
      </p:sp>
      <p:sp>
        <p:nvSpPr>
          <p:cNvPr id="9" name="Shape 7"/>
          <p:cNvSpPr/>
          <p:nvPr/>
        </p:nvSpPr>
        <p:spPr>
          <a:xfrm rot="2700000">
            <a:off x="2532888" y="-36576"/>
            <a:ext cx="155448" cy="155448"/>
          </a:xfrm>
          <a:prstGeom prst="rect">
            <a:avLst/>
          </a:prstGeom>
          <a:solidFill>
            <a:srgbClr val="3D2208">
              <a:alpha val="58000"/>
            </a:srgbClr>
          </a:solidFill>
          <a:ln w="12700">
            <a:solidFill>
              <a:srgbClr val="0E0A04"/>
            </a:solidFill>
            <a:prstDash val="solid"/>
          </a:ln>
        </p:spPr>
      </p:sp>
      <p:sp>
        <p:nvSpPr>
          <p:cNvPr id="10" name="Shape 8"/>
          <p:cNvSpPr/>
          <p:nvPr/>
        </p:nvSpPr>
        <p:spPr>
          <a:xfrm rot="2700000">
            <a:off x="2953512" y="-36576"/>
            <a:ext cx="109728" cy="109728"/>
          </a:xfrm>
          <a:prstGeom prst="rect">
            <a:avLst/>
          </a:prstGeom>
          <a:solidFill>
            <a:srgbClr val="D4951A">
              <a:alpha val="58000"/>
            </a:srgbClr>
          </a:solidFill>
          <a:ln w="12700">
            <a:solidFill>
              <a:srgbClr val="0E0A04"/>
            </a:solidFill>
            <a:prstDash val="solid"/>
          </a:ln>
        </p:spPr>
      </p:sp>
      <p:sp>
        <p:nvSpPr>
          <p:cNvPr id="11" name="Shape 9"/>
          <p:cNvSpPr/>
          <p:nvPr/>
        </p:nvSpPr>
        <p:spPr>
          <a:xfrm rot="2700000">
            <a:off x="3374136" y="-36576"/>
            <a:ext cx="109728" cy="109728"/>
          </a:xfrm>
          <a:prstGeom prst="rect">
            <a:avLst/>
          </a:prstGeom>
          <a:solidFill>
            <a:srgbClr val="C0622B">
              <a:alpha val="58000"/>
            </a:srgbClr>
          </a:solidFill>
          <a:ln w="12700">
            <a:solidFill>
              <a:srgbClr val="0E0A04"/>
            </a:solidFill>
            <a:prstDash val="solid"/>
          </a:ln>
        </p:spPr>
      </p:sp>
      <p:sp>
        <p:nvSpPr>
          <p:cNvPr id="12" name="Shape 10"/>
          <p:cNvSpPr/>
          <p:nvPr/>
        </p:nvSpPr>
        <p:spPr>
          <a:xfrm rot="2700000">
            <a:off x="9144" y="237744"/>
            <a:ext cx="109728" cy="109728"/>
          </a:xfrm>
          <a:prstGeom prst="rect">
            <a:avLst/>
          </a:prstGeom>
          <a:solidFill>
            <a:srgbClr val="D8C9A8">
              <a:alpha val="49000"/>
            </a:srgbClr>
          </a:solidFill>
          <a:ln w="12700">
            <a:solidFill>
              <a:srgbClr val="0E0A04"/>
            </a:solidFill>
            <a:prstDash val="solid"/>
          </a:ln>
        </p:spPr>
      </p:sp>
      <p:sp>
        <p:nvSpPr>
          <p:cNvPr id="13" name="Shape 11"/>
          <p:cNvSpPr/>
          <p:nvPr/>
        </p:nvSpPr>
        <p:spPr>
          <a:xfrm rot="2700000">
            <a:off x="429768" y="237744"/>
            <a:ext cx="109728" cy="109728"/>
          </a:xfrm>
          <a:prstGeom prst="rect">
            <a:avLst/>
          </a:prstGeom>
          <a:solidFill>
            <a:srgbClr val="8B2252">
              <a:alpha val="49000"/>
            </a:srgbClr>
          </a:solidFill>
          <a:ln w="12700">
            <a:solidFill>
              <a:srgbClr val="0E0A04"/>
            </a:solidFill>
            <a:prstDash val="solid"/>
          </a:ln>
        </p:spPr>
      </p:sp>
      <p:sp>
        <p:nvSpPr>
          <p:cNvPr id="14" name="Shape 12"/>
          <p:cNvSpPr/>
          <p:nvPr/>
        </p:nvSpPr>
        <p:spPr>
          <a:xfrm rot="2700000">
            <a:off x="850392" y="237744"/>
            <a:ext cx="155448" cy="155448"/>
          </a:xfrm>
          <a:prstGeom prst="rect">
            <a:avLst/>
          </a:prstGeom>
          <a:solidFill>
            <a:srgbClr val="6B4C20">
              <a:alpha val="49000"/>
            </a:srgbClr>
          </a:solidFill>
          <a:ln w="12700">
            <a:solidFill>
              <a:srgbClr val="0E0A04"/>
            </a:solidFill>
            <a:prstDash val="solid"/>
          </a:ln>
        </p:spPr>
      </p:sp>
      <p:sp>
        <p:nvSpPr>
          <p:cNvPr id="15" name="Shape 13"/>
          <p:cNvSpPr/>
          <p:nvPr/>
        </p:nvSpPr>
        <p:spPr>
          <a:xfrm rot="2700000">
            <a:off x="1271016" y="237744"/>
            <a:ext cx="109728" cy="109728"/>
          </a:xfrm>
          <a:prstGeom prst="rect">
            <a:avLst/>
          </a:prstGeom>
          <a:solidFill>
            <a:srgbClr val="3D2208">
              <a:alpha val="49000"/>
            </a:srgbClr>
          </a:solidFill>
          <a:ln w="12700">
            <a:solidFill>
              <a:srgbClr val="0E0A04"/>
            </a:solidFill>
            <a:prstDash val="solid"/>
          </a:ln>
        </p:spPr>
      </p:sp>
      <p:sp>
        <p:nvSpPr>
          <p:cNvPr id="16" name="Shape 14"/>
          <p:cNvSpPr/>
          <p:nvPr/>
        </p:nvSpPr>
        <p:spPr>
          <a:xfrm rot="2700000">
            <a:off x="1691640" y="237744"/>
            <a:ext cx="219456" cy="219456"/>
          </a:xfrm>
          <a:prstGeom prst="rect">
            <a:avLst/>
          </a:prstGeom>
          <a:solidFill>
            <a:srgbClr val="D4951A">
              <a:alpha val="49000"/>
            </a:srgbClr>
          </a:solidFill>
          <a:ln w="12700">
            <a:solidFill>
              <a:srgbClr val="0E0A04"/>
            </a:solidFill>
            <a:prstDash val="solid"/>
          </a:ln>
        </p:spPr>
      </p:sp>
      <p:sp>
        <p:nvSpPr>
          <p:cNvPr id="17" name="Shape 15"/>
          <p:cNvSpPr/>
          <p:nvPr/>
        </p:nvSpPr>
        <p:spPr>
          <a:xfrm rot="2700000">
            <a:off x="2112264" y="237744"/>
            <a:ext cx="155448" cy="155448"/>
          </a:xfrm>
          <a:prstGeom prst="rect">
            <a:avLst/>
          </a:prstGeom>
          <a:solidFill>
            <a:srgbClr val="C0622B">
              <a:alpha val="49000"/>
            </a:srgbClr>
          </a:solidFill>
          <a:ln w="12700">
            <a:solidFill>
              <a:srgbClr val="0E0A04"/>
            </a:solidFill>
            <a:prstDash val="solid"/>
          </a:ln>
        </p:spPr>
      </p:sp>
      <p:sp>
        <p:nvSpPr>
          <p:cNvPr id="18" name="Shape 16"/>
          <p:cNvSpPr/>
          <p:nvPr/>
        </p:nvSpPr>
        <p:spPr>
          <a:xfrm rot="2700000">
            <a:off x="2532888" y="237744"/>
            <a:ext cx="109728" cy="109728"/>
          </a:xfrm>
          <a:prstGeom prst="rect">
            <a:avLst/>
          </a:prstGeom>
          <a:solidFill>
            <a:srgbClr val="1B9A8A">
              <a:alpha val="49000"/>
            </a:srgbClr>
          </a:solidFill>
          <a:ln w="12700">
            <a:solidFill>
              <a:srgbClr val="0E0A04"/>
            </a:solidFill>
            <a:prstDash val="solid"/>
          </a:ln>
        </p:spPr>
      </p:sp>
      <p:sp>
        <p:nvSpPr>
          <p:cNvPr id="19" name="Shape 17"/>
          <p:cNvSpPr/>
          <p:nvPr/>
        </p:nvSpPr>
        <p:spPr>
          <a:xfrm rot="2700000">
            <a:off x="2953512" y="237744"/>
            <a:ext cx="109728" cy="109728"/>
          </a:xfrm>
          <a:prstGeom prst="rect">
            <a:avLst/>
          </a:prstGeom>
          <a:solidFill>
            <a:srgbClr val="D8C9A8">
              <a:alpha val="49000"/>
            </a:srgbClr>
          </a:solidFill>
          <a:ln w="12700">
            <a:solidFill>
              <a:srgbClr val="0E0A04"/>
            </a:solidFill>
            <a:prstDash val="solid"/>
          </a:ln>
        </p:spPr>
      </p:sp>
      <p:sp>
        <p:nvSpPr>
          <p:cNvPr id="20" name="Shape 18"/>
          <p:cNvSpPr/>
          <p:nvPr/>
        </p:nvSpPr>
        <p:spPr>
          <a:xfrm rot="2700000">
            <a:off x="3374136" y="237744"/>
            <a:ext cx="155448" cy="155448"/>
          </a:xfrm>
          <a:prstGeom prst="rect">
            <a:avLst/>
          </a:prstGeom>
          <a:solidFill>
            <a:srgbClr val="8B2252">
              <a:alpha val="49000"/>
            </a:srgbClr>
          </a:solidFill>
          <a:ln w="12700">
            <a:solidFill>
              <a:srgbClr val="0E0A04"/>
            </a:solidFill>
            <a:prstDash val="solid"/>
          </a:ln>
        </p:spPr>
      </p:sp>
      <p:sp>
        <p:nvSpPr>
          <p:cNvPr id="21" name="Shape 19"/>
          <p:cNvSpPr/>
          <p:nvPr/>
        </p:nvSpPr>
        <p:spPr>
          <a:xfrm rot="2700000">
            <a:off x="9144" y="512064"/>
            <a:ext cx="109728" cy="109728"/>
          </a:xfrm>
          <a:prstGeom prst="rect">
            <a:avLst/>
          </a:prstGeom>
          <a:solidFill>
            <a:srgbClr val="3D2208">
              <a:alpha val="40000"/>
            </a:srgbClr>
          </a:solidFill>
          <a:ln w="12700">
            <a:solidFill>
              <a:srgbClr val="0E0A04"/>
            </a:solidFill>
            <a:prstDash val="solid"/>
          </a:ln>
        </p:spPr>
      </p:sp>
      <p:sp>
        <p:nvSpPr>
          <p:cNvPr id="22" name="Shape 20"/>
          <p:cNvSpPr/>
          <p:nvPr/>
        </p:nvSpPr>
        <p:spPr>
          <a:xfrm rot="2700000">
            <a:off x="429768" y="512064"/>
            <a:ext cx="155448" cy="155448"/>
          </a:xfrm>
          <a:prstGeom prst="rect">
            <a:avLst/>
          </a:prstGeom>
          <a:solidFill>
            <a:srgbClr val="D4951A">
              <a:alpha val="40000"/>
            </a:srgbClr>
          </a:solidFill>
          <a:ln w="12700">
            <a:solidFill>
              <a:srgbClr val="0E0A04"/>
            </a:solidFill>
            <a:prstDash val="solid"/>
          </a:ln>
        </p:spPr>
      </p:sp>
      <p:sp>
        <p:nvSpPr>
          <p:cNvPr id="23" name="Shape 21"/>
          <p:cNvSpPr/>
          <p:nvPr/>
        </p:nvSpPr>
        <p:spPr>
          <a:xfrm rot="2700000">
            <a:off x="850392" y="512064"/>
            <a:ext cx="109728" cy="109728"/>
          </a:xfrm>
          <a:prstGeom prst="rect">
            <a:avLst/>
          </a:prstGeom>
          <a:solidFill>
            <a:srgbClr val="C0622B">
              <a:alpha val="40000"/>
            </a:srgbClr>
          </a:solidFill>
          <a:ln w="12700">
            <a:solidFill>
              <a:srgbClr val="0E0A04"/>
            </a:solidFill>
            <a:prstDash val="solid"/>
          </a:ln>
        </p:spPr>
      </p:sp>
      <p:sp>
        <p:nvSpPr>
          <p:cNvPr id="24" name="Shape 22"/>
          <p:cNvSpPr/>
          <p:nvPr/>
        </p:nvSpPr>
        <p:spPr>
          <a:xfrm rot="2700000">
            <a:off x="1271016" y="512064"/>
            <a:ext cx="219456" cy="219456"/>
          </a:xfrm>
          <a:prstGeom prst="rect">
            <a:avLst/>
          </a:prstGeom>
          <a:solidFill>
            <a:srgbClr val="1B9A8A">
              <a:alpha val="40000"/>
            </a:srgbClr>
          </a:solidFill>
          <a:ln w="12700">
            <a:solidFill>
              <a:srgbClr val="0E0A04"/>
            </a:solidFill>
            <a:prstDash val="solid"/>
          </a:ln>
        </p:spPr>
      </p:sp>
      <p:sp>
        <p:nvSpPr>
          <p:cNvPr id="25" name="Shape 23"/>
          <p:cNvSpPr/>
          <p:nvPr/>
        </p:nvSpPr>
        <p:spPr>
          <a:xfrm rot="2700000">
            <a:off x="1691640" y="512064"/>
            <a:ext cx="155448" cy="155448"/>
          </a:xfrm>
          <a:prstGeom prst="rect">
            <a:avLst/>
          </a:prstGeom>
          <a:solidFill>
            <a:srgbClr val="D8C9A8">
              <a:alpha val="40000"/>
            </a:srgbClr>
          </a:solidFill>
          <a:ln w="12700">
            <a:solidFill>
              <a:srgbClr val="0E0A04"/>
            </a:solidFill>
            <a:prstDash val="solid"/>
          </a:ln>
        </p:spPr>
      </p:sp>
      <p:sp>
        <p:nvSpPr>
          <p:cNvPr id="26" name="Shape 24"/>
          <p:cNvSpPr/>
          <p:nvPr/>
        </p:nvSpPr>
        <p:spPr>
          <a:xfrm rot="2700000">
            <a:off x="2112264" y="512064"/>
            <a:ext cx="109728" cy="109728"/>
          </a:xfrm>
          <a:prstGeom prst="rect">
            <a:avLst/>
          </a:prstGeom>
          <a:solidFill>
            <a:srgbClr val="8B2252">
              <a:alpha val="40000"/>
            </a:srgbClr>
          </a:solidFill>
          <a:ln w="12700">
            <a:solidFill>
              <a:srgbClr val="0E0A04"/>
            </a:solidFill>
            <a:prstDash val="solid"/>
          </a:ln>
        </p:spPr>
      </p:sp>
      <p:sp>
        <p:nvSpPr>
          <p:cNvPr id="27" name="Shape 25"/>
          <p:cNvSpPr/>
          <p:nvPr/>
        </p:nvSpPr>
        <p:spPr>
          <a:xfrm rot="2700000">
            <a:off x="2532888" y="512064"/>
            <a:ext cx="109728" cy="109728"/>
          </a:xfrm>
          <a:prstGeom prst="rect">
            <a:avLst/>
          </a:prstGeom>
          <a:solidFill>
            <a:srgbClr val="6B4C20">
              <a:alpha val="40000"/>
            </a:srgbClr>
          </a:solidFill>
          <a:ln w="12700">
            <a:solidFill>
              <a:srgbClr val="0E0A04"/>
            </a:solidFill>
            <a:prstDash val="solid"/>
          </a:ln>
        </p:spPr>
      </p:sp>
      <p:sp>
        <p:nvSpPr>
          <p:cNvPr id="28" name="Shape 26"/>
          <p:cNvSpPr/>
          <p:nvPr/>
        </p:nvSpPr>
        <p:spPr>
          <a:xfrm rot="2700000">
            <a:off x="2953512" y="512064"/>
            <a:ext cx="155448" cy="155448"/>
          </a:xfrm>
          <a:prstGeom prst="rect">
            <a:avLst/>
          </a:prstGeom>
          <a:solidFill>
            <a:srgbClr val="3D2208">
              <a:alpha val="40000"/>
            </a:srgbClr>
          </a:solidFill>
          <a:ln w="12700">
            <a:solidFill>
              <a:srgbClr val="0E0A04"/>
            </a:solidFill>
            <a:prstDash val="solid"/>
          </a:ln>
        </p:spPr>
      </p:sp>
      <p:sp>
        <p:nvSpPr>
          <p:cNvPr id="29" name="Shape 27"/>
          <p:cNvSpPr/>
          <p:nvPr/>
        </p:nvSpPr>
        <p:spPr>
          <a:xfrm rot="2700000">
            <a:off x="3374136" y="512064"/>
            <a:ext cx="219456" cy="219456"/>
          </a:xfrm>
          <a:prstGeom prst="rect">
            <a:avLst/>
          </a:prstGeom>
          <a:solidFill>
            <a:srgbClr val="D4951A">
              <a:alpha val="40000"/>
            </a:srgbClr>
          </a:solidFill>
          <a:ln w="12700">
            <a:solidFill>
              <a:srgbClr val="0E0A04"/>
            </a:solidFill>
            <a:prstDash val="solid"/>
          </a:ln>
        </p:spPr>
      </p:sp>
      <p:sp>
        <p:nvSpPr>
          <p:cNvPr id="30" name="Shape 28"/>
          <p:cNvSpPr/>
          <p:nvPr/>
        </p:nvSpPr>
        <p:spPr>
          <a:xfrm rot="2700000">
            <a:off x="9144" y="786384"/>
            <a:ext cx="155448" cy="155448"/>
          </a:xfrm>
          <a:prstGeom prst="rect">
            <a:avLst/>
          </a:prstGeom>
          <a:solidFill>
            <a:srgbClr val="1B9A8A">
              <a:alpha val="31000"/>
            </a:srgbClr>
          </a:solidFill>
          <a:ln w="12700">
            <a:solidFill>
              <a:srgbClr val="0E0A04"/>
            </a:solidFill>
            <a:prstDash val="solid"/>
          </a:ln>
        </p:spPr>
      </p:sp>
      <p:sp>
        <p:nvSpPr>
          <p:cNvPr id="31" name="Shape 29"/>
          <p:cNvSpPr/>
          <p:nvPr/>
        </p:nvSpPr>
        <p:spPr>
          <a:xfrm rot="2700000">
            <a:off x="429768" y="786384"/>
            <a:ext cx="109728" cy="109728"/>
          </a:xfrm>
          <a:prstGeom prst="rect">
            <a:avLst/>
          </a:prstGeom>
          <a:solidFill>
            <a:srgbClr val="D8C9A8">
              <a:alpha val="31000"/>
            </a:srgbClr>
          </a:solidFill>
          <a:ln w="12700">
            <a:solidFill>
              <a:srgbClr val="0E0A04"/>
            </a:solidFill>
            <a:prstDash val="solid"/>
          </a:ln>
        </p:spPr>
      </p:sp>
      <p:sp>
        <p:nvSpPr>
          <p:cNvPr id="32" name="Shape 30"/>
          <p:cNvSpPr/>
          <p:nvPr/>
        </p:nvSpPr>
        <p:spPr>
          <a:xfrm rot="2700000">
            <a:off x="850392" y="786384"/>
            <a:ext cx="219456" cy="219456"/>
          </a:xfrm>
          <a:prstGeom prst="rect">
            <a:avLst/>
          </a:prstGeom>
          <a:solidFill>
            <a:srgbClr val="8B2252">
              <a:alpha val="31000"/>
            </a:srgbClr>
          </a:solidFill>
          <a:ln w="12700">
            <a:solidFill>
              <a:srgbClr val="0E0A04"/>
            </a:solidFill>
            <a:prstDash val="solid"/>
          </a:ln>
        </p:spPr>
      </p:sp>
      <p:sp>
        <p:nvSpPr>
          <p:cNvPr id="33" name="Shape 31"/>
          <p:cNvSpPr/>
          <p:nvPr/>
        </p:nvSpPr>
        <p:spPr>
          <a:xfrm rot="2700000">
            <a:off x="1271016" y="786384"/>
            <a:ext cx="155448" cy="155448"/>
          </a:xfrm>
          <a:prstGeom prst="rect">
            <a:avLst/>
          </a:prstGeom>
          <a:solidFill>
            <a:srgbClr val="6B4C20">
              <a:alpha val="31000"/>
            </a:srgbClr>
          </a:solidFill>
          <a:ln w="12700">
            <a:solidFill>
              <a:srgbClr val="0E0A04"/>
            </a:solidFill>
            <a:prstDash val="solid"/>
          </a:ln>
        </p:spPr>
      </p:sp>
      <p:sp>
        <p:nvSpPr>
          <p:cNvPr id="34" name="Shape 32"/>
          <p:cNvSpPr/>
          <p:nvPr/>
        </p:nvSpPr>
        <p:spPr>
          <a:xfrm rot="2700000">
            <a:off x="1691640" y="786384"/>
            <a:ext cx="109728" cy="109728"/>
          </a:xfrm>
          <a:prstGeom prst="rect">
            <a:avLst/>
          </a:prstGeom>
          <a:solidFill>
            <a:srgbClr val="3D2208">
              <a:alpha val="31000"/>
            </a:srgbClr>
          </a:solidFill>
          <a:ln w="12700">
            <a:solidFill>
              <a:srgbClr val="0E0A04"/>
            </a:solidFill>
            <a:prstDash val="solid"/>
          </a:ln>
        </p:spPr>
      </p:sp>
      <p:sp>
        <p:nvSpPr>
          <p:cNvPr id="35" name="Shape 33"/>
          <p:cNvSpPr/>
          <p:nvPr/>
        </p:nvSpPr>
        <p:spPr>
          <a:xfrm rot="2700000">
            <a:off x="2112264" y="786384"/>
            <a:ext cx="109728" cy="109728"/>
          </a:xfrm>
          <a:prstGeom prst="rect">
            <a:avLst/>
          </a:prstGeom>
          <a:solidFill>
            <a:srgbClr val="D4951A">
              <a:alpha val="31000"/>
            </a:srgbClr>
          </a:solidFill>
          <a:ln w="12700">
            <a:solidFill>
              <a:srgbClr val="0E0A04"/>
            </a:solidFill>
            <a:prstDash val="solid"/>
          </a:ln>
        </p:spPr>
      </p:sp>
      <p:sp>
        <p:nvSpPr>
          <p:cNvPr id="36" name="Shape 34"/>
          <p:cNvSpPr/>
          <p:nvPr/>
        </p:nvSpPr>
        <p:spPr>
          <a:xfrm rot="2700000">
            <a:off x="2532888" y="786384"/>
            <a:ext cx="155448" cy="155448"/>
          </a:xfrm>
          <a:prstGeom prst="rect">
            <a:avLst/>
          </a:prstGeom>
          <a:solidFill>
            <a:srgbClr val="C0622B">
              <a:alpha val="31000"/>
            </a:srgbClr>
          </a:solidFill>
          <a:ln w="12700">
            <a:solidFill>
              <a:srgbClr val="0E0A04"/>
            </a:solidFill>
            <a:prstDash val="solid"/>
          </a:ln>
        </p:spPr>
      </p:sp>
      <p:sp>
        <p:nvSpPr>
          <p:cNvPr id="37" name="Shape 35"/>
          <p:cNvSpPr/>
          <p:nvPr/>
        </p:nvSpPr>
        <p:spPr>
          <a:xfrm rot="2700000">
            <a:off x="2953512" y="786384"/>
            <a:ext cx="219456" cy="219456"/>
          </a:xfrm>
          <a:prstGeom prst="rect">
            <a:avLst/>
          </a:prstGeom>
          <a:solidFill>
            <a:srgbClr val="1B9A8A">
              <a:alpha val="31000"/>
            </a:srgbClr>
          </a:solidFill>
          <a:ln w="12700">
            <a:solidFill>
              <a:srgbClr val="0E0A04"/>
            </a:solidFill>
            <a:prstDash val="solid"/>
          </a:ln>
        </p:spPr>
      </p:sp>
      <p:sp>
        <p:nvSpPr>
          <p:cNvPr id="38" name="Shape 36"/>
          <p:cNvSpPr/>
          <p:nvPr/>
        </p:nvSpPr>
        <p:spPr>
          <a:xfrm rot="2700000">
            <a:off x="3374136" y="786384"/>
            <a:ext cx="109728" cy="109728"/>
          </a:xfrm>
          <a:prstGeom prst="rect">
            <a:avLst/>
          </a:prstGeom>
          <a:solidFill>
            <a:srgbClr val="D8C9A8">
              <a:alpha val="31000"/>
            </a:srgbClr>
          </a:solidFill>
          <a:ln w="12700">
            <a:solidFill>
              <a:srgbClr val="0E0A04"/>
            </a:solidFill>
            <a:prstDash val="solid"/>
          </a:ln>
        </p:spPr>
      </p:sp>
      <p:sp>
        <p:nvSpPr>
          <p:cNvPr id="39" name="Shape 37"/>
          <p:cNvSpPr/>
          <p:nvPr/>
        </p:nvSpPr>
        <p:spPr>
          <a:xfrm rot="2700000">
            <a:off x="9144" y="1060704"/>
            <a:ext cx="109728" cy="109728"/>
          </a:xfrm>
          <a:prstGeom prst="rect">
            <a:avLst/>
          </a:prstGeom>
          <a:solidFill>
            <a:srgbClr val="6B4C20">
              <a:alpha val="22000"/>
            </a:srgbClr>
          </a:solidFill>
          <a:ln w="12700">
            <a:solidFill>
              <a:srgbClr val="0E0A04"/>
            </a:solidFill>
            <a:prstDash val="solid"/>
          </a:ln>
        </p:spPr>
      </p:sp>
      <p:sp>
        <p:nvSpPr>
          <p:cNvPr id="40" name="Shape 38"/>
          <p:cNvSpPr/>
          <p:nvPr/>
        </p:nvSpPr>
        <p:spPr>
          <a:xfrm rot="2700000">
            <a:off x="429768" y="1060704"/>
            <a:ext cx="219456" cy="219456"/>
          </a:xfrm>
          <a:prstGeom prst="rect">
            <a:avLst/>
          </a:prstGeom>
          <a:solidFill>
            <a:srgbClr val="3D2208">
              <a:alpha val="22000"/>
            </a:srgbClr>
          </a:solidFill>
          <a:ln w="12700">
            <a:solidFill>
              <a:srgbClr val="0E0A04"/>
            </a:solidFill>
            <a:prstDash val="solid"/>
          </a:ln>
        </p:spPr>
      </p:sp>
      <p:sp>
        <p:nvSpPr>
          <p:cNvPr id="41" name="Shape 39"/>
          <p:cNvSpPr/>
          <p:nvPr/>
        </p:nvSpPr>
        <p:spPr>
          <a:xfrm rot="2700000">
            <a:off x="850392" y="1060704"/>
            <a:ext cx="155448" cy="155448"/>
          </a:xfrm>
          <a:prstGeom prst="rect">
            <a:avLst/>
          </a:prstGeom>
          <a:solidFill>
            <a:srgbClr val="D4951A">
              <a:alpha val="22000"/>
            </a:srgbClr>
          </a:solidFill>
          <a:ln w="12700">
            <a:solidFill>
              <a:srgbClr val="0E0A04"/>
            </a:solidFill>
            <a:prstDash val="solid"/>
          </a:ln>
        </p:spPr>
      </p:sp>
      <p:sp>
        <p:nvSpPr>
          <p:cNvPr id="42" name="Shape 40"/>
          <p:cNvSpPr/>
          <p:nvPr/>
        </p:nvSpPr>
        <p:spPr>
          <a:xfrm rot="2700000">
            <a:off x="1271016" y="1060704"/>
            <a:ext cx="109728" cy="109728"/>
          </a:xfrm>
          <a:prstGeom prst="rect">
            <a:avLst/>
          </a:prstGeom>
          <a:solidFill>
            <a:srgbClr val="C0622B">
              <a:alpha val="22000"/>
            </a:srgbClr>
          </a:solidFill>
          <a:ln w="12700">
            <a:solidFill>
              <a:srgbClr val="0E0A04"/>
            </a:solidFill>
            <a:prstDash val="solid"/>
          </a:ln>
        </p:spPr>
      </p:sp>
      <p:sp>
        <p:nvSpPr>
          <p:cNvPr id="43" name="Shape 41"/>
          <p:cNvSpPr/>
          <p:nvPr/>
        </p:nvSpPr>
        <p:spPr>
          <a:xfrm rot="2700000">
            <a:off x="1691640" y="1060704"/>
            <a:ext cx="109728" cy="109728"/>
          </a:xfrm>
          <a:prstGeom prst="rect">
            <a:avLst/>
          </a:prstGeom>
          <a:solidFill>
            <a:srgbClr val="1B9A8A">
              <a:alpha val="22000"/>
            </a:srgbClr>
          </a:solidFill>
          <a:ln w="12700">
            <a:solidFill>
              <a:srgbClr val="0E0A04"/>
            </a:solidFill>
            <a:prstDash val="solid"/>
          </a:ln>
        </p:spPr>
      </p:sp>
      <p:sp>
        <p:nvSpPr>
          <p:cNvPr id="44" name="Shape 42"/>
          <p:cNvSpPr/>
          <p:nvPr/>
        </p:nvSpPr>
        <p:spPr>
          <a:xfrm rot="2700000">
            <a:off x="2112264" y="1060704"/>
            <a:ext cx="155448" cy="155448"/>
          </a:xfrm>
          <a:prstGeom prst="rect">
            <a:avLst/>
          </a:prstGeom>
          <a:solidFill>
            <a:srgbClr val="D8C9A8">
              <a:alpha val="22000"/>
            </a:srgbClr>
          </a:solidFill>
          <a:ln w="12700">
            <a:solidFill>
              <a:srgbClr val="0E0A04"/>
            </a:solidFill>
            <a:prstDash val="solid"/>
          </a:ln>
        </p:spPr>
      </p:sp>
      <p:sp>
        <p:nvSpPr>
          <p:cNvPr id="45" name="Shape 43"/>
          <p:cNvSpPr/>
          <p:nvPr/>
        </p:nvSpPr>
        <p:spPr>
          <a:xfrm rot="2700000">
            <a:off x="2532888" y="1060704"/>
            <a:ext cx="219456" cy="219456"/>
          </a:xfrm>
          <a:prstGeom prst="rect">
            <a:avLst/>
          </a:prstGeom>
          <a:solidFill>
            <a:srgbClr val="8B2252">
              <a:alpha val="22000"/>
            </a:srgbClr>
          </a:solidFill>
          <a:ln w="12700">
            <a:solidFill>
              <a:srgbClr val="0E0A04"/>
            </a:solidFill>
            <a:prstDash val="solid"/>
          </a:ln>
        </p:spPr>
      </p:sp>
      <p:sp>
        <p:nvSpPr>
          <p:cNvPr id="46" name="Shape 44"/>
          <p:cNvSpPr/>
          <p:nvPr/>
        </p:nvSpPr>
        <p:spPr>
          <a:xfrm rot="2700000">
            <a:off x="2953512" y="1060704"/>
            <a:ext cx="109728" cy="109728"/>
          </a:xfrm>
          <a:prstGeom prst="rect">
            <a:avLst/>
          </a:prstGeom>
          <a:solidFill>
            <a:srgbClr val="6B4C20">
              <a:alpha val="22000"/>
            </a:srgbClr>
          </a:solidFill>
          <a:ln w="12700">
            <a:solidFill>
              <a:srgbClr val="0E0A04"/>
            </a:solidFill>
            <a:prstDash val="solid"/>
          </a:ln>
        </p:spPr>
      </p:sp>
      <p:sp>
        <p:nvSpPr>
          <p:cNvPr id="47" name="Shape 45"/>
          <p:cNvSpPr/>
          <p:nvPr/>
        </p:nvSpPr>
        <p:spPr>
          <a:xfrm rot="2700000">
            <a:off x="3374136" y="1060704"/>
            <a:ext cx="155448" cy="155448"/>
          </a:xfrm>
          <a:prstGeom prst="rect">
            <a:avLst/>
          </a:prstGeom>
          <a:solidFill>
            <a:srgbClr val="3D2208">
              <a:alpha val="22000"/>
            </a:srgbClr>
          </a:solidFill>
          <a:ln w="12700">
            <a:solidFill>
              <a:srgbClr val="0E0A04"/>
            </a:solidFill>
            <a:prstDash val="solid"/>
          </a:ln>
        </p:spPr>
      </p:sp>
      <p:sp>
        <p:nvSpPr>
          <p:cNvPr id="48" name="Shape 46"/>
          <p:cNvSpPr/>
          <p:nvPr/>
        </p:nvSpPr>
        <p:spPr>
          <a:xfrm rot="2700000">
            <a:off x="9144" y="1335024"/>
            <a:ext cx="219456" cy="219456"/>
          </a:xfrm>
          <a:prstGeom prst="rect">
            <a:avLst/>
          </a:prstGeom>
          <a:solidFill>
            <a:srgbClr val="C0622B">
              <a:alpha val="58000"/>
            </a:srgbClr>
          </a:solidFill>
          <a:ln w="12700">
            <a:solidFill>
              <a:srgbClr val="0E0A04"/>
            </a:solidFill>
            <a:prstDash val="solid"/>
          </a:ln>
        </p:spPr>
      </p:sp>
      <p:sp>
        <p:nvSpPr>
          <p:cNvPr id="49" name="Shape 47"/>
          <p:cNvSpPr/>
          <p:nvPr/>
        </p:nvSpPr>
        <p:spPr>
          <a:xfrm rot="2700000">
            <a:off x="429768" y="1335024"/>
            <a:ext cx="155448" cy="155448"/>
          </a:xfrm>
          <a:prstGeom prst="rect">
            <a:avLst/>
          </a:prstGeom>
          <a:solidFill>
            <a:srgbClr val="1B9A8A">
              <a:alpha val="58000"/>
            </a:srgbClr>
          </a:solidFill>
          <a:ln w="12700">
            <a:solidFill>
              <a:srgbClr val="0E0A04"/>
            </a:solidFill>
            <a:prstDash val="solid"/>
          </a:ln>
        </p:spPr>
      </p:sp>
      <p:sp>
        <p:nvSpPr>
          <p:cNvPr id="50" name="Shape 48"/>
          <p:cNvSpPr/>
          <p:nvPr/>
        </p:nvSpPr>
        <p:spPr>
          <a:xfrm rot="2700000">
            <a:off x="850392" y="1335024"/>
            <a:ext cx="109728" cy="109728"/>
          </a:xfrm>
          <a:prstGeom prst="rect">
            <a:avLst/>
          </a:prstGeom>
          <a:solidFill>
            <a:srgbClr val="D8C9A8">
              <a:alpha val="58000"/>
            </a:srgbClr>
          </a:solidFill>
          <a:ln w="12700">
            <a:solidFill>
              <a:srgbClr val="0E0A04"/>
            </a:solidFill>
            <a:prstDash val="solid"/>
          </a:ln>
        </p:spPr>
      </p:sp>
      <p:sp>
        <p:nvSpPr>
          <p:cNvPr id="51" name="Shape 49"/>
          <p:cNvSpPr/>
          <p:nvPr/>
        </p:nvSpPr>
        <p:spPr>
          <a:xfrm rot="2700000">
            <a:off x="1271016" y="1335024"/>
            <a:ext cx="109728" cy="109728"/>
          </a:xfrm>
          <a:prstGeom prst="rect">
            <a:avLst/>
          </a:prstGeom>
          <a:solidFill>
            <a:srgbClr val="8B2252">
              <a:alpha val="58000"/>
            </a:srgbClr>
          </a:solidFill>
          <a:ln w="12700">
            <a:solidFill>
              <a:srgbClr val="0E0A04"/>
            </a:solidFill>
            <a:prstDash val="solid"/>
          </a:ln>
        </p:spPr>
      </p:sp>
      <p:sp>
        <p:nvSpPr>
          <p:cNvPr id="52" name="Shape 50"/>
          <p:cNvSpPr/>
          <p:nvPr/>
        </p:nvSpPr>
        <p:spPr>
          <a:xfrm rot="2700000">
            <a:off x="1691640" y="1335024"/>
            <a:ext cx="155448" cy="155448"/>
          </a:xfrm>
          <a:prstGeom prst="rect">
            <a:avLst/>
          </a:prstGeom>
          <a:solidFill>
            <a:srgbClr val="6B4C20">
              <a:alpha val="58000"/>
            </a:srgbClr>
          </a:solidFill>
          <a:ln w="12700">
            <a:solidFill>
              <a:srgbClr val="0E0A04"/>
            </a:solidFill>
            <a:prstDash val="solid"/>
          </a:ln>
        </p:spPr>
      </p:sp>
      <p:sp>
        <p:nvSpPr>
          <p:cNvPr id="53" name="Shape 51"/>
          <p:cNvSpPr/>
          <p:nvPr/>
        </p:nvSpPr>
        <p:spPr>
          <a:xfrm rot="2700000">
            <a:off x="2112264" y="1335024"/>
            <a:ext cx="219456" cy="219456"/>
          </a:xfrm>
          <a:prstGeom prst="rect">
            <a:avLst/>
          </a:prstGeom>
          <a:solidFill>
            <a:srgbClr val="3D2208">
              <a:alpha val="58000"/>
            </a:srgbClr>
          </a:solidFill>
          <a:ln w="12700">
            <a:solidFill>
              <a:srgbClr val="0E0A04"/>
            </a:solidFill>
            <a:prstDash val="solid"/>
          </a:ln>
        </p:spPr>
      </p:sp>
      <p:sp>
        <p:nvSpPr>
          <p:cNvPr id="54" name="Shape 52"/>
          <p:cNvSpPr/>
          <p:nvPr/>
        </p:nvSpPr>
        <p:spPr>
          <a:xfrm rot="2700000">
            <a:off x="2532888" y="1335024"/>
            <a:ext cx="109728" cy="109728"/>
          </a:xfrm>
          <a:prstGeom prst="rect">
            <a:avLst/>
          </a:prstGeom>
          <a:solidFill>
            <a:srgbClr val="D4951A">
              <a:alpha val="58000"/>
            </a:srgbClr>
          </a:solidFill>
          <a:ln w="12700">
            <a:solidFill>
              <a:srgbClr val="0E0A04"/>
            </a:solidFill>
            <a:prstDash val="solid"/>
          </a:ln>
        </p:spPr>
      </p:sp>
      <p:sp>
        <p:nvSpPr>
          <p:cNvPr id="55" name="Shape 53"/>
          <p:cNvSpPr/>
          <p:nvPr/>
        </p:nvSpPr>
        <p:spPr>
          <a:xfrm rot="2700000">
            <a:off x="2953512" y="1335024"/>
            <a:ext cx="155448" cy="155448"/>
          </a:xfrm>
          <a:prstGeom prst="rect">
            <a:avLst/>
          </a:prstGeom>
          <a:solidFill>
            <a:srgbClr val="C0622B">
              <a:alpha val="58000"/>
            </a:srgbClr>
          </a:solidFill>
          <a:ln w="12700">
            <a:solidFill>
              <a:srgbClr val="0E0A04"/>
            </a:solidFill>
            <a:prstDash val="solid"/>
          </a:ln>
        </p:spPr>
      </p:sp>
      <p:sp>
        <p:nvSpPr>
          <p:cNvPr id="56" name="Shape 54"/>
          <p:cNvSpPr/>
          <p:nvPr/>
        </p:nvSpPr>
        <p:spPr>
          <a:xfrm rot="2700000">
            <a:off x="3374136" y="1335024"/>
            <a:ext cx="109728" cy="109728"/>
          </a:xfrm>
          <a:prstGeom prst="rect">
            <a:avLst/>
          </a:prstGeom>
          <a:solidFill>
            <a:srgbClr val="1B9A8A">
              <a:alpha val="58000"/>
            </a:srgbClr>
          </a:solidFill>
          <a:ln w="12700">
            <a:solidFill>
              <a:srgbClr val="0E0A04"/>
            </a:solidFill>
            <a:prstDash val="solid"/>
          </a:ln>
        </p:spPr>
      </p:sp>
      <p:sp>
        <p:nvSpPr>
          <p:cNvPr id="57" name="Shape 55"/>
          <p:cNvSpPr/>
          <p:nvPr/>
        </p:nvSpPr>
        <p:spPr>
          <a:xfrm rot="2700000">
            <a:off x="9144" y="1609344"/>
            <a:ext cx="155448" cy="155448"/>
          </a:xfrm>
          <a:prstGeom prst="rect">
            <a:avLst/>
          </a:prstGeom>
          <a:solidFill>
            <a:srgbClr val="8B2252">
              <a:alpha val="49000"/>
            </a:srgbClr>
          </a:solidFill>
          <a:ln w="12700">
            <a:solidFill>
              <a:srgbClr val="0E0A04"/>
            </a:solidFill>
            <a:prstDash val="solid"/>
          </a:ln>
        </p:spPr>
      </p:sp>
      <p:sp>
        <p:nvSpPr>
          <p:cNvPr id="58" name="Shape 56"/>
          <p:cNvSpPr/>
          <p:nvPr/>
        </p:nvSpPr>
        <p:spPr>
          <a:xfrm rot="2700000">
            <a:off x="429768" y="1609344"/>
            <a:ext cx="109728" cy="109728"/>
          </a:xfrm>
          <a:prstGeom prst="rect">
            <a:avLst/>
          </a:prstGeom>
          <a:solidFill>
            <a:srgbClr val="6B4C20">
              <a:alpha val="49000"/>
            </a:srgbClr>
          </a:solidFill>
          <a:ln w="12700">
            <a:solidFill>
              <a:srgbClr val="0E0A04"/>
            </a:solidFill>
            <a:prstDash val="solid"/>
          </a:ln>
        </p:spPr>
      </p:sp>
      <p:sp>
        <p:nvSpPr>
          <p:cNvPr id="59" name="Shape 57"/>
          <p:cNvSpPr/>
          <p:nvPr/>
        </p:nvSpPr>
        <p:spPr>
          <a:xfrm rot="2700000">
            <a:off x="850392" y="1609344"/>
            <a:ext cx="109728" cy="109728"/>
          </a:xfrm>
          <a:prstGeom prst="rect">
            <a:avLst/>
          </a:prstGeom>
          <a:solidFill>
            <a:srgbClr val="3D2208">
              <a:alpha val="49000"/>
            </a:srgbClr>
          </a:solidFill>
          <a:ln w="12700">
            <a:solidFill>
              <a:srgbClr val="0E0A04"/>
            </a:solidFill>
            <a:prstDash val="solid"/>
          </a:ln>
        </p:spPr>
      </p:sp>
      <p:sp>
        <p:nvSpPr>
          <p:cNvPr id="60" name="Shape 58"/>
          <p:cNvSpPr/>
          <p:nvPr/>
        </p:nvSpPr>
        <p:spPr>
          <a:xfrm rot="2700000">
            <a:off x="1271016" y="1609344"/>
            <a:ext cx="155448" cy="155448"/>
          </a:xfrm>
          <a:prstGeom prst="rect">
            <a:avLst/>
          </a:prstGeom>
          <a:solidFill>
            <a:srgbClr val="D4951A">
              <a:alpha val="49000"/>
            </a:srgbClr>
          </a:solidFill>
          <a:ln w="12700">
            <a:solidFill>
              <a:srgbClr val="0E0A04"/>
            </a:solidFill>
            <a:prstDash val="solid"/>
          </a:ln>
        </p:spPr>
      </p:sp>
      <p:sp>
        <p:nvSpPr>
          <p:cNvPr id="61" name="Shape 59"/>
          <p:cNvSpPr/>
          <p:nvPr/>
        </p:nvSpPr>
        <p:spPr>
          <a:xfrm rot="2700000">
            <a:off x="1691640" y="1609344"/>
            <a:ext cx="219456" cy="219456"/>
          </a:xfrm>
          <a:prstGeom prst="rect">
            <a:avLst/>
          </a:prstGeom>
          <a:solidFill>
            <a:srgbClr val="C0622B">
              <a:alpha val="49000"/>
            </a:srgbClr>
          </a:solidFill>
          <a:ln w="12700">
            <a:solidFill>
              <a:srgbClr val="0E0A04"/>
            </a:solidFill>
            <a:prstDash val="solid"/>
          </a:ln>
        </p:spPr>
      </p:sp>
      <p:sp>
        <p:nvSpPr>
          <p:cNvPr id="62" name="Shape 60"/>
          <p:cNvSpPr/>
          <p:nvPr/>
        </p:nvSpPr>
        <p:spPr>
          <a:xfrm rot="2700000">
            <a:off x="2112264" y="1609344"/>
            <a:ext cx="109728" cy="109728"/>
          </a:xfrm>
          <a:prstGeom prst="rect">
            <a:avLst/>
          </a:prstGeom>
          <a:solidFill>
            <a:srgbClr val="1B9A8A">
              <a:alpha val="49000"/>
            </a:srgbClr>
          </a:solidFill>
          <a:ln w="12700">
            <a:solidFill>
              <a:srgbClr val="0E0A04"/>
            </a:solidFill>
            <a:prstDash val="solid"/>
          </a:ln>
        </p:spPr>
      </p:sp>
      <p:sp>
        <p:nvSpPr>
          <p:cNvPr id="63" name="Shape 61"/>
          <p:cNvSpPr/>
          <p:nvPr/>
        </p:nvSpPr>
        <p:spPr>
          <a:xfrm rot="2700000">
            <a:off x="2532888" y="1609344"/>
            <a:ext cx="155448" cy="155448"/>
          </a:xfrm>
          <a:prstGeom prst="rect">
            <a:avLst/>
          </a:prstGeom>
          <a:solidFill>
            <a:srgbClr val="D8C9A8">
              <a:alpha val="49000"/>
            </a:srgbClr>
          </a:solidFill>
          <a:ln w="12700">
            <a:solidFill>
              <a:srgbClr val="0E0A04"/>
            </a:solidFill>
            <a:prstDash val="solid"/>
          </a:ln>
        </p:spPr>
      </p:sp>
      <p:sp>
        <p:nvSpPr>
          <p:cNvPr id="64" name="Shape 62"/>
          <p:cNvSpPr/>
          <p:nvPr/>
        </p:nvSpPr>
        <p:spPr>
          <a:xfrm rot="2700000">
            <a:off x="2953512" y="1609344"/>
            <a:ext cx="109728" cy="109728"/>
          </a:xfrm>
          <a:prstGeom prst="rect">
            <a:avLst/>
          </a:prstGeom>
          <a:solidFill>
            <a:srgbClr val="8B2252">
              <a:alpha val="49000"/>
            </a:srgbClr>
          </a:solidFill>
          <a:ln w="12700">
            <a:solidFill>
              <a:srgbClr val="0E0A04"/>
            </a:solidFill>
            <a:prstDash val="solid"/>
          </a:ln>
        </p:spPr>
      </p:sp>
      <p:sp>
        <p:nvSpPr>
          <p:cNvPr id="65" name="Shape 63"/>
          <p:cNvSpPr/>
          <p:nvPr/>
        </p:nvSpPr>
        <p:spPr>
          <a:xfrm rot="2700000">
            <a:off x="3374136" y="1609344"/>
            <a:ext cx="109728" cy="109728"/>
          </a:xfrm>
          <a:prstGeom prst="rect">
            <a:avLst/>
          </a:prstGeom>
          <a:solidFill>
            <a:srgbClr val="6B4C20">
              <a:alpha val="49000"/>
            </a:srgbClr>
          </a:solidFill>
          <a:ln w="12700">
            <a:solidFill>
              <a:srgbClr val="0E0A04"/>
            </a:solidFill>
            <a:prstDash val="solid"/>
          </a:ln>
        </p:spPr>
      </p:sp>
      <p:sp>
        <p:nvSpPr>
          <p:cNvPr id="66" name="Shape 64"/>
          <p:cNvSpPr/>
          <p:nvPr/>
        </p:nvSpPr>
        <p:spPr>
          <a:xfrm rot="2700000">
            <a:off x="9144" y="1883664"/>
            <a:ext cx="109728" cy="109728"/>
          </a:xfrm>
          <a:prstGeom prst="rect">
            <a:avLst/>
          </a:prstGeom>
          <a:solidFill>
            <a:srgbClr val="D4951A">
              <a:alpha val="40000"/>
            </a:srgbClr>
          </a:solidFill>
          <a:ln w="12700">
            <a:solidFill>
              <a:srgbClr val="0E0A04"/>
            </a:solidFill>
            <a:prstDash val="solid"/>
          </a:ln>
        </p:spPr>
      </p:sp>
      <p:sp>
        <p:nvSpPr>
          <p:cNvPr id="67" name="Shape 65"/>
          <p:cNvSpPr/>
          <p:nvPr/>
        </p:nvSpPr>
        <p:spPr>
          <a:xfrm rot="2700000">
            <a:off x="429768" y="1883664"/>
            <a:ext cx="109728" cy="109728"/>
          </a:xfrm>
          <a:prstGeom prst="rect">
            <a:avLst/>
          </a:prstGeom>
          <a:solidFill>
            <a:srgbClr val="C0622B">
              <a:alpha val="40000"/>
            </a:srgbClr>
          </a:solidFill>
          <a:ln w="12700">
            <a:solidFill>
              <a:srgbClr val="0E0A04"/>
            </a:solidFill>
            <a:prstDash val="solid"/>
          </a:ln>
        </p:spPr>
      </p:sp>
      <p:sp>
        <p:nvSpPr>
          <p:cNvPr id="68" name="Shape 66"/>
          <p:cNvSpPr/>
          <p:nvPr/>
        </p:nvSpPr>
        <p:spPr>
          <a:xfrm rot="2700000">
            <a:off x="850392" y="1883664"/>
            <a:ext cx="155448" cy="155448"/>
          </a:xfrm>
          <a:prstGeom prst="rect">
            <a:avLst/>
          </a:prstGeom>
          <a:solidFill>
            <a:srgbClr val="1B9A8A">
              <a:alpha val="40000"/>
            </a:srgbClr>
          </a:solidFill>
          <a:ln w="12700">
            <a:solidFill>
              <a:srgbClr val="0E0A04"/>
            </a:solidFill>
            <a:prstDash val="solid"/>
          </a:ln>
        </p:spPr>
      </p:sp>
      <p:sp>
        <p:nvSpPr>
          <p:cNvPr id="69" name="Shape 67"/>
          <p:cNvSpPr/>
          <p:nvPr/>
        </p:nvSpPr>
        <p:spPr>
          <a:xfrm rot="2700000">
            <a:off x="1271016" y="1883664"/>
            <a:ext cx="219456" cy="219456"/>
          </a:xfrm>
          <a:prstGeom prst="rect">
            <a:avLst/>
          </a:prstGeom>
          <a:solidFill>
            <a:srgbClr val="D8C9A8">
              <a:alpha val="40000"/>
            </a:srgbClr>
          </a:solidFill>
          <a:ln w="12700">
            <a:solidFill>
              <a:srgbClr val="0E0A04"/>
            </a:solidFill>
            <a:prstDash val="solid"/>
          </a:ln>
        </p:spPr>
      </p:sp>
      <p:sp>
        <p:nvSpPr>
          <p:cNvPr id="70" name="Shape 68"/>
          <p:cNvSpPr/>
          <p:nvPr/>
        </p:nvSpPr>
        <p:spPr>
          <a:xfrm rot="2700000">
            <a:off x="1691640" y="1883664"/>
            <a:ext cx="109728" cy="109728"/>
          </a:xfrm>
          <a:prstGeom prst="rect">
            <a:avLst/>
          </a:prstGeom>
          <a:solidFill>
            <a:srgbClr val="8B2252">
              <a:alpha val="40000"/>
            </a:srgbClr>
          </a:solidFill>
          <a:ln w="12700">
            <a:solidFill>
              <a:srgbClr val="0E0A04"/>
            </a:solidFill>
            <a:prstDash val="solid"/>
          </a:ln>
        </p:spPr>
      </p:sp>
      <p:sp>
        <p:nvSpPr>
          <p:cNvPr id="71" name="Shape 69"/>
          <p:cNvSpPr/>
          <p:nvPr/>
        </p:nvSpPr>
        <p:spPr>
          <a:xfrm rot="2700000">
            <a:off x="2112264" y="1883664"/>
            <a:ext cx="155448" cy="155448"/>
          </a:xfrm>
          <a:prstGeom prst="rect">
            <a:avLst/>
          </a:prstGeom>
          <a:solidFill>
            <a:srgbClr val="6B4C20">
              <a:alpha val="40000"/>
            </a:srgbClr>
          </a:solidFill>
          <a:ln w="12700">
            <a:solidFill>
              <a:srgbClr val="0E0A04"/>
            </a:solidFill>
            <a:prstDash val="solid"/>
          </a:ln>
        </p:spPr>
      </p:sp>
      <p:sp>
        <p:nvSpPr>
          <p:cNvPr id="72" name="Shape 70"/>
          <p:cNvSpPr/>
          <p:nvPr/>
        </p:nvSpPr>
        <p:spPr>
          <a:xfrm rot="2700000">
            <a:off x="2532888" y="1883664"/>
            <a:ext cx="109728" cy="109728"/>
          </a:xfrm>
          <a:prstGeom prst="rect">
            <a:avLst/>
          </a:prstGeom>
          <a:solidFill>
            <a:srgbClr val="3D2208">
              <a:alpha val="40000"/>
            </a:srgbClr>
          </a:solidFill>
          <a:ln w="12700">
            <a:solidFill>
              <a:srgbClr val="0E0A04"/>
            </a:solidFill>
            <a:prstDash val="solid"/>
          </a:ln>
        </p:spPr>
      </p:sp>
      <p:sp>
        <p:nvSpPr>
          <p:cNvPr id="73" name="Shape 71"/>
          <p:cNvSpPr/>
          <p:nvPr/>
        </p:nvSpPr>
        <p:spPr>
          <a:xfrm rot="2700000">
            <a:off x="2953512" y="1883664"/>
            <a:ext cx="109728" cy="109728"/>
          </a:xfrm>
          <a:prstGeom prst="rect">
            <a:avLst/>
          </a:prstGeom>
          <a:solidFill>
            <a:srgbClr val="D4951A">
              <a:alpha val="40000"/>
            </a:srgbClr>
          </a:solidFill>
          <a:ln w="12700">
            <a:solidFill>
              <a:srgbClr val="0E0A04"/>
            </a:solidFill>
            <a:prstDash val="solid"/>
          </a:ln>
        </p:spPr>
      </p:sp>
      <p:sp>
        <p:nvSpPr>
          <p:cNvPr id="74" name="Shape 72"/>
          <p:cNvSpPr/>
          <p:nvPr/>
        </p:nvSpPr>
        <p:spPr>
          <a:xfrm rot="2700000">
            <a:off x="3374136" y="1883664"/>
            <a:ext cx="219456" cy="219456"/>
          </a:xfrm>
          <a:prstGeom prst="rect">
            <a:avLst/>
          </a:prstGeom>
          <a:solidFill>
            <a:srgbClr val="C0622B">
              <a:alpha val="40000"/>
            </a:srgbClr>
          </a:solidFill>
          <a:ln w="12700">
            <a:solidFill>
              <a:srgbClr val="0E0A04"/>
            </a:solidFill>
            <a:prstDash val="solid"/>
          </a:ln>
        </p:spPr>
      </p:sp>
      <p:sp>
        <p:nvSpPr>
          <p:cNvPr id="75" name="Shape 73"/>
          <p:cNvSpPr/>
          <p:nvPr/>
        </p:nvSpPr>
        <p:spPr>
          <a:xfrm rot="2700000">
            <a:off x="9144" y="2157984"/>
            <a:ext cx="109728" cy="109728"/>
          </a:xfrm>
          <a:prstGeom prst="rect">
            <a:avLst/>
          </a:prstGeom>
          <a:solidFill>
            <a:srgbClr val="D8C9A8">
              <a:alpha val="31000"/>
            </a:srgbClr>
          </a:solidFill>
          <a:ln w="12700">
            <a:solidFill>
              <a:srgbClr val="0E0A04"/>
            </a:solidFill>
            <a:prstDash val="solid"/>
          </a:ln>
        </p:spPr>
      </p:sp>
      <p:sp>
        <p:nvSpPr>
          <p:cNvPr id="76" name="Shape 74"/>
          <p:cNvSpPr/>
          <p:nvPr/>
        </p:nvSpPr>
        <p:spPr>
          <a:xfrm rot="2700000">
            <a:off x="429768" y="2157984"/>
            <a:ext cx="155448" cy="155448"/>
          </a:xfrm>
          <a:prstGeom prst="rect">
            <a:avLst/>
          </a:prstGeom>
          <a:solidFill>
            <a:srgbClr val="8B2252">
              <a:alpha val="31000"/>
            </a:srgbClr>
          </a:solidFill>
          <a:ln w="12700">
            <a:solidFill>
              <a:srgbClr val="0E0A04"/>
            </a:solidFill>
            <a:prstDash val="solid"/>
          </a:ln>
        </p:spPr>
      </p:sp>
      <p:sp>
        <p:nvSpPr>
          <p:cNvPr id="77" name="Shape 75"/>
          <p:cNvSpPr/>
          <p:nvPr/>
        </p:nvSpPr>
        <p:spPr>
          <a:xfrm rot="2700000">
            <a:off x="850392" y="2157984"/>
            <a:ext cx="219456" cy="219456"/>
          </a:xfrm>
          <a:prstGeom prst="rect">
            <a:avLst/>
          </a:prstGeom>
          <a:solidFill>
            <a:srgbClr val="6B4C20">
              <a:alpha val="31000"/>
            </a:srgbClr>
          </a:solidFill>
          <a:ln w="12700">
            <a:solidFill>
              <a:srgbClr val="0E0A04"/>
            </a:solidFill>
            <a:prstDash val="solid"/>
          </a:ln>
        </p:spPr>
      </p:sp>
      <p:sp>
        <p:nvSpPr>
          <p:cNvPr id="78" name="Shape 76"/>
          <p:cNvSpPr/>
          <p:nvPr/>
        </p:nvSpPr>
        <p:spPr>
          <a:xfrm rot="2700000">
            <a:off x="1271016" y="2157984"/>
            <a:ext cx="109728" cy="109728"/>
          </a:xfrm>
          <a:prstGeom prst="rect">
            <a:avLst/>
          </a:prstGeom>
          <a:solidFill>
            <a:srgbClr val="3D2208">
              <a:alpha val="31000"/>
            </a:srgbClr>
          </a:solidFill>
          <a:ln w="12700">
            <a:solidFill>
              <a:srgbClr val="0E0A04"/>
            </a:solidFill>
            <a:prstDash val="solid"/>
          </a:ln>
        </p:spPr>
      </p:sp>
      <p:sp>
        <p:nvSpPr>
          <p:cNvPr id="79" name="Shape 77"/>
          <p:cNvSpPr/>
          <p:nvPr/>
        </p:nvSpPr>
        <p:spPr>
          <a:xfrm rot="2700000">
            <a:off x="1691640" y="2157984"/>
            <a:ext cx="155448" cy="155448"/>
          </a:xfrm>
          <a:prstGeom prst="rect">
            <a:avLst/>
          </a:prstGeom>
          <a:solidFill>
            <a:srgbClr val="D4951A">
              <a:alpha val="31000"/>
            </a:srgbClr>
          </a:solidFill>
          <a:ln w="12700">
            <a:solidFill>
              <a:srgbClr val="0E0A04"/>
            </a:solidFill>
            <a:prstDash val="solid"/>
          </a:ln>
        </p:spPr>
      </p:sp>
      <p:sp>
        <p:nvSpPr>
          <p:cNvPr id="80" name="Shape 78"/>
          <p:cNvSpPr/>
          <p:nvPr/>
        </p:nvSpPr>
        <p:spPr>
          <a:xfrm rot="2700000">
            <a:off x="2112264" y="2157984"/>
            <a:ext cx="109728" cy="109728"/>
          </a:xfrm>
          <a:prstGeom prst="rect">
            <a:avLst/>
          </a:prstGeom>
          <a:solidFill>
            <a:srgbClr val="C0622B">
              <a:alpha val="31000"/>
            </a:srgbClr>
          </a:solidFill>
          <a:ln w="12700">
            <a:solidFill>
              <a:srgbClr val="0E0A04"/>
            </a:solidFill>
            <a:prstDash val="solid"/>
          </a:ln>
        </p:spPr>
      </p:sp>
      <p:sp>
        <p:nvSpPr>
          <p:cNvPr id="81" name="Shape 79"/>
          <p:cNvSpPr/>
          <p:nvPr/>
        </p:nvSpPr>
        <p:spPr>
          <a:xfrm rot="2700000">
            <a:off x="2532888" y="2157984"/>
            <a:ext cx="109728" cy="109728"/>
          </a:xfrm>
          <a:prstGeom prst="rect">
            <a:avLst/>
          </a:prstGeom>
          <a:solidFill>
            <a:srgbClr val="1B9A8A">
              <a:alpha val="31000"/>
            </a:srgbClr>
          </a:solidFill>
          <a:ln w="12700">
            <a:solidFill>
              <a:srgbClr val="0E0A04"/>
            </a:solidFill>
            <a:prstDash val="solid"/>
          </a:ln>
        </p:spPr>
      </p:sp>
      <p:sp>
        <p:nvSpPr>
          <p:cNvPr id="82" name="Shape 80"/>
          <p:cNvSpPr/>
          <p:nvPr/>
        </p:nvSpPr>
        <p:spPr>
          <a:xfrm rot="2700000">
            <a:off x="2953512" y="2157984"/>
            <a:ext cx="219456" cy="219456"/>
          </a:xfrm>
          <a:prstGeom prst="rect">
            <a:avLst/>
          </a:prstGeom>
          <a:solidFill>
            <a:srgbClr val="D8C9A8">
              <a:alpha val="31000"/>
            </a:srgbClr>
          </a:solidFill>
          <a:ln w="12700">
            <a:solidFill>
              <a:srgbClr val="0E0A04"/>
            </a:solidFill>
            <a:prstDash val="solid"/>
          </a:ln>
        </p:spPr>
      </p:sp>
      <p:sp>
        <p:nvSpPr>
          <p:cNvPr id="83" name="Shape 81"/>
          <p:cNvSpPr/>
          <p:nvPr/>
        </p:nvSpPr>
        <p:spPr>
          <a:xfrm rot="2700000">
            <a:off x="3374136" y="2157984"/>
            <a:ext cx="109728" cy="109728"/>
          </a:xfrm>
          <a:prstGeom prst="rect">
            <a:avLst/>
          </a:prstGeom>
          <a:solidFill>
            <a:srgbClr val="8B2252">
              <a:alpha val="31000"/>
            </a:srgbClr>
          </a:solidFill>
          <a:ln w="12700">
            <a:solidFill>
              <a:srgbClr val="0E0A04"/>
            </a:solidFill>
            <a:prstDash val="solid"/>
          </a:ln>
        </p:spPr>
      </p:sp>
      <p:sp>
        <p:nvSpPr>
          <p:cNvPr id="84" name="Shape 82"/>
          <p:cNvSpPr/>
          <p:nvPr/>
        </p:nvSpPr>
        <p:spPr>
          <a:xfrm rot="2700000">
            <a:off x="9144" y="2432304"/>
            <a:ext cx="155448" cy="155448"/>
          </a:xfrm>
          <a:prstGeom prst="rect">
            <a:avLst/>
          </a:prstGeom>
          <a:solidFill>
            <a:srgbClr val="3D2208">
              <a:alpha val="22000"/>
            </a:srgbClr>
          </a:solidFill>
          <a:ln w="12700">
            <a:solidFill>
              <a:srgbClr val="0E0A04"/>
            </a:solidFill>
            <a:prstDash val="solid"/>
          </a:ln>
        </p:spPr>
      </p:sp>
      <p:sp>
        <p:nvSpPr>
          <p:cNvPr id="85" name="Shape 83"/>
          <p:cNvSpPr/>
          <p:nvPr/>
        </p:nvSpPr>
        <p:spPr>
          <a:xfrm rot="2700000">
            <a:off x="429768" y="2432304"/>
            <a:ext cx="219456" cy="219456"/>
          </a:xfrm>
          <a:prstGeom prst="rect">
            <a:avLst/>
          </a:prstGeom>
          <a:solidFill>
            <a:srgbClr val="D4951A">
              <a:alpha val="22000"/>
            </a:srgbClr>
          </a:solidFill>
          <a:ln w="12700">
            <a:solidFill>
              <a:srgbClr val="0E0A04"/>
            </a:solidFill>
            <a:prstDash val="solid"/>
          </a:ln>
        </p:spPr>
      </p:sp>
      <p:sp>
        <p:nvSpPr>
          <p:cNvPr id="86" name="Shape 84"/>
          <p:cNvSpPr/>
          <p:nvPr/>
        </p:nvSpPr>
        <p:spPr>
          <a:xfrm rot="2700000">
            <a:off x="850392" y="2432304"/>
            <a:ext cx="109728" cy="109728"/>
          </a:xfrm>
          <a:prstGeom prst="rect">
            <a:avLst/>
          </a:prstGeom>
          <a:solidFill>
            <a:srgbClr val="C0622B">
              <a:alpha val="22000"/>
            </a:srgbClr>
          </a:solidFill>
          <a:ln w="12700">
            <a:solidFill>
              <a:srgbClr val="0E0A04"/>
            </a:solidFill>
            <a:prstDash val="solid"/>
          </a:ln>
        </p:spPr>
      </p:sp>
      <p:sp>
        <p:nvSpPr>
          <p:cNvPr id="87" name="Shape 85"/>
          <p:cNvSpPr/>
          <p:nvPr/>
        </p:nvSpPr>
        <p:spPr>
          <a:xfrm rot="2700000">
            <a:off x="1271016" y="2432304"/>
            <a:ext cx="155448" cy="155448"/>
          </a:xfrm>
          <a:prstGeom prst="rect">
            <a:avLst/>
          </a:prstGeom>
          <a:solidFill>
            <a:srgbClr val="1B9A8A">
              <a:alpha val="22000"/>
            </a:srgbClr>
          </a:solidFill>
          <a:ln w="12700">
            <a:solidFill>
              <a:srgbClr val="0E0A04"/>
            </a:solidFill>
            <a:prstDash val="solid"/>
          </a:ln>
        </p:spPr>
      </p:sp>
      <p:sp>
        <p:nvSpPr>
          <p:cNvPr id="88" name="Shape 86"/>
          <p:cNvSpPr/>
          <p:nvPr/>
        </p:nvSpPr>
        <p:spPr>
          <a:xfrm rot="2700000">
            <a:off x="1691640" y="2432304"/>
            <a:ext cx="109728" cy="109728"/>
          </a:xfrm>
          <a:prstGeom prst="rect">
            <a:avLst/>
          </a:prstGeom>
          <a:solidFill>
            <a:srgbClr val="D8C9A8">
              <a:alpha val="22000"/>
            </a:srgbClr>
          </a:solidFill>
          <a:ln w="12700">
            <a:solidFill>
              <a:srgbClr val="0E0A04"/>
            </a:solidFill>
            <a:prstDash val="solid"/>
          </a:ln>
        </p:spPr>
      </p:sp>
      <p:sp>
        <p:nvSpPr>
          <p:cNvPr id="89" name="Shape 87"/>
          <p:cNvSpPr/>
          <p:nvPr/>
        </p:nvSpPr>
        <p:spPr>
          <a:xfrm rot="2700000">
            <a:off x="2112264" y="2432304"/>
            <a:ext cx="109728" cy="109728"/>
          </a:xfrm>
          <a:prstGeom prst="rect">
            <a:avLst/>
          </a:prstGeom>
          <a:solidFill>
            <a:srgbClr val="8B2252">
              <a:alpha val="22000"/>
            </a:srgbClr>
          </a:solidFill>
          <a:ln w="12700">
            <a:solidFill>
              <a:srgbClr val="0E0A04"/>
            </a:solidFill>
            <a:prstDash val="solid"/>
          </a:ln>
        </p:spPr>
      </p:sp>
      <p:sp>
        <p:nvSpPr>
          <p:cNvPr id="90" name="Shape 88"/>
          <p:cNvSpPr/>
          <p:nvPr/>
        </p:nvSpPr>
        <p:spPr>
          <a:xfrm rot="2700000">
            <a:off x="2532888" y="2432304"/>
            <a:ext cx="219456" cy="219456"/>
          </a:xfrm>
          <a:prstGeom prst="rect">
            <a:avLst/>
          </a:prstGeom>
          <a:solidFill>
            <a:srgbClr val="6B4C20">
              <a:alpha val="22000"/>
            </a:srgbClr>
          </a:solidFill>
          <a:ln w="12700">
            <a:solidFill>
              <a:srgbClr val="0E0A04"/>
            </a:solidFill>
            <a:prstDash val="solid"/>
          </a:ln>
        </p:spPr>
      </p:sp>
      <p:sp>
        <p:nvSpPr>
          <p:cNvPr id="91" name="Shape 89"/>
          <p:cNvSpPr/>
          <p:nvPr/>
        </p:nvSpPr>
        <p:spPr>
          <a:xfrm rot="2700000">
            <a:off x="2953512" y="2432304"/>
            <a:ext cx="109728" cy="109728"/>
          </a:xfrm>
          <a:prstGeom prst="rect">
            <a:avLst/>
          </a:prstGeom>
          <a:solidFill>
            <a:srgbClr val="3D2208">
              <a:alpha val="22000"/>
            </a:srgbClr>
          </a:solidFill>
          <a:ln w="12700">
            <a:solidFill>
              <a:srgbClr val="0E0A04"/>
            </a:solidFill>
            <a:prstDash val="solid"/>
          </a:ln>
        </p:spPr>
      </p:sp>
      <p:sp>
        <p:nvSpPr>
          <p:cNvPr id="92" name="Shape 90"/>
          <p:cNvSpPr/>
          <p:nvPr/>
        </p:nvSpPr>
        <p:spPr>
          <a:xfrm rot="2700000">
            <a:off x="3374136" y="2432304"/>
            <a:ext cx="109728" cy="109728"/>
          </a:xfrm>
          <a:prstGeom prst="rect">
            <a:avLst/>
          </a:prstGeom>
          <a:solidFill>
            <a:srgbClr val="D4951A">
              <a:alpha val="22000"/>
            </a:srgbClr>
          </a:solidFill>
          <a:ln w="12700">
            <a:solidFill>
              <a:srgbClr val="0E0A04"/>
            </a:solidFill>
            <a:prstDash val="solid"/>
          </a:ln>
        </p:spPr>
      </p:sp>
      <p:sp>
        <p:nvSpPr>
          <p:cNvPr id="93" name="Shape 91"/>
          <p:cNvSpPr/>
          <p:nvPr/>
        </p:nvSpPr>
        <p:spPr>
          <a:xfrm rot="2700000">
            <a:off x="9144" y="2706624"/>
            <a:ext cx="219456" cy="219456"/>
          </a:xfrm>
          <a:prstGeom prst="rect">
            <a:avLst/>
          </a:prstGeom>
          <a:solidFill>
            <a:srgbClr val="1B9A8A">
              <a:alpha val="58000"/>
            </a:srgbClr>
          </a:solidFill>
          <a:ln w="12700">
            <a:solidFill>
              <a:srgbClr val="0E0A04"/>
            </a:solidFill>
            <a:prstDash val="solid"/>
          </a:ln>
        </p:spPr>
      </p:sp>
      <p:sp>
        <p:nvSpPr>
          <p:cNvPr id="94" name="Shape 92"/>
          <p:cNvSpPr/>
          <p:nvPr/>
        </p:nvSpPr>
        <p:spPr>
          <a:xfrm rot="2700000">
            <a:off x="429768" y="2706624"/>
            <a:ext cx="109728" cy="109728"/>
          </a:xfrm>
          <a:prstGeom prst="rect">
            <a:avLst/>
          </a:prstGeom>
          <a:solidFill>
            <a:srgbClr val="D8C9A8">
              <a:alpha val="58000"/>
            </a:srgbClr>
          </a:solidFill>
          <a:ln w="12700">
            <a:solidFill>
              <a:srgbClr val="0E0A04"/>
            </a:solidFill>
            <a:prstDash val="solid"/>
          </a:ln>
        </p:spPr>
      </p:sp>
      <p:sp>
        <p:nvSpPr>
          <p:cNvPr id="95" name="Shape 93"/>
          <p:cNvSpPr/>
          <p:nvPr/>
        </p:nvSpPr>
        <p:spPr>
          <a:xfrm rot="2700000">
            <a:off x="850392" y="2706624"/>
            <a:ext cx="155448" cy="155448"/>
          </a:xfrm>
          <a:prstGeom prst="rect">
            <a:avLst/>
          </a:prstGeom>
          <a:solidFill>
            <a:srgbClr val="8B2252">
              <a:alpha val="58000"/>
            </a:srgbClr>
          </a:solidFill>
          <a:ln w="12700">
            <a:solidFill>
              <a:srgbClr val="0E0A04"/>
            </a:solidFill>
            <a:prstDash val="solid"/>
          </a:ln>
        </p:spPr>
      </p:sp>
      <p:sp>
        <p:nvSpPr>
          <p:cNvPr id="96" name="Shape 94"/>
          <p:cNvSpPr/>
          <p:nvPr/>
        </p:nvSpPr>
        <p:spPr>
          <a:xfrm rot="2700000">
            <a:off x="1271016" y="2706624"/>
            <a:ext cx="109728" cy="109728"/>
          </a:xfrm>
          <a:prstGeom prst="rect">
            <a:avLst/>
          </a:prstGeom>
          <a:solidFill>
            <a:srgbClr val="6B4C20">
              <a:alpha val="58000"/>
            </a:srgbClr>
          </a:solidFill>
          <a:ln w="12700">
            <a:solidFill>
              <a:srgbClr val="0E0A04"/>
            </a:solidFill>
            <a:prstDash val="solid"/>
          </a:ln>
        </p:spPr>
      </p:sp>
      <p:sp>
        <p:nvSpPr>
          <p:cNvPr id="97" name="Shape 95"/>
          <p:cNvSpPr/>
          <p:nvPr/>
        </p:nvSpPr>
        <p:spPr>
          <a:xfrm rot="2700000">
            <a:off x="1691640" y="2706624"/>
            <a:ext cx="109728" cy="109728"/>
          </a:xfrm>
          <a:prstGeom prst="rect">
            <a:avLst/>
          </a:prstGeom>
          <a:solidFill>
            <a:srgbClr val="3D2208">
              <a:alpha val="58000"/>
            </a:srgbClr>
          </a:solidFill>
          <a:ln w="12700">
            <a:solidFill>
              <a:srgbClr val="0E0A04"/>
            </a:solidFill>
            <a:prstDash val="solid"/>
          </a:ln>
        </p:spPr>
      </p:sp>
      <p:sp>
        <p:nvSpPr>
          <p:cNvPr id="98" name="Shape 96"/>
          <p:cNvSpPr/>
          <p:nvPr/>
        </p:nvSpPr>
        <p:spPr>
          <a:xfrm rot="2700000">
            <a:off x="2112264" y="2706624"/>
            <a:ext cx="219456" cy="219456"/>
          </a:xfrm>
          <a:prstGeom prst="rect">
            <a:avLst/>
          </a:prstGeom>
          <a:solidFill>
            <a:srgbClr val="D4951A">
              <a:alpha val="58000"/>
            </a:srgbClr>
          </a:solidFill>
          <a:ln w="12700">
            <a:solidFill>
              <a:srgbClr val="0E0A04"/>
            </a:solidFill>
            <a:prstDash val="solid"/>
          </a:ln>
        </p:spPr>
      </p:sp>
      <p:sp>
        <p:nvSpPr>
          <p:cNvPr id="99" name="Shape 97"/>
          <p:cNvSpPr/>
          <p:nvPr/>
        </p:nvSpPr>
        <p:spPr>
          <a:xfrm rot="2700000">
            <a:off x="2532888" y="2706624"/>
            <a:ext cx="109728" cy="109728"/>
          </a:xfrm>
          <a:prstGeom prst="rect">
            <a:avLst/>
          </a:prstGeom>
          <a:solidFill>
            <a:srgbClr val="C0622B">
              <a:alpha val="58000"/>
            </a:srgbClr>
          </a:solidFill>
          <a:ln w="12700">
            <a:solidFill>
              <a:srgbClr val="0E0A04"/>
            </a:solidFill>
            <a:prstDash val="solid"/>
          </a:ln>
        </p:spPr>
      </p:sp>
      <p:sp>
        <p:nvSpPr>
          <p:cNvPr id="100" name="Shape 98"/>
          <p:cNvSpPr/>
          <p:nvPr/>
        </p:nvSpPr>
        <p:spPr>
          <a:xfrm rot="2700000">
            <a:off x="2953512" y="2706624"/>
            <a:ext cx="109728" cy="109728"/>
          </a:xfrm>
          <a:prstGeom prst="rect">
            <a:avLst/>
          </a:prstGeom>
          <a:solidFill>
            <a:srgbClr val="1B9A8A">
              <a:alpha val="58000"/>
            </a:srgbClr>
          </a:solidFill>
          <a:ln w="12700">
            <a:solidFill>
              <a:srgbClr val="0E0A04"/>
            </a:solidFill>
            <a:prstDash val="solid"/>
          </a:ln>
        </p:spPr>
      </p:sp>
      <p:sp>
        <p:nvSpPr>
          <p:cNvPr id="101" name="Shape 99"/>
          <p:cNvSpPr/>
          <p:nvPr/>
        </p:nvSpPr>
        <p:spPr>
          <a:xfrm rot="2700000">
            <a:off x="3374136" y="2706624"/>
            <a:ext cx="155448" cy="155448"/>
          </a:xfrm>
          <a:prstGeom prst="rect">
            <a:avLst/>
          </a:prstGeom>
          <a:solidFill>
            <a:srgbClr val="D8C9A8">
              <a:alpha val="58000"/>
            </a:srgbClr>
          </a:solidFill>
          <a:ln w="12700">
            <a:solidFill>
              <a:srgbClr val="0E0A04"/>
            </a:solidFill>
            <a:prstDash val="solid"/>
          </a:ln>
        </p:spPr>
      </p:sp>
      <p:sp>
        <p:nvSpPr>
          <p:cNvPr id="102" name="Shape 100"/>
          <p:cNvSpPr/>
          <p:nvPr/>
        </p:nvSpPr>
        <p:spPr>
          <a:xfrm rot="2700000">
            <a:off x="9144" y="2980944"/>
            <a:ext cx="109728" cy="109728"/>
          </a:xfrm>
          <a:prstGeom prst="rect">
            <a:avLst/>
          </a:prstGeom>
          <a:solidFill>
            <a:srgbClr val="6B4C20">
              <a:alpha val="49000"/>
            </a:srgbClr>
          </a:solidFill>
          <a:ln w="12700">
            <a:solidFill>
              <a:srgbClr val="0E0A04"/>
            </a:solidFill>
            <a:prstDash val="solid"/>
          </a:ln>
        </p:spPr>
      </p:sp>
      <p:sp>
        <p:nvSpPr>
          <p:cNvPr id="103" name="Shape 101"/>
          <p:cNvSpPr/>
          <p:nvPr/>
        </p:nvSpPr>
        <p:spPr>
          <a:xfrm rot="2700000">
            <a:off x="429768" y="2980944"/>
            <a:ext cx="155448" cy="155448"/>
          </a:xfrm>
          <a:prstGeom prst="rect">
            <a:avLst/>
          </a:prstGeom>
          <a:solidFill>
            <a:srgbClr val="3D2208">
              <a:alpha val="49000"/>
            </a:srgbClr>
          </a:solidFill>
          <a:ln w="12700">
            <a:solidFill>
              <a:srgbClr val="0E0A04"/>
            </a:solidFill>
            <a:prstDash val="solid"/>
          </a:ln>
        </p:spPr>
      </p:sp>
      <p:sp>
        <p:nvSpPr>
          <p:cNvPr id="104" name="Shape 102"/>
          <p:cNvSpPr/>
          <p:nvPr/>
        </p:nvSpPr>
        <p:spPr>
          <a:xfrm rot="2700000">
            <a:off x="850392" y="2980944"/>
            <a:ext cx="109728" cy="109728"/>
          </a:xfrm>
          <a:prstGeom prst="rect">
            <a:avLst/>
          </a:prstGeom>
          <a:solidFill>
            <a:srgbClr val="D4951A">
              <a:alpha val="49000"/>
            </a:srgbClr>
          </a:solidFill>
          <a:ln w="12700">
            <a:solidFill>
              <a:srgbClr val="0E0A04"/>
            </a:solidFill>
            <a:prstDash val="solid"/>
          </a:ln>
        </p:spPr>
      </p:sp>
      <p:sp>
        <p:nvSpPr>
          <p:cNvPr id="105" name="Shape 103"/>
          <p:cNvSpPr/>
          <p:nvPr/>
        </p:nvSpPr>
        <p:spPr>
          <a:xfrm rot="2700000">
            <a:off x="1271016" y="2980944"/>
            <a:ext cx="109728" cy="109728"/>
          </a:xfrm>
          <a:prstGeom prst="rect">
            <a:avLst/>
          </a:prstGeom>
          <a:solidFill>
            <a:srgbClr val="C0622B">
              <a:alpha val="49000"/>
            </a:srgbClr>
          </a:solidFill>
          <a:ln w="12700">
            <a:solidFill>
              <a:srgbClr val="0E0A04"/>
            </a:solidFill>
            <a:prstDash val="solid"/>
          </a:ln>
        </p:spPr>
      </p:sp>
      <p:sp>
        <p:nvSpPr>
          <p:cNvPr id="106" name="Shape 104"/>
          <p:cNvSpPr/>
          <p:nvPr/>
        </p:nvSpPr>
        <p:spPr>
          <a:xfrm rot="2700000">
            <a:off x="1691640" y="2980944"/>
            <a:ext cx="219456" cy="219456"/>
          </a:xfrm>
          <a:prstGeom prst="rect">
            <a:avLst/>
          </a:prstGeom>
          <a:solidFill>
            <a:srgbClr val="1B9A8A">
              <a:alpha val="49000"/>
            </a:srgbClr>
          </a:solidFill>
          <a:ln w="12700">
            <a:solidFill>
              <a:srgbClr val="0E0A04"/>
            </a:solidFill>
            <a:prstDash val="solid"/>
          </a:ln>
        </p:spPr>
      </p:sp>
      <p:sp>
        <p:nvSpPr>
          <p:cNvPr id="107" name="Shape 105"/>
          <p:cNvSpPr/>
          <p:nvPr/>
        </p:nvSpPr>
        <p:spPr>
          <a:xfrm rot="2700000">
            <a:off x="2112264" y="2980944"/>
            <a:ext cx="109728" cy="109728"/>
          </a:xfrm>
          <a:prstGeom prst="rect">
            <a:avLst/>
          </a:prstGeom>
          <a:solidFill>
            <a:srgbClr val="D8C9A8">
              <a:alpha val="49000"/>
            </a:srgbClr>
          </a:solidFill>
          <a:ln w="12700">
            <a:solidFill>
              <a:srgbClr val="0E0A04"/>
            </a:solidFill>
            <a:prstDash val="solid"/>
          </a:ln>
        </p:spPr>
      </p:sp>
      <p:sp>
        <p:nvSpPr>
          <p:cNvPr id="108" name="Shape 106"/>
          <p:cNvSpPr/>
          <p:nvPr/>
        </p:nvSpPr>
        <p:spPr>
          <a:xfrm rot="2700000">
            <a:off x="2532888" y="2980944"/>
            <a:ext cx="109728" cy="109728"/>
          </a:xfrm>
          <a:prstGeom prst="rect">
            <a:avLst/>
          </a:prstGeom>
          <a:solidFill>
            <a:srgbClr val="8B2252">
              <a:alpha val="49000"/>
            </a:srgbClr>
          </a:solidFill>
          <a:ln w="12700">
            <a:solidFill>
              <a:srgbClr val="0E0A04"/>
            </a:solidFill>
            <a:prstDash val="solid"/>
          </a:ln>
        </p:spPr>
      </p:sp>
      <p:sp>
        <p:nvSpPr>
          <p:cNvPr id="109" name="Shape 107"/>
          <p:cNvSpPr/>
          <p:nvPr/>
        </p:nvSpPr>
        <p:spPr>
          <a:xfrm rot="2700000">
            <a:off x="2953512" y="2980944"/>
            <a:ext cx="155448" cy="155448"/>
          </a:xfrm>
          <a:prstGeom prst="rect">
            <a:avLst/>
          </a:prstGeom>
          <a:solidFill>
            <a:srgbClr val="6B4C20">
              <a:alpha val="49000"/>
            </a:srgbClr>
          </a:solidFill>
          <a:ln w="12700">
            <a:solidFill>
              <a:srgbClr val="0E0A04"/>
            </a:solidFill>
            <a:prstDash val="solid"/>
          </a:ln>
        </p:spPr>
      </p:sp>
      <p:sp>
        <p:nvSpPr>
          <p:cNvPr id="110" name="Shape 108"/>
          <p:cNvSpPr/>
          <p:nvPr/>
        </p:nvSpPr>
        <p:spPr>
          <a:xfrm rot="2700000">
            <a:off x="3374136" y="2980944"/>
            <a:ext cx="109728" cy="109728"/>
          </a:xfrm>
          <a:prstGeom prst="rect">
            <a:avLst/>
          </a:prstGeom>
          <a:solidFill>
            <a:srgbClr val="3D2208">
              <a:alpha val="49000"/>
            </a:srgbClr>
          </a:solidFill>
          <a:ln w="12700">
            <a:solidFill>
              <a:srgbClr val="0E0A04"/>
            </a:solidFill>
            <a:prstDash val="solid"/>
          </a:ln>
        </p:spPr>
      </p:sp>
      <p:sp>
        <p:nvSpPr>
          <p:cNvPr id="111" name="Shape 109"/>
          <p:cNvSpPr/>
          <p:nvPr/>
        </p:nvSpPr>
        <p:spPr>
          <a:xfrm rot="2700000">
            <a:off x="9144" y="3255264"/>
            <a:ext cx="155448" cy="155448"/>
          </a:xfrm>
          <a:prstGeom prst="rect">
            <a:avLst/>
          </a:prstGeom>
          <a:solidFill>
            <a:srgbClr val="C0622B">
              <a:alpha val="40000"/>
            </a:srgbClr>
          </a:solidFill>
          <a:ln w="12700">
            <a:solidFill>
              <a:srgbClr val="0E0A04"/>
            </a:solidFill>
            <a:prstDash val="solid"/>
          </a:ln>
        </p:spPr>
      </p:sp>
      <p:sp>
        <p:nvSpPr>
          <p:cNvPr id="112" name="Shape 110"/>
          <p:cNvSpPr/>
          <p:nvPr/>
        </p:nvSpPr>
        <p:spPr>
          <a:xfrm rot="2700000">
            <a:off x="429768" y="3255264"/>
            <a:ext cx="109728" cy="109728"/>
          </a:xfrm>
          <a:prstGeom prst="rect">
            <a:avLst/>
          </a:prstGeom>
          <a:solidFill>
            <a:srgbClr val="1B9A8A">
              <a:alpha val="40000"/>
            </a:srgbClr>
          </a:solidFill>
          <a:ln w="12700">
            <a:solidFill>
              <a:srgbClr val="0E0A04"/>
            </a:solidFill>
            <a:prstDash val="solid"/>
          </a:ln>
        </p:spPr>
      </p:sp>
      <p:sp>
        <p:nvSpPr>
          <p:cNvPr id="113" name="Shape 111"/>
          <p:cNvSpPr/>
          <p:nvPr/>
        </p:nvSpPr>
        <p:spPr>
          <a:xfrm rot="2700000">
            <a:off x="850392" y="3255264"/>
            <a:ext cx="109728" cy="109728"/>
          </a:xfrm>
          <a:prstGeom prst="rect">
            <a:avLst/>
          </a:prstGeom>
          <a:solidFill>
            <a:srgbClr val="D8C9A8">
              <a:alpha val="40000"/>
            </a:srgbClr>
          </a:solidFill>
          <a:ln w="12700">
            <a:solidFill>
              <a:srgbClr val="0E0A04"/>
            </a:solidFill>
            <a:prstDash val="solid"/>
          </a:ln>
        </p:spPr>
      </p:sp>
      <p:sp>
        <p:nvSpPr>
          <p:cNvPr id="114" name="Shape 112"/>
          <p:cNvSpPr/>
          <p:nvPr/>
        </p:nvSpPr>
        <p:spPr>
          <a:xfrm rot="2700000">
            <a:off x="1271016" y="3255264"/>
            <a:ext cx="219456" cy="219456"/>
          </a:xfrm>
          <a:prstGeom prst="rect">
            <a:avLst/>
          </a:prstGeom>
          <a:solidFill>
            <a:srgbClr val="8B2252">
              <a:alpha val="40000"/>
            </a:srgbClr>
          </a:solidFill>
          <a:ln w="12700">
            <a:solidFill>
              <a:srgbClr val="0E0A04"/>
            </a:solidFill>
            <a:prstDash val="solid"/>
          </a:ln>
        </p:spPr>
      </p:sp>
      <p:sp>
        <p:nvSpPr>
          <p:cNvPr id="115" name="Shape 113"/>
          <p:cNvSpPr/>
          <p:nvPr/>
        </p:nvSpPr>
        <p:spPr>
          <a:xfrm rot="2700000">
            <a:off x="1691640" y="3255264"/>
            <a:ext cx="109728" cy="109728"/>
          </a:xfrm>
          <a:prstGeom prst="rect">
            <a:avLst/>
          </a:prstGeom>
          <a:solidFill>
            <a:srgbClr val="6B4C20">
              <a:alpha val="40000"/>
            </a:srgbClr>
          </a:solidFill>
          <a:ln w="12700">
            <a:solidFill>
              <a:srgbClr val="0E0A04"/>
            </a:solidFill>
            <a:prstDash val="solid"/>
          </a:ln>
        </p:spPr>
      </p:sp>
      <p:sp>
        <p:nvSpPr>
          <p:cNvPr id="116" name="Shape 114"/>
          <p:cNvSpPr/>
          <p:nvPr/>
        </p:nvSpPr>
        <p:spPr>
          <a:xfrm rot="2700000">
            <a:off x="2112264" y="3255264"/>
            <a:ext cx="109728" cy="109728"/>
          </a:xfrm>
          <a:prstGeom prst="rect">
            <a:avLst/>
          </a:prstGeom>
          <a:solidFill>
            <a:srgbClr val="3D2208">
              <a:alpha val="40000"/>
            </a:srgbClr>
          </a:solidFill>
          <a:ln w="12700">
            <a:solidFill>
              <a:srgbClr val="0E0A04"/>
            </a:solidFill>
            <a:prstDash val="solid"/>
          </a:ln>
        </p:spPr>
      </p:sp>
      <p:sp>
        <p:nvSpPr>
          <p:cNvPr id="117" name="Shape 115"/>
          <p:cNvSpPr/>
          <p:nvPr/>
        </p:nvSpPr>
        <p:spPr>
          <a:xfrm rot="2700000">
            <a:off x="2532888" y="3255264"/>
            <a:ext cx="155448" cy="155448"/>
          </a:xfrm>
          <a:prstGeom prst="rect">
            <a:avLst/>
          </a:prstGeom>
          <a:solidFill>
            <a:srgbClr val="D4951A">
              <a:alpha val="40000"/>
            </a:srgbClr>
          </a:solidFill>
          <a:ln w="12700">
            <a:solidFill>
              <a:srgbClr val="0E0A04"/>
            </a:solidFill>
            <a:prstDash val="solid"/>
          </a:ln>
        </p:spPr>
      </p:sp>
      <p:sp>
        <p:nvSpPr>
          <p:cNvPr id="118" name="Shape 116"/>
          <p:cNvSpPr/>
          <p:nvPr/>
        </p:nvSpPr>
        <p:spPr>
          <a:xfrm rot="2700000">
            <a:off x="2953512" y="3255264"/>
            <a:ext cx="109728" cy="109728"/>
          </a:xfrm>
          <a:prstGeom prst="rect">
            <a:avLst/>
          </a:prstGeom>
          <a:solidFill>
            <a:srgbClr val="C0622B">
              <a:alpha val="40000"/>
            </a:srgbClr>
          </a:solidFill>
          <a:ln w="12700">
            <a:solidFill>
              <a:srgbClr val="0E0A04"/>
            </a:solidFill>
            <a:prstDash val="solid"/>
          </a:ln>
        </p:spPr>
      </p:sp>
      <p:sp>
        <p:nvSpPr>
          <p:cNvPr id="119" name="Shape 117"/>
          <p:cNvSpPr/>
          <p:nvPr/>
        </p:nvSpPr>
        <p:spPr>
          <a:xfrm rot="2700000">
            <a:off x="3374136" y="3255264"/>
            <a:ext cx="219456" cy="219456"/>
          </a:xfrm>
          <a:prstGeom prst="rect">
            <a:avLst/>
          </a:prstGeom>
          <a:solidFill>
            <a:srgbClr val="1B9A8A">
              <a:alpha val="40000"/>
            </a:srgbClr>
          </a:solidFill>
          <a:ln w="12700">
            <a:solidFill>
              <a:srgbClr val="0E0A04"/>
            </a:solidFill>
            <a:prstDash val="solid"/>
          </a:ln>
        </p:spPr>
      </p:sp>
      <p:sp>
        <p:nvSpPr>
          <p:cNvPr id="120" name="Shape 118"/>
          <p:cNvSpPr/>
          <p:nvPr/>
        </p:nvSpPr>
        <p:spPr>
          <a:xfrm rot="2700000">
            <a:off x="9144" y="3529584"/>
            <a:ext cx="109728" cy="109728"/>
          </a:xfrm>
          <a:prstGeom prst="rect">
            <a:avLst/>
          </a:prstGeom>
          <a:solidFill>
            <a:srgbClr val="8B2252">
              <a:alpha val="31000"/>
            </a:srgbClr>
          </a:solidFill>
          <a:ln w="12700">
            <a:solidFill>
              <a:srgbClr val="0E0A04"/>
            </a:solidFill>
            <a:prstDash val="solid"/>
          </a:ln>
        </p:spPr>
      </p:sp>
      <p:sp>
        <p:nvSpPr>
          <p:cNvPr id="121" name="Shape 119"/>
          <p:cNvSpPr/>
          <p:nvPr/>
        </p:nvSpPr>
        <p:spPr>
          <a:xfrm rot="2700000">
            <a:off x="429768" y="3529584"/>
            <a:ext cx="109728" cy="109728"/>
          </a:xfrm>
          <a:prstGeom prst="rect">
            <a:avLst/>
          </a:prstGeom>
          <a:solidFill>
            <a:srgbClr val="6B4C20">
              <a:alpha val="31000"/>
            </a:srgbClr>
          </a:solidFill>
          <a:ln w="12700">
            <a:solidFill>
              <a:srgbClr val="0E0A04"/>
            </a:solidFill>
            <a:prstDash val="solid"/>
          </a:ln>
        </p:spPr>
      </p:sp>
      <p:sp>
        <p:nvSpPr>
          <p:cNvPr id="122" name="Shape 120"/>
          <p:cNvSpPr/>
          <p:nvPr/>
        </p:nvSpPr>
        <p:spPr>
          <a:xfrm rot="2700000">
            <a:off x="850392" y="3529584"/>
            <a:ext cx="219456" cy="219456"/>
          </a:xfrm>
          <a:prstGeom prst="rect">
            <a:avLst/>
          </a:prstGeom>
          <a:solidFill>
            <a:srgbClr val="3D2208">
              <a:alpha val="31000"/>
            </a:srgbClr>
          </a:solidFill>
          <a:ln w="12700">
            <a:solidFill>
              <a:srgbClr val="0E0A04"/>
            </a:solidFill>
            <a:prstDash val="solid"/>
          </a:ln>
        </p:spPr>
      </p:sp>
      <p:sp>
        <p:nvSpPr>
          <p:cNvPr id="123" name="Shape 121"/>
          <p:cNvSpPr/>
          <p:nvPr/>
        </p:nvSpPr>
        <p:spPr>
          <a:xfrm rot="2700000">
            <a:off x="1271016" y="3529584"/>
            <a:ext cx="109728" cy="109728"/>
          </a:xfrm>
          <a:prstGeom prst="rect">
            <a:avLst/>
          </a:prstGeom>
          <a:solidFill>
            <a:srgbClr val="D4951A">
              <a:alpha val="31000"/>
            </a:srgbClr>
          </a:solidFill>
          <a:ln w="12700">
            <a:solidFill>
              <a:srgbClr val="0E0A04"/>
            </a:solidFill>
            <a:prstDash val="solid"/>
          </a:ln>
        </p:spPr>
      </p:sp>
      <p:sp>
        <p:nvSpPr>
          <p:cNvPr id="124" name="Shape 122"/>
          <p:cNvSpPr/>
          <p:nvPr/>
        </p:nvSpPr>
        <p:spPr>
          <a:xfrm rot="2700000">
            <a:off x="1691640" y="3529584"/>
            <a:ext cx="109728" cy="109728"/>
          </a:xfrm>
          <a:prstGeom prst="rect">
            <a:avLst/>
          </a:prstGeom>
          <a:solidFill>
            <a:srgbClr val="C0622B">
              <a:alpha val="31000"/>
            </a:srgbClr>
          </a:solidFill>
          <a:ln w="12700">
            <a:solidFill>
              <a:srgbClr val="0E0A04"/>
            </a:solidFill>
            <a:prstDash val="solid"/>
          </a:ln>
        </p:spPr>
      </p:sp>
      <p:sp>
        <p:nvSpPr>
          <p:cNvPr id="125" name="Shape 123"/>
          <p:cNvSpPr/>
          <p:nvPr/>
        </p:nvSpPr>
        <p:spPr>
          <a:xfrm rot="2700000">
            <a:off x="2112264" y="3529584"/>
            <a:ext cx="155448" cy="155448"/>
          </a:xfrm>
          <a:prstGeom prst="rect">
            <a:avLst/>
          </a:prstGeom>
          <a:solidFill>
            <a:srgbClr val="1B9A8A">
              <a:alpha val="31000"/>
            </a:srgbClr>
          </a:solidFill>
          <a:ln w="12700">
            <a:solidFill>
              <a:srgbClr val="0E0A04"/>
            </a:solidFill>
            <a:prstDash val="solid"/>
          </a:ln>
        </p:spPr>
      </p:sp>
      <p:sp>
        <p:nvSpPr>
          <p:cNvPr id="126" name="Shape 124"/>
          <p:cNvSpPr/>
          <p:nvPr/>
        </p:nvSpPr>
        <p:spPr>
          <a:xfrm rot="2700000">
            <a:off x="2532888" y="3529584"/>
            <a:ext cx="109728" cy="109728"/>
          </a:xfrm>
          <a:prstGeom prst="rect">
            <a:avLst/>
          </a:prstGeom>
          <a:solidFill>
            <a:srgbClr val="D8C9A8">
              <a:alpha val="31000"/>
            </a:srgbClr>
          </a:solidFill>
          <a:ln w="12700">
            <a:solidFill>
              <a:srgbClr val="0E0A04"/>
            </a:solidFill>
            <a:prstDash val="solid"/>
          </a:ln>
        </p:spPr>
      </p:sp>
      <p:sp>
        <p:nvSpPr>
          <p:cNvPr id="127" name="Shape 125"/>
          <p:cNvSpPr/>
          <p:nvPr/>
        </p:nvSpPr>
        <p:spPr>
          <a:xfrm rot="2700000">
            <a:off x="2953512" y="3529584"/>
            <a:ext cx="219456" cy="219456"/>
          </a:xfrm>
          <a:prstGeom prst="rect">
            <a:avLst/>
          </a:prstGeom>
          <a:solidFill>
            <a:srgbClr val="8B2252">
              <a:alpha val="31000"/>
            </a:srgbClr>
          </a:solidFill>
          <a:ln w="12700">
            <a:solidFill>
              <a:srgbClr val="0E0A04"/>
            </a:solidFill>
            <a:prstDash val="solid"/>
          </a:ln>
        </p:spPr>
      </p:sp>
      <p:sp>
        <p:nvSpPr>
          <p:cNvPr id="128" name="Shape 126"/>
          <p:cNvSpPr/>
          <p:nvPr/>
        </p:nvSpPr>
        <p:spPr>
          <a:xfrm rot="2700000">
            <a:off x="3374136" y="3529584"/>
            <a:ext cx="155448" cy="155448"/>
          </a:xfrm>
          <a:prstGeom prst="rect">
            <a:avLst/>
          </a:prstGeom>
          <a:solidFill>
            <a:srgbClr val="6B4C20">
              <a:alpha val="31000"/>
            </a:srgbClr>
          </a:solidFill>
          <a:ln w="12700">
            <a:solidFill>
              <a:srgbClr val="0E0A04"/>
            </a:solidFill>
            <a:prstDash val="solid"/>
          </a:ln>
        </p:spPr>
      </p:sp>
      <p:sp>
        <p:nvSpPr>
          <p:cNvPr id="129" name="Shape 127"/>
          <p:cNvSpPr/>
          <p:nvPr/>
        </p:nvSpPr>
        <p:spPr>
          <a:xfrm rot="2700000">
            <a:off x="9144" y="3803904"/>
            <a:ext cx="109728" cy="109728"/>
          </a:xfrm>
          <a:prstGeom prst="rect">
            <a:avLst/>
          </a:prstGeom>
          <a:solidFill>
            <a:srgbClr val="D4951A">
              <a:alpha val="22000"/>
            </a:srgbClr>
          </a:solidFill>
          <a:ln w="12700">
            <a:solidFill>
              <a:srgbClr val="0E0A04"/>
            </a:solidFill>
            <a:prstDash val="solid"/>
          </a:ln>
        </p:spPr>
      </p:sp>
      <p:sp>
        <p:nvSpPr>
          <p:cNvPr id="130" name="Shape 128"/>
          <p:cNvSpPr/>
          <p:nvPr/>
        </p:nvSpPr>
        <p:spPr>
          <a:xfrm rot="2700000">
            <a:off x="429768" y="3803904"/>
            <a:ext cx="219456" cy="219456"/>
          </a:xfrm>
          <a:prstGeom prst="rect">
            <a:avLst/>
          </a:prstGeom>
          <a:solidFill>
            <a:srgbClr val="C0622B">
              <a:alpha val="22000"/>
            </a:srgbClr>
          </a:solidFill>
          <a:ln w="12700">
            <a:solidFill>
              <a:srgbClr val="0E0A04"/>
            </a:solidFill>
            <a:prstDash val="solid"/>
          </a:ln>
        </p:spPr>
      </p:sp>
      <p:sp>
        <p:nvSpPr>
          <p:cNvPr id="131" name="Shape 129"/>
          <p:cNvSpPr/>
          <p:nvPr/>
        </p:nvSpPr>
        <p:spPr>
          <a:xfrm rot="2700000">
            <a:off x="850392" y="3803904"/>
            <a:ext cx="109728" cy="109728"/>
          </a:xfrm>
          <a:prstGeom prst="rect">
            <a:avLst/>
          </a:prstGeom>
          <a:solidFill>
            <a:srgbClr val="1B9A8A">
              <a:alpha val="22000"/>
            </a:srgbClr>
          </a:solidFill>
          <a:ln w="12700">
            <a:solidFill>
              <a:srgbClr val="0E0A04"/>
            </a:solidFill>
            <a:prstDash val="solid"/>
          </a:ln>
        </p:spPr>
      </p:sp>
      <p:sp>
        <p:nvSpPr>
          <p:cNvPr id="132" name="Shape 130"/>
          <p:cNvSpPr/>
          <p:nvPr/>
        </p:nvSpPr>
        <p:spPr>
          <a:xfrm rot="2700000">
            <a:off x="1271016" y="3803904"/>
            <a:ext cx="109728" cy="109728"/>
          </a:xfrm>
          <a:prstGeom prst="rect">
            <a:avLst/>
          </a:prstGeom>
          <a:solidFill>
            <a:srgbClr val="D8C9A8">
              <a:alpha val="22000"/>
            </a:srgbClr>
          </a:solidFill>
          <a:ln w="12700">
            <a:solidFill>
              <a:srgbClr val="0E0A04"/>
            </a:solidFill>
            <a:prstDash val="solid"/>
          </a:ln>
        </p:spPr>
      </p:sp>
      <p:sp>
        <p:nvSpPr>
          <p:cNvPr id="133" name="Shape 131"/>
          <p:cNvSpPr/>
          <p:nvPr/>
        </p:nvSpPr>
        <p:spPr>
          <a:xfrm rot="2700000">
            <a:off x="1691640" y="3803904"/>
            <a:ext cx="155448" cy="155448"/>
          </a:xfrm>
          <a:prstGeom prst="rect">
            <a:avLst/>
          </a:prstGeom>
          <a:solidFill>
            <a:srgbClr val="8B2252">
              <a:alpha val="22000"/>
            </a:srgbClr>
          </a:solidFill>
          <a:ln w="12700">
            <a:solidFill>
              <a:srgbClr val="0E0A04"/>
            </a:solidFill>
            <a:prstDash val="solid"/>
          </a:ln>
        </p:spPr>
      </p:sp>
      <p:sp>
        <p:nvSpPr>
          <p:cNvPr id="134" name="Shape 132"/>
          <p:cNvSpPr/>
          <p:nvPr/>
        </p:nvSpPr>
        <p:spPr>
          <a:xfrm rot="2700000">
            <a:off x="2112264" y="3803904"/>
            <a:ext cx="109728" cy="109728"/>
          </a:xfrm>
          <a:prstGeom prst="rect">
            <a:avLst/>
          </a:prstGeom>
          <a:solidFill>
            <a:srgbClr val="6B4C20">
              <a:alpha val="22000"/>
            </a:srgbClr>
          </a:solidFill>
          <a:ln w="12700">
            <a:solidFill>
              <a:srgbClr val="0E0A04"/>
            </a:solidFill>
            <a:prstDash val="solid"/>
          </a:ln>
        </p:spPr>
      </p:sp>
      <p:sp>
        <p:nvSpPr>
          <p:cNvPr id="135" name="Shape 133"/>
          <p:cNvSpPr/>
          <p:nvPr/>
        </p:nvSpPr>
        <p:spPr>
          <a:xfrm rot="2700000">
            <a:off x="2532888" y="3803904"/>
            <a:ext cx="219456" cy="219456"/>
          </a:xfrm>
          <a:prstGeom prst="rect">
            <a:avLst/>
          </a:prstGeom>
          <a:solidFill>
            <a:srgbClr val="3D2208">
              <a:alpha val="22000"/>
            </a:srgbClr>
          </a:solidFill>
          <a:ln w="12700">
            <a:solidFill>
              <a:srgbClr val="0E0A04"/>
            </a:solidFill>
            <a:prstDash val="solid"/>
          </a:ln>
        </p:spPr>
      </p:sp>
      <p:sp>
        <p:nvSpPr>
          <p:cNvPr id="136" name="Shape 134"/>
          <p:cNvSpPr/>
          <p:nvPr/>
        </p:nvSpPr>
        <p:spPr>
          <a:xfrm rot="2700000">
            <a:off x="2953512" y="3803904"/>
            <a:ext cx="155448" cy="155448"/>
          </a:xfrm>
          <a:prstGeom prst="rect">
            <a:avLst/>
          </a:prstGeom>
          <a:solidFill>
            <a:srgbClr val="D4951A">
              <a:alpha val="22000"/>
            </a:srgbClr>
          </a:solidFill>
          <a:ln w="12700">
            <a:solidFill>
              <a:srgbClr val="0E0A04"/>
            </a:solidFill>
            <a:prstDash val="solid"/>
          </a:ln>
        </p:spPr>
      </p:sp>
      <p:sp>
        <p:nvSpPr>
          <p:cNvPr id="137" name="Shape 135"/>
          <p:cNvSpPr/>
          <p:nvPr/>
        </p:nvSpPr>
        <p:spPr>
          <a:xfrm rot="2700000">
            <a:off x="3374136" y="3803904"/>
            <a:ext cx="109728" cy="109728"/>
          </a:xfrm>
          <a:prstGeom prst="rect">
            <a:avLst/>
          </a:prstGeom>
          <a:solidFill>
            <a:srgbClr val="C0622B">
              <a:alpha val="22000"/>
            </a:srgbClr>
          </a:solidFill>
          <a:ln w="12700">
            <a:solidFill>
              <a:srgbClr val="0E0A04"/>
            </a:solidFill>
            <a:prstDash val="solid"/>
          </a:ln>
        </p:spPr>
      </p:sp>
      <p:sp>
        <p:nvSpPr>
          <p:cNvPr id="138" name="Shape 136"/>
          <p:cNvSpPr/>
          <p:nvPr/>
        </p:nvSpPr>
        <p:spPr>
          <a:xfrm rot="2700000">
            <a:off x="9144" y="4078224"/>
            <a:ext cx="219456" cy="219456"/>
          </a:xfrm>
          <a:prstGeom prst="rect">
            <a:avLst/>
          </a:prstGeom>
          <a:solidFill>
            <a:srgbClr val="D8C9A8">
              <a:alpha val="58000"/>
            </a:srgbClr>
          </a:solidFill>
          <a:ln w="12700">
            <a:solidFill>
              <a:srgbClr val="0E0A04"/>
            </a:solidFill>
            <a:prstDash val="solid"/>
          </a:ln>
        </p:spPr>
      </p:sp>
      <p:sp>
        <p:nvSpPr>
          <p:cNvPr id="139" name="Shape 137"/>
          <p:cNvSpPr/>
          <p:nvPr/>
        </p:nvSpPr>
        <p:spPr>
          <a:xfrm rot="2700000">
            <a:off x="429768" y="4078224"/>
            <a:ext cx="109728" cy="109728"/>
          </a:xfrm>
          <a:prstGeom prst="rect">
            <a:avLst/>
          </a:prstGeom>
          <a:solidFill>
            <a:srgbClr val="8B2252">
              <a:alpha val="58000"/>
            </a:srgbClr>
          </a:solidFill>
          <a:ln w="12700">
            <a:solidFill>
              <a:srgbClr val="0E0A04"/>
            </a:solidFill>
            <a:prstDash val="solid"/>
          </a:ln>
        </p:spPr>
      </p:sp>
      <p:sp>
        <p:nvSpPr>
          <p:cNvPr id="140" name="Shape 138"/>
          <p:cNvSpPr/>
          <p:nvPr/>
        </p:nvSpPr>
        <p:spPr>
          <a:xfrm rot="2700000">
            <a:off x="850392" y="4078224"/>
            <a:ext cx="109728" cy="109728"/>
          </a:xfrm>
          <a:prstGeom prst="rect">
            <a:avLst/>
          </a:prstGeom>
          <a:solidFill>
            <a:srgbClr val="6B4C20">
              <a:alpha val="58000"/>
            </a:srgbClr>
          </a:solidFill>
          <a:ln w="12700">
            <a:solidFill>
              <a:srgbClr val="0E0A04"/>
            </a:solidFill>
            <a:prstDash val="solid"/>
          </a:ln>
        </p:spPr>
      </p:sp>
      <p:sp>
        <p:nvSpPr>
          <p:cNvPr id="141" name="Shape 139"/>
          <p:cNvSpPr/>
          <p:nvPr/>
        </p:nvSpPr>
        <p:spPr>
          <a:xfrm rot="2700000">
            <a:off x="1271016" y="4078224"/>
            <a:ext cx="155448" cy="155448"/>
          </a:xfrm>
          <a:prstGeom prst="rect">
            <a:avLst/>
          </a:prstGeom>
          <a:solidFill>
            <a:srgbClr val="3D2208">
              <a:alpha val="58000"/>
            </a:srgbClr>
          </a:solidFill>
          <a:ln w="12700">
            <a:solidFill>
              <a:srgbClr val="0E0A04"/>
            </a:solidFill>
            <a:prstDash val="solid"/>
          </a:ln>
        </p:spPr>
      </p:sp>
      <p:sp>
        <p:nvSpPr>
          <p:cNvPr id="142" name="Shape 140"/>
          <p:cNvSpPr/>
          <p:nvPr/>
        </p:nvSpPr>
        <p:spPr>
          <a:xfrm rot="2700000">
            <a:off x="1691640" y="4078224"/>
            <a:ext cx="109728" cy="109728"/>
          </a:xfrm>
          <a:prstGeom prst="rect">
            <a:avLst/>
          </a:prstGeom>
          <a:solidFill>
            <a:srgbClr val="D4951A">
              <a:alpha val="58000"/>
            </a:srgbClr>
          </a:solidFill>
          <a:ln w="12700">
            <a:solidFill>
              <a:srgbClr val="0E0A04"/>
            </a:solidFill>
            <a:prstDash val="solid"/>
          </a:ln>
        </p:spPr>
      </p:sp>
      <p:sp>
        <p:nvSpPr>
          <p:cNvPr id="143" name="Shape 141"/>
          <p:cNvSpPr/>
          <p:nvPr/>
        </p:nvSpPr>
        <p:spPr>
          <a:xfrm rot="2700000">
            <a:off x="2112264" y="4078224"/>
            <a:ext cx="219456" cy="219456"/>
          </a:xfrm>
          <a:prstGeom prst="rect">
            <a:avLst/>
          </a:prstGeom>
          <a:solidFill>
            <a:srgbClr val="C0622B">
              <a:alpha val="58000"/>
            </a:srgbClr>
          </a:solidFill>
          <a:ln w="12700">
            <a:solidFill>
              <a:srgbClr val="0E0A04"/>
            </a:solidFill>
            <a:prstDash val="solid"/>
          </a:ln>
        </p:spPr>
      </p:sp>
      <p:sp>
        <p:nvSpPr>
          <p:cNvPr id="144" name="Shape 142"/>
          <p:cNvSpPr/>
          <p:nvPr/>
        </p:nvSpPr>
        <p:spPr>
          <a:xfrm rot="2700000">
            <a:off x="2532888" y="4078224"/>
            <a:ext cx="155448" cy="155448"/>
          </a:xfrm>
          <a:prstGeom prst="rect">
            <a:avLst/>
          </a:prstGeom>
          <a:solidFill>
            <a:srgbClr val="1B9A8A">
              <a:alpha val="58000"/>
            </a:srgbClr>
          </a:solidFill>
          <a:ln w="12700">
            <a:solidFill>
              <a:srgbClr val="0E0A04"/>
            </a:solidFill>
            <a:prstDash val="solid"/>
          </a:ln>
        </p:spPr>
      </p:sp>
      <p:sp>
        <p:nvSpPr>
          <p:cNvPr id="145" name="Shape 143"/>
          <p:cNvSpPr/>
          <p:nvPr/>
        </p:nvSpPr>
        <p:spPr>
          <a:xfrm rot="2700000">
            <a:off x="2953512" y="4078224"/>
            <a:ext cx="109728" cy="109728"/>
          </a:xfrm>
          <a:prstGeom prst="rect">
            <a:avLst/>
          </a:prstGeom>
          <a:solidFill>
            <a:srgbClr val="D8C9A8">
              <a:alpha val="58000"/>
            </a:srgbClr>
          </a:solidFill>
          <a:ln w="12700">
            <a:solidFill>
              <a:srgbClr val="0E0A04"/>
            </a:solidFill>
            <a:prstDash val="solid"/>
          </a:ln>
        </p:spPr>
      </p:sp>
      <p:sp>
        <p:nvSpPr>
          <p:cNvPr id="146" name="Shape 144"/>
          <p:cNvSpPr/>
          <p:nvPr/>
        </p:nvSpPr>
        <p:spPr>
          <a:xfrm rot="2700000">
            <a:off x="3374136" y="4078224"/>
            <a:ext cx="109728" cy="109728"/>
          </a:xfrm>
          <a:prstGeom prst="rect">
            <a:avLst/>
          </a:prstGeom>
          <a:solidFill>
            <a:srgbClr val="8B2252">
              <a:alpha val="58000"/>
            </a:srgbClr>
          </a:solidFill>
          <a:ln w="12700">
            <a:solidFill>
              <a:srgbClr val="0E0A04"/>
            </a:solidFill>
            <a:prstDash val="solid"/>
          </a:ln>
        </p:spPr>
      </p:sp>
      <p:sp>
        <p:nvSpPr>
          <p:cNvPr id="147" name="Shape 145"/>
          <p:cNvSpPr/>
          <p:nvPr/>
        </p:nvSpPr>
        <p:spPr>
          <a:xfrm rot="2700000">
            <a:off x="9144" y="4352544"/>
            <a:ext cx="109728" cy="109728"/>
          </a:xfrm>
          <a:prstGeom prst="rect">
            <a:avLst/>
          </a:prstGeom>
          <a:solidFill>
            <a:srgbClr val="3D2208">
              <a:alpha val="49000"/>
            </a:srgbClr>
          </a:solidFill>
          <a:ln w="12700">
            <a:solidFill>
              <a:srgbClr val="0E0A04"/>
            </a:solidFill>
            <a:prstDash val="solid"/>
          </a:ln>
        </p:spPr>
      </p:sp>
      <p:sp>
        <p:nvSpPr>
          <p:cNvPr id="148" name="Shape 146"/>
          <p:cNvSpPr/>
          <p:nvPr/>
        </p:nvSpPr>
        <p:spPr>
          <a:xfrm rot="2700000">
            <a:off x="429768" y="4352544"/>
            <a:ext cx="109728" cy="109728"/>
          </a:xfrm>
          <a:prstGeom prst="rect">
            <a:avLst/>
          </a:prstGeom>
          <a:solidFill>
            <a:srgbClr val="D4951A">
              <a:alpha val="49000"/>
            </a:srgbClr>
          </a:solidFill>
          <a:ln w="12700">
            <a:solidFill>
              <a:srgbClr val="0E0A04"/>
            </a:solidFill>
            <a:prstDash val="solid"/>
          </a:ln>
        </p:spPr>
      </p:sp>
      <p:sp>
        <p:nvSpPr>
          <p:cNvPr id="149" name="Shape 147"/>
          <p:cNvSpPr/>
          <p:nvPr/>
        </p:nvSpPr>
        <p:spPr>
          <a:xfrm rot="2700000">
            <a:off x="850392" y="4352544"/>
            <a:ext cx="155448" cy="155448"/>
          </a:xfrm>
          <a:prstGeom prst="rect">
            <a:avLst/>
          </a:prstGeom>
          <a:solidFill>
            <a:srgbClr val="C0622B">
              <a:alpha val="49000"/>
            </a:srgbClr>
          </a:solidFill>
          <a:ln w="12700">
            <a:solidFill>
              <a:srgbClr val="0E0A04"/>
            </a:solidFill>
            <a:prstDash val="solid"/>
          </a:ln>
        </p:spPr>
      </p:sp>
      <p:sp>
        <p:nvSpPr>
          <p:cNvPr id="150" name="Shape 148"/>
          <p:cNvSpPr/>
          <p:nvPr/>
        </p:nvSpPr>
        <p:spPr>
          <a:xfrm rot="2700000">
            <a:off x="1271016" y="4352544"/>
            <a:ext cx="109728" cy="109728"/>
          </a:xfrm>
          <a:prstGeom prst="rect">
            <a:avLst/>
          </a:prstGeom>
          <a:solidFill>
            <a:srgbClr val="1B9A8A">
              <a:alpha val="49000"/>
            </a:srgbClr>
          </a:solidFill>
          <a:ln w="12700">
            <a:solidFill>
              <a:srgbClr val="0E0A04"/>
            </a:solidFill>
            <a:prstDash val="solid"/>
          </a:ln>
        </p:spPr>
      </p:sp>
      <p:sp>
        <p:nvSpPr>
          <p:cNvPr id="151" name="Shape 149"/>
          <p:cNvSpPr/>
          <p:nvPr/>
        </p:nvSpPr>
        <p:spPr>
          <a:xfrm rot="2700000">
            <a:off x="1691640" y="4352544"/>
            <a:ext cx="219456" cy="219456"/>
          </a:xfrm>
          <a:prstGeom prst="rect">
            <a:avLst/>
          </a:prstGeom>
          <a:solidFill>
            <a:srgbClr val="D8C9A8">
              <a:alpha val="49000"/>
            </a:srgbClr>
          </a:solidFill>
          <a:ln w="12700">
            <a:solidFill>
              <a:srgbClr val="0E0A04"/>
            </a:solidFill>
            <a:prstDash val="solid"/>
          </a:ln>
        </p:spPr>
      </p:sp>
      <p:sp>
        <p:nvSpPr>
          <p:cNvPr id="152" name="Shape 150"/>
          <p:cNvSpPr/>
          <p:nvPr/>
        </p:nvSpPr>
        <p:spPr>
          <a:xfrm rot="2700000">
            <a:off x="2112264" y="4352544"/>
            <a:ext cx="155448" cy="155448"/>
          </a:xfrm>
          <a:prstGeom prst="rect">
            <a:avLst/>
          </a:prstGeom>
          <a:solidFill>
            <a:srgbClr val="8B2252">
              <a:alpha val="49000"/>
            </a:srgbClr>
          </a:solidFill>
          <a:ln w="12700">
            <a:solidFill>
              <a:srgbClr val="0E0A04"/>
            </a:solidFill>
            <a:prstDash val="solid"/>
          </a:ln>
        </p:spPr>
      </p:sp>
      <p:sp>
        <p:nvSpPr>
          <p:cNvPr id="153" name="Shape 151"/>
          <p:cNvSpPr/>
          <p:nvPr/>
        </p:nvSpPr>
        <p:spPr>
          <a:xfrm rot="2700000">
            <a:off x="2532888" y="4352544"/>
            <a:ext cx="109728" cy="109728"/>
          </a:xfrm>
          <a:prstGeom prst="rect">
            <a:avLst/>
          </a:prstGeom>
          <a:solidFill>
            <a:srgbClr val="6B4C20">
              <a:alpha val="49000"/>
            </a:srgbClr>
          </a:solidFill>
          <a:ln w="12700">
            <a:solidFill>
              <a:srgbClr val="0E0A04"/>
            </a:solidFill>
            <a:prstDash val="solid"/>
          </a:ln>
        </p:spPr>
      </p:sp>
      <p:sp>
        <p:nvSpPr>
          <p:cNvPr id="154" name="Shape 152"/>
          <p:cNvSpPr/>
          <p:nvPr/>
        </p:nvSpPr>
        <p:spPr>
          <a:xfrm rot="2700000">
            <a:off x="2953512" y="4352544"/>
            <a:ext cx="109728" cy="109728"/>
          </a:xfrm>
          <a:prstGeom prst="rect">
            <a:avLst/>
          </a:prstGeom>
          <a:solidFill>
            <a:srgbClr val="3D2208">
              <a:alpha val="49000"/>
            </a:srgbClr>
          </a:solidFill>
          <a:ln w="12700">
            <a:solidFill>
              <a:srgbClr val="0E0A04"/>
            </a:solidFill>
            <a:prstDash val="solid"/>
          </a:ln>
        </p:spPr>
      </p:sp>
      <p:sp>
        <p:nvSpPr>
          <p:cNvPr id="155" name="Shape 153"/>
          <p:cNvSpPr/>
          <p:nvPr/>
        </p:nvSpPr>
        <p:spPr>
          <a:xfrm rot="2700000">
            <a:off x="3374136" y="4352544"/>
            <a:ext cx="155448" cy="155448"/>
          </a:xfrm>
          <a:prstGeom prst="rect">
            <a:avLst/>
          </a:prstGeom>
          <a:solidFill>
            <a:srgbClr val="D4951A">
              <a:alpha val="49000"/>
            </a:srgbClr>
          </a:solidFill>
          <a:ln w="12700">
            <a:solidFill>
              <a:srgbClr val="0E0A04"/>
            </a:solidFill>
            <a:prstDash val="solid"/>
          </a:ln>
        </p:spPr>
      </p:sp>
      <p:sp>
        <p:nvSpPr>
          <p:cNvPr id="156" name="Shape 154"/>
          <p:cNvSpPr/>
          <p:nvPr/>
        </p:nvSpPr>
        <p:spPr>
          <a:xfrm rot="2700000">
            <a:off x="9144" y="4626864"/>
            <a:ext cx="109728" cy="109728"/>
          </a:xfrm>
          <a:prstGeom prst="rect">
            <a:avLst/>
          </a:prstGeom>
          <a:solidFill>
            <a:srgbClr val="1B9A8A">
              <a:alpha val="40000"/>
            </a:srgbClr>
          </a:solidFill>
          <a:ln w="12700">
            <a:solidFill>
              <a:srgbClr val="0E0A04"/>
            </a:solidFill>
            <a:prstDash val="solid"/>
          </a:ln>
        </p:spPr>
      </p:sp>
      <p:sp>
        <p:nvSpPr>
          <p:cNvPr id="157" name="Shape 155"/>
          <p:cNvSpPr/>
          <p:nvPr/>
        </p:nvSpPr>
        <p:spPr>
          <a:xfrm rot="2700000">
            <a:off x="429768" y="4626864"/>
            <a:ext cx="155448" cy="155448"/>
          </a:xfrm>
          <a:prstGeom prst="rect">
            <a:avLst/>
          </a:prstGeom>
          <a:solidFill>
            <a:srgbClr val="D8C9A8">
              <a:alpha val="40000"/>
            </a:srgbClr>
          </a:solidFill>
          <a:ln w="12700">
            <a:solidFill>
              <a:srgbClr val="0E0A04"/>
            </a:solidFill>
            <a:prstDash val="solid"/>
          </a:ln>
        </p:spPr>
      </p:sp>
      <p:sp>
        <p:nvSpPr>
          <p:cNvPr id="158" name="Shape 156"/>
          <p:cNvSpPr/>
          <p:nvPr/>
        </p:nvSpPr>
        <p:spPr>
          <a:xfrm rot="2700000">
            <a:off x="850392" y="4626864"/>
            <a:ext cx="109728" cy="109728"/>
          </a:xfrm>
          <a:prstGeom prst="rect">
            <a:avLst/>
          </a:prstGeom>
          <a:solidFill>
            <a:srgbClr val="8B2252">
              <a:alpha val="40000"/>
            </a:srgbClr>
          </a:solidFill>
          <a:ln w="12700">
            <a:solidFill>
              <a:srgbClr val="0E0A04"/>
            </a:solidFill>
            <a:prstDash val="solid"/>
          </a:ln>
        </p:spPr>
      </p:sp>
      <p:sp>
        <p:nvSpPr>
          <p:cNvPr id="159" name="Shape 157"/>
          <p:cNvSpPr/>
          <p:nvPr/>
        </p:nvSpPr>
        <p:spPr>
          <a:xfrm rot="2700000">
            <a:off x="1271016" y="4626864"/>
            <a:ext cx="219456" cy="219456"/>
          </a:xfrm>
          <a:prstGeom prst="rect">
            <a:avLst/>
          </a:prstGeom>
          <a:solidFill>
            <a:srgbClr val="6B4C20">
              <a:alpha val="40000"/>
            </a:srgbClr>
          </a:solidFill>
          <a:ln w="12700">
            <a:solidFill>
              <a:srgbClr val="0E0A04"/>
            </a:solidFill>
            <a:prstDash val="solid"/>
          </a:ln>
        </p:spPr>
      </p:sp>
      <p:sp>
        <p:nvSpPr>
          <p:cNvPr id="160" name="Shape 158"/>
          <p:cNvSpPr/>
          <p:nvPr/>
        </p:nvSpPr>
        <p:spPr>
          <a:xfrm rot="2700000">
            <a:off x="1691640" y="4626864"/>
            <a:ext cx="155448" cy="155448"/>
          </a:xfrm>
          <a:prstGeom prst="rect">
            <a:avLst/>
          </a:prstGeom>
          <a:solidFill>
            <a:srgbClr val="3D2208">
              <a:alpha val="40000"/>
            </a:srgbClr>
          </a:solidFill>
          <a:ln w="12700">
            <a:solidFill>
              <a:srgbClr val="0E0A04"/>
            </a:solidFill>
            <a:prstDash val="solid"/>
          </a:ln>
        </p:spPr>
      </p:sp>
      <p:sp>
        <p:nvSpPr>
          <p:cNvPr id="161" name="Shape 159"/>
          <p:cNvSpPr/>
          <p:nvPr/>
        </p:nvSpPr>
        <p:spPr>
          <a:xfrm rot="2700000">
            <a:off x="2112264" y="4626864"/>
            <a:ext cx="109728" cy="109728"/>
          </a:xfrm>
          <a:prstGeom prst="rect">
            <a:avLst/>
          </a:prstGeom>
          <a:solidFill>
            <a:srgbClr val="D4951A">
              <a:alpha val="40000"/>
            </a:srgbClr>
          </a:solidFill>
          <a:ln w="12700">
            <a:solidFill>
              <a:srgbClr val="0E0A04"/>
            </a:solidFill>
            <a:prstDash val="solid"/>
          </a:ln>
        </p:spPr>
      </p:sp>
      <p:sp>
        <p:nvSpPr>
          <p:cNvPr id="162" name="Shape 160"/>
          <p:cNvSpPr/>
          <p:nvPr/>
        </p:nvSpPr>
        <p:spPr>
          <a:xfrm rot="2700000">
            <a:off x="2532888" y="4626864"/>
            <a:ext cx="109728" cy="109728"/>
          </a:xfrm>
          <a:prstGeom prst="rect">
            <a:avLst/>
          </a:prstGeom>
          <a:solidFill>
            <a:srgbClr val="C0622B">
              <a:alpha val="40000"/>
            </a:srgbClr>
          </a:solidFill>
          <a:ln w="12700">
            <a:solidFill>
              <a:srgbClr val="0E0A04"/>
            </a:solidFill>
            <a:prstDash val="solid"/>
          </a:ln>
        </p:spPr>
      </p:sp>
      <p:sp>
        <p:nvSpPr>
          <p:cNvPr id="163" name="Shape 161"/>
          <p:cNvSpPr/>
          <p:nvPr/>
        </p:nvSpPr>
        <p:spPr>
          <a:xfrm rot="2700000">
            <a:off x="2953512" y="4626864"/>
            <a:ext cx="155448" cy="155448"/>
          </a:xfrm>
          <a:prstGeom prst="rect">
            <a:avLst/>
          </a:prstGeom>
          <a:solidFill>
            <a:srgbClr val="1B9A8A">
              <a:alpha val="40000"/>
            </a:srgbClr>
          </a:solidFill>
          <a:ln w="12700">
            <a:solidFill>
              <a:srgbClr val="0E0A04"/>
            </a:solidFill>
            <a:prstDash val="solid"/>
          </a:ln>
        </p:spPr>
      </p:sp>
      <p:sp>
        <p:nvSpPr>
          <p:cNvPr id="164" name="Shape 162"/>
          <p:cNvSpPr/>
          <p:nvPr/>
        </p:nvSpPr>
        <p:spPr>
          <a:xfrm rot="2700000">
            <a:off x="3374136" y="4626864"/>
            <a:ext cx="219456" cy="219456"/>
          </a:xfrm>
          <a:prstGeom prst="rect">
            <a:avLst/>
          </a:prstGeom>
          <a:solidFill>
            <a:srgbClr val="D8C9A8">
              <a:alpha val="40000"/>
            </a:srgbClr>
          </a:solidFill>
          <a:ln w="12700">
            <a:solidFill>
              <a:srgbClr val="0E0A04"/>
            </a:solidFill>
            <a:prstDash val="solid"/>
          </a:ln>
        </p:spPr>
      </p:sp>
      <p:sp>
        <p:nvSpPr>
          <p:cNvPr id="165" name="Shape 163"/>
          <p:cNvSpPr/>
          <p:nvPr/>
        </p:nvSpPr>
        <p:spPr>
          <a:xfrm rot="2700000">
            <a:off x="9144" y="4901184"/>
            <a:ext cx="155448" cy="155448"/>
          </a:xfrm>
          <a:prstGeom prst="rect">
            <a:avLst/>
          </a:prstGeom>
          <a:solidFill>
            <a:srgbClr val="6B4C20">
              <a:alpha val="31000"/>
            </a:srgbClr>
          </a:solidFill>
          <a:ln w="12700">
            <a:solidFill>
              <a:srgbClr val="0E0A04"/>
            </a:solidFill>
            <a:prstDash val="solid"/>
          </a:ln>
        </p:spPr>
      </p:sp>
      <p:sp>
        <p:nvSpPr>
          <p:cNvPr id="166" name="Shape 164"/>
          <p:cNvSpPr/>
          <p:nvPr/>
        </p:nvSpPr>
        <p:spPr>
          <a:xfrm rot="2700000">
            <a:off x="429768" y="4901184"/>
            <a:ext cx="109728" cy="109728"/>
          </a:xfrm>
          <a:prstGeom prst="rect">
            <a:avLst/>
          </a:prstGeom>
          <a:solidFill>
            <a:srgbClr val="3D2208">
              <a:alpha val="31000"/>
            </a:srgbClr>
          </a:solidFill>
          <a:ln w="12700">
            <a:solidFill>
              <a:srgbClr val="0E0A04"/>
            </a:solidFill>
            <a:prstDash val="solid"/>
          </a:ln>
        </p:spPr>
      </p:sp>
      <p:sp>
        <p:nvSpPr>
          <p:cNvPr id="167" name="Shape 165"/>
          <p:cNvSpPr/>
          <p:nvPr/>
        </p:nvSpPr>
        <p:spPr>
          <a:xfrm rot="2700000">
            <a:off x="850392" y="4901184"/>
            <a:ext cx="219456" cy="219456"/>
          </a:xfrm>
          <a:prstGeom prst="rect">
            <a:avLst/>
          </a:prstGeom>
          <a:solidFill>
            <a:srgbClr val="D4951A">
              <a:alpha val="31000"/>
            </a:srgbClr>
          </a:solidFill>
          <a:ln w="12700">
            <a:solidFill>
              <a:srgbClr val="0E0A04"/>
            </a:solidFill>
            <a:prstDash val="solid"/>
          </a:ln>
        </p:spPr>
      </p:sp>
      <p:sp>
        <p:nvSpPr>
          <p:cNvPr id="168" name="Shape 166"/>
          <p:cNvSpPr/>
          <p:nvPr/>
        </p:nvSpPr>
        <p:spPr>
          <a:xfrm rot="2700000">
            <a:off x="1271016" y="4901184"/>
            <a:ext cx="155448" cy="155448"/>
          </a:xfrm>
          <a:prstGeom prst="rect">
            <a:avLst/>
          </a:prstGeom>
          <a:solidFill>
            <a:srgbClr val="C0622B">
              <a:alpha val="31000"/>
            </a:srgbClr>
          </a:solidFill>
          <a:ln w="12700">
            <a:solidFill>
              <a:srgbClr val="0E0A04"/>
            </a:solidFill>
            <a:prstDash val="solid"/>
          </a:ln>
        </p:spPr>
      </p:sp>
      <p:sp>
        <p:nvSpPr>
          <p:cNvPr id="169" name="Shape 167"/>
          <p:cNvSpPr/>
          <p:nvPr/>
        </p:nvSpPr>
        <p:spPr>
          <a:xfrm rot="2700000">
            <a:off x="1691640" y="4901184"/>
            <a:ext cx="109728" cy="109728"/>
          </a:xfrm>
          <a:prstGeom prst="rect">
            <a:avLst/>
          </a:prstGeom>
          <a:solidFill>
            <a:srgbClr val="1B9A8A">
              <a:alpha val="31000"/>
            </a:srgbClr>
          </a:solidFill>
          <a:ln w="12700">
            <a:solidFill>
              <a:srgbClr val="0E0A04"/>
            </a:solidFill>
            <a:prstDash val="solid"/>
          </a:ln>
        </p:spPr>
      </p:sp>
      <p:sp>
        <p:nvSpPr>
          <p:cNvPr id="170" name="Shape 168"/>
          <p:cNvSpPr/>
          <p:nvPr/>
        </p:nvSpPr>
        <p:spPr>
          <a:xfrm rot="2700000">
            <a:off x="2112264" y="4901184"/>
            <a:ext cx="109728" cy="109728"/>
          </a:xfrm>
          <a:prstGeom prst="rect">
            <a:avLst/>
          </a:prstGeom>
          <a:solidFill>
            <a:srgbClr val="D8C9A8">
              <a:alpha val="31000"/>
            </a:srgbClr>
          </a:solidFill>
          <a:ln w="12700">
            <a:solidFill>
              <a:srgbClr val="0E0A04"/>
            </a:solidFill>
            <a:prstDash val="solid"/>
          </a:ln>
        </p:spPr>
      </p:sp>
      <p:sp>
        <p:nvSpPr>
          <p:cNvPr id="171" name="Shape 169"/>
          <p:cNvSpPr/>
          <p:nvPr/>
        </p:nvSpPr>
        <p:spPr>
          <a:xfrm rot="2700000">
            <a:off x="2532888" y="4901184"/>
            <a:ext cx="155448" cy="155448"/>
          </a:xfrm>
          <a:prstGeom prst="rect">
            <a:avLst/>
          </a:prstGeom>
          <a:solidFill>
            <a:srgbClr val="8B2252">
              <a:alpha val="31000"/>
            </a:srgbClr>
          </a:solidFill>
          <a:ln w="12700">
            <a:solidFill>
              <a:srgbClr val="0E0A04"/>
            </a:solidFill>
            <a:prstDash val="solid"/>
          </a:ln>
        </p:spPr>
      </p:sp>
      <p:sp>
        <p:nvSpPr>
          <p:cNvPr id="172" name="Shape 170"/>
          <p:cNvSpPr/>
          <p:nvPr/>
        </p:nvSpPr>
        <p:spPr>
          <a:xfrm rot="2700000">
            <a:off x="2953512" y="4901184"/>
            <a:ext cx="219456" cy="219456"/>
          </a:xfrm>
          <a:prstGeom prst="rect">
            <a:avLst/>
          </a:prstGeom>
          <a:solidFill>
            <a:srgbClr val="6B4C20">
              <a:alpha val="31000"/>
            </a:srgbClr>
          </a:solidFill>
          <a:ln w="12700">
            <a:solidFill>
              <a:srgbClr val="0E0A04"/>
            </a:solidFill>
            <a:prstDash val="solid"/>
          </a:ln>
        </p:spPr>
      </p:sp>
      <p:sp>
        <p:nvSpPr>
          <p:cNvPr id="173" name="Shape 171"/>
          <p:cNvSpPr/>
          <p:nvPr/>
        </p:nvSpPr>
        <p:spPr>
          <a:xfrm rot="2700000">
            <a:off x="3374136" y="4901184"/>
            <a:ext cx="109728" cy="109728"/>
          </a:xfrm>
          <a:prstGeom prst="rect">
            <a:avLst/>
          </a:prstGeom>
          <a:solidFill>
            <a:srgbClr val="3D2208">
              <a:alpha val="31000"/>
            </a:srgbClr>
          </a:solidFill>
          <a:ln w="12700">
            <a:solidFill>
              <a:srgbClr val="0E0A04"/>
            </a:solidFill>
            <a:prstDash val="solid"/>
          </a:ln>
        </p:spPr>
      </p:sp>
      <p:sp>
        <p:nvSpPr>
          <p:cNvPr id="174" name="Shape 172"/>
          <p:cNvSpPr/>
          <p:nvPr/>
        </p:nvSpPr>
        <p:spPr>
          <a:xfrm rot="2700000">
            <a:off x="9144" y="5175504"/>
            <a:ext cx="109728" cy="109728"/>
          </a:xfrm>
          <a:prstGeom prst="rect">
            <a:avLst/>
          </a:prstGeom>
          <a:solidFill>
            <a:srgbClr val="C0622B">
              <a:alpha val="22000"/>
            </a:srgbClr>
          </a:solidFill>
          <a:ln w="12700">
            <a:solidFill>
              <a:srgbClr val="0E0A04"/>
            </a:solidFill>
            <a:prstDash val="solid"/>
          </a:ln>
        </p:spPr>
      </p:sp>
      <p:sp>
        <p:nvSpPr>
          <p:cNvPr id="175" name="Shape 173"/>
          <p:cNvSpPr/>
          <p:nvPr/>
        </p:nvSpPr>
        <p:spPr>
          <a:xfrm rot="2700000">
            <a:off x="429768" y="5175504"/>
            <a:ext cx="219456" cy="219456"/>
          </a:xfrm>
          <a:prstGeom prst="rect">
            <a:avLst/>
          </a:prstGeom>
          <a:solidFill>
            <a:srgbClr val="1B9A8A">
              <a:alpha val="22000"/>
            </a:srgbClr>
          </a:solidFill>
          <a:ln w="12700">
            <a:solidFill>
              <a:srgbClr val="0E0A04"/>
            </a:solidFill>
            <a:prstDash val="solid"/>
          </a:ln>
        </p:spPr>
      </p:sp>
      <p:sp>
        <p:nvSpPr>
          <p:cNvPr id="176" name="Shape 174"/>
          <p:cNvSpPr/>
          <p:nvPr/>
        </p:nvSpPr>
        <p:spPr>
          <a:xfrm rot="2700000">
            <a:off x="850392" y="5175504"/>
            <a:ext cx="155448" cy="155448"/>
          </a:xfrm>
          <a:prstGeom prst="rect">
            <a:avLst/>
          </a:prstGeom>
          <a:solidFill>
            <a:srgbClr val="D8C9A8">
              <a:alpha val="22000"/>
            </a:srgbClr>
          </a:solidFill>
          <a:ln w="12700">
            <a:solidFill>
              <a:srgbClr val="0E0A04"/>
            </a:solidFill>
            <a:prstDash val="solid"/>
          </a:ln>
        </p:spPr>
      </p:sp>
      <p:sp>
        <p:nvSpPr>
          <p:cNvPr id="177" name="Shape 175"/>
          <p:cNvSpPr/>
          <p:nvPr/>
        </p:nvSpPr>
        <p:spPr>
          <a:xfrm rot="2700000">
            <a:off x="1271016" y="5175504"/>
            <a:ext cx="109728" cy="109728"/>
          </a:xfrm>
          <a:prstGeom prst="rect">
            <a:avLst/>
          </a:prstGeom>
          <a:solidFill>
            <a:srgbClr val="8B2252">
              <a:alpha val="22000"/>
            </a:srgbClr>
          </a:solidFill>
          <a:ln w="12700">
            <a:solidFill>
              <a:srgbClr val="0E0A04"/>
            </a:solidFill>
            <a:prstDash val="solid"/>
          </a:ln>
        </p:spPr>
      </p:sp>
      <p:sp>
        <p:nvSpPr>
          <p:cNvPr id="178" name="Shape 176"/>
          <p:cNvSpPr/>
          <p:nvPr/>
        </p:nvSpPr>
        <p:spPr>
          <a:xfrm rot="2700000">
            <a:off x="1691640" y="5175504"/>
            <a:ext cx="109728" cy="109728"/>
          </a:xfrm>
          <a:prstGeom prst="rect">
            <a:avLst/>
          </a:prstGeom>
          <a:solidFill>
            <a:srgbClr val="6B4C20">
              <a:alpha val="22000"/>
            </a:srgbClr>
          </a:solidFill>
          <a:ln w="12700">
            <a:solidFill>
              <a:srgbClr val="0E0A04"/>
            </a:solidFill>
            <a:prstDash val="solid"/>
          </a:ln>
        </p:spPr>
      </p:sp>
      <p:sp>
        <p:nvSpPr>
          <p:cNvPr id="179" name="Shape 177"/>
          <p:cNvSpPr/>
          <p:nvPr/>
        </p:nvSpPr>
        <p:spPr>
          <a:xfrm rot="2700000">
            <a:off x="2112264" y="5175504"/>
            <a:ext cx="155448" cy="155448"/>
          </a:xfrm>
          <a:prstGeom prst="rect">
            <a:avLst/>
          </a:prstGeom>
          <a:solidFill>
            <a:srgbClr val="3D2208">
              <a:alpha val="22000"/>
            </a:srgbClr>
          </a:solidFill>
          <a:ln w="12700">
            <a:solidFill>
              <a:srgbClr val="0E0A04"/>
            </a:solidFill>
            <a:prstDash val="solid"/>
          </a:ln>
        </p:spPr>
      </p:sp>
      <p:sp>
        <p:nvSpPr>
          <p:cNvPr id="180" name="Shape 178"/>
          <p:cNvSpPr/>
          <p:nvPr/>
        </p:nvSpPr>
        <p:spPr>
          <a:xfrm rot="2700000">
            <a:off x="2532888" y="5175504"/>
            <a:ext cx="219456" cy="219456"/>
          </a:xfrm>
          <a:prstGeom prst="rect">
            <a:avLst/>
          </a:prstGeom>
          <a:solidFill>
            <a:srgbClr val="D4951A">
              <a:alpha val="22000"/>
            </a:srgbClr>
          </a:solidFill>
          <a:ln w="12700">
            <a:solidFill>
              <a:srgbClr val="0E0A04"/>
            </a:solidFill>
            <a:prstDash val="solid"/>
          </a:ln>
        </p:spPr>
      </p:sp>
      <p:sp>
        <p:nvSpPr>
          <p:cNvPr id="181" name="Shape 179"/>
          <p:cNvSpPr/>
          <p:nvPr/>
        </p:nvSpPr>
        <p:spPr>
          <a:xfrm rot="2700000">
            <a:off x="2953512" y="5175504"/>
            <a:ext cx="109728" cy="109728"/>
          </a:xfrm>
          <a:prstGeom prst="rect">
            <a:avLst/>
          </a:prstGeom>
          <a:solidFill>
            <a:srgbClr val="C0622B">
              <a:alpha val="22000"/>
            </a:srgbClr>
          </a:solidFill>
          <a:ln w="12700">
            <a:solidFill>
              <a:srgbClr val="0E0A04"/>
            </a:solidFill>
            <a:prstDash val="solid"/>
          </a:ln>
        </p:spPr>
      </p:sp>
      <p:sp>
        <p:nvSpPr>
          <p:cNvPr id="182" name="Shape 180"/>
          <p:cNvSpPr/>
          <p:nvPr/>
        </p:nvSpPr>
        <p:spPr>
          <a:xfrm rot="2700000">
            <a:off x="3374136" y="5175504"/>
            <a:ext cx="155448" cy="155448"/>
          </a:xfrm>
          <a:prstGeom prst="rect">
            <a:avLst/>
          </a:prstGeom>
          <a:solidFill>
            <a:srgbClr val="1B9A8A">
              <a:alpha val="22000"/>
            </a:srgbClr>
          </a:solidFill>
          <a:ln w="12700">
            <a:solidFill>
              <a:srgbClr val="0E0A04"/>
            </a:solidFill>
            <a:prstDash val="solid"/>
          </a:ln>
        </p:spPr>
      </p:sp>
      <p:sp>
        <p:nvSpPr>
          <p:cNvPr id="183" name="Text 181"/>
          <p:cNvSpPr/>
          <p:nvPr/>
        </p:nvSpPr>
        <p:spPr>
          <a:xfrm>
            <a:off x="3977640" y="411480"/>
            <a:ext cx="4983480" cy="548640"/>
          </a:xfrm>
          <a:prstGeom prst="rect">
            <a:avLst/>
          </a:prstGeom>
          <a:noFill/>
          <a:ln/>
        </p:spPr>
        <p:txBody>
          <a:bodyPr wrap="square" rtlCol="0" anchor="ctr"/>
          <a:lstStyle/>
          <a:p>
            <a:pPr indent="0" marL="0">
              <a:buNone/>
            </a:pPr>
            <a:r>
              <a:rPr lang="en-US" sz="1100" b="1" spc="400" kern="0" dirty="0">
                <a:solidFill>
                  <a:srgbClr val="6B7A8A"/>
                </a:solidFill>
                <a:latin typeface="Calibri" pitchFamily="34" charset="0"/>
                <a:ea typeface="Calibri" pitchFamily="34" charset="-122"/>
                <a:cs typeface="Calibri" pitchFamily="34" charset="-120"/>
              </a:rPr>
              <a:t>BOILER SELECTION</a:t>
            </a:r>
            <a:endParaRPr lang="en-US" sz="1100" dirty="0"/>
          </a:p>
        </p:txBody>
      </p:sp>
      <p:sp>
        <p:nvSpPr>
          <p:cNvPr id="184" name="Text 182"/>
          <p:cNvSpPr/>
          <p:nvPr/>
        </p:nvSpPr>
        <p:spPr>
          <a:xfrm>
            <a:off x="3977640" y="1005840"/>
            <a:ext cx="4983480" cy="1828800"/>
          </a:xfrm>
          <a:prstGeom prst="rect">
            <a:avLst/>
          </a:prstGeom>
          <a:noFill/>
          <a:ln/>
        </p:spPr>
        <p:txBody>
          <a:bodyPr wrap="square" rtlCol="0" anchor="ctr"/>
          <a:lstStyle/>
          <a:p>
            <a:pPr indent="0" marL="0">
              <a:lnSpc>
                <a:spcPct val="100000"/>
              </a:lnSpc>
              <a:buNone/>
            </a:pPr>
            <a:r>
              <a:rPr lang="en-US" sz="4600" b="1" dirty="0">
                <a:solidFill>
                  <a:srgbClr val="EDE0C8"/>
                </a:solidFill>
                <a:latin typeface="Georgia" pitchFamily="34" charset="0"/>
                <a:ea typeface="Georgia" pitchFamily="34" charset="-122"/>
                <a:cs typeface="Georgia" pitchFamily="34" charset="-120"/>
              </a:rPr>
              <a:t>Executive</a:t>
            </a:r>
            <a:endParaRPr lang="en-US" sz="4600" dirty="0"/>
          </a:p>
          <a:p>
            <a:pPr indent="0" marL="0">
              <a:lnSpc>
                <a:spcPct val="100000"/>
              </a:lnSpc>
              <a:buNone/>
            </a:pPr>
            <a:r>
              <a:rPr lang="en-US" sz="4600" b="1" dirty="0">
                <a:solidFill>
                  <a:srgbClr val="EDE0C8"/>
                </a:solidFill>
                <a:latin typeface="Georgia" pitchFamily="34" charset="0"/>
                <a:ea typeface="Georgia" pitchFamily="34" charset="-122"/>
                <a:cs typeface="Georgia" pitchFamily="34" charset="-120"/>
              </a:rPr>
              <a:t>Decision Brief</a:t>
            </a:r>
            <a:endParaRPr lang="en-US" sz="4600" dirty="0"/>
          </a:p>
        </p:txBody>
      </p:sp>
      <p:sp>
        <p:nvSpPr>
          <p:cNvPr id="185" name="Shape 183"/>
          <p:cNvSpPr/>
          <p:nvPr/>
        </p:nvSpPr>
        <p:spPr>
          <a:xfrm>
            <a:off x="3977640" y="2944368"/>
            <a:ext cx="4983480" cy="36576"/>
          </a:xfrm>
          <a:prstGeom prst="rect">
            <a:avLst/>
          </a:prstGeom>
          <a:solidFill>
            <a:srgbClr val="D4951A"/>
          </a:solidFill>
          <a:ln/>
        </p:spPr>
      </p:sp>
      <p:sp>
        <p:nvSpPr>
          <p:cNvPr id="186" name="Shape 184"/>
          <p:cNvSpPr/>
          <p:nvPr/>
        </p:nvSpPr>
        <p:spPr>
          <a:xfrm>
            <a:off x="3977640" y="3017520"/>
            <a:ext cx="2926080" cy="22860"/>
          </a:xfrm>
          <a:prstGeom prst="rect">
            <a:avLst/>
          </a:prstGeom>
          <a:solidFill>
            <a:srgbClr val="C0622B"/>
          </a:solidFill>
          <a:ln/>
        </p:spPr>
      </p:sp>
      <p:sp>
        <p:nvSpPr>
          <p:cNvPr id="187" name="Text 185"/>
          <p:cNvSpPr/>
          <p:nvPr/>
        </p:nvSpPr>
        <p:spPr>
          <a:xfrm>
            <a:off x="3977640" y="3127248"/>
            <a:ext cx="4983480" cy="411480"/>
          </a:xfrm>
          <a:prstGeom prst="rect">
            <a:avLst/>
          </a:prstGeom>
          <a:noFill/>
          <a:ln/>
        </p:spPr>
        <p:txBody>
          <a:bodyPr wrap="square" rtlCol="0" anchor="ctr"/>
          <a:lstStyle/>
          <a:p>
            <a:pPr indent="0" marL="0">
              <a:buNone/>
            </a:pPr>
            <a:r>
              <a:rPr lang="en-US" sz="1300" i="1" dirty="0">
                <a:solidFill>
                  <a:srgbClr val="D8C9A8"/>
                </a:solidFill>
                <a:latin typeface="Calibri" pitchFamily="34" charset="0"/>
                <a:ea typeface="Calibri" pitchFamily="34" charset="-122"/>
                <a:cs typeface="Calibri" pitchFamily="34" charset="-120"/>
              </a:rPr>
              <a:t>Pet Factory Maroc  ·  5 T/H Dry Pet Food Production Line</a:t>
            </a:r>
            <a:endParaRPr lang="en-US" sz="1300" dirty="0"/>
          </a:p>
        </p:txBody>
      </p:sp>
      <p:sp>
        <p:nvSpPr>
          <p:cNvPr id="188" name="Shape 186"/>
          <p:cNvSpPr/>
          <p:nvPr/>
        </p:nvSpPr>
        <p:spPr>
          <a:xfrm>
            <a:off x="3977640" y="3675888"/>
            <a:ext cx="4983480" cy="804672"/>
          </a:xfrm>
          <a:prstGeom prst="rect">
            <a:avLst/>
          </a:prstGeom>
          <a:solidFill>
            <a:srgbClr val="141418"/>
          </a:solidFill>
          <a:ln w="12700">
            <a:solidFill>
              <a:srgbClr val="D4951A"/>
            </a:solidFill>
            <a:prstDash val="solid"/>
          </a:ln>
          <a:effectLst>
            <a:outerShdw sx="100000" sy="100000" kx="0" ky="0" algn="bl" rotWithShape="0" blurRad="152400" dist="50800" dir="8100000">
              <a:srgbClr val="000000">
                <a:alpha val="45000"/>
              </a:srgbClr>
            </a:outerShdw>
          </a:effectLst>
        </p:spPr>
      </p:sp>
      <p:sp>
        <p:nvSpPr>
          <p:cNvPr id="189" name="Shape 187"/>
          <p:cNvSpPr/>
          <p:nvPr/>
        </p:nvSpPr>
        <p:spPr>
          <a:xfrm>
            <a:off x="3977640" y="3675888"/>
            <a:ext cx="4983480" cy="45720"/>
          </a:xfrm>
          <a:prstGeom prst="rect">
            <a:avLst/>
          </a:prstGeom>
          <a:solidFill>
            <a:srgbClr val="D4951A"/>
          </a:solidFill>
          <a:ln/>
        </p:spPr>
      </p:sp>
      <p:sp>
        <p:nvSpPr>
          <p:cNvPr id="190" name="Text 188"/>
          <p:cNvSpPr/>
          <p:nvPr/>
        </p:nvSpPr>
        <p:spPr>
          <a:xfrm>
            <a:off x="4160520" y="3749040"/>
            <a:ext cx="77724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Fuel:</a:t>
            </a:r>
            <a:endParaRPr lang="en-US" sz="900" dirty="0"/>
          </a:p>
        </p:txBody>
      </p:sp>
      <p:sp>
        <p:nvSpPr>
          <p:cNvPr id="191" name="Text 189"/>
          <p:cNvSpPr/>
          <p:nvPr/>
        </p:nvSpPr>
        <p:spPr>
          <a:xfrm>
            <a:off x="4956048" y="3749040"/>
            <a:ext cx="384048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LPG (Natural Gas — future)</a:t>
            </a:r>
            <a:endParaRPr lang="en-US" sz="900" dirty="0"/>
          </a:p>
        </p:txBody>
      </p:sp>
      <p:sp>
        <p:nvSpPr>
          <p:cNvPr id="192" name="Text 190"/>
          <p:cNvSpPr/>
          <p:nvPr/>
        </p:nvSpPr>
        <p:spPr>
          <a:xfrm>
            <a:off x="4160520" y="3986784"/>
            <a:ext cx="77724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Demand:</a:t>
            </a:r>
            <a:endParaRPr lang="en-US" sz="900" dirty="0"/>
          </a:p>
        </p:txBody>
      </p:sp>
      <p:sp>
        <p:nvSpPr>
          <p:cNvPr id="193" name="Text 191"/>
          <p:cNvSpPr/>
          <p:nvPr/>
        </p:nvSpPr>
        <p:spPr>
          <a:xfrm>
            <a:off x="4956048" y="3986784"/>
            <a:ext cx="384048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2,123 Kg/H (Line 1) · Vision: ×2 in 12 months</a:t>
            </a:r>
            <a:endParaRPr lang="en-US" sz="900" dirty="0"/>
          </a:p>
        </p:txBody>
      </p:sp>
      <p:sp>
        <p:nvSpPr>
          <p:cNvPr id="194" name="Text 192"/>
          <p:cNvSpPr/>
          <p:nvPr/>
        </p:nvSpPr>
        <p:spPr>
          <a:xfrm>
            <a:off x="4160520" y="4224528"/>
            <a:ext cx="777240" cy="228600"/>
          </a:xfrm>
          <a:prstGeom prst="rect">
            <a:avLst/>
          </a:prstGeom>
          <a:noFill/>
          <a:ln/>
        </p:spPr>
        <p:txBody>
          <a:bodyPr wrap="square" rtlCol="0" anchor="ctr"/>
          <a:lstStyle/>
          <a:p>
            <a:pPr indent="0" marL="0">
              <a:buNone/>
            </a:pPr>
            <a:r>
              <a:rPr lang="en-US" sz="900" b="1" dirty="0">
                <a:solidFill>
                  <a:srgbClr val="D4951A"/>
                </a:solidFill>
                <a:latin typeface="Calibri" pitchFamily="34" charset="0"/>
                <a:ea typeface="Calibri" pitchFamily="34" charset="-122"/>
                <a:cs typeface="Calibri" pitchFamily="34" charset="-120"/>
              </a:rPr>
              <a:t>Export:</a:t>
            </a:r>
            <a:endParaRPr lang="en-US" sz="900" dirty="0"/>
          </a:p>
        </p:txBody>
      </p:sp>
      <p:sp>
        <p:nvSpPr>
          <p:cNvPr id="195" name="Text 193"/>
          <p:cNvSpPr/>
          <p:nvPr/>
        </p:nvSpPr>
        <p:spPr>
          <a:xfrm>
            <a:off x="4956048" y="4224528"/>
            <a:ext cx="3840480" cy="228600"/>
          </a:xfrm>
          <a:prstGeom prst="rect">
            <a:avLst/>
          </a:prstGeom>
          <a:noFill/>
          <a:ln/>
        </p:spPr>
        <p:txBody>
          <a:bodyPr wrap="square" rtlCol="0" anchor="ctr"/>
          <a:lstStyle/>
          <a:p>
            <a:pPr indent="0" marL="0">
              <a:buNone/>
            </a:pPr>
            <a:r>
              <a:rPr lang="en-US" sz="900" dirty="0">
                <a:solidFill>
                  <a:srgbClr val="EDE0C8"/>
                </a:solidFill>
                <a:latin typeface="Calibri" pitchFamily="34" charset="0"/>
                <a:ea typeface="Calibri" pitchFamily="34" charset="-122"/>
                <a:cs typeface="Calibri" pitchFamily="34" charset="-120"/>
              </a:rPr>
              <a:t>EU + USA · FSSC 22000 · FDA PCAF</a:t>
            </a:r>
            <a:endParaRPr lang="en-US" sz="900" dirty="0"/>
          </a:p>
        </p:txBody>
      </p:sp>
      <p:sp>
        <p:nvSpPr>
          <p:cNvPr id="196" name="Shape 194"/>
          <p:cNvSpPr/>
          <p:nvPr/>
        </p:nvSpPr>
        <p:spPr>
          <a:xfrm>
            <a:off x="0" y="4645152"/>
            <a:ext cx="3749040" cy="498348"/>
          </a:xfrm>
          <a:prstGeom prst="rect">
            <a:avLst/>
          </a:prstGeom>
          <a:solidFill>
            <a:srgbClr val="070502"/>
          </a:solidFill>
          <a:ln/>
        </p:spPr>
      </p:sp>
      <p:sp>
        <p:nvSpPr>
          <p:cNvPr id="197" name="Text 195"/>
          <p:cNvSpPr/>
          <p:nvPr/>
        </p:nvSpPr>
        <p:spPr>
          <a:xfrm>
            <a:off x="91440" y="4663440"/>
            <a:ext cx="3566160" cy="475488"/>
          </a:xfrm>
          <a:prstGeom prst="rect">
            <a:avLst/>
          </a:prstGeom>
          <a:noFill/>
          <a:ln/>
        </p:spPr>
        <p:txBody>
          <a:bodyPr wrap="square" rtlCol="0" anchor="ctr"/>
          <a:lstStyle/>
          <a:p>
            <a:pPr algn="ctr" indent="0" marL="0">
              <a:buNone/>
            </a:pPr>
            <a:r>
              <a:rPr lang="en-US" sz="1000" b="1" spc="200" kern="0" dirty="0">
                <a:solidFill>
                  <a:srgbClr val="D4951A"/>
                </a:solidFill>
                <a:latin typeface="Georgia" pitchFamily="34" charset="0"/>
                <a:ea typeface="Georgia" pitchFamily="34" charset="-122"/>
                <a:cs typeface="Georgia" pitchFamily="34" charset="-120"/>
              </a:rPr>
              <a:t>PET FACTORY MAROC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EXECUTIVE SUMMARY</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The five decisions that define your boiler strategy</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87782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877824"/>
            <a:ext cx="548640" cy="749808"/>
          </a:xfrm>
          <a:prstGeom prst="rect">
            <a:avLst/>
          </a:prstGeom>
          <a:solidFill>
            <a:srgbClr val="D4951A"/>
          </a:solidFill>
          <a:ln/>
        </p:spPr>
      </p:sp>
      <p:sp>
        <p:nvSpPr>
          <p:cNvPr id="90" name="Text 88"/>
          <p:cNvSpPr/>
          <p:nvPr/>
        </p:nvSpPr>
        <p:spPr>
          <a:xfrm>
            <a:off x="256032" y="87782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01</a:t>
            </a:r>
            <a:endParaRPr lang="en-US" sz="1800" dirty="0"/>
          </a:p>
        </p:txBody>
      </p:sp>
      <p:sp>
        <p:nvSpPr>
          <p:cNvPr id="91" name="Text 89"/>
          <p:cNvSpPr/>
          <p:nvPr/>
        </p:nvSpPr>
        <p:spPr>
          <a:xfrm>
            <a:off x="896112" y="932688"/>
            <a:ext cx="7909560" cy="256032"/>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Size to Process + Headroom</a:t>
            </a:r>
            <a:endParaRPr lang="en-US" sz="1100" dirty="0"/>
          </a:p>
        </p:txBody>
      </p:sp>
      <p:sp>
        <p:nvSpPr>
          <p:cNvPr id="92" name="Text 90"/>
          <p:cNvSpPr/>
          <p:nvPr/>
        </p:nvSpPr>
        <p:spPr>
          <a:xfrm>
            <a:off x="896112" y="119786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The contractual 2,123 Kg/H is your process demand. The correct nameplate spec is 2,400–2,600 Kg/H per line — accounting for blowdown losses, LPG efficiency, and startup purging.</a:t>
            </a:r>
            <a:endParaRPr lang="en-US" sz="950" dirty="0"/>
          </a:p>
        </p:txBody>
      </p:sp>
      <p:sp>
        <p:nvSpPr>
          <p:cNvPr id="93" name="Shape 91"/>
          <p:cNvSpPr/>
          <p:nvPr/>
        </p:nvSpPr>
        <p:spPr>
          <a:xfrm>
            <a:off x="256032" y="170078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4" name="Shape 92"/>
          <p:cNvSpPr/>
          <p:nvPr/>
        </p:nvSpPr>
        <p:spPr>
          <a:xfrm>
            <a:off x="256032" y="1700784"/>
            <a:ext cx="548640" cy="749808"/>
          </a:xfrm>
          <a:prstGeom prst="rect">
            <a:avLst/>
          </a:prstGeom>
          <a:solidFill>
            <a:srgbClr val="C0622B"/>
          </a:solidFill>
          <a:ln/>
        </p:spPr>
      </p:sp>
      <p:sp>
        <p:nvSpPr>
          <p:cNvPr id="95" name="Text 93"/>
          <p:cNvSpPr/>
          <p:nvPr/>
        </p:nvSpPr>
        <p:spPr>
          <a:xfrm>
            <a:off x="256032" y="170078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02</a:t>
            </a:r>
            <a:endParaRPr lang="en-US" sz="1800" dirty="0"/>
          </a:p>
        </p:txBody>
      </p:sp>
      <p:sp>
        <p:nvSpPr>
          <p:cNvPr id="96" name="Text 94"/>
          <p:cNvSpPr/>
          <p:nvPr/>
        </p:nvSpPr>
        <p:spPr>
          <a:xfrm>
            <a:off x="896112" y="1755648"/>
            <a:ext cx="7909560" cy="256032"/>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Two Dedicated Boilers — Not One Shared</a:t>
            </a:r>
            <a:endParaRPr lang="en-US" sz="1100" dirty="0"/>
          </a:p>
        </p:txBody>
      </p:sp>
      <p:sp>
        <p:nvSpPr>
          <p:cNvPr id="97" name="Text 95"/>
          <p:cNvSpPr/>
          <p:nvPr/>
        </p:nvSpPr>
        <p:spPr>
          <a:xfrm>
            <a:off x="896112" y="202082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One shared oversized boiler is a single point of failure for both lines. Two dedicated units give full operational independence: Line 2 can start, stop, and be maintained without affecting Line 1.</a:t>
            </a:r>
            <a:endParaRPr lang="en-US" sz="950" dirty="0"/>
          </a:p>
        </p:txBody>
      </p:sp>
      <p:sp>
        <p:nvSpPr>
          <p:cNvPr id="98" name="Shape 96"/>
          <p:cNvSpPr/>
          <p:nvPr/>
        </p:nvSpPr>
        <p:spPr>
          <a:xfrm>
            <a:off x="256032" y="252374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9" name="Shape 97"/>
          <p:cNvSpPr/>
          <p:nvPr/>
        </p:nvSpPr>
        <p:spPr>
          <a:xfrm>
            <a:off x="256032" y="2523744"/>
            <a:ext cx="548640" cy="749808"/>
          </a:xfrm>
          <a:prstGeom prst="rect">
            <a:avLst/>
          </a:prstGeom>
          <a:solidFill>
            <a:srgbClr val="1B9A8A"/>
          </a:solidFill>
          <a:ln/>
        </p:spPr>
      </p:sp>
      <p:sp>
        <p:nvSpPr>
          <p:cNvPr id="100" name="Text 98"/>
          <p:cNvSpPr/>
          <p:nvPr/>
        </p:nvSpPr>
        <p:spPr>
          <a:xfrm>
            <a:off x="256032" y="252374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03</a:t>
            </a:r>
            <a:endParaRPr lang="en-US" sz="1800" dirty="0"/>
          </a:p>
        </p:txBody>
      </p:sp>
      <p:sp>
        <p:nvSpPr>
          <p:cNvPr id="101" name="Text 99"/>
          <p:cNvSpPr/>
          <p:nvPr/>
        </p:nvSpPr>
        <p:spPr>
          <a:xfrm>
            <a:off x="896112" y="2578608"/>
            <a:ext cx="7909560" cy="256032"/>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Recommend Once-Through Steam Generator (OTSG)</a:t>
            </a:r>
            <a:endParaRPr lang="en-US" sz="1100" dirty="0"/>
          </a:p>
        </p:txBody>
      </p:sp>
      <p:sp>
        <p:nvSpPr>
          <p:cNvPr id="102" name="Text 100"/>
          <p:cNvSpPr/>
          <p:nvPr/>
        </p:nvSpPr>
        <p:spPr>
          <a:xfrm>
            <a:off x="896112" y="284378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LPG fuel cost makes startup efficiency critical. OTSGs reach full steam in 3–5 minutes vs 30–60 for fire-tube. On LPG, this difference is material over a year of operations.</a:t>
            </a:r>
            <a:endParaRPr lang="en-US" sz="950" dirty="0"/>
          </a:p>
        </p:txBody>
      </p:sp>
      <p:sp>
        <p:nvSpPr>
          <p:cNvPr id="103" name="Shape 101"/>
          <p:cNvSpPr/>
          <p:nvPr/>
        </p:nvSpPr>
        <p:spPr>
          <a:xfrm>
            <a:off x="256032" y="334670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4" name="Shape 102"/>
          <p:cNvSpPr/>
          <p:nvPr/>
        </p:nvSpPr>
        <p:spPr>
          <a:xfrm>
            <a:off x="256032" y="3346704"/>
            <a:ext cx="548640" cy="749808"/>
          </a:xfrm>
          <a:prstGeom prst="rect">
            <a:avLst/>
          </a:prstGeom>
          <a:solidFill>
            <a:srgbClr val="E8A020"/>
          </a:solidFill>
          <a:ln/>
        </p:spPr>
      </p:sp>
      <p:sp>
        <p:nvSpPr>
          <p:cNvPr id="105" name="Text 103"/>
          <p:cNvSpPr/>
          <p:nvPr/>
        </p:nvSpPr>
        <p:spPr>
          <a:xfrm>
            <a:off x="256032" y="334670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04</a:t>
            </a:r>
            <a:endParaRPr lang="en-US" sz="1800" dirty="0"/>
          </a:p>
        </p:txBody>
      </p:sp>
      <p:sp>
        <p:nvSpPr>
          <p:cNvPr id="106" name="Text 104"/>
          <p:cNvSpPr/>
          <p:nvPr/>
        </p:nvSpPr>
        <p:spPr>
          <a:xfrm>
            <a:off x="896112" y="3401568"/>
            <a:ext cx="7909560" cy="25603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CE Marking is the Only Export-Linked Boiler Requirement</a:t>
            </a:r>
            <a:endParaRPr lang="en-US" sz="1100" dirty="0"/>
          </a:p>
        </p:txBody>
      </p:sp>
      <p:sp>
        <p:nvSpPr>
          <p:cNvPr id="107" name="Text 105"/>
          <p:cNvSpPr/>
          <p:nvPr/>
        </p:nvSpPr>
        <p:spPr>
          <a:xfrm>
            <a:off x="896112" y="366674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EU and FDA do not specify boiler brands. But your boiler MUST be CE marked under PED 2014/68/EU. Food safety compliance is about steam quality documentation — not the nameplate.</a:t>
            </a:r>
            <a:endParaRPr lang="en-US" sz="950" dirty="0"/>
          </a:p>
        </p:txBody>
      </p:sp>
      <p:sp>
        <p:nvSpPr>
          <p:cNvPr id="108" name="Shape 106"/>
          <p:cNvSpPr/>
          <p:nvPr/>
        </p:nvSpPr>
        <p:spPr>
          <a:xfrm>
            <a:off x="256032" y="4169664"/>
            <a:ext cx="8631936" cy="7498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9" name="Shape 107"/>
          <p:cNvSpPr/>
          <p:nvPr/>
        </p:nvSpPr>
        <p:spPr>
          <a:xfrm>
            <a:off x="256032" y="4169664"/>
            <a:ext cx="548640" cy="749808"/>
          </a:xfrm>
          <a:prstGeom prst="rect">
            <a:avLst/>
          </a:prstGeom>
          <a:solidFill>
            <a:srgbClr val="1A5FA8"/>
          </a:solidFill>
          <a:ln/>
        </p:spPr>
      </p:sp>
      <p:sp>
        <p:nvSpPr>
          <p:cNvPr id="110" name="Text 108"/>
          <p:cNvSpPr/>
          <p:nvPr/>
        </p:nvSpPr>
        <p:spPr>
          <a:xfrm>
            <a:off x="256032" y="4169664"/>
            <a:ext cx="548640" cy="749808"/>
          </a:xfrm>
          <a:prstGeom prst="rect">
            <a:avLst/>
          </a:prstGeom>
          <a:noFill/>
          <a:ln/>
        </p:spPr>
        <p:txBody>
          <a:bodyPr wrap="square" rtlCol="0" anchor="ctr"/>
          <a:lstStyle/>
          <a:p>
            <a:pPr algn="ctr" indent="0" marL="0">
              <a:buNone/>
            </a:pPr>
            <a:r>
              <a:rPr lang="en-US" sz="1800" b="1" dirty="0">
                <a:solidFill>
                  <a:srgbClr val="09090F"/>
                </a:solidFill>
                <a:latin typeface="Georgia" pitchFamily="34" charset="0"/>
                <a:ea typeface="Georgia" pitchFamily="34" charset="-122"/>
                <a:cs typeface="Georgia" pitchFamily="34" charset="-120"/>
              </a:rPr>
              <a:t>05</a:t>
            </a:r>
            <a:endParaRPr lang="en-US" sz="1800" dirty="0"/>
          </a:p>
        </p:txBody>
      </p:sp>
      <p:sp>
        <p:nvSpPr>
          <p:cNvPr id="111" name="Text 109"/>
          <p:cNvSpPr/>
          <p:nvPr/>
        </p:nvSpPr>
        <p:spPr>
          <a:xfrm>
            <a:off x="896112" y="4224528"/>
            <a:ext cx="7909560" cy="25603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Three Shortlisted Manufacturers to Tender</a:t>
            </a:r>
            <a:endParaRPr lang="en-US" sz="1100" dirty="0"/>
          </a:p>
        </p:txBody>
      </p:sp>
      <p:sp>
        <p:nvSpPr>
          <p:cNvPr id="112" name="Text 110"/>
          <p:cNvSpPr/>
          <p:nvPr/>
        </p:nvSpPr>
        <p:spPr>
          <a:xfrm>
            <a:off x="896112" y="4489704"/>
            <a:ext cx="7909560" cy="402336"/>
          </a:xfrm>
          <a:prstGeom prst="rect">
            <a:avLst/>
          </a:prstGeom>
          <a:noFill/>
          <a:ln/>
        </p:spPr>
        <p:txBody>
          <a:bodyPr wrap="square" rtlCol="0" anchor="t"/>
          <a:lstStyle/>
          <a:p>
            <a:pPr indent="0" marL="0">
              <a:buNone/>
            </a:pPr>
            <a:r>
              <a:rPr lang="en-US" sz="950" dirty="0">
                <a:solidFill>
                  <a:srgbClr val="EDE0C8"/>
                </a:solidFill>
                <a:latin typeface="Calibri" pitchFamily="34" charset="0"/>
                <a:ea typeface="Calibri" pitchFamily="34" charset="-122"/>
                <a:cs typeface="Calibri" pitchFamily="34" charset="-120"/>
              </a:rPr>
              <a:t>Miura (OTSG, Japan/Europe), Clayton Industries (OTSG, Belgium), Cleaver-Brooks (fire-tube, reference). Minimum three competitive quotes required before any purchase decision.</a:t>
            </a:r>
            <a:endParaRPr lang="en-US" sz="950" dirty="0"/>
          </a:p>
        </p:txBody>
      </p:sp>
      <p:sp>
        <p:nvSpPr>
          <p:cNvPr id="113" name="Shape 111"/>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4" name="Shape 112"/>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5" name="Shape 113"/>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6" name="Shape 114"/>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17" name="Shape 115"/>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18" name="Shape 116"/>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19" name="Shape 117"/>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20" name="Shape 118"/>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1" name="Shape 119"/>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2" name="Shape 120"/>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3" name="Shape 121"/>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4" name="Shape 122"/>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5" name="Shape 123"/>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6" name="Shape 124"/>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27" name="Shape 125"/>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28" name="Shape 126"/>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29" name="Shape 127"/>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30" name="Shape 128"/>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1" name="Text 189"/>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WHY THE BOILER IS ON THE CRITICAL PATH</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No steam = no conditioning = no extrusion = no production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Text 87"/>
          <p:cNvSpPr/>
          <p:nvPr/>
        </p:nvSpPr>
        <p:spPr>
          <a:xfrm>
            <a:off x="256032"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Raw</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Material</a:t>
            </a:r>
            <a:endParaRPr lang="en-US" sz="850" dirty="0"/>
          </a:p>
        </p:txBody>
      </p:sp>
      <p:sp>
        <p:nvSpPr>
          <p:cNvPr id="90" name="Shape 88"/>
          <p:cNvSpPr/>
          <p:nvPr/>
        </p:nvSpPr>
        <p:spPr>
          <a:xfrm>
            <a:off x="1133856" y="1280160"/>
            <a:ext cx="91440" cy="0"/>
          </a:xfrm>
          <a:prstGeom prst="line">
            <a:avLst/>
          </a:prstGeom>
          <a:noFill/>
          <a:ln w="12700">
            <a:solidFill>
              <a:srgbClr val="6B7A8A"/>
            </a:solidFill>
            <a:prstDash val="solid"/>
          </a:ln>
        </p:spPr>
      </p:sp>
      <p:sp>
        <p:nvSpPr>
          <p:cNvPr id="91" name="Shape 89"/>
          <p:cNvSpPr/>
          <p:nvPr/>
        </p:nvSpPr>
        <p:spPr>
          <a:xfrm>
            <a:off x="122529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2" name="Text 90"/>
          <p:cNvSpPr/>
          <p:nvPr/>
        </p:nvSpPr>
        <p:spPr>
          <a:xfrm>
            <a:off x="122529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Grinding</a:t>
            </a:r>
            <a:endParaRPr lang="en-US" sz="850" dirty="0"/>
          </a:p>
        </p:txBody>
      </p:sp>
      <p:sp>
        <p:nvSpPr>
          <p:cNvPr id="93" name="Shape 91"/>
          <p:cNvSpPr/>
          <p:nvPr/>
        </p:nvSpPr>
        <p:spPr>
          <a:xfrm>
            <a:off x="2103120" y="1280160"/>
            <a:ext cx="91440" cy="0"/>
          </a:xfrm>
          <a:prstGeom prst="line">
            <a:avLst/>
          </a:prstGeom>
          <a:noFill/>
          <a:ln w="12700">
            <a:solidFill>
              <a:srgbClr val="6B7A8A"/>
            </a:solidFill>
            <a:prstDash val="solid"/>
          </a:ln>
        </p:spPr>
      </p:sp>
      <p:sp>
        <p:nvSpPr>
          <p:cNvPr id="94" name="Shape 92"/>
          <p:cNvSpPr/>
          <p:nvPr/>
        </p:nvSpPr>
        <p:spPr>
          <a:xfrm>
            <a:off x="219456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5" name="Text 93"/>
          <p:cNvSpPr/>
          <p:nvPr/>
        </p:nvSpPr>
        <p:spPr>
          <a:xfrm>
            <a:off x="219456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Batching</a:t>
            </a:r>
            <a:endParaRPr lang="en-US" sz="850" dirty="0"/>
          </a:p>
          <a:p>
            <a:pPr algn="ctr" indent="0" marL="0">
              <a:buNone/>
            </a:pPr>
            <a:r>
              <a:rPr lang="en-US" sz="850" dirty="0">
                <a:solidFill>
                  <a:srgbClr val="D8C9A8"/>
                </a:solidFill>
                <a:latin typeface="Calibri" pitchFamily="34" charset="0"/>
                <a:ea typeface="Calibri" pitchFamily="34" charset="-122"/>
                <a:cs typeface="Calibri" pitchFamily="34" charset="-120"/>
              </a:rPr>
              <a:t>&amp; Mixing</a:t>
            </a:r>
            <a:endParaRPr lang="en-US" sz="850" dirty="0"/>
          </a:p>
        </p:txBody>
      </p:sp>
      <p:sp>
        <p:nvSpPr>
          <p:cNvPr id="96" name="Shape 94"/>
          <p:cNvSpPr/>
          <p:nvPr/>
        </p:nvSpPr>
        <p:spPr>
          <a:xfrm>
            <a:off x="3072384" y="1280160"/>
            <a:ext cx="91440" cy="0"/>
          </a:xfrm>
          <a:prstGeom prst="line">
            <a:avLst/>
          </a:prstGeom>
          <a:noFill/>
          <a:ln w="12700">
            <a:solidFill>
              <a:srgbClr val="6B7A8A"/>
            </a:solidFill>
            <a:prstDash val="solid"/>
          </a:ln>
        </p:spPr>
      </p:sp>
      <p:sp>
        <p:nvSpPr>
          <p:cNvPr id="97" name="Shape 95"/>
          <p:cNvSpPr/>
          <p:nvPr/>
        </p:nvSpPr>
        <p:spPr>
          <a:xfrm>
            <a:off x="3163824"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98" name="Shape 96"/>
          <p:cNvSpPr/>
          <p:nvPr/>
        </p:nvSpPr>
        <p:spPr>
          <a:xfrm rot="2700000">
            <a:off x="3547872" y="850392"/>
            <a:ext cx="109728" cy="109728"/>
          </a:xfrm>
          <a:prstGeom prst="rect">
            <a:avLst/>
          </a:prstGeom>
          <a:solidFill>
            <a:srgbClr val="D4951A"/>
          </a:solidFill>
          <a:ln w="12700">
            <a:solidFill>
              <a:srgbClr val="09090F"/>
            </a:solidFill>
            <a:prstDash val="solid"/>
          </a:ln>
        </p:spPr>
      </p:sp>
      <p:sp>
        <p:nvSpPr>
          <p:cNvPr id="99" name="Text 97"/>
          <p:cNvSpPr/>
          <p:nvPr/>
        </p:nvSpPr>
        <p:spPr>
          <a:xfrm>
            <a:off x="3163824"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Pre-</a:t>
            </a:r>
            <a:endParaRPr lang="en-US" sz="850" dirty="0"/>
          </a:p>
          <a:p>
            <a:pPr algn="ctr" indent="0" marL="0">
              <a:buNone/>
            </a:pPr>
            <a:r>
              <a:rPr lang="en-US" sz="850" b="1" dirty="0">
                <a:solidFill>
                  <a:srgbClr val="09090F"/>
                </a:solidFill>
                <a:latin typeface="Calibri" pitchFamily="34" charset="0"/>
                <a:ea typeface="Calibri" pitchFamily="34" charset="-122"/>
                <a:cs typeface="Calibri" pitchFamily="34" charset="-120"/>
              </a:rPr>
              <a:t>Conditioner</a:t>
            </a:r>
            <a:endParaRPr lang="en-US" sz="850" dirty="0"/>
          </a:p>
        </p:txBody>
      </p:sp>
      <p:sp>
        <p:nvSpPr>
          <p:cNvPr id="100" name="Shape 98"/>
          <p:cNvSpPr/>
          <p:nvPr/>
        </p:nvSpPr>
        <p:spPr>
          <a:xfrm>
            <a:off x="4041648" y="1280160"/>
            <a:ext cx="91440" cy="0"/>
          </a:xfrm>
          <a:prstGeom prst="line">
            <a:avLst/>
          </a:prstGeom>
          <a:noFill/>
          <a:ln w="12700">
            <a:solidFill>
              <a:srgbClr val="6B7A8A"/>
            </a:solidFill>
            <a:prstDash val="solid"/>
          </a:ln>
        </p:spPr>
      </p:sp>
      <p:sp>
        <p:nvSpPr>
          <p:cNvPr id="101" name="Shape 99"/>
          <p:cNvSpPr/>
          <p:nvPr/>
        </p:nvSpPr>
        <p:spPr>
          <a:xfrm>
            <a:off x="4133088"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2" name="Shape 100"/>
          <p:cNvSpPr/>
          <p:nvPr/>
        </p:nvSpPr>
        <p:spPr>
          <a:xfrm rot="2700000">
            <a:off x="4517136" y="850392"/>
            <a:ext cx="109728" cy="109728"/>
          </a:xfrm>
          <a:prstGeom prst="rect">
            <a:avLst/>
          </a:prstGeom>
          <a:solidFill>
            <a:srgbClr val="D4951A"/>
          </a:solidFill>
          <a:ln w="12700">
            <a:solidFill>
              <a:srgbClr val="09090F"/>
            </a:solidFill>
            <a:prstDash val="solid"/>
          </a:ln>
        </p:spPr>
      </p:sp>
      <p:sp>
        <p:nvSpPr>
          <p:cNvPr id="103" name="Text 101"/>
          <p:cNvSpPr/>
          <p:nvPr/>
        </p:nvSpPr>
        <p:spPr>
          <a:xfrm>
            <a:off x="4133088"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Extruder</a:t>
            </a:r>
            <a:endParaRPr lang="en-US" sz="850" dirty="0"/>
          </a:p>
        </p:txBody>
      </p:sp>
      <p:sp>
        <p:nvSpPr>
          <p:cNvPr id="104" name="Shape 102"/>
          <p:cNvSpPr/>
          <p:nvPr/>
        </p:nvSpPr>
        <p:spPr>
          <a:xfrm>
            <a:off x="5010912" y="1280160"/>
            <a:ext cx="91440" cy="0"/>
          </a:xfrm>
          <a:prstGeom prst="line">
            <a:avLst/>
          </a:prstGeom>
          <a:noFill/>
          <a:ln w="12700">
            <a:solidFill>
              <a:srgbClr val="6B7A8A"/>
            </a:solidFill>
            <a:prstDash val="solid"/>
          </a:ln>
        </p:spPr>
      </p:sp>
      <p:sp>
        <p:nvSpPr>
          <p:cNvPr id="105" name="Shape 103"/>
          <p:cNvSpPr/>
          <p:nvPr/>
        </p:nvSpPr>
        <p:spPr>
          <a:xfrm>
            <a:off x="5102352" y="932688"/>
            <a:ext cx="877824" cy="694944"/>
          </a:xfrm>
          <a:prstGeom prst="rect">
            <a:avLst/>
          </a:prstGeom>
          <a:solidFill>
            <a:srgbClr val="D4951A"/>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6" name="Shape 104"/>
          <p:cNvSpPr/>
          <p:nvPr/>
        </p:nvSpPr>
        <p:spPr>
          <a:xfrm rot="2700000">
            <a:off x="5486400" y="850392"/>
            <a:ext cx="109728" cy="109728"/>
          </a:xfrm>
          <a:prstGeom prst="rect">
            <a:avLst/>
          </a:prstGeom>
          <a:solidFill>
            <a:srgbClr val="D4951A"/>
          </a:solidFill>
          <a:ln w="12700">
            <a:solidFill>
              <a:srgbClr val="09090F"/>
            </a:solidFill>
            <a:prstDash val="solid"/>
          </a:ln>
        </p:spPr>
      </p:sp>
      <p:sp>
        <p:nvSpPr>
          <p:cNvPr id="107" name="Text 105"/>
          <p:cNvSpPr/>
          <p:nvPr/>
        </p:nvSpPr>
        <p:spPr>
          <a:xfrm>
            <a:off x="5102352" y="932688"/>
            <a:ext cx="877824" cy="694944"/>
          </a:xfrm>
          <a:prstGeom prst="rect">
            <a:avLst/>
          </a:prstGeom>
          <a:noFill/>
          <a:ln/>
        </p:spPr>
        <p:txBody>
          <a:bodyPr wrap="square" rtlCol="0" anchor="ctr"/>
          <a:lstStyle/>
          <a:p>
            <a:pPr algn="ctr" indent="0" marL="0">
              <a:buNone/>
            </a:pPr>
            <a:r>
              <a:rPr lang="en-US" sz="850" b="1" dirty="0">
                <a:solidFill>
                  <a:srgbClr val="09090F"/>
                </a:solidFill>
                <a:latin typeface="Calibri" pitchFamily="34" charset="0"/>
                <a:ea typeface="Calibri" pitchFamily="34" charset="-122"/>
                <a:cs typeface="Calibri" pitchFamily="34" charset="-120"/>
              </a:rPr>
              <a:t>Dryer</a:t>
            </a:r>
            <a:endParaRPr lang="en-US" sz="850" dirty="0"/>
          </a:p>
        </p:txBody>
      </p:sp>
      <p:sp>
        <p:nvSpPr>
          <p:cNvPr id="108" name="Shape 106"/>
          <p:cNvSpPr/>
          <p:nvPr/>
        </p:nvSpPr>
        <p:spPr>
          <a:xfrm>
            <a:off x="5980176" y="1280160"/>
            <a:ext cx="91440" cy="0"/>
          </a:xfrm>
          <a:prstGeom prst="line">
            <a:avLst/>
          </a:prstGeom>
          <a:noFill/>
          <a:ln w="12700">
            <a:solidFill>
              <a:srgbClr val="6B7A8A"/>
            </a:solidFill>
            <a:prstDash val="solid"/>
          </a:ln>
        </p:spPr>
      </p:sp>
      <p:sp>
        <p:nvSpPr>
          <p:cNvPr id="109" name="Shape 107"/>
          <p:cNvSpPr/>
          <p:nvPr/>
        </p:nvSpPr>
        <p:spPr>
          <a:xfrm>
            <a:off x="6071616"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0" name="Text 108"/>
          <p:cNvSpPr/>
          <p:nvPr/>
        </p:nvSpPr>
        <p:spPr>
          <a:xfrm>
            <a:off x="6071616"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Coating</a:t>
            </a:r>
            <a:endParaRPr lang="en-US" sz="850" dirty="0"/>
          </a:p>
        </p:txBody>
      </p:sp>
      <p:sp>
        <p:nvSpPr>
          <p:cNvPr id="111" name="Shape 109"/>
          <p:cNvSpPr/>
          <p:nvPr/>
        </p:nvSpPr>
        <p:spPr>
          <a:xfrm>
            <a:off x="6949440" y="1280160"/>
            <a:ext cx="91440" cy="0"/>
          </a:xfrm>
          <a:prstGeom prst="line">
            <a:avLst/>
          </a:prstGeom>
          <a:noFill/>
          <a:ln w="12700">
            <a:solidFill>
              <a:srgbClr val="6B7A8A"/>
            </a:solidFill>
            <a:prstDash val="solid"/>
          </a:ln>
        </p:spPr>
      </p:sp>
      <p:sp>
        <p:nvSpPr>
          <p:cNvPr id="112" name="Shape 110"/>
          <p:cNvSpPr/>
          <p:nvPr/>
        </p:nvSpPr>
        <p:spPr>
          <a:xfrm>
            <a:off x="7040880"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3" name="Text 111"/>
          <p:cNvSpPr/>
          <p:nvPr/>
        </p:nvSpPr>
        <p:spPr>
          <a:xfrm>
            <a:off x="7040880"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Cooling</a:t>
            </a:r>
            <a:endParaRPr lang="en-US" sz="850" dirty="0"/>
          </a:p>
        </p:txBody>
      </p:sp>
      <p:sp>
        <p:nvSpPr>
          <p:cNvPr id="114" name="Shape 112"/>
          <p:cNvSpPr/>
          <p:nvPr/>
        </p:nvSpPr>
        <p:spPr>
          <a:xfrm>
            <a:off x="7918704" y="1280160"/>
            <a:ext cx="91440" cy="0"/>
          </a:xfrm>
          <a:prstGeom prst="line">
            <a:avLst/>
          </a:prstGeom>
          <a:noFill/>
          <a:ln w="12700">
            <a:solidFill>
              <a:srgbClr val="6B7A8A"/>
            </a:solidFill>
            <a:prstDash val="solid"/>
          </a:ln>
        </p:spPr>
      </p:sp>
      <p:sp>
        <p:nvSpPr>
          <p:cNvPr id="115" name="Shape 113"/>
          <p:cNvSpPr/>
          <p:nvPr/>
        </p:nvSpPr>
        <p:spPr>
          <a:xfrm>
            <a:off x="8010144" y="932688"/>
            <a:ext cx="877824" cy="694944"/>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6" name="Text 114"/>
          <p:cNvSpPr/>
          <p:nvPr/>
        </p:nvSpPr>
        <p:spPr>
          <a:xfrm>
            <a:off x="8010144" y="932688"/>
            <a:ext cx="877824" cy="694944"/>
          </a:xfrm>
          <a:prstGeom prst="rect">
            <a:avLst/>
          </a:prstGeom>
          <a:noFill/>
          <a:ln/>
        </p:spPr>
        <p:txBody>
          <a:bodyPr wrap="square" rtlCol="0" anchor="ctr"/>
          <a:lstStyle/>
          <a:p>
            <a:pPr algn="ctr" indent="0" marL="0">
              <a:buNone/>
            </a:pPr>
            <a:r>
              <a:rPr lang="en-US" sz="850" dirty="0">
                <a:solidFill>
                  <a:srgbClr val="D8C9A8"/>
                </a:solidFill>
                <a:latin typeface="Calibri" pitchFamily="34" charset="0"/>
                <a:ea typeface="Calibri" pitchFamily="34" charset="-122"/>
                <a:cs typeface="Calibri" pitchFamily="34" charset="-120"/>
              </a:rPr>
              <a:t>Packaging</a:t>
            </a:r>
            <a:endParaRPr lang="en-US" sz="850" dirty="0"/>
          </a:p>
        </p:txBody>
      </p:sp>
      <p:sp>
        <p:nvSpPr>
          <p:cNvPr id="117" name="Shape 115"/>
          <p:cNvSpPr/>
          <p:nvPr/>
        </p:nvSpPr>
        <p:spPr>
          <a:xfrm>
            <a:off x="3236976" y="1627632"/>
            <a:ext cx="0" cy="475488"/>
          </a:xfrm>
          <a:prstGeom prst="line">
            <a:avLst/>
          </a:prstGeom>
          <a:noFill/>
          <a:ln w="12700">
            <a:solidFill>
              <a:srgbClr val="D4951A"/>
            </a:solidFill>
            <a:prstDash val="solid"/>
          </a:ln>
        </p:spPr>
      </p:sp>
      <p:sp>
        <p:nvSpPr>
          <p:cNvPr id="118" name="Text 116"/>
          <p:cNvSpPr/>
          <p:nvPr/>
        </p:nvSpPr>
        <p:spPr>
          <a:xfrm>
            <a:off x="2651760" y="2066544"/>
            <a:ext cx="1508760" cy="256032"/>
          </a:xfrm>
          <a:prstGeom prst="rect">
            <a:avLst/>
          </a:prstGeom>
          <a:noFill/>
          <a:ln/>
        </p:spPr>
        <p:txBody>
          <a:bodyPr wrap="square" rtlCol="0" anchor="ctr"/>
          <a:lstStyle/>
          <a:p>
            <a:pPr algn="ctr" indent="0" marL="0">
              <a:buNone/>
            </a:pPr>
            <a:r>
              <a:rPr lang="en-US" sz="900" b="1" dirty="0">
                <a:solidFill>
                  <a:srgbClr val="D4951A"/>
                </a:solidFill>
              </a:rPr>
              <a:t>🔥 STEAM</a:t>
            </a:r>
            <a:endParaRPr lang="en-US" sz="900" dirty="0"/>
          </a:p>
        </p:txBody>
      </p:sp>
      <p:sp>
        <p:nvSpPr>
          <p:cNvPr id="119" name="Shape 117"/>
          <p:cNvSpPr/>
          <p:nvPr/>
        </p:nvSpPr>
        <p:spPr>
          <a:xfrm>
            <a:off x="256032"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256032" y="2395728"/>
            <a:ext cx="2834640" cy="45720"/>
          </a:xfrm>
          <a:prstGeom prst="rect">
            <a:avLst/>
          </a:prstGeom>
          <a:solidFill>
            <a:srgbClr val="D4951A"/>
          </a:solidFill>
          <a:ln/>
        </p:spPr>
      </p:sp>
      <p:sp>
        <p:nvSpPr>
          <p:cNvPr id="121" name="Text 119"/>
          <p:cNvSpPr/>
          <p:nvPr/>
        </p:nvSpPr>
        <p:spPr>
          <a:xfrm>
            <a:off x="384048" y="2487168"/>
            <a:ext cx="2651760" cy="329184"/>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Pre-Conditioner</a:t>
            </a:r>
            <a:endParaRPr lang="en-US" sz="1100" dirty="0"/>
          </a:p>
        </p:txBody>
      </p:sp>
      <p:sp>
        <p:nvSpPr>
          <p:cNvPr id="122" name="Text 120"/>
          <p:cNvSpPr/>
          <p:nvPr/>
        </p:nvSpPr>
        <p:spPr>
          <a:xfrm>
            <a:off x="384048"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Steam + water injected into the dry mix before extrusion. Raises temperature to 80–90°C. Pre-gelatinises starch, denatures pathogens (primary kill step — CCP). Steam pressure must be stable — fluctuation directly impacts product quality and food safety validation.</a:t>
            </a:r>
            <a:endParaRPr lang="en-US" sz="900" dirty="0"/>
          </a:p>
        </p:txBody>
      </p:sp>
      <p:sp>
        <p:nvSpPr>
          <p:cNvPr id="123" name="Shape 121"/>
          <p:cNvSpPr/>
          <p:nvPr/>
        </p:nvSpPr>
        <p:spPr>
          <a:xfrm>
            <a:off x="3200400"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3200400" y="2395728"/>
            <a:ext cx="2834640" cy="45720"/>
          </a:xfrm>
          <a:prstGeom prst="rect">
            <a:avLst/>
          </a:prstGeom>
          <a:solidFill>
            <a:srgbClr val="C0622B"/>
          </a:solidFill>
          <a:ln/>
        </p:spPr>
      </p:sp>
      <p:sp>
        <p:nvSpPr>
          <p:cNvPr id="125" name="Text 123"/>
          <p:cNvSpPr/>
          <p:nvPr/>
        </p:nvSpPr>
        <p:spPr>
          <a:xfrm>
            <a:off x="3328416" y="2487168"/>
            <a:ext cx="2651760" cy="329184"/>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Extruder Barrel Heating</a:t>
            </a:r>
            <a:endParaRPr lang="en-US" sz="1100" dirty="0"/>
          </a:p>
        </p:txBody>
      </p:sp>
      <p:sp>
        <p:nvSpPr>
          <p:cNvPr id="126" name="Text 124"/>
          <p:cNvSpPr/>
          <p:nvPr/>
        </p:nvSpPr>
        <p:spPr>
          <a:xfrm>
            <a:off x="3328416"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Indirect steam heating for the six barrel temperature zones (80°C → 160°C). Each zone has a PID-controlled steam coil. Consistent steam pressure is essential for expansion ratio, bulk density, and gelatinisation — the three core quality parameters of the kibble.</a:t>
            </a:r>
            <a:endParaRPr lang="en-US" sz="900" dirty="0"/>
          </a:p>
        </p:txBody>
      </p:sp>
      <p:sp>
        <p:nvSpPr>
          <p:cNvPr id="127" name="Shape 125"/>
          <p:cNvSpPr/>
          <p:nvPr/>
        </p:nvSpPr>
        <p:spPr>
          <a:xfrm>
            <a:off x="6144768" y="2395728"/>
            <a:ext cx="2834640" cy="239572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8" name="Shape 126"/>
          <p:cNvSpPr/>
          <p:nvPr/>
        </p:nvSpPr>
        <p:spPr>
          <a:xfrm>
            <a:off x="6144768" y="2395728"/>
            <a:ext cx="2834640" cy="45720"/>
          </a:xfrm>
          <a:prstGeom prst="rect">
            <a:avLst/>
          </a:prstGeom>
          <a:solidFill>
            <a:srgbClr val="1B9A8A"/>
          </a:solidFill>
          <a:ln/>
        </p:spPr>
      </p:sp>
      <p:sp>
        <p:nvSpPr>
          <p:cNvPr id="129" name="Text 127"/>
          <p:cNvSpPr/>
          <p:nvPr/>
        </p:nvSpPr>
        <p:spPr>
          <a:xfrm>
            <a:off x="6272784" y="2487168"/>
            <a:ext cx="2651760" cy="329184"/>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Dryer &amp; General Utility</a:t>
            </a:r>
            <a:endParaRPr lang="en-US" sz="1100" dirty="0"/>
          </a:p>
        </p:txBody>
      </p:sp>
      <p:sp>
        <p:nvSpPr>
          <p:cNvPr id="130" name="Text 128"/>
          <p:cNvSpPr/>
          <p:nvPr/>
        </p:nvSpPr>
        <p:spPr>
          <a:xfrm>
            <a:off x="6272784" y="2834640"/>
            <a:ext cx="2651760" cy="1920240"/>
          </a:xfrm>
          <a:prstGeom prst="rect">
            <a:avLst/>
          </a:prstGeom>
          <a:noFill/>
          <a:ln/>
        </p:spPr>
        <p:txBody>
          <a:bodyPr wrap="square" rtlCol="0" anchor="t"/>
          <a:lstStyle/>
          <a:p>
            <a:pPr indent="0" marL="0">
              <a:buNone/>
            </a:pPr>
            <a:r>
              <a:rPr lang="en-US" sz="900" dirty="0">
                <a:solidFill>
                  <a:srgbClr val="EDE0C8"/>
                </a:solidFill>
                <a:latin typeface="Calibri" pitchFamily="34" charset="0"/>
                <a:ea typeface="Calibri" pitchFamily="34" charset="-122"/>
                <a:cs typeface="Calibri" pitchFamily="34" charset="-120"/>
              </a:rPr>
              <a:t>Steam used for dryer pre-heat circuit, oil tank trace heating (2×20,000L tanks must stay liquid), CIP cleaning cycles, and general facility heating. Secondary loads but operationally continuous — the boiler rarely reaches true idle during a production shift.</a:t>
            </a:r>
            <a:endParaRPr lang="en-US" sz="900" dirty="0"/>
          </a:p>
        </p:txBody>
      </p:sp>
      <p:sp>
        <p:nvSpPr>
          <p:cNvPr id="131" name="Shape 12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9" name="Text 20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SIZING METHODOLOGY</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From contract figure to correct nameplate specification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1993392" cy="45720"/>
          </a:xfrm>
          <a:prstGeom prst="rect">
            <a:avLst/>
          </a:prstGeom>
          <a:solidFill>
            <a:srgbClr val="6B7A8A"/>
          </a:solidFill>
          <a:ln/>
        </p:spPr>
      </p:sp>
      <p:sp>
        <p:nvSpPr>
          <p:cNvPr id="90" name="Text 88"/>
          <p:cNvSpPr/>
          <p:nvPr/>
        </p:nvSpPr>
        <p:spPr>
          <a:xfrm>
            <a:off x="256032" y="987552"/>
            <a:ext cx="1993392" cy="640080"/>
          </a:xfrm>
          <a:prstGeom prst="rect">
            <a:avLst/>
          </a:prstGeom>
          <a:noFill/>
          <a:ln/>
        </p:spPr>
        <p:txBody>
          <a:bodyPr wrap="square" rtlCol="0" anchor="ctr"/>
          <a:lstStyle/>
          <a:p>
            <a:pPr algn="ctr" indent="0" marL="0">
              <a:buNone/>
            </a:pPr>
            <a:r>
              <a:rPr lang="en-US" sz="3000" b="1" dirty="0">
                <a:solidFill>
                  <a:srgbClr val="6B7A8A"/>
                </a:solidFill>
                <a:latin typeface="Georgia" pitchFamily="34" charset="0"/>
                <a:ea typeface="Georgia" pitchFamily="34" charset="-122"/>
                <a:cs typeface="Georgia" pitchFamily="34" charset="-120"/>
              </a:rPr>
              <a:t>2,123</a:t>
            </a:r>
            <a:endParaRPr lang="en-US" sz="3000" dirty="0"/>
          </a:p>
        </p:txBody>
      </p:sp>
      <p:sp>
        <p:nvSpPr>
          <p:cNvPr id="91" name="Text 89"/>
          <p:cNvSpPr/>
          <p:nvPr/>
        </p:nvSpPr>
        <p:spPr>
          <a:xfrm>
            <a:off x="256032"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92" name="Text 90"/>
          <p:cNvSpPr/>
          <p:nvPr/>
        </p:nvSpPr>
        <p:spPr>
          <a:xfrm>
            <a:off x="256032"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FAMSUN Contract Spec</a:t>
            </a:r>
            <a:endParaRPr lang="en-US" sz="850" dirty="0"/>
          </a:p>
        </p:txBody>
      </p:sp>
      <p:sp>
        <p:nvSpPr>
          <p:cNvPr id="93" name="Shape 91"/>
          <p:cNvSpPr/>
          <p:nvPr/>
        </p:nvSpPr>
        <p:spPr>
          <a:xfrm>
            <a:off x="2377440"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4" name="Shape 92"/>
          <p:cNvSpPr/>
          <p:nvPr/>
        </p:nvSpPr>
        <p:spPr>
          <a:xfrm>
            <a:off x="2377440" y="932688"/>
            <a:ext cx="1993392" cy="45720"/>
          </a:xfrm>
          <a:prstGeom prst="rect">
            <a:avLst/>
          </a:prstGeom>
          <a:solidFill>
            <a:srgbClr val="C0622B"/>
          </a:solidFill>
          <a:ln/>
        </p:spPr>
      </p:sp>
      <p:sp>
        <p:nvSpPr>
          <p:cNvPr id="95" name="Text 93"/>
          <p:cNvSpPr/>
          <p:nvPr/>
        </p:nvSpPr>
        <p:spPr>
          <a:xfrm>
            <a:off x="2377440" y="987552"/>
            <a:ext cx="1993392" cy="640080"/>
          </a:xfrm>
          <a:prstGeom prst="rect">
            <a:avLst/>
          </a:prstGeom>
          <a:noFill/>
          <a:ln/>
        </p:spPr>
        <p:txBody>
          <a:bodyPr wrap="square" rtlCol="0" anchor="ctr"/>
          <a:lstStyle/>
          <a:p>
            <a:pPr algn="ctr" indent="0" marL="0">
              <a:buNone/>
            </a:pPr>
            <a:r>
              <a:rPr lang="en-US" sz="3000" b="1" dirty="0">
                <a:solidFill>
                  <a:srgbClr val="C0622B"/>
                </a:solidFill>
                <a:latin typeface="Georgia" pitchFamily="34" charset="0"/>
                <a:ea typeface="Georgia" pitchFamily="34" charset="-122"/>
                <a:cs typeface="Georgia" pitchFamily="34" charset="-120"/>
              </a:rPr>
              <a:t>≥10%</a:t>
            </a:r>
            <a:endParaRPr lang="en-US" sz="3000" dirty="0"/>
          </a:p>
        </p:txBody>
      </p:sp>
      <p:sp>
        <p:nvSpPr>
          <p:cNvPr id="96" name="Text 94"/>
          <p:cNvSpPr/>
          <p:nvPr/>
        </p:nvSpPr>
        <p:spPr>
          <a:xfrm>
            <a:off x="2377440"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Headroom</a:t>
            </a:r>
            <a:endParaRPr lang="en-US" sz="1000" dirty="0"/>
          </a:p>
        </p:txBody>
      </p:sp>
      <p:sp>
        <p:nvSpPr>
          <p:cNvPr id="97" name="Text 95"/>
          <p:cNvSpPr/>
          <p:nvPr/>
        </p:nvSpPr>
        <p:spPr>
          <a:xfrm>
            <a:off x="2377440"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Blowdown + Startup</a:t>
            </a:r>
            <a:endParaRPr lang="en-US" sz="850" dirty="0"/>
          </a:p>
        </p:txBody>
      </p:sp>
      <p:sp>
        <p:nvSpPr>
          <p:cNvPr id="98" name="Shape 96"/>
          <p:cNvSpPr/>
          <p:nvPr/>
        </p:nvSpPr>
        <p:spPr>
          <a:xfrm>
            <a:off x="4498848"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99" name="Shape 97"/>
          <p:cNvSpPr/>
          <p:nvPr/>
        </p:nvSpPr>
        <p:spPr>
          <a:xfrm>
            <a:off x="4498848" y="932688"/>
            <a:ext cx="1993392" cy="45720"/>
          </a:xfrm>
          <a:prstGeom prst="rect">
            <a:avLst/>
          </a:prstGeom>
          <a:solidFill>
            <a:srgbClr val="D4951A"/>
          </a:solidFill>
          <a:ln/>
        </p:spPr>
      </p:sp>
      <p:sp>
        <p:nvSpPr>
          <p:cNvPr id="100" name="Text 98"/>
          <p:cNvSpPr/>
          <p:nvPr/>
        </p:nvSpPr>
        <p:spPr>
          <a:xfrm>
            <a:off x="4498848" y="987552"/>
            <a:ext cx="1993392" cy="640080"/>
          </a:xfrm>
          <a:prstGeom prst="rect">
            <a:avLst/>
          </a:prstGeom>
          <a:noFill/>
          <a:ln/>
        </p:spPr>
        <p:txBody>
          <a:bodyPr wrap="square" rtlCol="0" anchor="ctr"/>
          <a:lstStyle/>
          <a:p>
            <a:pPr algn="ctr" indent="0" marL="0">
              <a:buNone/>
            </a:pPr>
            <a:r>
              <a:rPr lang="en-US" sz="3000" b="1" dirty="0">
                <a:solidFill>
                  <a:srgbClr val="D4951A"/>
                </a:solidFill>
                <a:latin typeface="Georgia" pitchFamily="34" charset="0"/>
                <a:ea typeface="Georgia" pitchFamily="34" charset="-122"/>
                <a:cs typeface="Georgia" pitchFamily="34" charset="-120"/>
              </a:rPr>
              <a:t>2,500</a:t>
            </a:r>
            <a:endParaRPr lang="en-US" sz="3000" dirty="0"/>
          </a:p>
        </p:txBody>
      </p:sp>
      <p:sp>
        <p:nvSpPr>
          <p:cNvPr id="101" name="Text 99"/>
          <p:cNvSpPr/>
          <p:nvPr/>
        </p:nvSpPr>
        <p:spPr>
          <a:xfrm>
            <a:off x="4498848"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Kg/H</a:t>
            </a:r>
            <a:endParaRPr lang="en-US" sz="1000" dirty="0"/>
          </a:p>
        </p:txBody>
      </p:sp>
      <p:sp>
        <p:nvSpPr>
          <p:cNvPr id="102" name="Text 100"/>
          <p:cNvSpPr/>
          <p:nvPr/>
        </p:nvSpPr>
        <p:spPr>
          <a:xfrm>
            <a:off x="4498848"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Recommended Nameplate</a:t>
            </a:r>
            <a:endParaRPr lang="en-US" sz="850" dirty="0"/>
          </a:p>
        </p:txBody>
      </p:sp>
      <p:sp>
        <p:nvSpPr>
          <p:cNvPr id="103" name="Shape 101"/>
          <p:cNvSpPr/>
          <p:nvPr/>
        </p:nvSpPr>
        <p:spPr>
          <a:xfrm>
            <a:off x="6620256" y="932688"/>
            <a:ext cx="1993392" cy="1207008"/>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04" name="Shape 102"/>
          <p:cNvSpPr/>
          <p:nvPr/>
        </p:nvSpPr>
        <p:spPr>
          <a:xfrm>
            <a:off x="6620256" y="932688"/>
            <a:ext cx="1993392" cy="45720"/>
          </a:xfrm>
          <a:prstGeom prst="rect">
            <a:avLst/>
          </a:prstGeom>
          <a:solidFill>
            <a:srgbClr val="1B9A8A"/>
          </a:solidFill>
          <a:ln/>
        </p:spPr>
      </p:sp>
      <p:sp>
        <p:nvSpPr>
          <p:cNvPr id="105" name="Text 103"/>
          <p:cNvSpPr/>
          <p:nvPr/>
        </p:nvSpPr>
        <p:spPr>
          <a:xfrm>
            <a:off x="6620256" y="987552"/>
            <a:ext cx="1993392" cy="640080"/>
          </a:xfrm>
          <a:prstGeom prst="rect">
            <a:avLst/>
          </a:prstGeom>
          <a:noFill/>
          <a:ln/>
        </p:spPr>
        <p:txBody>
          <a:bodyPr wrap="square" rtlCol="0" anchor="ctr"/>
          <a:lstStyle/>
          <a:p>
            <a:pPr algn="ctr" indent="0" marL="0">
              <a:buNone/>
            </a:pPr>
            <a:r>
              <a:rPr lang="en-US" sz="3000" b="1" dirty="0">
                <a:solidFill>
                  <a:srgbClr val="1B9A8A"/>
                </a:solidFill>
                <a:latin typeface="Georgia" pitchFamily="34" charset="0"/>
                <a:ea typeface="Georgia" pitchFamily="34" charset="-122"/>
                <a:cs typeface="Georgia" pitchFamily="34" charset="-120"/>
              </a:rPr>
              <a:t>×2</a:t>
            </a:r>
            <a:endParaRPr lang="en-US" sz="3000" dirty="0"/>
          </a:p>
        </p:txBody>
      </p:sp>
      <p:sp>
        <p:nvSpPr>
          <p:cNvPr id="106" name="Text 104"/>
          <p:cNvSpPr/>
          <p:nvPr/>
        </p:nvSpPr>
        <p:spPr>
          <a:xfrm>
            <a:off x="6620256" y="1591056"/>
            <a:ext cx="1993392" cy="256032"/>
          </a:xfrm>
          <a:prstGeom prst="rect">
            <a:avLst/>
          </a:prstGeom>
          <a:noFill/>
          <a:ln/>
        </p:spPr>
        <p:txBody>
          <a:bodyPr wrap="square" rtlCol="0" anchor="ctr"/>
          <a:lstStyle/>
          <a:p>
            <a:pPr algn="ctr" indent="0" marL="0">
              <a:buNone/>
            </a:pPr>
            <a:r>
              <a:rPr lang="en-US" sz="1000" b="1" dirty="0">
                <a:solidFill>
                  <a:srgbClr val="D8C9A8"/>
                </a:solidFill>
                <a:latin typeface="Calibri" pitchFamily="34" charset="0"/>
                <a:ea typeface="Calibri" pitchFamily="34" charset="-122"/>
                <a:cs typeface="Calibri" pitchFamily="34" charset="-120"/>
              </a:rPr>
              <a:t>Lines</a:t>
            </a:r>
            <a:endParaRPr lang="en-US" sz="1000" dirty="0"/>
          </a:p>
        </p:txBody>
      </p:sp>
      <p:sp>
        <p:nvSpPr>
          <p:cNvPr id="107" name="Text 105"/>
          <p:cNvSpPr/>
          <p:nvPr/>
        </p:nvSpPr>
        <p:spPr>
          <a:xfrm>
            <a:off x="6620256" y="1828800"/>
            <a:ext cx="1993392" cy="256032"/>
          </a:xfrm>
          <a:prstGeom prst="rect">
            <a:avLst/>
          </a:prstGeom>
          <a:noFill/>
          <a:ln/>
        </p:spPr>
        <p:txBody>
          <a:bodyPr wrap="square" rtlCol="0" anchor="ctr"/>
          <a:lstStyle/>
          <a:p>
            <a:pPr algn="ctr" indent="0" marL="0">
              <a:buNone/>
            </a:pPr>
            <a:r>
              <a:rPr lang="en-US" sz="850" dirty="0">
                <a:solidFill>
                  <a:srgbClr val="6B7A8A"/>
                </a:solidFill>
                <a:latin typeface="Calibri" pitchFamily="34" charset="0"/>
                <a:ea typeface="Calibri" pitchFamily="34" charset="-122"/>
                <a:cs typeface="Calibri" pitchFamily="34" charset="-120"/>
              </a:rPr>
              <a:t>Vision Year 1 → 5,000 Kg/H</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56032" y="2231136"/>
          <a:ext cx="8631936" cy="914400"/>
        </p:xfrm>
        <a:graphic>
          <a:graphicData uri="http://schemas.openxmlformats.org/drawingml/2006/table">
            <a:tbl>
              <a:tblPr/>
              <a:tblGrid>
                <a:gridCol w="3108960"/>
                <a:gridCol w="1828800"/>
                <a:gridCol w="3694176"/>
              </a:tblGrid>
              <a:tr h="283464">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Sizing Element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Specification</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Engineering Rationale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FAMSUN contractual steam demand</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2,123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Confirmed scope — conditioner, barrel, dryer circuit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Blowdown loss (LPG, hard water Morocco)</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+ 150–200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~7–10% blowdown rate typical for LPG operation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Startup purging &amp; transient peaks</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+ 100–150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Extruder startup draws peak steam before steady state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Recommended nameplate capacity</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2,400–2,600 Kg/H</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Safe operating margin — never run a boiler at nameplate limit</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283464">
                <a:tc>
                  <a:txBody>
                    <a:bodyPr/>
                    <a:lstStyle/>
                    <a:p>
                      <a:pPr indent="0" marL="0">
                        <a:buNone/>
                      </a:pPr>
                      <a:r>
                        <a:rPr lang="en-US" sz="950" b="1" dirty="0">
                          <a:solidFill>
                            <a:srgbClr val="D4951A"/>
                          </a:solidFill>
                          <a:latin typeface="Calibri" pitchFamily="34" charset="0"/>
                          <a:ea typeface="Calibri" pitchFamily="34" charset="-122"/>
                          <a:cs typeface="Calibri" pitchFamily="34" charset="-120"/>
                        </a:rPr>
                        <a:t>Working pressure specification</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50" b="1" dirty="0">
                          <a:solidFill>
                            <a:srgbClr val="D4951A"/>
                          </a:solidFill>
                          <a:latin typeface="Calibri" pitchFamily="34" charset="0"/>
                          <a:ea typeface="Calibri" pitchFamily="34" charset="-122"/>
                          <a:cs typeface="Calibri" pitchFamily="34" charset="-120"/>
                        </a:rPr>
                        <a:t>5 bar(g)</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Sized above 3 bar(g) minimum — pressure drop in distribution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283464">
                <a:tc>
                  <a:txBody>
                    <a:bodyPr/>
                    <a:lstStyle/>
                    <a:p>
                      <a:pPr indent="0" marL="0">
                        <a:buNone/>
                      </a:pPr>
                      <a:r>
                        <a:rPr lang="en-US" sz="950" dirty="0">
                          <a:solidFill>
                            <a:srgbClr val="EDE0C8"/>
                          </a:solidFill>
                          <a:latin typeface="Calibri" pitchFamily="34" charset="0"/>
                          <a:ea typeface="Calibri" pitchFamily="34" charset="-122"/>
                          <a:cs typeface="Calibri" pitchFamily="34" charset="-120"/>
                        </a:rPr>
                        <a:t>Steam type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50" dirty="0">
                          <a:solidFill>
                            <a:srgbClr val="D8C9A8"/>
                          </a:solidFill>
                          <a:latin typeface="Calibri" pitchFamily="34" charset="0"/>
                          <a:ea typeface="Calibri" pitchFamily="34" charset="-122"/>
                          <a:cs typeface="Calibri" pitchFamily="34" charset="-120"/>
                        </a:rPr>
                        <a:t>Saturated — dry</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900" dirty="0">
                          <a:solidFill>
                            <a:srgbClr val="6B7A8A"/>
                          </a:solidFill>
                          <a:latin typeface="Calibri" pitchFamily="34" charset="0"/>
                          <a:ea typeface="Calibri" pitchFamily="34" charset="-122"/>
                          <a:cs typeface="Calibri" pitchFamily="34" charset="-120"/>
                        </a:rPr>
                        <a:t>Dryness fraction ≥0.95 required. Superheated not needed.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109" name="Shape 106"/>
          <p:cNvSpPr/>
          <p:nvPr/>
        </p:nvSpPr>
        <p:spPr>
          <a:xfrm>
            <a:off x="256032" y="4242816"/>
            <a:ext cx="8631936" cy="54864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7"/>
          <p:cNvSpPr/>
          <p:nvPr/>
        </p:nvSpPr>
        <p:spPr>
          <a:xfrm>
            <a:off x="256032" y="4242816"/>
            <a:ext cx="54864" cy="548640"/>
          </a:xfrm>
          <a:prstGeom prst="rect">
            <a:avLst/>
          </a:prstGeom>
          <a:solidFill>
            <a:srgbClr val="1B9A8A"/>
          </a:solidFill>
          <a:ln/>
        </p:spPr>
      </p:sp>
      <p:sp>
        <p:nvSpPr>
          <p:cNvPr id="111" name="Text 108"/>
          <p:cNvSpPr/>
          <p:nvPr/>
        </p:nvSpPr>
        <p:spPr>
          <a:xfrm>
            <a:off x="402336" y="4279392"/>
            <a:ext cx="8321040" cy="475488"/>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Two-Line Vision: </a:t>
            </a:r>
            <a:pPr indent="0" marL="0">
              <a:buNone/>
            </a:pPr>
            <a:r>
              <a:rPr lang="en-US" sz="1000" dirty="0">
                <a:solidFill>
                  <a:srgbClr val="EDE0C8"/>
                </a:solidFill>
                <a:latin typeface="Calibri" pitchFamily="34" charset="0"/>
                <a:ea typeface="Calibri" pitchFamily="34" charset="-122"/>
                <a:cs typeface="Calibri" pitchFamily="34" charset="-120"/>
              </a:rPr>
              <a:t>Do NOT buy one 5,000 Kg/H shared boiler. Buy TWO independent 2,500 Kg/H units — one per line. This gives operational independence, N+1 redundancy, partial-load efficiency, and isolatable maintenance without stopping production.</a:t>
            </a:r>
            <a:endParaRPr lang="en-US" sz="1050" dirty="0"/>
          </a:p>
        </p:txBody>
      </p:sp>
      <p:sp>
        <p:nvSpPr>
          <p:cNvPr id="112" name="Shape 10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70" name="Shape 16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71" name="Shape 16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72" name="Shape 16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73" name="Shape 17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74" name="Shape 17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75" name="Shape 17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76" name="Shape 17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77" name="Shape 17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78" name="Shape 17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79" name="Shape 17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80" name="Shape 17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81" name="Shape 17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82" name="Shape 17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83" name="Shape 18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84" name="Shape 18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85" name="Shape 18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86" name="Shape 18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87" name="Shape 18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88" name="Shape 18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89" name="Shape 18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90" name="Text 18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TECHNOLOGY COMPARISON</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Once-Through Steam Generator (OTSG) vs Conventional Fire-Tube Shell Boiler</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3072384" cy="420624"/>
          </a:xfrm>
          <a:prstGeom prst="rect">
            <a:avLst/>
          </a:prstGeom>
          <a:solidFill>
            <a:srgbClr val="141418"/>
          </a:solidFill>
          <a:ln/>
          <a:effectLst>
            <a:outerShdw sx="100000" sy="100000" kx="0" ky="0" algn="bl" rotWithShape="0" blurRad="76200" dist="25400" dir="8100000">
              <a:srgbClr val="000000">
                <a:alpha val="30000"/>
              </a:srgbClr>
            </a:outerShdw>
          </a:effectLst>
        </p:spPr>
      </p:sp>
      <p:sp>
        <p:nvSpPr>
          <p:cNvPr id="89" name="Text 87"/>
          <p:cNvSpPr/>
          <p:nvPr/>
        </p:nvSpPr>
        <p:spPr>
          <a:xfrm>
            <a:off x="329184" y="914400"/>
            <a:ext cx="2926080" cy="420624"/>
          </a:xfrm>
          <a:prstGeom prst="rect">
            <a:avLst/>
          </a:prstGeom>
          <a:noFill/>
          <a:ln/>
        </p:spPr>
        <p:txBody>
          <a:bodyPr wrap="square" rtlCol="0" anchor="ctr"/>
          <a:lstStyle/>
          <a:p>
            <a:pPr indent="0" marL="0">
              <a:buNone/>
            </a:pPr>
            <a:r>
              <a:rPr lang="en-US" sz="1150" b="1" dirty="0">
                <a:solidFill>
                  <a:srgbClr val="D8C9A8"/>
                </a:solidFill>
                <a:latin typeface="Georgia" pitchFamily="34" charset="0"/>
                <a:ea typeface="Georgia" pitchFamily="34" charset="-122"/>
                <a:cs typeface="Georgia" pitchFamily="34" charset="-120"/>
              </a:rPr>
              <a:t>CRITERIA</a:t>
            </a:r>
            <a:endParaRPr lang="en-US" sz="1150" dirty="0"/>
          </a:p>
        </p:txBody>
      </p:sp>
      <p:sp>
        <p:nvSpPr>
          <p:cNvPr id="90" name="Shape 88"/>
          <p:cNvSpPr/>
          <p:nvPr/>
        </p:nvSpPr>
        <p:spPr>
          <a:xfrm>
            <a:off x="3419856" y="914400"/>
            <a:ext cx="2779776" cy="420624"/>
          </a:xfrm>
          <a:prstGeom prst="rect">
            <a:avLst/>
          </a:prstGeom>
          <a:solidFill>
            <a:srgbClr val="1B9A8A"/>
          </a:solidFill>
          <a:ln/>
          <a:effectLst>
            <a:outerShdw sx="100000" sy="100000" kx="0" ky="0" algn="bl" rotWithShape="0" blurRad="76200" dist="25400" dir="8100000">
              <a:srgbClr val="000000">
                <a:alpha val="30000"/>
              </a:srgbClr>
            </a:outerShdw>
          </a:effectLst>
        </p:spPr>
      </p:sp>
      <p:sp>
        <p:nvSpPr>
          <p:cNvPr id="91" name="Text 89"/>
          <p:cNvSpPr/>
          <p:nvPr/>
        </p:nvSpPr>
        <p:spPr>
          <a:xfrm>
            <a:off x="3493008" y="914400"/>
            <a:ext cx="2651760" cy="420624"/>
          </a:xfrm>
          <a:prstGeom prst="rect">
            <a:avLst/>
          </a:prstGeom>
          <a:noFill/>
          <a:ln/>
        </p:spPr>
        <p:txBody>
          <a:bodyPr wrap="square" rtlCol="0" anchor="ctr"/>
          <a:lstStyle/>
          <a:p>
            <a:pPr indent="0" marL="0">
              <a:buNone/>
            </a:pPr>
            <a:r>
              <a:rPr lang="en-US" sz="1150" b="1" dirty="0">
                <a:solidFill>
                  <a:srgbClr val="09090F"/>
                </a:solidFill>
                <a:latin typeface="Georgia" pitchFamily="34" charset="0"/>
                <a:ea typeface="Georgia" pitchFamily="34" charset="-122"/>
                <a:cs typeface="Georgia" pitchFamily="34" charset="-120"/>
              </a:rPr>
              <a:t>OTSG — ONCE-THROUGH</a:t>
            </a:r>
            <a:endParaRPr lang="en-US" sz="1150" dirty="0"/>
          </a:p>
        </p:txBody>
      </p:sp>
      <p:sp>
        <p:nvSpPr>
          <p:cNvPr id="92" name="Shape 90"/>
          <p:cNvSpPr/>
          <p:nvPr/>
        </p:nvSpPr>
        <p:spPr>
          <a:xfrm>
            <a:off x="6291072" y="914400"/>
            <a:ext cx="2779776" cy="420624"/>
          </a:xfrm>
          <a:prstGeom prst="rect">
            <a:avLst/>
          </a:prstGeom>
          <a:solidFill>
            <a:srgbClr val="C0622B"/>
          </a:solidFill>
          <a:ln/>
          <a:effectLst>
            <a:outerShdw sx="100000" sy="100000" kx="0" ky="0" algn="bl" rotWithShape="0" blurRad="76200" dist="25400" dir="8100000">
              <a:srgbClr val="000000">
                <a:alpha val="30000"/>
              </a:srgbClr>
            </a:outerShdw>
          </a:effectLst>
        </p:spPr>
      </p:sp>
      <p:sp>
        <p:nvSpPr>
          <p:cNvPr id="93" name="Text 91"/>
          <p:cNvSpPr/>
          <p:nvPr/>
        </p:nvSpPr>
        <p:spPr>
          <a:xfrm>
            <a:off x="6364224" y="914400"/>
            <a:ext cx="2651760" cy="420624"/>
          </a:xfrm>
          <a:prstGeom prst="rect">
            <a:avLst/>
          </a:prstGeom>
          <a:noFill/>
          <a:ln/>
        </p:spPr>
        <p:txBody>
          <a:bodyPr wrap="square" rtlCol="0" anchor="ctr"/>
          <a:lstStyle/>
          <a:p>
            <a:pPr indent="0" marL="0">
              <a:buNone/>
            </a:pPr>
            <a:r>
              <a:rPr lang="en-US" sz="1150" b="1" dirty="0">
                <a:solidFill>
                  <a:srgbClr val="09090F"/>
                </a:solidFill>
                <a:latin typeface="Georgia" pitchFamily="34" charset="0"/>
                <a:ea typeface="Georgia" pitchFamily="34" charset="-122"/>
                <a:cs typeface="Georgia" pitchFamily="34" charset="-120"/>
              </a:rPr>
              <a:t>FIRE-TUBE SHELL</a:t>
            </a:r>
            <a:endParaRPr lang="en-US" sz="1150" dirty="0"/>
          </a:p>
        </p:txBody>
      </p:sp>
      <p:sp>
        <p:nvSpPr>
          <p:cNvPr id="94" name="Shape 92"/>
          <p:cNvSpPr/>
          <p:nvPr/>
        </p:nvSpPr>
        <p:spPr>
          <a:xfrm>
            <a:off x="256032" y="1408176"/>
            <a:ext cx="3072384" cy="338328"/>
          </a:xfrm>
          <a:prstGeom prst="rect">
            <a:avLst/>
          </a:prstGeom>
          <a:solidFill>
            <a:srgbClr val="141418"/>
          </a:solidFill>
          <a:ln w="12700">
            <a:solidFill>
              <a:srgbClr val="1E1E26"/>
            </a:solidFill>
            <a:prstDash val="solid"/>
          </a:ln>
        </p:spPr>
      </p:sp>
      <p:sp>
        <p:nvSpPr>
          <p:cNvPr id="95" name="Text 93"/>
          <p:cNvSpPr/>
          <p:nvPr/>
        </p:nvSpPr>
        <p:spPr>
          <a:xfrm>
            <a:off x="329184" y="1408176"/>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Time to Full Steam</a:t>
            </a:r>
            <a:endParaRPr lang="en-US" sz="900" dirty="0"/>
          </a:p>
        </p:txBody>
      </p:sp>
      <p:sp>
        <p:nvSpPr>
          <p:cNvPr id="96" name="Shape 94"/>
          <p:cNvSpPr/>
          <p:nvPr/>
        </p:nvSpPr>
        <p:spPr>
          <a:xfrm>
            <a:off x="3419856" y="1408176"/>
            <a:ext cx="2779776" cy="338328"/>
          </a:xfrm>
          <a:prstGeom prst="rect">
            <a:avLst/>
          </a:prstGeom>
          <a:solidFill>
            <a:srgbClr val="141418"/>
          </a:solidFill>
          <a:ln w="12700">
            <a:solidFill>
              <a:srgbClr val="1E1E26"/>
            </a:solidFill>
            <a:prstDash val="solid"/>
          </a:ln>
        </p:spPr>
      </p:sp>
      <p:sp>
        <p:nvSpPr>
          <p:cNvPr id="97" name="Text 95"/>
          <p:cNvSpPr/>
          <p:nvPr/>
        </p:nvSpPr>
        <p:spPr>
          <a:xfrm>
            <a:off x="3493008" y="1408176"/>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3–5 minutes</a:t>
            </a:r>
            <a:endParaRPr lang="en-US" sz="900" dirty="0"/>
          </a:p>
        </p:txBody>
      </p:sp>
      <p:sp>
        <p:nvSpPr>
          <p:cNvPr id="98" name="Shape 96"/>
          <p:cNvSpPr/>
          <p:nvPr/>
        </p:nvSpPr>
        <p:spPr>
          <a:xfrm>
            <a:off x="6291072" y="1408176"/>
            <a:ext cx="2779776" cy="338328"/>
          </a:xfrm>
          <a:prstGeom prst="rect">
            <a:avLst/>
          </a:prstGeom>
          <a:solidFill>
            <a:srgbClr val="141418"/>
          </a:solidFill>
          <a:ln w="12700">
            <a:solidFill>
              <a:srgbClr val="1E1E26"/>
            </a:solidFill>
            <a:prstDash val="solid"/>
          </a:ln>
        </p:spPr>
      </p:sp>
      <p:sp>
        <p:nvSpPr>
          <p:cNvPr id="99" name="Text 97"/>
          <p:cNvSpPr/>
          <p:nvPr/>
        </p:nvSpPr>
        <p:spPr>
          <a:xfrm>
            <a:off x="6364224" y="1408176"/>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30–60 minutes</a:t>
            </a:r>
            <a:endParaRPr lang="en-US" sz="900" dirty="0"/>
          </a:p>
        </p:txBody>
      </p:sp>
      <p:sp>
        <p:nvSpPr>
          <p:cNvPr id="100" name="Shape 98"/>
          <p:cNvSpPr/>
          <p:nvPr/>
        </p:nvSpPr>
        <p:spPr>
          <a:xfrm>
            <a:off x="256032" y="1752905"/>
            <a:ext cx="3072384" cy="338328"/>
          </a:xfrm>
          <a:prstGeom prst="rect">
            <a:avLst/>
          </a:prstGeom>
          <a:solidFill>
            <a:srgbClr val="111115"/>
          </a:solidFill>
          <a:ln w="12700">
            <a:solidFill>
              <a:srgbClr val="1E1E26"/>
            </a:solidFill>
            <a:prstDash val="solid"/>
          </a:ln>
        </p:spPr>
      </p:sp>
      <p:sp>
        <p:nvSpPr>
          <p:cNvPr id="101" name="Text 99"/>
          <p:cNvSpPr/>
          <p:nvPr/>
        </p:nvSpPr>
        <p:spPr>
          <a:xfrm>
            <a:off x="329184" y="1752905"/>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Thermal Efficiency (LHV)</a:t>
            </a:r>
            <a:endParaRPr lang="en-US" sz="900" dirty="0"/>
          </a:p>
        </p:txBody>
      </p:sp>
      <p:sp>
        <p:nvSpPr>
          <p:cNvPr id="102" name="Shape 100"/>
          <p:cNvSpPr/>
          <p:nvPr/>
        </p:nvSpPr>
        <p:spPr>
          <a:xfrm>
            <a:off x="3419856" y="1752905"/>
            <a:ext cx="2779776" cy="338328"/>
          </a:xfrm>
          <a:prstGeom prst="rect">
            <a:avLst/>
          </a:prstGeom>
          <a:solidFill>
            <a:srgbClr val="111115"/>
          </a:solidFill>
          <a:ln w="12700">
            <a:solidFill>
              <a:srgbClr val="1E1E26"/>
            </a:solidFill>
            <a:prstDash val="solid"/>
          </a:ln>
        </p:spPr>
      </p:sp>
      <p:sp>
        <p:nvSpPr>
          <p:cNvPr id="103" name="Text 101"/>
          <p:cNvSpPr/>
          <p:nvPr/>
        </p:nvSpPr>
        <p:spPr>
          <a:xfrm>
            <a:off x="3493008" y="1752905"/>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90–95%</a:t>
            </a:r>
            <a:endParaRPr lang="en-US" sz="900" dirty="0"/>
          </a:p>
        </p:txBody>
      </p:sp>
      <p:sp>
        <p:nvSpPr>
          <p:cNvPr id="104" name="Shape 102"/>
          <p:cNvSpPr/>
          <p:nvPr/>
        </p:nvSpPr>
        <p:spPr>
          <a:xfrm>
            <a:off x="6291072" y="1752905"/>
            <a:ext cx="2779776" cy="338328"/>
          </a:xfrm>
          <a:prstGeom prst="rect">
            <a:avLst/>
          </a:prstGeom>
          <a:solidFill>
            <a:srgbClr val="111115"/>
          </a:solidFill>
          <a:ln w="12700">
            <a:solidFill>
              <a:srgbClr val="1E1E26"/>
            </a:solidFill>
            <a:prstDash val="solid"/>
          </a:ln>
        </p:spPr>
      </p:sp>
      <p:sp>
        <p:nvSpPr>
          <p:cNvPr id="105" name="Text 103"/>
          <p:cNvSpPr/>
          <p:nvPr/>
        </p:nvSpPr>
        <p:spPr>
          <a:xfrm>
            <a:off x="6364224" y="1752905"/>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82–88%</a:t>
            </a:r>
            <a:endParaRPr lang="en-US" sz="900" dirty="0"/>
          </a:p>
        </p:txBody>
      </p:sp>
      <p:sp>
        <p:nvSpPr>
          <p:cNvPr id="106" name="Shape 104"/>
          <p:cNvSpPr/>
          <p:nvPr/>
        </p:nvSpPr>
        <p:spPr>
          <a:xfrm>
            <a:off x="256032" y="2097634"/>
            <a:ext cx="3072384" cy="338328"/>
          </a:xfrm>
          <a:prstGeom prst="rect">
            <a:avLst/>
          </a:prstGeom>
          <a:solidFill>
            <a:srgbClr val="141418"/>
          </a:solidFill>
          <a:ln w="12700">
            <a:solidFill>
              <a:srgbClr val="1E1E26"/>
            </a:solidFill>
            <a:prstDash val="solid"/>
          </a:ln>
        </p:spPr>
      </p:sp>
      <p:sp>
        <p:nvSpPr>
          <p:cNvPr id="107" name="Text 105"/>
          <p:cNvSpPr/>
          <p:nvPr/>
        </p:nvSpPr>
        <p:spPr>
          <a:xfrm>
            <a:off x="329184" y="2097634"/>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LPG Startup Cost / Day</a:t>
            </a:r>
            <a:endParaRPr lang="en-US" sz="900" dirty="0"/>
          </a:p>
        </p:txBody>
      </p:sp>
      <p:sp>
        <p:nvSpPr>
          <p:cNvPr id="108" name="Shape 106"/>
          <p:cNvSpPr/>
          <p:nvPr/>
        </p:nvSpPr>
        <p:spPr>
          <a:xfrm>
            <a:off x="3419856" y="2097634"/>
            <a:ext cx="2779776" cy="338328"/>
          </a:xfrm>
          <a:prstGeom prst="rect">
            <a:avLst/>
          </a:prstGeom>
          <a:solidFill>
            <a:srgbClr val="141418"/>
          </a:solidFill>
          <a:ln w="12700">
            <a:solidFill>
              <a:srgbClr val="1E1E26"/>
            </a:solidFill>
            <a:prstDash val="solid"/>
          </a:ln>
        </p:spPr>
      </p:sp>
      <p:sp>
        <p:nvSpPr>
          <p:cNvPr id="109" name="Text 107"/>
          <p:cNvSpPr/>
          <p:nvPr/>
        </p:nvSpPr>
        <p:spPr>
          <a:xfrm>
            <a:off x="3493008" y="2097634"/>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Low (fast startup)</a:t>
            </a:r>
            <a:endParaRPr lang="en-US" sz="900" dirty="0"/>
          </a:p>
        </p:txBody>
      </p:sp>
      <p:sp>
        <p:nvSpPr>
          <p:cNvPr id="110" name="Shape 108"/>
          <p:cNvSpPr/>
          <p:nvPr/>
        </p:nvSpPr>
        <p:spPr>
          <a:xfrm>
            <a:off x="6291072" y="2097634"/>
            <a:ext cx="2779776" cy="338328"/>
          </a:xfrm>
          <a:prstGeom prst="rect">
            <a:avLst/>
          </a:prstGeom>
          <a:solidFill>
            <a:srgbClr val="141418"/>
          </a:solidFill>
          <a:ln w="12700">
            <a:solidFill>
              <a:srgbClr val="1E1E26"/>
            </a:solidFill>
            <a:prstDash val="solid"/>
          </a:ln>
        </p:spPr>
      </p:sp>
      <p:sp>
        <p:nvSpPr>
          <p:cNvPr id="111" name="Text 109"/>
          <p:cNvSpPr/>
          <p:nvPr/>
        </p:nvSpPr>
        <p:spPr>
          <a:xfrm>
            <a:off x="6364224" y="2097634"/>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High (long purge + heat-up)</a:t>
            </a:r>
            <a:endParaRPr lang="en-US" sz="900" dirty="0"/>
          </a:p>
        </p:txBody>
      </p:sp>
      <p:sp>
        <p:nvSpPr>
          <p:cNvPr id="112" name="Shape 110"/>
          <p:cNvSpPr/>
          <p:nvPr/>
        </p:nvSpPr>
        <p:spPr>
          <a:xfrm>
            <a:off x="256032" y="2442362"/>
            <a:ext cx="3072384" cy="338328"/>
          </a:xfrm>
          <a:prstGeom prst="rect">
            <a:avLst/>
          </a:prstGeom>
          <a:solidFill>
            <a:srgbClr val="111115"/>
          </a:solidFill>
          <a:ln w="12700">
            <a:solidFill>
              <a:srgbClr val="1E1E26"/>
            </a:solidFill>
            <a:prstDash val="solid"/>
          </a:ln>
        </p:spPr>
      </p:sp>
      <p:sp>
        <p:nvSpPr>
          <p:cNvPr id="113" name="Text 111"/>
          <p:cNvSpPr/>
          <p:nvPr/>
        </p:nvSpPr>
        <p:spPr>
          <a:xfrm>
            <a:off x="329184" y="2442362"/>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Load Following Speed</a:t>
            </a:r>
            <a:endParaRPr lang="en-US" sz="900" dirty="0"/>
          </a:p>
        </p:txBody>
      </p:sp>
      <p:sp>
        <p:nvSpPr>
          <p:cNvPr id="114" name="Shape 112"/>
          <p:cNvSpPr/>
          <p:nvPr/>
        </p:nvSpPr>
        <p:spPr>
          <a:xfrm>
            <a:off x="3419856" y="2442362"/>
            <a:ext cx="2779776" cy="338328"/>
          </a:xfrm>
          <a:prstGeom prst="rect">
            <a:avLst/>
          </a:prstGeom>
          <a:solidFill>
            <a:srgbClr val="111115"/>
          </a:solidFill>
          <a:ln w="12700">
            <a:solidFill>
              <a:srgbClr val="1E1E26"/>
            </a:solidFill>
            <a:prstDash val="solid"/>
          </a:ln>
        </p:spPr>
      </p:sp>
      <p:sp>
        <p:nvSpPr>
          <p:cNvPr id="115" name="Text 113"/>
          <p:cNvSpPr/>
          <p:nvPr/>
        </p:nvSpPr>
        <p:spPr>
          <a:xfrm>
            <a:off x="3493008" y="2442362"/>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Near-instant</a:t>
            </a:r>
            <a:endParaRPr lang="en-US" sz="900" dirty="0"/>
          </a:p>
        </p:txBody>
      </p:sp>
      <p:sp>
        <p:nvSpPr>
          <p:cNvPr id="116" name="Shape 114"/>
          <p:cNvSpPr/>
          <p:nvPr/>
        </p:nvSpPr>
        <p:spPr>
          <a:xfrm>
            <a:off x="6291072" y="2442362"/>
            <a:ext cx="2779776" cy="338328"/>
          </a:xfrm>
          <a:prstGeom prst="rect">
            <a:avLst/>
          </a:prstGeom>
          <a:solidFill>
            <a:srgbClr val="111115"/>
          </a:solidFill>
          <a:ln w="12700">
            <a:solidFill>
              <a:srgbClr val="1E1E26"/>
            </a:solidFill>
            <a:prstDash val="solid"/>
          </a:ln>
        </p:spPr>
      </p:sp>
      <p:sp>
        <p:nvSpPr>
          <p:cNvPr id="117" name="Text 115"/>
          <p:cNvSpPr/>
          <p:nvPr/>
        </p:nvSpPr>
        <p:spPr>
          <a:xfrm>
            <a:off x="6364224" y="2442362"/>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Moderate (stored energy buffer)</a:t>
            </a:r>
            <a:endParaRPr lang="en-US" sz="900" dirty="0"/>
          </a:p>
        </p:txBody>
      </p:sp>
      <p:sp>
        <p:nvSpPr>
          <p:cNvPr id="118" name="Shape 116"/>
          <p:cNvSpPr/>
          <p:nvPr/>
        </p:nvSpPr>
        <p:spPr>
          <a:xfrm>
            <a:off x="256032" y="2787091"/>
            <a:ext cx="3072384" cy="338328"/>
          </a:xfrm>
          <a:prstGeom prst="rect">
            <a:avLst/>
          </a:prstGeom>
          <a:solidFill>
            <a:srgbClr val="141418"/>
          </a:solidFill>
          <a:ln w="12700">
            <a:solidFill>
              <a:srgbClr val="1E1E26"/>
            </a:solidFill>
            <a:prstDash val="solid"/>
          </a:ln>
        </p:spPr>
      </p:sp>
      <p:sp>
        <p:nvSpPr>
          <p:cNvPr id="119" name="Text 117"/>
          <p:cNvSpPr/>
          <p:nvPr/>
        </p:nvSpPr>
        <p:spPr>
          <a:xfrm>
            <a:off x="329184" y="2787091"/>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Water Inventory</a:t>
            </a:r>
            <a:endParaRPr lang="en-US" sz="900" dirty="0"/>
          </a:p>
        </p:txBody>
      </p:sp>
      <p:sp>
        <p:nvSpPr>
          <p:cNvPr id="120" name="Shape 118"/>
          <p:cNvSpPr/>
          <p:nvPr/>
        </p:nvSpPr>
        <p:spPr>
          <a:xfrm>
            <a:off x="3419856" y="2787091"/>
            <a:ext cx="2779776" cy="338328"/>
          </a:xfrm>
          <a:prstGeom prst="rect">
            <a:avLst/>
          </a:prstGeom>
          <a:solidFill>
            <a:srgbClr val="141418"/>
          </a:solidFill>
          <a:ln w="12700">
            <a:solidFill>
              <a:srgbClr val="1E1E26"/>
            </a:solidFill>
            <a:prstDash val="solid"/>
          </a:ln>
        </p:spPr>
      </p:sp>
      <p:sp>
        <p:nvSpPr>
          <p:cNvPr id="121" name="Text 119"/>
          <p:cNvSpPr/>
          <p:nvPr/>
        </p:nvSpPr>
        <p:spPr>
          <a:xfrm>
            <a:off x="3493008" y="2787091"/>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Minimal (thin tube coils)</a:t>
            </a:r>
            <a:endParaRPr lang="en-US" sz="900" dirty="0"/>
          </a:p>
        </p:txBody>
      </p:sp>
      <p:sp>
        <p:nvSpPr>
          <p:cNvPr id="122" name="Shape 120"/>
          <p:cNvSpPr/>
          <p:nvPr/>
        </p:nvSpPr>
        <p:spPr>
          <a:xfrm>
            <a:off x="6291072" y="2787091"/>
            <a:ext cx="2779776" cy="338328"/>
          </a:xfrm>
          <a:prstGeom prst="rect">
            <a:avLst/>
          </a:prstGeom>
          <a:solidFill>
            <a:srgbClr val="141418"/>
          </a:solidFill>
          <a:ln w="12700">
            <a:solidFill>
              <a:srgbClr val="1E1E26"/>
            </a:solidFill>
            <a:prstDash val="solid"/>
          </a:ln>
        </p:spPr>
      </p:sp>
      <p:sp>
        <p:nvSpPr>
          <p:cNvPr id="123" name="Text 121"/>
          <p:cNvSpPr/>
          <p:nvPr/>
        </p:nvSpPr>
        <p:spPr>
          <a:xfrm>
            <a:off x="6364224" y="2787091"/>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Large (pressure vessel full)</a:t>
            </a:r>
            <a:endParaRPr lang="en-US" sz="900" dirty="0"/>
          </a:p>
        </p:txBody>
      </p:sp>
      <p:sp>
        <p:nvSpPr>
          <p:cNvPr id="124" name="Shape 122"/>
          <p:cNvSpPr/>
          <p:nvPr/>
        </p:nvSpPr>
        <p:spPr>
          <a:xfrm>
            <a:off x="256032" y="3131820"/>
            <a:ext cx="3072384" cy="338328"/>
          </a:xfrm>
          <a:prstGeom prst="rect">
            <a:avLst/>
          </a:prstGeom>
          <a:solidFill>
            <a:srgbClr val="111115"/>
          </a:solidFill>
          <a:ln w="12700">
            <a:solidFill>
              <a:srgbClr val="1E1E26"/>
            </a:solidFill>
            <a:prstDash val="solid"/>
          </a:ln>
        </p:spPr>
      </p:sp>
      <p:sp>
        <p:nvSpPr>
          <p:cNvPr id="125" name="Text 123"/>
          <p:cNvSpPr/>
          <p:nvPr/>
        </p:nvSpPr>
        <p:spPr>
          <a:xfrm>
            <a:off x="329184" y="3131820"/>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Physical Footprint</a:t>
            </a:r>
            <a:endParaRPr lang="en-US" sz="900" dirty="0"/>
          </a:p>
        </p:txBody>
      </p:sp>
      <p:sp>
        <p:nvSpPr>
          <p:cNvPr id="126" name="Shape 124"/>
          <p:cNvSpPr/>
          <p:nvPr/>
        </p:nvSpPr>
        <p:spPr>
          <a:xfrm>
            <a:off x="3419856" y="3131820"/>
            <a:ext cx="2779776" cy="338328"/>
          </a:xfrm>
          <a:prstGeom prst="rect">
            <a:avLst/>
          </a:prstGeom>
          <a:solidFill>
            <a:srgbClr val="111115"/>
          </a:solidFill>
          <a:ln w="12700">
            <a:solidFill>
              <a:srgbClr val="1E1E26"/>
            </a:solidFill>
            <a:prstDash val="solid"/>
          </a:ln>
        </p:spPr>
      </p:sp>
      <p:sp>
        <p:nvSpPr>
          <p:cNvPr id="127" name="Text 125"/>
          <p:cNvSpPr/>
          <p:nvPr/>
        </p:nvSpPr>
        <p:spPr>
          <a:xfrm>
            <a:off x="3493008" y="3131820"/>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Very compact</a:t>
            </a:r>
            <a:endParaRPr lang="en-US" sz="900" dirty="0"/>
          </a:p>
        </p:txBody>
      </p:sp>
      <p:sp>
        <p:nvSpPr>
          <p:cNvPr id="128" name="Shape 126"/>
          <p:cNvSpPr/>
          <p:nvPr/>
        </p:nvSpPr>
        <p:spPr>
          <a:xfrm>
            <a:off x="6291072" y="3131820"/>
            <a:ext cx="2779776" cy="338328"/>
          </a:xfrm>
          <a:prstGeom prst="rect">
            <a:avLst/>
          </a:prstGeom>
          <a:solidFill>
            <a:srgbClr val="111115"/>
          </a:solidFill>
          <a:ln w="12700">
            <a:solidFill>
              <a:srgbClr val="1E1E26"/>
            </a:solidFill>
            <a:prstDash val="solid"/>
          </a:ln>
        </p:spPr>
      </p:sp>
      <p:sp>
        <p:nvSpPr>
          <p:cNvPr id="129" name="Text 127"/>
          <p:cNvSpPr/>
          <p:nvPr/>
        </p:nvSpPr>
        <p:spPr>
          <a:xfrm>
            <a:off x="6364224" y="3131820"/>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Large — 6m+ length typical</a:t>
            </a:r>
            <a:endParaRPr lang="en-US" sz="900" dirty="0"/>
          </a:p>
        </p:txBody>
      </p:sp>
      <p:sp>
        <p:nvSpPr>
          <p:cNvPr id="130" name="Shape 128"/>
          <p:cNvSpPr/>
          <p:nvPr/>
        </p:nvSpPr>
        <p:spPr>
          <a:xfrm>
            <a:off x="256032" y="3476549"/>
            <a:ext cx="3072384" cy="338328"/>
          </a:xfrm>
          <a:prstGeom prst="rect">
            <a:avLst/>
          </a:prstGeom>
          <a:solidFill>
            <a:srgbClr val="141418"/>
          </a:solidFill>
          <a:ln w="12700">
            <a:solidFill>
              <a:srgbClr val="1E1E26"/>
            </a:solidFill>
            <a:prstDash val="solid"/>
          </a:ln>
        </p:spPr>
      </p:sp>
      <p:sp>
        <p:nvSpPr>
          <p:cNvPr id="131" name="Text 129"/>
          <p:cNvSpPr/>
          <p:nvPr/>
        </p:nvSpPr>
        <p:spPr>
          <a:xfrm>
            <a:off x="329184" y="3476549"/>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Purchase Price</a:t>
            </a:r>
            <a:endParaRPr lang="en-US" sz="900" dirty="0"/>
          </a:p>
        </p:txBody>
      </p:sp>
      <p:sp>
        <p:nvSpPr>
          <p:cNvPr id="132" name="Shape 130"/>
          <p:cNvSpPr/>
          <p:nvPr/>
        </p:nvSpPr>
        <p:spPr>
          <a:xfrm>
            <a:off x="3419856" y="3476549"/>
            <a:ext cx="2779776" cy="338328"/>
          </a:xfrm>
          <a:prstGeom prst="rect">
            <a:avLst/>
          </a:prstGeom>
          <a:solidFill>
            <a:srgbClr val="141418"/>
          </a:solidFill>
          <a:ln w="12700">
            <a:solidFill>
              <a:srgbClr val="1E1E26"/>
            </a:solidFill>
            <a:prstDash val="solid"/>
          </a:ln>
        </p:spPr>
      </p:sp>
      <p:sp>
        <p:nvSpPr>
          <p:cNvPr id="133" name="Text 131"/>
          <p:cNvSpPr/>
          <p:nvPr/>
        </p:nvSpPr>
        <p:spPr>
          <a:xfrm>
            <a:off x="3493008" y="3476549"/>
            <a:ext cx="2633472"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Higher (+20–35%)</a:t>
            </a:r>
            <a:endParaRPr lang="en-US" sz="900" dirty="0"/>
          </a:p>
        </p:txBody>
      </p:sp>
      <p:sp>
        <p:nvSpPr>
          <p:cNvPr id="134" name="Shape 132"/>
          <p:cNvSpPr/>
          <p:nvPr/>
        </p:nvSpPr>
        <p:spPr>
          <a:xfrm>
            <a:off x="6291072" y="3476549"/>
            <a:ext cx="2779776" cy="338328"/>
          </a:xfrm>
          <a:prstGeom prst="rect">
            <a:avLst/>
          </a:prstGeom>
          <a:solidFill>
            <a:srgbClr val="141418"/>
          </a:solidFill>
          <a:ln w="12700">
            <a:solidFill>
              <a:srgbClr val="1E1E26"/>
            </a:solidFill>
            <a:prstDash val="solid"/>
          </a:ln>
        </p:spPr>
      </p:sp>
      <p:sp>
        <p:nvSpPr>
          <p:cNvPr id="135" name="Text 133"/>
          <p:cNvSpPr/>
          <p:nvPr/>
        </p:nvSpPr>
        <p:spPr>
          <a:xfrm>
            <a:off x="6364224" y="3476549"/>
            <a:ext cx="2633472" cy="338328"/>
          </a:xfrm>
          <a:prstGeom prst="rect">
            <a:avLst/>
          </a:prstGeom>
          <a:noFill/>
          <a:ln/>
        </p:spPr>
        <p:txBody>
          <a:bodyPr wrap="square" rtlCol="0" anchor="ctr"/>
          <a:lstStyle/>
          <a:p>
            <a:pPr algn="ctr" indent="0" marL="0">
              <a:buNone/>
            </a:pPr>
            <a:r>
              <a:rPr lang="en-US" sz="900" dirty="0">
                <a:solidFill>
                  <a:srgbClr val="3DAF7A"/>
                </a:solidFill>
                <a:latin typeface="Calibri" pitchFamily="34" charset="0"/>
                <a:ea typeface="Calibri" pitchFamily="34" charset="-122"/>
                <a:cs typeface="Calibri" pitchFamily="34" charset="-120"/>
              </a:rPr>
              <a:t>Lower baseline</a:t>
            </a:r>
            <a:endParaRPr lang="en-US" sz="900" dirty="0"/>
          </a:p>
        </p:txBody>
      </p:sp>
      <p:sp>
        <p:nvSpPr>
          <p:cNvPr id="136" name="Shape 134"/>
          <p:cNvSpPr/>
          <p:nvPr/>
        </p:nvSpPr>
        <p:spPr>
          <a:xfrm>
            <a:off x="256032" y="3821278"/>
            <a:ext cx="3072384" cy="338328"/>
          </a:xfrm>
          <a:prstGeom prst="rect">
            <a:avLst/>
          </a:prstGeom>
          <a:solidFill>
            <a:srgbClr val="111115"/>
          </a:solidFill>
          <a:ln w="12700">
            <a:solidFill>
              <a:srgbClr val="1E1E26"/>
            </a:solidFill>
            <a:prstDash val="solid"/>
          </a:ln>
        </p:spPr>
      </p:sp>
      <p:sp>
        <p:nvSpPr>
          <p:cNvPr id="137" name="Text 135"/>
          <p:cNvSpPr/>
          <p:nvPr/>
        </p:nvSpPr>
        <p:spPr>
          <a:xfrm>
            <a:off x="329184" y="3821278"/>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Spare Parts in Morocco</a:t>
            </a:r>
            <a:endParaRPr lang="en-US" sz="900" dirty="0"/>
          </a:p>
        </p:txBody>
      </p:sp>
      <p:sp>
        <p:nvSpPr>
          <p:cNvPr id="138" name="Shape 136"/>
          <p:cNvSpPr/>
          <p:nvPr/>
        </p:nvSpPr>
        <p:spPr>
          <a:xfrm>
            <a:off x="3419856" y="3821278"/>
            <a:ext cx="2779776" cy="338328"/>
          </a:xfrm>
          <a:prstGeom prst="rect">
            <a:avLst/>
          </a:prstGeom>
          <a:solidFill>
            <a:srgbClr val="111115"/>
          </a:solidFill>
          <a:ln w="12700">
            <a:solidFill>
              <a:srgbClr val="1E1E26"/>
            </a:solidFill>
            <a:prstDash val="solid"/>
          </a:ln>
        </p:spPr>
      </p:sp>
      <p:sp>
        <p:nvSpPr>
          <p:cNvPr id="139" name="Text 137"/>
          <p:cNvSpPr/>
          <p:nvPr/>
        </p:nvSpPr>
        <p:spPr>
          <a:xfrm>
            <a:off x="3493008" y="3821278"/>
            <a:ext cx="2633472" cy="338328"/>
          </a:xfrm>
          <a:prstGeom prst="rect">
            <a:avLst/>
          </a:prstGeom>
          <a:noFill/>
          <a:ln/>
        </p:spPr>
        <p:txBody>
          <a:bodyPr wrap="square" rtlCol="0" anchor="ctr"/>
          <a:lstStyle/>
          <a:p>
            <a:pPr algn="ctr" indent="0" marL="0">
              <a:buNone/>
            </a:pPr>
            <a:r>
              <a:rPr lang="en-US" sz="900" b="1" dirty="0">
                <a:solidFill>
                  <a:srgbClr val="D94040"/>
                </a:solidFill>
                <a:latin typeface="Calibri" pitchFamily="34" charset="0"/>
                <a:ea typeface="Calibri" pitchFamily="34" charset="-122"/>
                <a:cs typeface="Calibri" pitchFamily="34" charset="-120"/>
              </a:rPr>
              <a:t>Import required</a:t>
            </a:r>
            <a:endParaRPr lang="en-US" sz="900" dirty="0"/>
          </a:p>
        </p:txBody>
      </p:sp>
      <p:sp>
        <p:nvSpPr>
          <p:cNvPr id="140" name="Shape 138"/>
          <p:cNvSpPr/>
          <p:nvPr/>
        </p:nvSpPr>
        <p:spPr>
          <a:xfrm>
            <a:off x="6291072" y="3821278"/>
            <a:ext cx="2779776" cy="338328"/>
          </a:xfrm>
          <a:prstGeom prst="rect">
            <a:avLst/>
          </a:prstGeom>
          <a:solidFill>
            <a:srgbClr val="111115"/>
          </a:solidFill>
          <a:ln w="12700">
            <a:solidFill>
              <a:srgbClr val="1E1E26"/>
            </a:solidFill>
            <a:prstDash val="solid"/>
          </a:ln>
        </p:spPr>
      </p:sp>
      <p:sp>
        <p:nvSpPr>
          <p:cNvPr id="141" name="Text 139"/>
          <p:cNvSpPr/>
          <p:nvPr/>
        </p:nvSpPr>
        <p:spPr>
          <a:xfrm>
            <a:off x="6364224" y="3821278"/>
            <a:ext cx="2633472" cy="338328"/>
          </a:xfrm>
          <a:prstGeom prst="rect">
            <a:avLst/>
          </a:prstGeom>
          <a:noFill/>
          <a:ln/>
        </p:spPr>
        <p:txBody>
          <a:bodyPr wrap="square" rtlCol="0" anchor="ctr"/>
          <a:lstStyle/>
          <a:p>
            <a:pPr algn="ctr" indent="0" marL="0">
              <a:buNone/>
            </a:pPr>
            <a:r>
              <a:rPr lang="en-US" sz="900" dirty="0">
                <a:solidFill>
                  <a:srgbClr val="3DAF7A"/>
                </a:solidFill>
                <a:latin typeface="Calibri" pitchFamily="34" charset="0"/>
                <a:ea typeface="Calibri" pitchFamily="34" charset="-122"/>
                <a:cs typeface="Calibri" pitchFamily="34" charset="-120"/>
              </a:rPr>
              <a:t>More local availability</a:t>
            </a:r>
            <a:endParaRPr lang="en-US" sz="900" dirty="0"/>
          </a:p>
        </p:txBody>
      </p:sp>
      <p:sp>
        <p:nvSpPr>
          <p:cNvPr id="142" name="Shape 140"/>
          <p:cNvSpPr/>
          <p:nvPr/>
        </p:nvSpPr>
        <p:spPr>
          <a:xfrm>
            <a:off x="256032" y="4166006"/>
            <a:ext cx="3072384" cy="338328"/>
          </a:xfrm>
          <a:prstGeom prst="rect">
            <a:avLst/>
          </a:prstGeom>
          <a:solidFill>
            <a:srgbClr val="141418"/>
          </a:solidFill>
          <a:ln w="12700">
            <a:solidFill>
              <a:srgbClr val="1E1E26"/>
            </a:solidFill>
            <a:prstDash val="solid"/>
          </a:ln>
        </p:spPr>
      </p:sp>
      <p:sp>
        <p:nvSpPr>
          <p:cNvPr id="143" name="Text 141"/>
          <p:cNvSpPr/>
          <p:nvPr/>
        </p:nvSpPr>
        <p:spPr>
          <a:xfrm>
            <a:off x="329184" y="4166006"/>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Operating Complexity</a:t>
            </a:r>
            <a:endParaRPr lang="en-US" sz="900" dirty="0"/>
          </a:p>
        </p:txBody>
      </p:sp>
      <p:sp>
        <p:nvSpPr>
          <p:cNvPr id="144" name="Shape 142"/>
          <p:cNvSpPr/>
          <p:nvPr/>
        </p:nvSpPr>
        <p:spPr>
          <a:xfrm>
            <a:off x="3419856" y="4166006"/>
            <a:ext cx="2779776" cy="338328"/>
          </a:xfrm>
          <a:prstGeom prst="rect">
            <a:avLst/>
          </a:prstGeom>
          <a:solidFill>
            <a:srgbClr val="141418"/>
          </a:solidFill>
          <a:ln w="12700">
            <a:solidFill>
              <a:srgbClr val="1E1E26"/>
            </a:solidFill>
            <a:prstDash val="solid"/>
          </a:ln>
        </p:spPr>
      </p:sp>
      <p:sp>
        <p:nvSpPr>
          <p:cNvPr id="145" name="Text 143"/>
          <p:cNvSpPr/>
          <p:nvPr/>
        </p:nvSpPr>
        <p:spPr>
          <a:xfrm>
            <a:off x="3493008" y="4166006"/>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Lower — no blowdown vessel</a:t>
            </a:r>
            <a:endParaRPr lang="en-US" sz="900" dirty="0"/>
          </a:p>
        </p:txBody>
      </p:sp>
      <p:sp>
        <p:nvSpPr>
          <p:cNvPr id="146" name="Shape 144"/>
          <p:cNvSpPr/>
          <p:nvPr/>
        </p:nvSpPr>
        <p:spPr>
          <a:xfrm>
            <a:off x="6291072" y="4166006"/>
            <a:ext cx="2779776" cy="338328"/>
          </a:xfrm>
          <a:prstGeom prst="rect">
            <a:avLst/>
          </a:prstGeom>
          <a:solidFill>
            <a:srgbClr val="141418"/>
          </a:solidFill>
          <a:ln w="12700">
            <a:solidFill>
              <a:srgbClr val="1E1E26"/>
            </a:solidFill>
            <a:prstDash val="solid"/>
          </a:ln>
        </p:spPr>
      </p:sp>
      <p:sp>
        <p:nvSpPr>
          <p:cNvPr id="147" name="Text 145"/>
          <p:cNvSpPr/>
          <p:nvPr/>
        </p:nvSpPr>
        <p:spPr>
          <a:xfrm>
            <a:off x="6364224" y="4166006"/>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More procedures required</a:t>
            </a:r>
            <a:endParaRPr lang="en-US" sz="900" dirty="0"/>
          </a:p>
        </p:txBody>
      </p:sp>
      <p:sp>
        <p:nvSpPr>
          <p:cNvPr id="148" name="Shape 146"/>
          <p:cNvSpPr/>
          <p:nvPr/>
        </p:nvSpPr>
        <p:spPr>
          <a:xfrm>
            <a:off x="256032" y="4510735"/>
            <a:ext cx="3072384" cy="338328"/>
          </a:xfrm>
          <a:prstGeom prst="rect">
            <a:avLst/>
          </a:prstGeom>
          <a:solidFill>
            <a:srgbClr val="111115"/>
          </a:solidFill>
          <a:ln w="12700">
            <a:solidFill>
              <a:srgbClr val="1E1E26"/>
            </a:solidFill>
            <a:prstDash val="solid"/>
          </a:ln>
        </p:spPr>
      </p:sp>
      <p:sp>
        <p:nvSpPr>
          <p:cNvPr id="149" name="Text 147"/>
          <p:cNvSpPr/>
          <p:nvPr/>
        </p:nvSpPr>
        <p:spPr>
          <a:xfrm>
            <a:off x="329184" y="4510735"/>
            <a:ext cx="2926080" cy="338328"/>
          </a:xfrm>
          <a:prstGeom prst="rect">
            <a:avLst/>
          </a:prstGeom>
          <a:noFill/>
          <a:ln/>
        </p:spPr>
        <p:txBody>
          <a:bodyPr wrap="square" rtlCol="0" anchor="ctr"/>
          <a:lstStyle/>
          <a:p>
            <a:pPr indent="0" marL="0">
              <a:buNone/>
            </a:pPr>
            <a:r>
              <a:rPr lang="en-US" sz="900" b="1" dirty="0">
                <a:solidFill>
                  <a:srgbClr val="D8C9A8"/>
                </a:solidFill>
                <a:latin typeface="Calibri" pitchFamily="34" charset="0"/>
                <a:ea typeface="Calibri" pitchFamily="34" charset="-122"/>
                <a:cs typeface="Calibri" pitchFamily="34" charset="-120"/>
              </a:rPr>
              <a:t>5-Year TCO on LPG</a:t>
            </a:r>
            <a:endParaRPr lang="en-US" sz="900" dirty="0"/>
          </a:p>
        </p:txBody>
      </p:sp>
      <p:sp>
        <p:nvSpPr>
          <p:cNvPr id="150" name="Shape 148"/>
          <p:cNvSpPr/>
          <p:nvPr/>
        </p:nvSpPr>
        <p:spPr>
          <a:xfrm>
            <a:off x="3419856" y="4510735"/>
            <a:ext cx="2779776" cy="338328"/>
          </a:xfrm>
          <a:prstGeom prst="rect">
            <a:avLst/>
          </a:prstGeom>
          <a:solidFill>
            <a:srgbClr val="111115"/>
          </a:solidFill>
          <a:ln w="12700">
            <a:solidFill>
              <a:srgbClr val="1E1E26"/>
            </a:solidFill>
            <a:prstDash val="solid"/>
          </a:ln>
        </p:spPr>
      </p:sp>
      <p:sp>
        <p:nvSpPr>
          <p:cNvPr id="151" name="Text 149"/>
          <p:cNvSpPr/>
          <p:nvPr/>
        </p:nvSpPr>
        <p:spPr>
          <a:xfrm>
            <a:off x="3493008" y="4510735"/>
            <a:ext cx="2633472" cy="338328"/>
          </a:xfrm>
          <a:prstGeom prst="rect">
            <a:avLst/>
          </a:prstGeom>
          <a:noFill/>
          <a:ln/>
        </p:spPr>
        <p:txBody>
          <a:bodyPr wrap="square" rtlCol="0" anchor="ctr"/>
          <a:lstStyle/>
          <a:p>
            <a:pPr algn="ctr" indent="0" marL="0">
              <a:buNone/>
            </a:pPr>
            <a:r>
              <a:rPr lang="en-US" sz="900" b="1" dirty="0">
                <a:solidFill>
                  <a:srgbClr val="3DAF7A"/>
                </a:solidFill>
                <a:latin typeface="Calibri" pitchFamily="34" charset="0"/>
                <a:ea typeface="Calibri" pitchFamily="34" charset="-122"/>
                <a:cs typeface="Calibri" pitchFamily="34" charset="-120"/>
              </a:rPr>
              <a:t>Lower (efficiency savings)</a:t>
            </a:r>
            <a:endParaRPr lang="en-US" sz="900" dirty="0"/>
          </a:p>
        </p:txBody>
      </p:sp>
      <p:sp>
        <p:nvSpPr>
          <p:cNvPr id="152" name="Shape 150"/>
          <p:cNvSpPr/>
          <p:nvPr/>
        </p:nvSpPr>
        <p:spPr>
          <a:xfrm>
            <a:off x="6291072" y="4510735"/>
            <a:ext cx="2779776" cy="338328"/>
          </a:xfrm>
          <a:prstGeom prst="rect">
            <a:avLst/>
          </a:prstGeom>
          <a:solidFill>
            <a:srgbClr val="111115"/>
          </a:solidFill>
          <a:ln w="12700">
            <a:solidFill>
              <a:srgbClr val="1E1E26"/>
            </a:solidFill>
            <a:prstDash val="solid"/>
          </a:ln>
        </p:spPr>
      </p:sp>
      <p:sp>
        <p:nvSpPr>
          <p:cNvPr id="153" name="Text 151"/>
          <p:cNvSpPr/>
          <p:nvPr/>
        </p:nvSpPr>
        <p:spPr>
          <a:xfrm>
            <a:off x="6364224" y="4510735"/>
            <a:ext cx="2633472" cy="338328"/>
          </a:xfrm>
          <a:prstGeom prst="rect">
            <a:avLst/>
          </a:prstGeom>
          <a:noFill/>
          <a:ln/>
        </p:spPr>
        <p:txBody>
          <a:bodyPr wrap="square" rtlCol="0" anchor="ctr"/>
          <a:lstStyle/>
          <a:p>
            <a:pPr algn="ctr" indent="0" marL="0">
              <a:buNone/>
            </a:pPr>
            <a:r>
              <a:rPr lang="en-US" sz="900" dirty="0">
                <a:solidFill>
                  <a:srgbClr val="D94040"/>
                </a:solidFill>
                <a:latin typeface="Calibri" pitchFamily="34" charset="0"/>
                <a:ea typeface="Calibri" pitchFamily="34" charset="-122"/>
                <a:cs typeface="Calibri" pitchFamily="34" charset="-120"/>
              </a:rPr>
              <a:t>Higher (LPG waste on startup)</a:t>
            </a:r>
            <a:endParaRPr lang="en-US" sz="900" dirty="0"/>
          </a:p>
        </p:txBody>
      </p:sp>
      <p:sp>
        <p:nvSpPr>
          <p:cNvPr id="154" name="Shape 152"/>
          <p:cNvSpPr/>
          <p:nvPr/>
        </p:nvSpPr>
        <p:spPr>
          <a:xfrm>
            <a:off x="256032" y="4846320"/>
            <a:ext cx="8631936" cy="228600"/>
          </a:xfrm>
          <a:prstGeom prst="rect">
            <a:avLst/>
          </a:prstGeom>
          <a:solidFill>
            <a:srgbClr val="1B9A8A"/>
          </a:solidFill>
          <a:ln/>
        </p:spPr>
      </p:sp>
      <p:sp>
        <p:nvSpPr>
          <p:cNvPr id="155" name="Text 153"/>
          <p:cNvSpPr/>
          <p:nvPr/>
        </p:nvSpPr>
        <p:spPr>
          <a:xfrm>
            <a:off x="347472" y="4846320"/>
            <a:ext cx="8449056" cy="228600"/>
          </a:xfrm>
          <a:prstGeom prst="rect">
            <a:avLst/>
          </a:prstGeom>
          <a:noFill/>
          <a:ln/>
        </p:spPr>
        <p:txBody>
          <a:bodyPr wrap="square" rtlCol="0" anchor="ctr"/>
          <a:lstStyle/>
          <a:p>
            <a:pPr indent="0" marL="0">
              <a:buNone/>
            </a:pPr>
            <a:r>
              <a:rPr lang="en-US" sz="850" b="1" dirty="0">
                <a:solidFill>
                  <a:srgbClr val="09090F"/>
                </a:solidFill>
                <a:latin typeface="Calibri" pitchFamily="34" charset="0"/>
                <a:ea typeface="Calibri" pitchFamily="34" charset="-122"/>
                <a:cs typeface="Calibri" pitchFamily="34" charset="-120"/>
              </a:rPr>
              <a:t>VERDICT: OTSG recommended for LPG fuel + food processing + compact footprint. Fire-tube remains valid if spare parts availability is the priority constraint.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LPG FUEL — SPECIFIC ENGINEERING CONSIDERATIONS</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LPG changes the economics and the engineering requirements significantly</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2834640" cy="45720"/>
          </a:xfrm>
          <a:prstGeom prst="rect">
            <a:avLst/>
          </a:prstGeom>
          <a:solidFill>
            <a:srgbClr val="C0622B"/>
          </a:solidFill>
          <a:ln/>
        </p:spPr>
      </p:sp>
      <p:sp>
        <p:nvSpPr>
          <p:cNvPr id="90" name="Text 88"/>
          <p:cNvSpPr/>
          <p:nvPr/>
        </p:nvSpPr>
        <p:spPr>
          <a:xfrm>
            <a:off x="384048" y="1024128"/>
            <a:ext cx="2651760" cy="365760"/>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  Higher Calorific Value = Higher Flame Temperature</a:t>
            </a:r>
            <a:endParaRPr lang="en-US" sz="1050" dirty="0"/>
          </a:p>
        </p:txBody>
      </p:sp>
      <p:sp>
        <p:nvSpPr>
          <p:cNvPr id="91" name="Shape 89"/>
          <p:cNvSpPr/>
          <p:nvPr/>
        </p:nvSpPr>
        <p:spPr>
          <a:xfrm rot="2700000">
            <a:off x="10973" y="1426464"/>
            <a:ext cx="77724" cy="77724"/>
          </a:xfrm>
          <a:prstGeom prst="rect">
            <a:avLst/>
          </a:prstGeom>
          <a:solidFill>
            <a:srgbClr val="C0622B">
              <a:alpha val="18000"/>
            </a:srgbClr>
          </a:solidFill>
          <a:ln w="12700">
            <a:solidFill>
              <a:srgbClr val="C0622B"/>
            </a:solidFill>
            <a:prstDash val="solid"/>
          </a:ln>
        </p:spPr>
      </p:sp>
      <p:sp>
        <p:nvSpPr>
          <p:cNvPr id="92" name="Shape 90"/>
          <p:cNvSpPr/>
          <p:nvPr/>
        </p:nvSpPr>
        <p:spPr>
          <a:xfrm rot="2700000">
            <a:off x="128016" y="1426464"/>
            <a:ext cx="77724" cy="77724"/>
          </a:xfrm>
          <a:prstGeom prst="rect">
            <a:avLst/>
          </a:prstGeom>
          <a:solidFill>
            <a:srgbClr val="C0622B">
              <a:alpha val="18000"/>
            </a:srgbClr>
          </a:solidFill>
          <a:ln w="12700">
            <a:solidFill>
              <a:srgbClr val="C0622B"/>
            </a:solidFill>
            <a:prstDash val="solid"/>
          </a:ln>
        </p:spPr>
      </p:sp>
      <p:sp>
        <p:nvSpPr>
          <p:cNvPr id="93" name="Shape 91"/>
          <p:cNvSpPr/>
          <p:nvPr/>
        </p:nvSpPr>
        <p:spPr>
          <a:xfrm rot="2700000">
            <a:off x="245059" y="1426464"/>
            <a:ext cx="77724" cy="77724"/>
          </a:xfrm>
          <a:prstGeom prst="rect">
            <a:avLst/>
          </a:prstGeom>
          <a:solidFill>
            <a:srgbClr val="C0622B">
              <a:alpha val="18000"/>
            </a:srgbClr>
          </a:solidFill>
          <a:ln w="12700">
            <a:solidFill>
              <a:srgbClr val="C0622B"/>
            </a:solidFill>
            <a:prstDash val="solid"/>
          </a:ln>
        </p:spPr>
      </p:sp>
      <p:sp>
        <p:nvSpPr>
          <p:cNvPr id="94" name="Shape 92"/>
          <p:cNvSpPr/>
          <p:nvPr/>
        </p:nvSpPr>
        <p:spPr>
          <a:xfrm rot="2700000">
            <a:off x="362102" y="1426464"/>
            <a:ext cx="77724" cy="77724"/>
          </a:xfrm>
          <a:prstGeom prst="rect">
            <a:avLst/>
          </a:prstGeom>
          <a:solidFill>
            <a:srgbClr val="C0622B">
              <a:alpha val="18000"/>
            </a:srgbClr>
          </a:solidFill>
          <a:ln w="12700">
            <a:solidFill>
              <a:srgbClr val="C0622B"/>
            </a:solidFill>
            <a:prstDash val="solid"/>
          </a:ln>
        </p:spPr>
      </p:sp>
      <p:sp>
        <p:nvSpPr>
          <p:cNvPr id="95" name="Shape 93"/>
          <p:cNvSpPr/>
          <p:nvPr/>
        </p:nvSpPr>
        <p:spPr>
          <a:xfrm rot="2700000">
            <a:off x="479146" y="1426464"/>
            <a:ext cx="77724" cy="77724"/>
          </a:xfrm>
          <a:prstGeom prst="rect">
            <a:avLst/>
          </a:prstGeom>
          <a:solidFill>
            <a:srgbClr val="C0622B">
              <a:alpha val="18000"/>
            </a:srgbClr>
          </a:solidFill>
          <a:ln w="12700">
            <a:solidFill>
              <a:srgbClr val="C0622B"/>
            </a:solidFill>
            <a:prstDash val="solid"/>
          </a:ln>
        </p:spPr>
      </p:sp>
      <p:sp>
        <p:nvSpPr>
          <p:cNvPr id="96" name="Shape 94"/>
          <p:cNvSpPr/>
          <p:nvPr/>
        </p:nvSpPr>
        <p:spPr>
          <a:xfrm rot="2700000">
            <a:off x="596189" y="1426464"/>
            <a:ext cx="77724" cy="77724"/>
          </a:xfrm>
          <a:prstGeom prst="rect">
            <a:avLst/>
          </a:prstGeom>
          <a:solidFill>
            <a:srgbClr val="C0622B">
              <a:alpha val="18000"/>
            </a:srgbClr>
          </a:solidFill>
          <a:ln w="12700">
            <a:solidFill>
              <a:srgbClr val="C0622B"/>
            </a:solidFill>
            <a:prstDash val="solid"/>
          </a:ln>
        </p:spPr>
      </p:sp>
      <p:sp>
        <p:nvSpPr>
          <p:cNvPr id="97" name="Shape 95"/>
          <p:cNvSpPr/>
          <p:nvPr/>
        </p:nvSpPr>
        <p:spPr>
          <a:xfrm rot="2700000">
            <a:off x="713232" y="1426464"/>
            <a:ext cx="77724" cy="77724"/>
          </a:xfrm>
          <a:prstGeom prst="rect">
            <a:avLst/>
          </a:prstGeom>
          <a:solidFill>
            <a:srgbClr val="C0622B">
              <a:alpha val="18000"/>
            </a:srgbClr>
          </a:solidFill>
          <a:ln w="12700">
            <a:solidFill>
              <a:srgbClr val="C0622B"/>
            </a:solidFill>
            <a:prstDash val="solid"/>
          </a:ln>
        </p:spPr>
      </p:sp>
      <p:sp>
        <p:nvSpPr>
          <p:cNvPr id="98" name="Shape 96"/>
          <p:cNvSpPr/>
          <p:nvPr/>
        </p:nvSpPr>
        <p:spPr>
          <a:xfrm rot="2700000">
            <a:off x="830275" y="1426464"/>
            <a:ext cx="77724" cy="77724"/>
          </a:xfrm>
          <a:prstGeom prst="rect">
            <a:avLst/>
          </a:prstGeom>
          <a:solidFill>
            <a:srgbClr val="C0622B">
              <a:alpha val="18000"/>
            </a:srgbClr>
          </a:solidFill>
          <a:ln w="12700">
            <a:solidFill>
              <a:srgbClr val="C0622B"/>
            </a:solidFill>
            <a:prstDash val="solid"/>
          </a:ln>
        </p:spPr>
      </p:sp>
      <p:sp>
        <p:nvSpPr>
          <p:cNvPr id="99" name="Shape 97"/>
          <p:cNvSpPr/>
          <p:nvPr/>
        </p:nvSpPr>
        <p:spPr>
          <a:xfrm rot="2700000">
            <a:off x="947318" y="1426464"/>
            <a:ext cx="77724" cy="77724"/>
          </a:xfrm>
          <a:prstGeom prst="rect">
            <a:avLst/>
          </a:prstGeom>
          <a:solidFill>
            <a:srgbClr val="C0622B">
              <a:alpha val="18000"/>
            </a:srgbClr>
          </a:solidFill>
          <a:ln w="12700">
            <a:solidFill>
              <a:srgbClr val="C0622B"/>
            </a:solidFill>
            <a:prstDash val="solid"/>
          </a:ln>
        </p:spPr>
      </p:sp>
      <p:sp>
        <p:nvSpPr>
          <p:cNvPr id="100" name="Shape 98"/>
          <p:cNvSpPr/>
          <p:nvPr/>
        </p:nvSpPr>
        <p:spPr>
          <a:xfrm rot="2700000">
            <a:off x="1064362" y="1426464"/>
            <a:ext cx="77724" cy="77724"/>
          </a:xfrm>
          <a:prstGeom prst="rect">
            <a:avLst/>
          </a:prstGeom>
          <a:solidFill>
            <a:srgbClr val="C0622B">
              <a:alpha val="18000"/>
            </a:srgbClr>
          </a:solidFill>
          <a:ln w="12700">
            <a:solidFill>
              <a:srgbClr val="C0622B"/>
            </a:solidFill>
            <a:prstDash val="solid"/>
          </a:ln>
        </p:spPr>
      </p:sp>
      <p:sp>
        <p:nvSpPr>
          <p:cNvPr id="101" name="Shape 99"/>
          <p:cNvSpPr/>
          <p:nvPr/>
        </p:nvSpPr>
        <p:spPr>
          <a:xfrm rot="2700000">
            <a:off x="1181405" y="1426464"/>
            <a:ext cx="77724" cy="77724"/>
          </a:xfrm>
          <a:prstGeom prst="rect">
            <a:avLst/>
          </a:prstGeom>
          <a:solidFill>
            <a:srgbClr val="C0622B">
              <a:alpha val="18000"/>
            </a:srgbClr>
          </a:solidFill>
          <a:ln w="12700">
            <a:solidFill>
              <a:srgbClr val="C0622B"/>
            </a:solidFill>
            <a:prstDash val="solid"/>
          </a:ln>
        </p:spPr>
      </p:sp>
      <p:sp>
        <p:nvSpPr>
          <p:cNvPr id="102" name="Shape 100"/>
          <p:cNvSpPr/>
          <p:nvPr/>
        </p:nvSpPr>
        <p:spPr>
          <a:xfrm rot="2700000">
            <a:off x="1298448" y="1426464"/>
            <a:ext cx="77724" cy="77724"/>
          </a:xfrm>
          <a:prstGeom prst="rect">
            <a:avLst/>
          </a:prstGeom>
          <a:solidFill>
            <a:srgbClr val="C0622B">
              <a:alpha val="18000"/>
            </a:srgbClr>
          </a:solidFill>
          <a:ln w="12700">
            <a:solidFill>
              <a:srgbClr val="C0622B"/>
            </a:solidFill>
            <a:prstDash val="solid"/>
          </a:ln>
        </p:spPr>
      </p:sp>
      <p:sp>
        <p:nvSpPr>
          <p:cNvPr id="103" name="Shape 101"/>
          <p:cNvSpPr/>
          <p:nvPr/>
        </p:nvSpPr>
        <p:spPr>
          <a:xfrm rot="2700000">
            <a:off x="1415491" y="1426464"/>
            <a:ext cx="77724" cy="77724"/>
          </a:xfrm>
          <a:prstGeom prst="rect">
            <a:avLst/>
          </a:prstGeom>
          <a:solidFill>
            <a:srgbClr val="C0622B">
              <a:alpha val="18000"/>
            </a:srgbClr>
          </a:solidFill>
          <a:ln w="12700">
            <a:solidFill>
              <a:srgbClr val="C0622B"/>
            </a:solidFill>
            <a:prstDash val="solid"/>
          </a:ln>
        </p:spPr>
      </p:sp>
      <p:sp>
        <p:nvSpPr>
          <p:cNvPr id="104" name="Shape 102"/>
          <p:cNvSpPr/>
          <p:nvPr/>
        </p:nvSpPr>
        <p:spPr>
          <a:xfrm rot="2700000">
            <a:off x="1532534" y="1426464"/>
            <a:ext cx="77724" cy="77724"/>
          </a:xfrm>
          <a:prstGeom prst="rect">
            <a:avLst/>
          </a:prstGeom>
          <a:solidFill>
            <a:srgbClr val="C0622B">
              <a:alpha val="18000"/>
            </a:srgbClr>
          </a:solidFill>
          <a:ln w="12700">
            <a:solidFill>
              <a:srgbClr val="C0622B"/>
            </a:solidFill>
            <a:prstDash val="solid"/>
          </a:ln>
        </p:spPr>
      </p:sp>
      <p:sp>
        <p:nvSpPr>
          <p:cNvPr id="105" name="Shape 103"/>
          <p:cNvSpPr/>
          <p:nvPr/>
        </p:nvSpPr>
        <p:spPr>
          <a:xfrm rot="2700000">
            <a:off x="1649578" y="1426464"/>
            <a:ext cx="77724" cy="77724"/>
          </a:xfrm>
          <a:prstGeom prst="rect">
            <a:avLst/>
          </a:prstGeom>
          <a:solidFill>
            <a:srgbClr val="C0622B">
              <a:alpha val="18000"/>
            </a:srgbClr>
          </a:solidFill>
          <a:ln w="12700">
            <a:solidFill>
              <a:srgbClr val="C0622B"/>
            </a:solidFill>
            <a:prstDash val="solid"/>
          </a:ln>
        </p:spPr>
      </p:sp>
      <p:sp>
        <p:nvSpPr>
          <p:cNvPr id="106" name="Shape 104"/>
          <p:cNvSpPr/>
          <p:nvPr/>
        </p:nvSpPr>
        <p:spPr>
          <a:xfrm rot="2700000">
            <a:off x="1766621" y="1426464"/>
            <a:ext cx="77724" cy="77724"/>
          </a:xfrm>
          <a:prstGeom prst="rect">
            <a:avLst/>
          </a:prstGeom>
          <a:solidFill>
            <a:srgbClr val="C0622B">
              <a:alpha val="18000"/>
            </a:srgbClr>
          </a:solidFill>
          <a:ln w="12700">
            <a:solidFill>
              <a:srgbClr val="C0622B"/>
            </a:solidFill>
            <a:prstDash val="solid"/>
          </a:ln>
        </p:spPr>
      </p:sp>
      <p:sp>
        <p:nvSpPr>
          <p:cNvPr id="107" name="Shape 105"/>
          <p:cNvSpPr/>
          <p:nvPr/>
        </p:nvSpPr>
        <p:spPr>
          <a:xfrm rot="2700000">
            <a:off x="1883664" y="1426464"/>
            <a:ext cx="77724" cy="77724"/>
          </a:xfrm>
          <a:prstGeom prst="rect">
            <a:avLst/>
          </a:prstGeom>
          <a:solidFill>
            <a:srgbClr val="C0622B">
              <a:alpha val="18000"/>
            </a:srgbClr>
          </a:solidFill>
          <a:ln w="12700">
            <a:solidFill>
              <a:srgbClr val="C0622B"/>
            </a:solidFill>
            <a:prstDash val="solid"/>
          </a:ln>
        </p:spPr>
      </p:sp>
      <p:sp>
        <p:nvSpPr>
          <p:cNvPr id="108" name="Shape 106"/>
          <p:cNvSpPr/>
          <p:nvPr/>
        </p:nvSpPr>
        <p:spPr>
          <a:xfrm rot="2700000">
            <a:off x="2000707" y="1426464"/>
            <a:ext cx="77724" cy="77724"/>
          </a:xfrm>
          <a:prstGeom prst="rect">
            <a:avLst/>
          </a:prstGeom>
          <a:solidFill>
            <a:srgbClr val="C0622B">
              <a:alpha val="18000"/>
            </a:srgbClr>
          </a:solidFill>
          <a:ln w="12700">
            <a:solidFill>
              <a:srgbClr val="C0622B"/>
            </a:solidFill>
            <a:prstDash val="solid"/>
          </a:ln>
        </p:spPr>
      </p:sp>
      <p:sp>
        <p:nvSpPr>
          <p:cNvPr id="109" name="Shape 107"/>
          <p:cNvSpPr/>
          <p:nvPr/>
        </p:nvSpPr>
        <p:spPr>
          <a:xfrm rot="2700000">
            <a:off x="2117750" y="1426464"/>
            <a:ext cx="77724" cy="77724"/>
          </a:xfrm>
          <a:prstGeom prst="rect">
            <a:avLst/>
          </a:prstGeom>
          <a:solidFill>
            <a:srgbClr val="C0622B">
              <a:alpha val="18000"/>
            </a:srgbClr>
          </a:solidFill>
          <a:ln w="12700">
            <a:solidFill>
              <a:srgbClr val="C0622B"/>
            </a:solidFill>
            <a:prstDash val="solid"/>
          </a:ln>
        </p:spPr>
      </p:sp>
      <p:sp>
        <p:nvSpPr>
          <p:cNvPr id="110" name="Shape 108"/>
          <p:cNvSpPr/>
          <p:nvPr/>
        </p:nvSpPr>
        <p:spPr>
          <a:xfrm rot="2700000">
            <a:off x="2234794" y="1426464"/>
            <a:ext cx="77724" cy="77724"/>
          </a:xfrm>
          <a:prstGeom prst="rect">
            <a:avLst/>
          </a:prstGeom>
          <a:solidFill>
            <a:srgbClr val="C0622B">
              <a:alpha val="18000"/>
            </a:srgbClr>
          </a:solidFill>
          <a:ln w="12700">
            <a:solidFill>
              <a:srgbClr val="C0622B"/>
            </a:solidFill>
            <a:prstDash val="solid"/>
          </a:ln>
        </p:spPr>
      </p:sp>
      <p:sp>
        <p:nvSpPr>
          <p:cNvPr id="111" name="Shape 109"/>
          <p:cNvSpPr/>
          <p:nvPr/>
        </p:nvSpPr>
        <p:spPr>
          <a:xfrm rot="2700000">
            <a:off x="2351837" y="1426464"/>
            <a:ext cx="77724" cy="77724"/>
          </a:xfrm>
          <a:prstGeom prst="rect">
            <a:avLst/>
          </a:prstGeom>
          <a:solidFill>
            <a:srgbClr val="C0622B">
              <a:alpha val="18000"/>
            </a:srgbClr>
          </a:solidFill>
          <a:ln w="12700">
            <a:solidFill>
              <a:srgbClr val="C0622B"/>
            </a:solidFill>
            <a:prstDash val="solid"/>
          </a:ln>
        </p:spPr>
      </p:sp>
      <p:sp>
        <p:nvSpPr>
          <p:cNvPr id="112" name="Shape 110"/>
          <p:cNvSpPr/>
          <p:nvPr/>
        </p:nvSpPr>
        <p:spPr>
          <a:xfrm rot="2700000">
            <a:off x="2468880" y="1426464"/>
            <a:ext cx="77724" cy="77724"/>
          </a:xfrm>
          <a:prstGeom prst="rect">
            <a:avLst/>
          </a:prstGeom>
          <a:solidFill>
            <a:srgbClr val="C0622B">
              <a:alpha val="18000"/>
            </a:srgbClr>
          </a:solidFill>
          <a:ln w="12700">
            <a:solidFill>
              <a:srgbClr val="C0622B"/>
            </a:solidFill>
            <a:prstDash val="solid"/>
          </a:ln>
        </p:spPr>
      </p:sp>
      <p:sp>
        <p:nvSpPr>
          <p:cNvPr id="113" name="Shape 111"/>
          <p:cNvSpPr/>
          <p:nvPr/>
        </p:nvSpPr>
        <p:spPr>
          <a:xfrm rot="2700000">
            <a:off x="2585923" y="1426464"/>
            <a:ext cx="77724" cy="77724"/>
          </a:xfrm>
          <a:prstGeom prst="rect">
            <a:avLst/>
          </a:prstGeom>
          <a:solidFill>
            <a:srgbClr val="C0622B">
              <a:alpha val="18000"/>
            </a:srgbClr>
          </a:solidFill>
          <a:ln w="12700">
            <a:solidFill>
              <a:srgbClr val="C0622B"/>
            </a:solidFill>
            <a:prstDash val="solid"/>
          </a:ln>
        </p:spPr>
      </p:sp>
      <p:sp>
        <p:nvSpPr>
          <p:cNvPr id="114" name="Shape 112"/>
          <p:cNvSpPr/>
          <p:nvPr/>
        </p:nvSpPr>
        <p:spPr>
          <a:xfrm rot="2700000">
            <a:off x="2702966" y="1426464"/>
            <a:ext cx="77724" cy="77724"/>
          </a:xfrm>
          <a:prstGeom prst="rect">
            <a:avLst/>
          </a:prstGeom>
          <a:solidFill>
            <a:srgbClr val="C0622B">
              <a:alpha val="18000"/>
            </a:srgbClr>
          </a:solidFill>
          <a:ln w="12700">
            <a:solidFill>
              <a:srgbClr val="C0622B"/>
            </a:solidFill>
            <a:prstDash val="solid"/>
          </a:ln>
        </p:spPr>
      </p:sp>
      <p:sp>
        <p:nvSpPr>
          <p:cNvPr id="115" name="Text 113"/>
          <p:cNvSpPr/>
          <p:nvPr/>
        </p:nvSpPr>
        <p:spPr>
          <a:xfrm>
            <a:off x="384048"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LPG burns hotter than natural gas (approximately 93.2 MJ/m³ vs 38.5 MJ/m³). Every boiler and burner must be FACTORY-RATED for LPG. Never accept a field conversion from natural gas — combustion characteristics, excess air settings, and flame stability require OEM calibration.</a:t>
            </a:r>
            <a:endParaRPr lang="en-US" sz="880" dirty="0"/>
          </a:p>
        </p:txBody>
      </p:sp>
      <p:sp>
        <p:nvSpPr>
          <p:cNvPr id="116" name="Shape 114"/>
          <p:cNvSpPr/>
          <p:nvPr/>
        </p:nvSpPr>
        <p:spPr>
          <a:xfrm>
            <a:off x="3200400"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932688"/>
            <a:ext cx="2834640" cy="45720"/>
          </a:xfrm>
          <a:prstGeom prst="rect">
            <a:avLst/>
          </a:prstGeom>
          <a:solidFill>
            <a:srgbClr val="E8A020"/>
          </a:solidFill>
          <a:ln/>
        </p:spPr>
      </p:sp>
      <p:sp>
        <p:nvSpPr>
          <p:cNvPr id="118" name="Text 116"/>
          <p:cNvSpPr/>
          <p:nvPr/>
        </p:nvSpPr>
        <p:spPr>
          <a:xfrm>
            <a:off x="3328416" y="1024128"/>
            <a:ext cx="2651760" cy="365760"/>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  LPG Cost Makes Startup Efficiency Critical</a:t>
            </a:r>
            <a:endParaRPr lang="en-US" sz="1050" dirty="0"/>
          </a:p>
        </p:txBody>
      </p:sp>
      <p:sp>
        <p:nvSpPr>
          <p:cNvPr id="119" name="Shape 117"/>
          <p:cNvSpPr/>
          <p:nvPr/>
        </p:nvSpPr>
        <p:spPr>
          <a:xfrm rot="2700000">
            <a:off x="10973" y="1426464"/>
            <a:ext cx="77724" cy="77724"/>
          </a:xfrm>
          <a:prstGeom prst="rect">
            <a:avLst/>
          </a:prstGeom>
          <a:solidFill>
            <a:srgbClr val="E8A020">
              <a:alpha val="18000"/>
            </a:srgbClr>
          </a:solidFill>
          <a:ln w="12700">
            <a:solidFill>
              <a:srgbClr val="E8A020"/>
            </a:solidFill>
            <a:prstDash val="solid"/>
          </a:ln>
        </p:spPr>
      </p:sp>
      <p:sp>
        <p:nvSpPr>
          <p:cNvPr id="120" name="Shape 118"/>
          <p:cNvSpPr/>
          <p:nvPr/>
        </p:nvSpPr>
        <p:spPr>
          <a:xfrm rot="2700000">
            <a:off x="128016" y="1426464"/>
            <a:ext cx="77724" cy="77724"/>
          </a:xfrm>
          <a:prstGeom prst="rect">
            <a:avLst/>
          </a:prstGeom>
          <a:solidFill>
            <a:srgbClr val="E8A020">
              <a:alpha val="18000"/>
            </a:srgbClr>
          </a:solidFill>
          <a:ln w="12700">
            <a:solidFill>
              <a:srgbClr val="E8A020"/>
            </a:solidFill>
            <a:prstDash val="solid"/>
          </a:ln>
        </p:spPr>
      </p:sp>
      <p:sp>
        <p:nvSpPr>
          <p:cNvPr id="121" name="Shape 119"/>
          <p:cNvSpPr/>
          <p:nvPr/>
        </p:nvSpPr>
        <p:spPr>
          <a:xfrm rot="2700000">
            <a:off x="245059" y="1426464"/>
            <a:ext cx="77724" cy="77724"/>
          </a:xfrm>
          <a:prstGeom prst="rect">
            <a:avLst/>
          </a:prstGeom>
          <a:solidFill>
            <a:srgbClr val="E8A020">
              <a:alpha val="18000"/>
            </a:srgbClr>
          </a:solidFill>
          <a:ln w="12700">
            <a:solidFill>
              <a:srgbClr val="E8A020"/>
            </a:solidFill>
            <a:prstDash val="solid"/>
          </a:ln>
        </p:spPr>
      </p:sp>
      <p:sp>
        <p:nvSpPr>
          <p:cNvPr id="122" name="Shape 120"/>
          <p:cNvSpPr/>
          <p:nvPr/>
        </p:nvSpPr>
        <p:spPr>
          <a:xfrm rot="2700000">
            <a:off x="362102" y="1426464"/>
            <a:ext cx="77724" cy="77724"/>
          </a:xfrm>
          <a:prstGeom prst="rect">
            <a:avLst/>
          </a:prstGeom>
          <a:solidFill>
            <a:srgbClr val="E8A020">
              <a:alpha val="18000"/>
            </a:srgbClr>
          </a:solidFill>
          <a:ln w="12700">
            <a:solidFill>
              <a:srgbClr val="E8A020"/>
            </a:solidFill>
            <a:prstDash val="solid"/>
          </a:ln>
        </p:spPr>
      </p:sp>
      <p:sp>
        <p:nvSpPr>
          <p:cNvPr id="123" name="Shape 121"/>
          <p:cNvSpPr/>
          <p:nvPr/>
        </p:nvSpPr>
        <p:spPr>
          <a:xfrm rot="2700000">
            <a:off x="479146" y="1426464"/>
            <a:ext cx="77724" cy="77724"/>
          </a:xfrm>
          <a:prstGeom prst="rect">
            <a:avLst/>
          </a:prstGeom>
          <a:solidFill>
            <a:srgbClr val="E8A020">
              <a:alpha val="18000"/>
            </a:srgbClr>
          </a:solidFill>
          <a:ln w="12700">
            <a:solidFill>
              <a:srgbClr val="E8A020"/>
            </a:solidFill>
            <a:prstDash val="solid"/>
          </a:ln>
        </p:spPr>
      </p:sp>
      <p:sp>
        <p:nvSpPr>
          <p:cNvPr id="124" name="Shape 122"/>
          <p:cNvSpPr/>
          <p:nvPr/>
        </p:nvSpPr>
        <p:spPr>
          <a:xfrm rot="2700000">
            <a:off x="596189" y="1426464"/>
            <a:ext cx="77724" cy="77724"/>
          </a:xfrm>
          <a:prstGeom prst="rect">
            <a:avLst/>
          </a:prstGeom>
          <a:solidFill>
            <a:srgbClr val="E8A020">
              <a:alpha val="18000"/>
            </a:srgbClr>
          </a:solidFill>
          <a:ln w="12700">
            <a:solidFill>
              <a:srgbClr val="E8A020"/>
            </a:solidFill>
            <a:prstDash val="solid"/>
          </a:ln>
        </p:spPr>
      </p:sp>
      <p:sp>
        <p:nvSpPr>
          <p:cNvPr id="125" name="Shape 123"/>
          <p:cNvSpPr/>
          <p:nvPr/>
        </p:nvSpPr>
        <p:spPr>
          <a:xfrm rot="2700000">
            <a:off x="713232" y="1426464"/>
            <a:ext cx="77724" cy="77724"/>
          </a:xfrm>
          <a:prstGeom prst="rect">
            <a:avLst/>
          </a:prstGeom>
          <a:solidFill>
            <a:srgbClr val="E8A020">
              <a:alpha val="18000"/>
            </a:srgbClr>
          </a:solidFill>
          <a:ln w="12700">
            <a:solidFill>
              <a:srgbClr val="E8A020"/>
            </a:solidFill>
            <a:prstDash val="solid"/>
          </a:ln>
        </p:spPr>
      </p:sp>
      <p:sp>
        <p:nvSpPr>
          <p:cNvPr id="126" name="Shape 124"/>
          <p:cNvSpPr/>
          <p:nvPr/>
        </p:nvSpPr>
        <p:spPr>
          <a:xfrm rot="2700000">
            <a:off x="830275" y="1426464"/>
            <a:ext cx="77724" cy="77724"/>
          </a:xfrm>
          <a:prstGeom prst="rect">
            <a:avLst/>
          </a:prstGeom>
          <a:solidFill>
            <a:srgbClr val="E8A020">
              <a:alpha val="18000"/>
            </a:srgbClr>
          </a:solidFill>
          <a:ln w="12700">
            <a:solidFill>
              <a:srgbClr val="E8A020"/>
            </a:solidFill>
            <a:prstDash val="solid"/>
          </a:ln>
        </p:spPr>
      </p:sp>
      <p:sp>
        <p:nvSpPr>
          <p:cNvPr id="127" name="Shape 125"/>
          <p:cNvSpPr/>
          <p:nvPr/>
        </p:nvSpPr>
        <p:spPr>
          <a:xfrm rot="2700000">
            <a:off x="947318" y="1426464"/>
            <a:ext cx="77724" cy="77724"/>
          </a:xfrm>
          <a:prstGeom prst="rect">
            <a:avLst/>
          </a:prstGeom>
          <a:solidFill>
            <a:srgbClr val="E8A020">
              <a:alpha val="18000"/>
            </a:srgbClr>
          </a:solidFill>
          <a:ln w="12700">
            <a:solidFill>
              <a:srgbClr val="E8A020"/>
            </a:solidFill>
            <a:prstDash val="solid"/>
          </a:ln>
        </p:spPr>
      </p:sp>
      <p:sp>
        <p:nvSpPr>
          <p:cNvPr id="128" name="Shape 126"/>
          <p:cNvSpPr/>
          <p:nvPr/>
        </p:nvSpPr>
        <p:spPr>
          <a:xfrm rot="2700000">
            <a:off x="1064362" y="1426464"/>
            <a:ext cx="77724" cy="77724"/>
          </a:xfrm>
          <a:prstGeom prst="rect">
            <a:avLst/>
          </a:prstGeom>
          <a:solidFill>
            <a:srgbClr val="E8A020">
              <a:alpha val="18000"/>
            </a:srgbClr>
          </a:solidFill>
          <a:ln w="12700">
            <a:solidFill>
              <a:srgbClr val="E8A020"/>
            </a:solidFill>
            <a:prstDash val="solid"/>
          </a:ln>
        </p:spPr>
      </p:sp>
      <p:sp>
        <p:nvSpPr>
          <p:cNvPr id="129" name="Shape 127"/>
          <p:cNvSpPr/>
          <p:nvPr/>
        </p:nvSpPr>
        <p:spPr>
          <a:xfrm rot="2700000">
            <a:off x="1181405" y="1426464"/>
            <a:ext cx="77724" cy="77724"/>
          </a:xfrm>
          <a:prstGeom prst="rect">
            <a:avLst/>
          </a:prstGeom>
          <a:solidFill>
            <a:srgbClr val="E8A020">
              <a:alpha val="18000"/>
            </a:srgbClr>
          </a:solidFill>
          <a:ln w="12700">
            <a:solidFill>
              <a:srgbClr val="E8A020"/>
            </a:solidFill>
            <a:prstDash val="solid"/>
          </a:ln>
        </p:spPr>
      </p:sp>
      <p:sp>
        <p:nvSpPr>
          <p:cNvPr id="130" name="Shape 128"/>
          <p:cNvSpPr/>
          <p:nvPr/>
        </p:nvSpPr>
        <p:spPr>
          <a:xfrm rot="2700000">
            <a:off x="1298448" y="1426464"/>
            <a:ext cx="77724" cy="77724"/>
          </a:xfrm>
          <a:prstGeom prst="rect">
            <a:avLst/>
          </a:prstGeom>
          <a:solidFill>
            <a:srgbClr val="E8A020">
              <a:alpha val="18000"/>
            </a:srgbClr>
          </a:solidFill>
          <a:ln w="12700">
            <a:solidFill>
              <a:srgbClr val="E8A020"/>
            </a:solidFill>
            <a:prstDash val="solid"/>
          </a:ln>
        </p:spPr>
      </p:sp>
      <p:sp>
        <p:nvSpPr>
          <p:cNvPr id="131" name="Shape 129"/>
          <p:cNvSpPr/>
          <p:nvPr/>
        </p:nvSpPr>
        <p:spPr>
          <a:xfrm rot="2700000">
            <a:off x="1415491" y="1426464"/>
            <a:ext cx="77724" cy="77724"/>
          </a:xfrm>
          <a:prstGeom prst="rect">
            <a:avLst/>
          </a:prstGeom>
          <a:solidFill>
            <a:srgbClr val="E8A020">
              <a:alpha val="18000"/>
            </a:srgbClr>
          </a:solidFill>
          <a:ln w="12700">
            <a:solidFill>
              <a:srgbClr val="E8A020"/>
            </a:solidFill>
            <a:prstDash val="solid"/>
          </a:ln>
        </p:spPr>
      </p:sp>
      <p:sp>
        <p:nvSpPr>
          <p:cNvPr id="132" name="Shape 130"/>
          <p:cNvSpPr/>
          <p:nvPr/>
        </p:nvSpPr>
        <p:spPr>
          <a:xfrm rot="2700000">
            <a:off x="1532534" y="1426464"/>
            <a:ext cx="77724" cy="77724"/>
          </a:xfrm>
          <a:prstGeom prst="rect">
            <a:avLst/>
          </a:prstGeom>
          <a:solidFill>
            <a:srgbClr val="E8A020">
              <a:alpha val="18000"/>
            </a:srgbClr>
          </a:solidFill>
          <a:ln w="12700">
            <a:solidFill>
              <a:srgbClr val="E8A020"/>
            </a:solidFill>
            <a:prstDash val="solid"/>
          </a:ln>
        </p:spPr>
      </p:sp>
      <p:sp>
        <p:nvSpPr>
          <p:cNvPr id="133" name="Shape 131"/>
          <p:cNvSpPr/>
          <p:nvPr/>
        </p:nvSpPr>
        <p:spPr>
          <a:xfrm rot="2700000">
            <a:off x="1649578" y="1426464"/>
            <a:ext cx="77724" cy="77724"/>
          </a:xfrm>
          <a:prstGeom prst="rect">
            <a:avLst/>
          </a:prstGeom>
          <a:solidFill>
            <a:srgbClr val="E8A020">
              <a:alpha val="18000"/>
            </a:srgbClr>
          </a:solidFill>
          <a:ln w="12700">
            <a:solidFill>
              <a:srgbClr val="E8A020"/>
            </a:solidFill>
            <a:prstDash val="solid"/>
          </a:ln>
        </p:spPr>
      </p:sp>
      <p:sp>
        <p:nvSpPr>
          <p:cNvPr id="134" name="Shape 132"/>
          <p:cNvSpPr/>
          <p:nvPr/>
        </p:nvSpPr>
        <p:spPr>
          <a:xfrm rot="2700000">
            <a:off x="1766621" y="1426464"/>
            <a:ext cx="77724" cy="77724"/>
          </a:xfrm>
          <a:prstGeom prst="rect">
            <a:avLst/>
          </a:prstGeom>
          <a:solidFill>
            <a:srgbClr val="E8A020">
              <a:alpha val="18000"/>
            </a:srgbClr>
          </a:solidFill>
          <a:ln w="12700">
            <a:solidFill>
              <a:srgbClr val="E8A020"/>
            </a:solidFill>
            <a:prstDash val="solid"/>
          </a:ln>
        </p:spPr>
      </p:sp>
      <p:sp>
        <p:nvSpPr>
          <p:cNvPr id="135" name="Shape 133"/>
          <p:cNvSpPr/>
          <p:nvPr/>
        </p:nvSpPr>
        <p:spPr>
          <a:xfrm rot="2700000">
            <a:off x="1883664" y="1426464"/>
            <a:ext cx="77724" cy="77724"/>
          </a:xfrm>
          <a:prstGeom prst="rect">
            <a:avLst/>
          </a:prstGeom>
          <a:solidFill>
            <a:srgbClr val="E8A020">
              <a:alpha val="18000"/>
            </a:srgbClr>
          </a:solidFill>
          <a:ln w="12700">
            <a:solidFill>
              <a:srgbClr val="E8A020"/>
            </a:solidFill>
            <a:prstDash val="solid"/>
          </a:ln>
        </p:spPr>
      </p:sp>
      <p:sp>
        <p:nvSpPr>
          <p:cNvPr id="136" name="Shape 134"/>
          <p:cNvSpPr/>
          <p:nvPr/>
        </p:nvSpPr>
        <p:spPr>
          <a:xfrm rot="2700000">
            <a:off x="2000707" y="1426464"/>
            <a:ext cx="77724" cy="77724"/>
          </a:xfrm>
          <a:prstGeom prst="rect">
            <a:avLst/>
          </a:prstGeom>
          <a:solidFill>
            <a:srgbClr val="E8A020">
              <a:alpha val="18000"/>
            </a:srgbClr>
          </a:solidFill>
          <a:ln w="12700">
            <a:solidFill>
              <a:srgbClr val="E8A020"/>
            </a:solidFill>
            <a:prstDash val="solid"/>
          </a:ln>
        </p:spPr>
      </p:sp>
      <p:sp>
        <p:nvSpPr>
          <p:cNvPr id="137" name="Shape 135"/>
          <p:cNvSpPr/>
          <p:nvPr/>
        </p:nvSpPr>
        <p:spPr>
          <a:xfrm rot="2700000">
            <a:off x="2117750" y="1426464"/>
            <a:ext cx="77724" cy="77724"/>
          </a:xfrm>
          <a:prstGeom prst="rect">
            <a:avLst/>
          </a:prstGeom>
          <a:solidFill>
            <a:srgbClr val="E8A020">
              <a:alpha val="18000"/>
            </a:srgbClr>
          </a:solidFill>
          <a:ln w="12700">
            <a:solidFill>
              <a:srgbClr val="E8A020"/>
            </a:solidFill>
            <a:prstDash val="solid"/>
          </a:ln>
        </p:spPr>
      </p:sp>
      <p:sp>
        <p:nvSpPr>
          <p:cNvPr id="138" name="Shape 136"/>
          <p:cNvSpPr/>
          <p:nvPr/>
        </p:nvSpPr>
        <p:spPr>
          <a:xfrm rot="2700000">
            <a:off x="2234794" y="1426464"/>
            <a:ext cx="77724" cy="77724"/>
          </a:xfrm>
          <a:prstGeom prst="rect">
            <a:avLst/>
          </a:prstGeom>
          <a:solidFill>
            <a:srgbClr val="E8A020">
              <a:alpha val="18000"/>
            </a:srgbClr>
          </a:solidFill>
          <a:ln w="12700">
            <a:solidFill>
              <a:srgbClr val="E8A020"/>
            </a:solidFill>
            <a:prstDash val="solid"/>
          </a:ln>
        </p:spPr>
      </p:sp>
      <p:sp>
        <p:nvSpPr>
          <p:cNvPr id="139" name="Shape 137"/>
          <p:cNvSpPr/>
          <p:nvPr/>
        </p:nvSpPr>
        <p:spPr>
          <a:xfrm rot="2700000">
            <a:off x="2351837" y="1426464"/>
            <a:ext cx="77724" cy="77724"/>
          </a:xfrm>
          <a:prstGeom prst="rect">
            <a:avLst/>
          </a:prstGeom>
          <a:solidFill>
            <a:srgbClr val="E8A020">
              <a:alpha val="18000"/>
            </a:srgbClr>
          </a:solidFill>
          <a:ln w="12700">
            <a:solidFill>
              <a:srgbClr val="E8A020"/>
            </a:solidFill>
            <a:prstDash val="solid"/>
          </a:ln>
        </p:spPr>
      </p:sp>
      <p:sp>
        <p:nvSpPr>
          <p:cNvPr id="140" name="Shape 138"/>
          <p:cNvSpPr/>
          <p:nvPr/>
        </p:nvSpPr>
        <p:spPr>
          <a:xfrm rot="2700000">
            <a:off x="2468880" y="1426464"/>
            <a:ext cx="77724" cy="77724"/>
          </a:xfrm>
          <a:prstGeom prst="rect">
            <a:avLst/>
          </a:prstGeom>
          <a:solidFill>
            <a:srgbClr val="E8A020">
              <a:alpha val="18000"/>
            </a:srgbClr>
          </a:solidFill>
          <a:ln w="12700">
            <a:solidFill>
              <a:srgbClr val="E8A020"/>
            </a:solidFill>
            <a:prstDash val="solid"/>
          </a:ln>
        </p:spPr>
      </p:sp>
      <p:sp>
        <p:nvSpPr>
          <p:cNvPr id="141" name="Shape 139"/>
          <p:cNvSpPr/>
          <p:nvPr/>
        </p:nvSpPr>
        <p:spPr>
          <a:xfrm rot="2700000">
            <a:off x="2585923" y="1426464"/>
            <a:ext cx="77724" cy="77724"/>
          </a:xfrm>
          <a:prstGeom prst="rect">
            <a:avLst/>
          </a:prstGeom>
          <a:solidFill>
            <a:srgbClr val="E8A020">
              <a:alpha val="18000"/>
            </a:srgbClr>
          </a:solidFill>
          <a:ln w="12700">
            <a:solidFill>
              <a:srgbClr val="E8A020"/>
            </a:solidFill>
            <a:prstDash val="solid"/>
          </a:ln>
        </p:spPr>
      </p:sp>
      <p:sp>
        <p:nvSpPr>
          <p:cNvPr id="142" name="Shape 140"/>
          <p:cNvSpPr/>
          <p:nvPr/>
        </p:nvSpPr>
        <p:spPr>
          <a:xfrm rot="2700000">
            <a:off x="2702966" y="1426464"/>
            <a:ext cx="77724" cy="77724"/>
          </a:xfrm>
          <a:prstGeom prst="rect">
            <a:avLst/>
          </a:prstGeom>
          <a:solidFill>
            <a:srgbClr val="E8A020">
              <a:alpha val="18000"/>
            </a:srgbClr>
          </a:solidFill>
          <a:ln w="12700">
            <a:solidFill>
              <a:srgbClr val="E8A020"/>
            </a:solidFill>
            <a:prstDash val="solid"/>
          </a:ln>
        </p:spPr>
      </p:sp>
      <p:sp>
        <p:nvSpPr>
          <p:cNvPr id="143" name="Text 141"/>
          <p:cNvSpPr/>
          <p:nvPr/>
        </p:nvSpPr>
        <p:spPr>
          <a:xfrm>
            <a:off x="3328416"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LPG in Morocco costs approximately 40–60% more per energy unit than piped natural gas. Every cold startup of a conventional fire-tube boiler burns 60–90 minutes of LPG heating water that is not producing usable steam. On a 5-day/week line with one shutdown per weekend, this is a measurable annual cost difference vs an OTSG.</a:t>
            </a:r>
            <a:endParaRPr lang="en-US" sz="880" dirty="0"/>
          </a:p>
        </p:txBody>
      </p:sp>
      <p:sp>
        <p:nvSpPr>
          <p:cNvPr id="144" name="Shape 142"/>
          <p:cNvSpPr/>
          <p:nvPr/>
        </p:nvSpPr>
        <p:spPr>
          <a:xfrm>
            <a:off x="6144768" y="93268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45" name="Shape 143"/>
          <p:cNvSpPr/>
          <p:nvPr/>
        </p:nvSpPr>
        <p:spPr>
          <a:xfrm>
            <a:off x="6144768" y="932688"/>
            <a:ext cx="2834640" cy="45720"/>
          </a:xfrm>
          <a:prstGeom prst="rect">
            <a:avLst/>
          </a:prstGeom>
          <a:solidFill>
            <a:srgbClr val="D4951A"/>
          </a:solidFill>
          <a:ln/>
        </p:spPr>
      </p:sp>
      <p:sp>
        <p:nvSpPr>
          <p:cNvPr id="146" name="Text 144"/>
          <p:cNvSpPr/>
          <p:nvPr/>
        </p:nvSpPr>
        <p:spPr>
          <a:xfrm>
            <a:off x="6272784" y="1024128"/>
            <a:ext cx="2651760" cy="365760"/>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  Bulk LPG Tank — Separate Civil Scope</a:t>
            </a:r>
            <a:endParaRPr lang="en-US" sz="1050" dirty="0"/>
          </a:p>
        </p:txBody>
      </p:sp>
      <p:sp>
        <p:nvSpPr>
          <p:cNvPr id="147" name="Shape 145"/>
          <p:cNvSpPr/>
          <p:nvPr/>
        </p:nvSpPr>
        <p:spPr>
          <a:xfrm rot="2700000">
            <a:off x="10973" y="1426464"/>
            <a:ext cx="77724" cy="77724"/>
          </a:xfrm>
          <a:prstGeom prst="rect">
            <a:avLst/>
          </a:prstGeom>
          <a:solidFill>
            <a:srgbClr val="D4951A">
              <a:alpha val="18000"/>
            </a:srgbClr>
          </a:solidFill>
          <a:ln w="12700">
            <a:solidFill>
              <a:srgbClr val="D4951A"/>
            </a:solidFill>
            <a:prstDash val="solid"/>
          </a:ln>
        </p:spPr>
      </p:sp>
      <p:sp>
        <p:nvSpPr>
          <p:cNvPr id="148" name="Shape 146"/>
          <p:cNvSpPr/>
          <p:nvPr/>
        </p:nvSpPr>
        <p:spPr>
          <a:xfrm rot="2700000">
            <a:off x="128016" y="1426464"/>
            <a:ext cx="77724" cy="77724"/>
          </a:xfrm>
          <a:prstGeom prst="rect">
            <a:avLst/>
          </a:prstGeom>
          <a:solidFill>
            <a:srgbClr val="D4951A">
              <a:alpha val="18000"/>
            </a:srgbClr>
          </a:solidFill>
          <a:ln w="12700">
            <a:solidFill>
              <a:srgbClr val="D4951A"/>
            </a:solidFill>
            <a:prstDash val="solid"/>
          </a:ln>
        </p:spPr>
      </p:sp>
      <p:sp>
        <p:nvSpPr>
          <p:cNvPr id="149" name="Shape 147"/>
          <p:cNvSpPr/>
          <p:nvPr/>
        </p:nvSpPr>
        <p:spPr>
          <a:xfrm rot="2700000">
            <a:off x="245059" y="1426464"/>
            <a:ext cx="77724" cy="77724"/>
          </a:xfrm>
          <a:prstGeom prst="rect">
            <a:avLst/>
          </a:prstGeom>
          <a:solidFill>
            <a:srgbClr val="D4951A">
              <a:alpha val="18000"/>
            </a:srgbClr>
          </a:solidFill>
          <a:ln w="12700">
            <a:solidFill>
              <a:srgbClr val="D4951A"/>
            </a:solidFill>
            <a:prstDash val="solid"/>
          </a:ln>
        </p:spPr>
      </p:sp>
      <p:sp>
        <p:nvSpPr>
          <p:cNvPr id="150" name="Shape 148"/>
          <p:cNvSpPr/>
          <p:nvPr/>
        </p:nvSpPr>
        <p:spPr>
          <a:xfrm rot="2700000">
            <a:off x="362102" y="1426464"/>
            <a:ext cx="77724" cy="77724"/>
          </a:xfrm>
          <a:prstGeom prst="rect">
            <a:avLst/>
          </a:prstGeom>
          <a:solidFill>
            <a:srgbClr val="D4951A">
              <a:alpha val="18000"/>
            </a:srgbClr>
          </a:solidFill>
          <a:ln w="12700">
            <a:solidFill>
              <a:srgbClr val="D4951A"/>
            </a:solidFill>
            <a:prstDash val="solid"/>
          </a:ln>
        </p:spPr>
      </p:sp>
      <p:sp>
        <p:nvSpPr>
          <p:cNvPr id="151" name="Shape 149"/>
          <p:cNvSpPr/>
          <p:nvPr/>
        </p:nvSpPr>
        <p:spPr>
          <a:xfrm rot="2700000">
            <a:off x="479146" y="1426464"/>
            <a:ext cx="77724" cy="77724"/>
          </a:xfrm>
          <a:prstGeom prst="rect">
            <a:avLst/>
          </a:prstGeom>
          <a:solidFill>
            <a:srgbClr val="D4951A">
              <a:alpha val="18000"/>
            </a:srgbClr>
          </a:solidFill>
          <a:ln w="12700">
            <a:solidFill>
              <a:srgbClr val="D4951A"/>
            </a:solidFill>
            <a:prstDash val="solid"/>
          </a:ln>
        </p:spPr>
      </p:sp>
      <p:sp>
        <p:nvSpPr>
          <p:cNvPr id="152" name="Shape 150"/>
          <p:cNvSpPr/>
          <p:nvPr/>
        </p:nvSpPr>
        <p:spPr>
          <a:xfrm rot="2700000">
            <a:off x="596189" y="1426464"/>
            <a:ext cx="77724" cy="77724"/>
          </a:xfrm>
          <a:prstGeom prst="rect">
            <a:avLst/>
          </a:prstGeom>
          <a:solidFill>
            <a:srgbClr val="D4951A">
              <a:alpha val="18000"/>
            </a:srgbClr>
          </a:solidFill>
          <a:ln w="12700">
            <a:solidFill>
              <a:srgbClr val="D4951A"/>
            </a:solidFill>
            <a:prstDash val="solid"/>
          </a:ln>
        </p:spPr>
      </p:sp>
      <p:sp>
        <p:nvSpPr>
          <p:cNvPr id="153" name="Shape 151"/>
          <p:cNvSpPr/>
          <p:nvPr/>
        </p:nvSpPr>
        <p:spPr>
          <a:xfrm rot="2700000">
            <a:off x="713232" y="1426464"/>
            <a:ext cx="77724" cy="77724"/>
          </a:xfrm>
          <a:prstGeom prst="rect">
            <a:avLst/>
          </a:prstGeom>
          <a:solidFill>
            <a:srgbClr val="D4951A">
              <a:alpha val="18000"/>
            </a:srgbClr>
          </a:solidFill>
          <a:ln w="12700">
            <a:solidFill>
              <a:srgbClr val="D4951A"/>
            </a:solidFill>
            <a:prstDash val="solid"/>
          </a:ln>
        </p:spPr>
      </p:sp>
      <p:sp>
        <p:nvSpPr>
          <p:cNvPr id="154" name="Shape 152"/>
          <p:cNvSpPr/>
          <p:nvPr/>
        </p:nvSpPr>
        <p:spPr>
          <a:xfrm rot="2700000">
            <a:off x="830275" y="1426464"/>
            <a:ext cx="77724" cy="77724"/>
          </a:xfrm>
          <a:prstGeom prst="rect">
            <a:avLst/>
          </a:prstGeom>
          <a:solidFill>
            <a:srgbClr val="D4951A">
              <a:alpha val="18000"/>
            </a:srgbClr>
          </a:solidFill>
          <a:ln w="12700">
            <a:solidFill>
              <a:srgbClr val="D4951A"/>
            </a:solidFill>
            <a:prstDash val="solid"/>
          </a:ln>
        </p:spPr>
      </p:sp>
      <p:sp>
        <p:nvSpPr>
          <p:cNvPr id="155" name="Shape 153"/>
          <p:cNvSpPr/>
          <p:nvPr/>
        </p:nvSpPr>
        <p:spPr>
          <a:xfrm rot="2700000">
            <a:off x="947318" y="1426464"/>
            <a:ext cx="77724" cy="77724"/>
          </a:xfrm>
          <a:prstGeom prst="rect">
            <a:avLst/>
          </a:prstGeom>
          <a:solidFill>
            <a:srgbClr val="D4951A">
              <a:alpha val="18000"/>
            </a:srgbClr>
          </a:solidFill>
          <a:ln w="12700">
            <a:solidFill>
              <a:srgbClr val="D4951A"/>
            </a:solidFill>
            <a:prstDash val="solid"/>
          </a:ln>
        </p:spPr>
      </p:sp>
      <p:sp>
        <p:nvSpPr>
          <p:cNvPr id="156" name="Shape 154"/>
          <p:cNvSpPr/>
          <p:nvPr/>
        </p:nvSpPr>
        <p:spPr>
          <a:xfrm rot="2700000">
            <a:off x="1064362" y="1426464"/>
            <a:ext cx="77724" cy="77724"/>
          </a:xfrm>
          <a:prstGeom prst="rect">
            <a:avLst/>
          </a:prstGeom>
          <a:solidFill>
            <a:srgbClr val="D4951A">
              <a:alpha val="18000"/>
            </a:srgbClr>
          </a:solidFill>
          <a:ln w="12700">
            <a:solidFill>
              <a:srgbClr val="D4951A"/>
            </a:solidFill>
            <a:prstDash val="solid"/>
          </a:ln>
        </p:spPr>
      </p:sp>
      <p:sp>
        <p:nvSpPr>
          <p:cNvPr id="157" name="Shape 155"/>
          <p:cNvSpPr/>
          <p:nvPr/>
        </p:nvSpPr>
        <p:spPr>
          <a:xfrm rot="2700000">
            <a:off x="1181405" y="1426464"/>
            <a:ext cx="77724" cy="77724"/>
          </a:xfrm>
          <a:prstGeom prst="rect">
            <a:avLst/>
          </a:prstGeom>
          <a:solidFill>
            <a:srgbClr val="D4951A">
              <a:alpha val="18000"/>
            </a:srgbClr>
          </a:solidFill>
          <a:ln w="12700">
            <a:solidFill>
              <a:srgbClr val="D4951A"/>
            </a:solidFill>
            <a:prstDash val="solid"/>
          </a:ln>
        </p:spPr>
      </p:sp>
      <p:sp>
        <p:nvSpPr>
          <p:cNvPr id="158" name="Shape 156"/>
          <p:cNvSpPr/>
          <p:nvPr/>
        </p:nvSpPr>
        <p:spPr>
          <a:xfrm rot="2700000">
            <a:off x="1298448" y="1426464"/>
            <a:ext cx="77724" cy="77724"/>
          </a:xfrm>
          <a:prstGeom prst="rect">
            <a:avLst/>
          </a:prstGeom>
          <a:solidFill>
            <a:srgbClr val="D4951A">
              <a:alpha val="18000"/>
            </a:srgbClr>
          </a:solidFill>
          <a:ln w="12700">
            <a:solidFill>
              <a:srgbClr val="D4951A"/>
            </a:solidFill>
            <a:prstDash val="solid"/>
          </a:ln>
        </p:spPr>
      </p:sp>
      <p:sp>
        <p:nvSpPr>
          <p:cNvPr id="159" name="Shape 157"/>
          <p:cNvSpPr/>
          <p:nvPr/>
        </p:nvSpPr>
        <p:spPr>
          <a:xfrm rot="2700000">
            <a:off x="1415491" y="1426464"/>
            <a:ext cx="77724" cy="77724"/>
          </a:xfrm>
          <a:prstGeom prst="rect">
            <a:avLst/>
          </a:prstGeom>
          <a:solidFill>
            <a:srgbClr val="D4951A">
              <a:alpha val="18000"/>
            </a:srgbClr>
          </a:solidFill>
          <a:ln w="12700">
            <a:solidFill>
              <a:srgbClr val="D4951A"/>
            </a:solidFill>
            <a:prstDash val="solid"/>
          </a:ln>
        </p:spPr>
      </p:sp>
      <p:sp>
        <p:nvSpPr>
          <p:cNvPr id="160" name="Shape 158"/>
          <p:cNvSpPr/>
          <p:nvPr/>
        </p:nvSpPr>
        <p:spPr>
          <a:xfrm rot="2700000">
            <a:off x="1532534" y="1426464"/>
            <a:ext cx="77724" cy="77724"/>
          </a:xfrm>
          <a:prstGeom prst="rect">
            <a:avLst/>
          </a:prstGeom>
          <a:solidFill>
            <a:srgbClr val="D4951A">
              <a:alpha val="18000"/>
            </a:srgbClr>
          </a:solidFill>
          <a:ln w="12700">
            <a:solidFill>
              <a:srgbClr val="D4951A"/>
            </a:solidFill>
            <a:prstDash val="solid"/>
          </a:ln>
        </p:spPr>
      </p:sp>
      <p:sp>
        <p:nvSpPr>
          <p:cNvPr id="161" name="Shape 159"/>
          <p:cNvSpPr/>
          <p:nvPr/>
        </p:nvSpPr>
        <p:spPr>
          <a:xfrm rot="2700000">
            <a:off x="1649578" y="1426464"/>
            <a:ext cx="77724" cy="77724"/>
          </a:xfrm>
          <a:prstGeom prst="rect">
            <a:avLst/>
          </a:prstGeom>
          <a:solidFill>
            <a:srgbClr val="D4951A">
              <a:alpha val="18000"/>
            </a:srgbClr>
          </a:solidFill>
          <a:ln w="12700">
            <a:solidFill>
              <a:srgbClr val="D4951A"/>
            </a:solidFill>
            <a:prstDash val="solid"/>
          </a:ln>
        </p:spPr>
      </p:sp>
      <p:sp>
        <p:nvSpPr>
          <p:cNvPr id="162" name="Shape 160"/>
          <p:cNvSpPr/>
          <p:nvPr/>
        </p:nvSpPr>
        <p:spPr>
          <a:xfrm rot="2700000">
            <a:off x="1766621" y="1426464"/>
            <a:ext cx="77724" cy="77724"/>
          </a:xfrm>
          <a:prstGeom prst="rect">
            <a:avLst/>
          </a:prstGeom>
          <a:solidFill>
            <a:srgbClr val="D4951A">
              <a:alpha val="18000"/>
            </a:srgbClr>
          </a:solidFill>
          <a:ln w="12700">
            <a:solidFill>
              <a:srgbClr val="D4951A"/>
            </a:solidFill>
            <a:prstDash val="solid"/>
          </a:ln>
        </p:spPr>
      </p:sp>
      <p:sp>
        <p:nvSpPr>
          <p:cNvPr id="163" name="Shape 161"/>
          <p:cNvSpPr/>
          <p:nvPr/>
        </p:nvSpPr>
        <p:spPr>
          <a:xfrm rot="2700000">
            <a:off x="1883664" y="1426464"/>
            <a:ext cx="77724" cy="77724"/>
          </a:xfrm>
          <a:prstGeom prst="rect">
            <a:avLst/>
          </a:prstGeom>
          <a:solidFill>
            <a:srgbClr val="D4951A">
              <a:alpha val="18000"/>
            </a:srgbClr>
          </a:solidFill>
          <a:ln w="12700">
            <a:solidFill>
              <a:srgbClr val="D4951A"/>
            </a:solidFill>
            <a:prstDash val="solid"/>
          </a:ln>
        </p:spPr>
      </p:sp>
      <p:sp>
        <p:nvSpPr>
          <p:cNvPr id="164" name="Shape 162"/>
          <p:cNvSpPr/>
          <p:nvPr/>
        </p:nvSpPr>
        <p:spPr>
          <a:xfrm rot="2700000">
            <a:off x="2000707" y="1426464"/>
            <a:ext cx="77724" cy="77724"/>
          </a:xfrm>
          <a:prstGeom prst="rect">
            <a:avLst/>
          </a:prstGeom>
          <a:solidFill>
            <a:srgbClr val="D4951A">
              <a:alpha val="18000"/>
            </a:srgbClr>
          </a:solidFill>
          <a:ln w="12700">
            <a:solidFill>
              <a:srgbClr val="D4951A"/>
            </a:solidFill>
            <a:prstDash val="solid"/>
          </a:ln>
        </p:spPr>
      </p:sp>
      <p:sp>
        <p:nvSpPr>
          <p:cNvPr id="165" name="Shape 163"/>
          <p:cNvSpPr/>
          <p:nvPr/>
        </p:nvSpPr>
        <p:spPr>
          <a:xfrm rot="2700000">
            <a:off x="2117750" y="1426464"/>
            <a:ext cx="77724" cy="77724"/>
          </a:xfrm>
          <a:prstGeom prst="rect">
            <a:avLst/>
          </a:prstGeom>
          <a:solidFill>
            <a:srgbClr val="D4951A">
              <a:alpha val="18000"/>
            </a:srgbClr>
          </a:solidFill>
          <a:ln w="12700">
            <a:solidFill>
              <a:srgbClr val="D4951A"/>
            </a:solidFill>
            <a:prstDash val="solid"/>
          </a:ln>
        </p:spPr>
      </p:sp>
      <p:sp>
        <p:nvSpPr>
          <p:cNvPr id="166" name="Shape 164"/>
          <p:cNvSpPr/>
          <p:nvPr/>
        </p:nvSpPr>
        <p:spPr>
          <a:xfrm rot="2700000">
            <a:off x="2234794" y="1426464"/>
            <a:ext cx="77724" cy="77724"/>
          </a:xfrm>
          <a:prstGeom prst="rect">
            <a:avLst/>
          </a:prstGeom>
          <a:solidFill>
            <a:srgbClr val="D4951A">
              <a:alpha val="18000"/>
            </a:srgbClr>
          </a:solidFill>
          <a:ln w="12700">
            <a:solidFill>
              <a:srgbClr val="D4951A"/>
            </a:solidFill>
            <a:prstDash val="solid"/>
          </a:ln>
        </p:spPr>
      </p:sp>
      <p:sp>
        <p:nvSpPr>
          <p:cNvPr id="167" name="Shape 165"/>
          <p:cNvSpPr/>
          <p:nvPr/>
        </p:nvSpPr>
        <p:spPr>
          <a:xfrm rot="2700000">
            <a:off x="2351837" y="1426464"/>
            <a:ext cx="77724" cy="77724"/>
          </a:xfrm>
          <a:prstGeom prst="rect">
            <a:avLst/>
          </a:prstGeom>
          <a:solidFill>
            <a:srgbClr val="D4951A">
              <a:alpha val="18000"/>
            </a:srgbClr>
          </a:solidFill>
          <a:ln w="12700">
            <a:solidFill>
              <a:srgbClr val="D4951A"/>
            </a:solidFill>
            <a:prstDash val="solid"/>
          </a:ln>
        </p:spPr>
      </p:sp>
      <p:sp>
        <p:nvSpPr>
          <p:cNvPr id="168" name="Shape 166"/>
          <p:cNvSpPr/>
          <p:nvPr/>
        </p:nvSpPr>
        <p:spPr>
          <a:xfrm rot="2700000">
            <a:off x="2468880" y="1426464"/>
            <a:ext cx="77724" cy="77724"/>
          </a:xfrm>
          <a:prstGeom prst="rect">
            <a:avLst/>
          </a:prstGeom>
          <a:solidFill>
            <a:srgbClr val="D4951A">
              <a:alpha val="18000"/>
            </a:srgbClr>
          </a:solidFill>
          <a:ln w="12700">
            <a:solidFill>
              <a:srgbClr val="D4951A"/>
            </a:solidFill>
            <a:prstDash val="solid"/>
          </a:ln>
        </p:spPr>
      </p:sp>
      <p:sp>
        <p:nvSpPr>
          <p:cNvPr id="169" name="Shape 167"/>
          <p:cNvSpPr/>
          <p:nvPr/>
        </p:nvSpPr>
        <p:spPr>
          <a:xfrm rot="2700000">
            <a:off x="2585923" y="1426464"/>
            <a:ext cx="77724" cy="77724"/>
          </a:xfrm>
          <a:prstGeom prst="rect">
            <a:avLst/>
          </a:prstGeom>
          <a:solidFill>
            <a:srgbClr val="D4951A">
              <a:alpha val="18000"/>
            </a:srgbClr>
          </a:solidFill>
          <a:ln w="12700">
            <a:solidFill>
              <a:srgbClr val="D4951A"/>
            </a:solidFill>
            <a:prstDash val="solid"/>
          </a:ln>
        </p:spPr>
      </p:sp>
      <p:sp>
        <p:nvSpPr>
          <p:cNvPr id="170" name="Shape 168"/>
          <p:cNvSpPr/>
          <p:nvPr/>
        </p:nvSpPr>
        <p:spPr>
          <a:xfrm rot="2700000">
            <a:off x="2702966" y="1426464"/>
            <a:ext cx="77724" cy="77724"/>
          </a:xfrm>
          <a:prstGeom prst="rect">
            <a:avLst/>
          </a:prstGeom>
          <a:solidFill>
            <a:srgbClr val="D4951A">
              <a:alpha val="18000"/>
            </a:srgbClr>
          </a:solidFill>
          <a:ln w="12700">
            <a:solidFill>
              <a:srgbClr val="D4951A"/>
            </a:solidFill>
            <a:prstDash val="solid"/>
          </a:ln>
        </p:spPr>
      </p:sp>
      <p:sp>
        <p:nvSpPr>
          <p:cNvPr id="171" name="Text 169"/>
          <p:cNvSpPr/>
          <p:nvPr/>
        </p:nvSpPr>
        <p:spPr>
          <a:xfrm>
            <a:off x="6272784" y="149961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A 10–15 tonne bulk LPG tank is required on-site. This is NOT included in boiler quotes. You need a vaporiser (forced if site elevation or cold winters), pressure regulation train, gas detection system, and fire safety bund. Budget this as a separate CAPEX item. Lead time for bulk tank delivery to Morocco: 8–14 weeks.</a:t>
            </a:r>
            <a:endParaRPr lang="en-US" sz="880" dirty="0"/>
          </a:p>
        </p:txBody>
      </p:sp>
      <p:sp>
        <p:nvSpPr>
          <p:cNvPr id="172" name="Shape 170"/>
          <p:cNvSpPr/>
          <p:nvPr/>
        </p:nvSpPr>
        <p:spPr>
          <a:xfrm>
            <a:off x="256032"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73" name="Shape 171"/>
          <p:cNvSpPr/>
          <p:nvPr/>
        </p:nvSpPr>
        <p:spPr>
          <a:xfrm>
            <a:off x="256032" y="2944368"/>
            <a:ext cx="2834640" cy="45720"/>
          </a:xfrm>
          <a:prstGeom prst="rect">
            <a:avLst/>
          </a:prstGeom>
          <a:solidFill>
            <a:srgbClr val="1B9A8A"/>
          </a:solidFill>
          <a:ln/>
        </p:spPr>
      </p:sp>
      <p:sp>
        <p:nvSpPr>
          <p:cNvPr id="174" name="Text 172"/>
          <p:cNvSpPr/>
          <p:nvPr/>
        </p:nvSpPr>
        <p:spPr>
          <a:xfrm>
            <a:off x="384048" y="3035808"/>
            <a:ext cx="2651760" cy="365760"/>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  Vapour Pressure and Ambient Temperature</a:t>
            </a:r>
            <a:endParaRPr lang="en-US" sz="1050" dirty="0"/>
          </a:p>
        </p:txBody>
      </p:sp>
      <p:sp>
        <p:nvSpPr>
          <p:cNvPr id="175" name="Shape 173"/>
          <p:cNvSpPr/>
          <p:nvPr/>
        </p:nvSpPr>
        <p:spPr>
          <a:xfrm rot="2700000">
            <a:off x="10973" y="3438144"/>
            <a:ext cx="77724" cy="77724"/>
          </a:xfrm>
          <a:prstGeom prst="rect">
            <a:avLst/>
          </a:prstGeom>
          <a:solidFill>
            <a:srgbClr val="1B9A8A">
              <a:alpha val="18000"/>
            </a:srgbClr>
          </a:solidFill>
          <a:ln w="12700">
            <a:solidFill>
              <a:srgbClr val="1B9A8A"/>
            </a:solidFill>
            <a:prstDash val="solid"/>
          </a:ln>
        </p:spPr>
      </p:sp>
      <p:sp>
        <p:nvSpPr>
          <p:cNvPr id="176" name="Shape 174"/>
          <p:cNvSpPr/>
          <p:nvPr/>
        </p:nvSpPr>
        <p:spPr>
          <a:xfrm rot="2700000">
            <a:off x="128016" y="3438144"/>
            <a:ext cx="77724" cy="77724"/>
          </a:xfrm>
          <a:prstGeom prst="rect">
            <a:avLst/>
          </a:prstGeom>
          <a:solidFill>
            <a:srgbClr val="1B9A8A">
              <a:alpha val="18000"/>
            </a:srgbClr>
          </a:solidFill>
          <a:ln w="12700">
            <a:solidFill>
              <a:srgbClr val="1B9A8A"/>
            </a:solidFill>
            <a:prstDash val="solid"/>
          </a:ln>
        </p:spPr>
      </p:sp>
      <p:sp>
        <p:nvSpPr>
          <p:cNvPr id="177" name="Shape 175"/>
          <p:cNvSpPr/>
          <p:nvPr/>
        </p:nvSpPr>
        <p:spPr>
          <a:xfrm rot="2700000">
            <a:off x="245059" y="3438144"/>
            <a:ext cx="77724" cy="77724"/>
          </a:xfrm>
          <a:prstGeom prst="rect">
            <a:avLst/>
          </a:prstGeom>
          <a:solidFill>
            <a:srgbClr val="1B9A8A">
              <a:alpha val="18000"/>
            </a:srgbClr>
          </a:solidFill>
          <a:ln w="12700">
            <a:solidFill>
              <a:srgbClr val="1B9A8A"/>
            </a:solidFill>
            <a:prstDash val="solid"/>
          </a:ln>
        </p:spPr>
      </p:sp>
      <p:sp>
        <p:nvSpPr>
          <p:cNvPr id="178" name="Shape 176"/>
          <p:cNvSpPr/>
          <p:nvPr/>
        </p:nvSpPr>
        <p:spPr>
          <a:xfrm rot="2700000">
            <a:off x="362102" y="3438144"/>
            <a:ext cx="77724" cy="77724"/>
          </a:xfrm>
          <a:prstGeom prst="rect">
            <a:avLst/>
          </a:prstGeom>
          <a:solidFill>
            <a:srgbClr val="1B9A8A">
              <a:alpha val="18000"/>
            </a:srgbClr>
          </a:solidFill>
          <a:ln w="12700">
            <a:solidFill>
              <a:srgbClr val="1B9A8A"/>
            </a:solidFill>
            <a:prstDash val="solid"/>
          </a:ln>
        </p:spPr>
      </p:sp>
      <p:sp>
        <p:nvSpPr>
          <p:cNvPr id="179" name="Shape 177"/>
          <p:cNvSpPr/>
          <p:nvPr/>
        </p:nvSpPr>
        <p:spPr>
          <a:xfrm rot="2700000">
            <a:off x="479146" y="3438144"/>
            <a:ext cx="77724" cy="77724"/>
          </a:xfrm>
          <a:prstGeom prst="rect">
            <a:avLst/>
          </a:prstGeom>
          <a:solidFill>
            <a:srgbClr val="1B9A8A">
              <a:alpha val="18000"/>
            </a:srgbClr>
          </a:solidFill>
          <a:ln w="12700">
            <a:solidFill>
              <a:srgbClr val="1B9A8A"/>
            </a:solidFill>
            <a:prstDash val="solid"/>
          </a:ln>
        </p:spPr>
      </p:sp>
      <p:sp>
        <p:nvSpPr>
          <p:cNvPr id="180" name="Shape 178"/>
          <p:cNvSpPr/>
          <p:nvPr/>
        </p:nvSpPr>
        <p:spPr>
          <a:xfrm rot="2700000">
            <a:off x="596189" y="3438144"/>
            <a:ext cx="77724" cy="77724"/>
          </a:xfrm>
          <a:prstGeom prst="rect">
            <a:avLst/>
          </a:prstGeom>
          <a:solidFill>
            <a:srgbClr val="1B9A8A">
              <a:alpha val="18000"/>
            </a:srgbClr>
          </a:solidFill>
          <a:ln w="12700">
            <a:solidFill>
              <a:srgbClr val="1B9A8A"/>
            </a:solidFill>
            <a:prstDash val="solid"/>
          </a:ln>
        </p:spPr>
      </p:sp>
      <p:sp>
        <p:nvSpPr>
          <p:cNvPr id="181" name="Shape 179"/>
          <p:cNvSpPr/>
          <p:nvPr/>
        </p:nvSpPr>
        <p:spPr>
          <a:xfrm rot="2700000">
            <a:off x="713232" y="3438144"/>
            <a:ext cx="77724" cy="77724"/>
          </a:xfrm>
          <a:prstGeom prst="rect">
            <a:avLst/>
          </a:prstGeom>
          <a:solidFill>
            <a:srgbClr val="1B9A8A">
              <a:alpha val="18000"/>
            </a:srgbClr>
          </a:solidFill>
          <a:ln w="12700">
            <a:solidFill>
              <a:srgbClr val="1B9A8A"/>
            </a:solidFill>
            <a:prstDash val="solid"/>
          </a:ln>
        </p:spPr>
      </p:sp>
      <p:sp>
        <p:nvSpPr>
          <p:cNvPr id="182" name="Shape 180"/>
          <p:cNvSpPr/>
          <p:nvPr/>
        </p:nvSpPr>
        <p:spPr>
          <a:xfrm rot="2700000">
            <a:off x="830275" y="3438144"/>
            <a:ext cx="77724" cy="77724"/>
          </a:xfrm>
          <a:prstGeom prst="rect">
            <a:avLst/>
          </a:prstGeom>
          <a:solidFill>
            <a:srgbClr val="1B9A8A">
              <a:alpha val="18000"/>
            </a:srgbClr>
          </a:solidFill>
          <a:ln w="12700">
            <a:solidFill>
              <a:srgbClr val="1B9A8A"/>
            </a:solidFill>
            <a:prstDash val="solid"/>
          </a:ln>
        </p:spPr>
      </p:sp>
      <p:sp>
        <p:nvSpPr>
          <p:cNvPr id="183" name="Shape 181"/>
          <p:cNvSpPr/>
          <p:nvPr/>
        </p:nvSpPr>
        <p:spPr>
          <a:xfrm rot="2700000">
            <a:off x="947318" y="3438144"/>
            <a:ext cx="77724" cy="77724"/>
          </a:xfrm>
          <a:prstGeom prst="rect">
            <a:avLst/>
          </a:prstGeom>
          <a:solidFill>
            <a:srgbClr val="1B9A8A">
              <a:alpha val="18000"/>
            </a:srgbClr>
          </a:solidFill>
          <a:ln w="12700">
            <a:solidFill>
              <a:srgbClr val="1B9A8A"/>
            </a:solidFill>
            <a:prstDash val="solid"/>
          </a:ln>
        </p:spPr>
      </p:sp>
      <p:sp>
        <p:nvSpPr>
          <p:cNvPr id="184" name="Shape 182"/>
          <p:cNvSpPr/>
          <p:nvPr/>
        </p:nvSpPr>
        <p:spPr>
          <a:xfrm rot="2700000">
            <a:off x="1064362" y="3438144"/>
            <a:ext cx="77724" cy="77724"/>
          </a:xfrm>
          <a:prstGeom prst="rect">
            <a:avLst/>
          </a:prstGeom>
          <a:solidFill>
            <a:srgbClr val="1B9A8A">
              <a:alpha val="18000"/>
            </a:srgbClr>
          </a:solidFill>
          <a:ln w="12700">
            <a:solidFill>
              <a:srgbClr val="1B9A8A"/>
            </a:solidFill>
            <a:prstDash val="solid"/>
          </a:ln>
        </p:spPr>
      </p:sp>
      <p:sp>
        <p:nvSpPr>
          <p:cNvPr id="185" name="Shape 183"/>
          <p:cNvSpPr/>
          <p:nvPr/>
        </p:nvSpPr>
        <p:spPr>
          <a:xfrm rot="2700000">
            <a:off x="1181405" y="3438144"/>
            <a:ext cx="77724" cy="77724"/>
          </a:xfrm>
          <a:prstGeom prst="rect">
            <a:avLst/>
          </a:prstGeom>
          <a:solidFill>
            <a:srgbClr val="1B9A8A">
              <a:alpha val="18000"/>
            </a:srgbClr>
          </a:solidFill>
          <a:ln w="12700">
            <a:solidFill>
              <a:srgbClr val="1B9A8A"/>
            </a:solidFill>
            <a:prstDash val="solid"/>
          </a:ln>
        </p:spPr>
      </p:sp>
      <p:sp>
        <p:nvSpPr>
          <p:cNvPr id="186" name="Shape 184"/>
          <p:cNvSpPr/>
          <p:nvPr/>
        </p:nvSpPr>
        <p:spPr>
          <a:xfrm rot="2700000">
            <a:off x="1298448" y="3438144"/>
            <a:ext cx="77724" cy="77724"/>
          </a:xfrm>
          <a:prstGeom prst="rect">
            <a:avLst/>
          </a:prstGeom>
          <a:solidFill>
            <a:srgbClr val="1B9A8A">
              <a:alpha val="18000"/>
            </a:srgbClr>
          </a:solidFill>
          <a:ln w="12700">
            <a:solidFill>
              <a:srgbClr val="1B9A8A"/>
            </a:solidFill>
            <a:prstDash val="solid"/>
          </a:ln>
        </p:spPr>
      </p:sp>
      <p:sp>
        <p:nvSpPr>
          <p:cNvPr id="187" name="Shape 185"/>
          <p:cNvSpPr/>
          <p:nvPr/>
        </p:nvSpPr>
        <p:spPr>
          <a:xfrm rot="2700000">
            <a:off x="1415491" y="3438144"/>
            <a:ext cx="77724" cy="77724"/>
          </a:xfrm>
          <a:prstGeom prst="rect">
            <a:avLst/>
          </a:prstGeom>
          <a:solidFill>
            <a:srgbClr val="1B9A8A">
              <a:alpha val="18000"/>
            </a:srgbClr>
          </a:solidFill>
          <a:ln w="12700">
            <a:solidFill>
              <a:srgbClr val="1B9A8A"/>
            </a:solidFill>
            <a:prstDash val="solid"/>
          </a:ln>
        </p:spPr>
      </p:sp>
      <p:sp>
        <p:nvSpPr>
          <p:cNvPr id="188" name="Shape 186"/>
          <p:cNvSpPr/>
          <p:nvPr/>
        </p:nvSpPr>
        <p:spPr>
          <a:xfrm rot="2700000">
            <a:off x="1532534" y="3438144"/>
            <a:ext cx="77724" cy="77724"/>
          </a:xfrm>
          <a:prstGeom prst="rect">
            <a:avLst/>
          </a:prstGeom>
          <a:solidFill>
            <a:srgbClr val="1B9A8A">
              <a:alpha val="18000"/>
            </a:srgbClr>
          </a:solidFill>
          <a:ln w="12700">
            <a:solidFill>
              <a:srgbClr val="1B9A8A"/>
            </a:solidFill>
            <a:prstDash val="solid"/>
          </a:ln>
        </p:spPr>
      </p:sp>
      <p:sp>
        <p:nvSpPr>
          <p:cNvPr id="189" name="Shape 187"/>
          <p:cNvSpPr/>
          <p:nvPr/>
        </p:nvSpPr>
        <p:spPr>
          <a:xfrm rot="2700000">
            <a:off x="1649578" y="3438144"/>
            <a:ext cx="77724" cy="77724"/>
          </a:xfrm>
          <a:prstGeom prst="rect">
            <a:avLst/>
          </a:prstGeom>
          <a:solidFill>
            <a:srgbClr val="1B9A8A">
              <a:alpha val="18000"/>
            </a:srgbClr>
          </a:solidFill>
          <a:ln w="12700">
            <a:solidFill>
              <a:srgbClr val="1B9A8A"/>
            </a:solidFill>
            <a:prstDash val="solid"/>
          </a:ln>
        </p:spPr>
      </p:sp>
      <p:sp>
        <p:nvSpPr>
          <p:cNvPr id="190" name="Shape 188"/>
          <p:cNvSpPr/>
          <p:nvPr/>
        </p:nvSpPr>
        <p:spPr>
          <a:xfrm rot="2700000">
            <a:off x="1766621" y="3438144"/>
            <a:ext cx="77724" cy="77724"/>
          </a:xfrm>
          <a:prstGeom prst="rect">
            <a:avLst/>
          </a:prstGeom>
          <a:solidFill>
            <a:srgbClr val="1B9A8A">
              <a:alpha val="18000"/>
            </a:srgbClr>
          </a:solidFill>
          <a:ln w="12700">
            <a:solidFill>
              <a:srgbClr val="1B9A8A"/>
            </a:solidFill>
            <a:prstDash val="solid"/>
          </a:ln>
        </p:spPr>
      </p:sp>
      <p:sp>
        <p:nvSpPr>
          <p:cNvPr id="191" name="Shape 189"/>
          <p:cNvSpPr/>
          <p:nvPr/>
        </p:nvSpPr>
        <p:spPr>
          <a:xfrm rot="2700000">
            <a:off x="1883664" y="3438144"/>
            <a:ext cx="77724" cy="77724"/>
          </a:xfrm>
          <a:prstGeom prst="rect">
            <a:avLst/>
          </a:prstGeom>
          <a:solidFill>
            <a:srgbClr val="1B9A8A">
              <a:alpha val="18000"/>
            </a:srgbClr>
          </a:solidFill>
          <a:ln w="12700">
            <a:solidFill>
              <a:srgbClr val="1B9A8A"/>
            </a:solidFill>
            <a:prstDash val="solid"/>
          </a:ln>
        </p:spPr>
      </p:sp>
      <p:sp>
        <p:nvSpPr>
          <p:cNvPr id="192" name="Shape 190"/>
          <p:cNvSpPr/>
          <p:nvPr/>
        </p:nvSpPr>
        <p:spPr>
          <a:xfrm rot="2700000">
            <a:off x="2000707" y="3438144"/>
            <a:ext cx="77724" cy="77724"/>
          </a:xfrm>
          <a:prstGeom prst="rect">
            <a:avLst/>
          </a:prstGeom>
          <a:solidFill>
            <a:srgbClr val="1B9A8A">
              <a:alpha val="18000"/>
            </a:srgbClr>
          </a:solidFill>
          <a:ln w="12700">
            <a:solidFill>
              <a:srgbClr val="1B9A8A"/>
            </a:solidFill>
            <a:prstDash val="solid"/>
          </a:ln>
        </p:spPr>
      </p:sp>
      <p:sp>
        <p:nvSpPr>
          <p:cNvPr id="193" name="Shape 191"/>
          <p:cNvSpPr/>
          <p:nvPr/>
        </p:nvSpPr>
        <p:spPr>
          <a:xfrm rot="2700000">
            <a:off x="2117750" y="3438144"/>
            <a:ext cx="77724" cy="77724"/>
          </a:xfrm>
          <a:prstGeom prst="rect">
            <a:avLst/>
          </a:prstGeom>
          <a:solidFill>
            <a:srgbClr val="1B9A8A">
              <a:alpha val="18000"/>
            </a:srgbClr>
          </a:solidFill>
          <a:ln w="12700">
            <a:solidFill>
              <a:srgbClr val="1B9A8A"/>
            </a:solidFill>
            <a:prstDash val="solid"/>
          </a:ln>
        </p:spPr>
      </p:sp>
      <p:sp>
        <p:nvSpPr>
          <p:cNvPr id="194" name="Shape 192"/>
          <p:cNvSpPr/>
          <p:nvPr/>
        </p:nvSpPr>
        <p:spPr>
          <a:xfrm rot="2700000">
            <a:off x="2234794" y="3438144"/>
            <a:ext cx="77724" cy="77724"/>
          </a:xfrm>
          <a:prstGeom prst="rect">
            <a:avLst/>
          </a:prstGeom>
          <a:solidFill>
            <a:srgbClr val="1B9A8A">
              <a:alpha val="18000"/>
            </a:srgbClr>
          </a:solidFill>
          <a:ln w="12700">
            <a:solidFill>
              <a:srgbClr val="1B9A8A"/>
            </a:solidFill>
            <a:prstDash val="solid"/>
          </a:ln>
        </p:spPr>
      </p:sp>
      <p:sp>
        <p:nvSpPr>
          <p:cNvPr id="195" name="Shape 193"/>
          <p:cNvSpPr/>
          <p:nvPr/>
        </p:nvSpPr>
        <p:spPr>
          <a:xfrm rot="2700000">
            <a:off x="2351837" y="3438144"/>
            <a:ext cx="77724" cy="77724"/>
          </a:xfrm>
          <a:prstGeom prst="rect">
            <a:avLst/>
          </a:prstGeom>
          <a:solidFill>
            <a:srgbClr val="1B9A8A">
              <a:alpha val="18000"/>
            </a:srgbClr>
          </a:solidFill>
          <a:ln w="12700">
            <a:solidFill>
              <a:srgbClr val="1B9A8A"/>
            </a:solidFill>
            <a:prstDash val="solid"/>
          </a:ln>
        </p:spPr>
      </p:sp>
      <p:sp>
        <p:nvSpPr>
          <p:cNvPr id="196" name="Shape 194"/>
          <p:cNvSpPr/>
          <p:nvPr/>
        </p:nvSpPr>
        <p:spPr>
          <a:xfrm rot="2700000">
            <a:off x="2468880" y="3438144"/>
            <a:ext cx="77724" cy="77724"/>
          </a:xfrm>
          <a:prstGeom prst="rect">
            <a:avLst/>
          </a:prstGeom>
          <a:solidFill>
            <a:srgbClr val="1B9A8A">
              <a:alpha val="18000"/>
            </a:srgbClr>
          </a:solidFill>
          <a:ln w="12700">
            <a:solidFill>
              <a:srgbClr val="1B9A8A"/>
            </a:solidFill>
            <a:prstDash val="solid"/>
          </a:ln>
        </p:spPr>
      </p:sp>
      <p:sp>
        <p:nvSpPr>
          <p:cNvPr id="197" name="Shape 195"/>
          <p:cNvSpPr/>
          <p:nvPr/>
        </p:nvSpPr>
        <p:spPr>
          <a:xfrm rot="2700000">
            <a:off x="2585923" y="3438144"/>
            <a:ext cx="77724" cy="77724"/>
          </a:xfrm>
          <a:prstGeom prst="rect">
            <a:avLst/>
          </a:prstGeom>
          <a:solidFill>
            <a:srgbClr val="1B9A8A">
              <a:alpha val="18000"/>
            </a:srgbClr>
          </a:solidFill>
          <a:ln w="12700">
            <a:solidFill>
              <a:srgbClr val="1B9A8A"/>
            </a:solidFill>
            <a:prstDash val="solid"/>
          </a:ln>
        </p:spPr>
      </p:sp>
      <p:sp>
        <p:nvSpPr>
          <p:cNvPr id="198" name="Shape 196"/>
          <p:cNvSpPr/>
          <p:nvPr/>
        </p:nvSpPr>
        <p:spPr>
          <a:xfrm rot="2700000">
            <a:off x="2702966" y="3438144"/>
            <a:ext cx="77724" cy="77724"/>
          </a:xfrm>
          <a:prstGeom prst="rect">
            <a:avLst/>
          </a:prstGeom>
          <a:solidFill>
            <a:srgbClr val="1B9A8A">
              <a:alpha val="18000"/>
            </a:srgbClr>
          </a:solidFill>
          <a:ln w="12700">
            <a:solidFill>
              <a:srgbClr val="1B9A8A"/>
            </a:solidFill>
            <a:prstDash val="solid"/>
          </a:ln>
        </p:spPr>
      </p:sp>
      <p:sp>
        <p:nvSpPr>
          <p:cNvPr id="199" name="Text 197"/>
          <p:cNvSpPr/>
          <p:nvPr/>
        </p:nvSpPr>
        <p:spPr>
          <a:xfrm>
            <a:off x="384048"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LPG loses vapour pressure at low ambient temperatures. For most Moroccan coastal and lowland sites this is rarely a problem, but if your site is inland or above 400m elevation, specify a forced electric vaporiser in your LPG installation scope. Your LPG supplier must confirm the design ambient and tank sizing.</a:t>
            </a:r>
            <a:endParaRPr lang="en-US" sz="880" dirty="0"/>
          </a:p>
        </p:txBody>
      </p:sp>
      <p:sp>
        <p:nvSpPr>
          <p:cNvPr id="200" name="Shape 198"/>
          <p:cNvSpPr/>
          <p:nvPr/>
        </p:nvSpPr>
        <p:spPr>
          <a:xfrm>
            <a:off x="3200400"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01" name="Shape 199"/>
          <p:cNvSpPr/>
          <p:nvPr/>
        </p:nvSpPr>
        <p:spPr>
          <a:xfrm>
            <a:off x="3200400" y="2944368"/>
            <a:ext cx="2834640" cy="45720"/>
          </a:xfrm>
          <a:prstGeom prst="rect">
            <a:avLst/>
          </a:prstGeom>
          <a:solidFill>
            <a:srgbClr val="C8960C"/>
          </a:solidFill>
          <a:ln/>
        </p:spPr>
      </p:sp>
      <p:sp>
        <p:nvSpPr>
          <p:cNvPr id="202" name="Text 200"/>
          <p:cNvSpPr/>
          <p:nvPr/>
        </p:nvSpPr>
        <p:spPr>
          <a:xfrm>
            <a:off x="3328416" y="3035808"/>
            <a:ext cx="2651760" cy="365760"/>
          </a:xfrm>
          <a:prstGeom prst="rect">
            <a:avLst/>
          </a:prstGeom>
          <a:noFill/>
          <a:ln/>
        </p:spPr>
        <p:txBody>
          <a:bodyPr wrap="square" rtlCol="0" anchor="ctr"/>
          <a:lstStyle/>
          <a:p>
            <a:pPr indent="0" marL="0">
              <a:buNone/>
            </a:pPr>
            <a:r>
              <a:rPr lang="en-US" sz="1050" b="1" dirty="0">
                <a:solidFill>
                  <a:srgbClr val="C8960C"/>
                </a:solidFill>
                <a:latin typeface="Georgia" pitchFamily="34" charset="0"/>
                <a:ea typeface="Georgia" pitchFamily="34" charset="-122"/>
                <a:cs typeface="Georgia" pitchFamily="34" charset="-120"/>
              </a:rPr>
              <a:t>⚙  Burner Commissioning and Combustion Analysis</a:t>
            </a:r>
            <a:endParaRPr lang="en-US" sz="1050" dirty="0"/>
          </a:p>
        </p:txBody>
      </p:sp>
      <p:sp>
        <p:nvSpPr>
          <p:cNvPr id="203" name="Shape 201"/>
          <p:cNvSpPr/>
          <p:nvPr/>
        </p:nvSpPr>
        <p:spPr>
          <a:xfrm rot="2700000">
            <a:off x="10973" y="3438144"/>
            <a:ext cx="77724" cy="77724"/>
          </a:xfrm>
          <a:prstGeom prst="rect">
            <a:avLst/>
          </a:prstGeom>
          <a:solidFill>
            <a:srgbClr val="C8960C">
              <a:alpha val="18000"/>
            </a:srgbClr>
          </a:solidFill>
          <a:ln w="12700">
            <a:solidFill>
              <a:srgbClr val="C8960C"/>
            </a:solidFill>
            <a:prstDash val="solid"/>
          </a:ln>
        </p:spPr>
      </p:sp>
      <p:sp>
        <p:nvSpPr>
          <p:cNvPr id="204" name="Shape 202"/>
          <p:cNvSpPr/>
          <p:nvPr/>
        </p:nvSpPr>
        <p:spPr>
          <a:xfrm rot="2700000">
            <a:off x="128016" y="3438144"/>
            <a:ext cx="77724" cy="77724"/>
          </a:xfrm>
          <a:prstGeom prst="rect">
            <a:avLst/>
          </a:prstGeom>
          <a:solidFill>
            <a:srgbClr val="C8960C">
              <a:alpha val="18000"/>
            </a:srgbClr>
          </a:solidFill>
          <a:ln w="12700">
            <a:solidFill>
              <a:srgbClr val="C8960C"/>
            </a:solidFill>
            <a:prstDash val="solid"/>
          </a:ln>
        </p:spPr>
      </p:sp>
      <p:sp>
        <p:nvSpPr>
          <p:cNvPr id="205" name="Shape 203"/>
          <p:cNvSpPr/>
          <p:nvPr/>
        </p:nvSpPr>
        <p:spPr>
          <a:xfrm rot="2700000">
            <a:off x="245059" y="3438144"/>
            <a:ext cx="77724" cy="77724"/>
          </a:xfrm>
          <a:prstGeom prst="rect">
            <a:avLst/>
          </a:prstGeom>
          <a:solidFill>
            <a:srgbClr val="C8960C">
              <a:alpha val="18000"/>
            </a:srgbClr>
          </a:solidFill>
          <a:ln w="12700">
            <a:solidFill>
              <a:srgbClr val="C8960C"/>
            </a:solidFill>
            <a:prstDash val="solid"/>
          </a:ln>
        </p:spPr>
      </p:sp>
      <p:sp>
        <p:nvSpPr>
          <p:cNvPr id="206" name="Shape 204"/>
          <p:cNvSpPr/>
          <p:nvPr/>
        </p:nvSpPr>
        <p:spPr>
          <a:xfrm rot="2700000">
            <a:off x="362102" y="3438144"/>
            <a:ext cx="77724" cy="77724"/>
          </a:xfrm>
          <a:prstGeom prst="rect">
            <a:avLst/>
          </a:prstGeom>
          <a:solidFill>
            <a:srgbClr val="C8960C">
              <a:alpha val="18000"/>
            </a:srgbClr>
          </a:solidFill>
          <a:ln w="12700">
            <a:solidFill>
              <a:srgbClr val="C8960C"/>
            </a:solidFill>
            <a:prstDash val="solid"/>
          </a:ln>
        </p:spPr>
      </p:sp>
      <p:sp>
        <p:nvSpPr>
          <p:cNvPr id="207" name="Shape 205"/>
          <p:cNvSpPr/>
          <p:nvPr/>
        </p:nvSpPr>
        <p:spPr>
          <a:xfrm rot="2700000">
            <a:off x="479146" y="3438144"/>
            <a:ext cx="77724" cy="77724"/>
          </a:xfrm>
          <a:prstGeom prst="rect">
            <a:avLst/>
          </a:prstGeom>
          <a:solidFill>
            <a:srgbClr val="C8960C">
              <a:alpha val="18000"/>
            </a:srgbClr>
          </a:solidFill>
          <a:ln w="12700">
            <a:solidFill>
              <a:srgbClr val="C8960C"/>
            </a:solidFill>
            <a:prstDash val="solid"/>
          </a:ln>
        </p:spPr>
      </p:sp>
      <p:sp>
        <p:nvSpPr>
          <p:cNvPr id="208" name="Shape 206"/>
          <p:cNvSpPr/>
          <p:nvPr/>
        </p:nvSpPr>
        <p:spPr>
          <a:xfrm rot="2700000">
            <a:off x="596189" y="3438144"/>
            <a:ext cx="77724" cy="77724"/>
          </a:xfrm>
          <a:prstGeom prst="rect">
            <a:avLst/>
          </a:prstGeom>
          <a:solidFill>
            <a:srgbClr val="C8960C">
              <a:alpha val="18000"/>
            </a:srgbClr>
          </a:solidFill>
          <a:ln w="12700">
            <a:solidFill>
              <a:srgbClr val="C8960C"/>
            </a:solidFill>
            <a:prstDash val="solid"/>
          </a:ln>
        </p:spPr>
      </p:sp>
      <p:sp>
        <p:nvSpPr>
          <p:cNvPr id="209" name="Shape 207"/>
          <p:cNvSpPr/>
          <p:nvPr/>
        </p:nvSpPr>
        <p:spPr>
          <a:xfrm rot="2700000">
            <a:off x="713232" y="3438144"/>
            <a:ext cx="77724" cy="77724"/>
          </a:xfrm>
          <a:prstGeom prst="rect">
            <a:avLst/>
          </a:prstGeom>
          <a:solidFill>
            <a:srgbClr val="C8960C">
              <a:alpha val="18000"/>
            </a:srgbClr>
          </a:solidFill>
          <a:ln w="12700">
            <a:solidFill>
              <a:srgbClr val="C8960C"/>
            </a:solidFill>
            <a:prstDash val="solid"/>
          </a:ln>
        </p:spPr>
      </p:sp>
      <p:sp>
        <p:nvSpPr>
          <p:cNvPr id="210" name="Shape 208"/>
          <p:cNvSpPr/>
          <p:nvPr/>
        </p:nvSpPr>
        <p:spPr>
          <a:xfrm rot="2700000">
            <a:off x="830275" y="3438144"/>
            <a:ext cx="77724" cy="77724"/>
          </a:xfrm>
          <a:prstGeom prst="rect">
            <a:avLst/>
          </a:prstGeom>
          <a:solidFill>
            <a:srgbClr val="C8960C">
              <a:alpha val="18000"/>
            </a:srgbClr>
          </a:solidFill>
          <a:ln w="12700">
            <a:solidFill>
              <a:srgbClr val="C8960C"/>
            </a:solidFill>
            <a:prstDash val="solid"/>
          </a:ln>
        </p:spPr>
      </p:sp>
      <p:sp>
        <p:nvSpPr>
          <p:cNvPr id="211" name="Shape 209"/>
          <p:cNvSpPr/>
          <p:nvPr/>
        </p:nvSpPr>
        <p:spPr>
          <a:xfrm rot="2700000">
            <a:off x="947318" y="3438144"/>
            <a:ext cx="77724" cy="77724"/>
          </a:xfrm>
          <a:prstGeom prst="rect">
            <a:avLst/>
          </a:prstGeom>
          <a:solidFill>
            <a:srgbClr val="C8960C">
              <a:alpha val="18000"/>
            </a:srgbClr>
          </a:solidFill>
          <a:ln w="12700">
            <a:solidFill>
              <a:srgbClr val="C8960C"/>
            </a:solidFill>
            <a:prstDash val="solid"/>
          </a:ln>
        </p:spPr>
      </p:sp>
      <p:sp>
        <p:nvSpPr>
          <p:cNvPr id="212" name="Shape 210"/>
          <p:cNvSpPr/>
          <p:nvPr/>
        </p:nvSpPr>
        <p:spPr>
          <a:xfrm rot="2700000">
            <a:off x="1064362" y="3438144"/>
            <a:ext cx="77724" cy="77724"/>
          </a:xfrm>
          <a:prstGeom prst="rect">
            <a:avLst/>
          </a:prstGeom>
          <a:solidFill>
            <a:srgbClr val="C8960C">
              <a:alpha val="18000"/>
            </a:srgbClr>
          </a:solidFill>
          <a:ln w="12700">
            <a:solidFill>
              <a:srgbClr val="C8960C"/>
            </a:solidFill>
            <a:prstDash val="solid"/>
          </a:ln>
        </p:spPr>
      </p:sp>
      <p:sp>
        <p:nvSpPr>
          <p:cNvPr id="213" name="Shape 211"/>
          <p:cNvSpPr/>
          <p:nvPr/>
        </p:nvSpPr>
        <p:spPr>
          <a:xfrm rot="2700000">
            <a:off x="1181405" y="3438144"/>
            <a:ext cx="77724" cy="77724"/>
          </a:xfrm>
          <a:prstGeom prst="rect">
            <a:avLst/>
          </a:prstGeom>
          <a:solidFill>
            <a:srgbClr val="C8960C">
              <a:alpha val="18000"/>
            </a:srgbClr>
          </a:solidFill>
          <a:ln w="12700">
            <a:solidFill>
              <a:srgbClr val="C8960C"/>
            </a:solidFill>
            <a:prstDash val="solid"/>
          </a:ln>
        </p:spPr>
      </p:sp>
      <p:sp>
        <p:nvSpPr>
          <p:cNvPr id="214" name="Shape 212"/>
          <p:cNvSpPr/>
          <p:nvPr/>
        </p:nvSpPr>
        <p:spPr>
          <a:xfrm rot="2700000">
            <a:off x="1298448" y="3438144"/>
            <a:ext cx="77724" cy="77724"/>
          </a:xfrm>
          <a:prstGeom prst="rect">
            <a:avLst/>
          </a:prstGeom>
          <a:solidFill>
            <a:srgbClr val="C8960C">
              <a:alpha val="18000"/>
            </a:srgbClr>
          </a:solidFill>
          <a:ln w="12700">
            <a:solidFill>
              <a:srgbClr val="C8960C"/>
            </a:solidFill>
            <a:prstDash val="solid"/>
          </a:ln>
        </p:spPr>
      </p:sp>
      <p:sp>
        <p:nvSpPr>
          <p:cNvPr id="215" name="Shape 213"/>
          <p:cNvSpPr/>
          <p:nvPr/>
        </p:nvSpPr>
        <p:spPr>
          <a:xfrm rot="2700000">
            <a:off x="1415491" y="3438144"/>
            <a:ext cx="77724" cy="77724"/>
          </a:xfrm>
          <a:prstGeom prst="rect">
            <a:avLst/>
          </a:prstGeom>
          <a:solidFill>
            <a:srgbClr val="C8960C">
              <a:alpha val="18000"/>
            </a:srgbClr>
          </a:solidFill>
          <a:ln w="12700">
            <a:solidFill>
              <a:srgbClr val="C8960C"/>
            </a:solidFill>
            <a:prstDash val="solid"/>
          </a:ln>
        </p:spPr>
      </p:sp>
      <p:sp>
        <p:nvSpPr>
          <p:cNvPr id="216" name="Shape 214"/>
          <p:cNvSpPr/>
          <p:nvPr/>
        </p:nvSpPr>
        <p:spPr>
          <a:xfrm rot="2700000">
            <a:off x="1532534" y="3438144"/>
            <a:ext cx="77724" cy="77724"/>
          </a:xfrm>
          <a:prstGeom prst="rect">
            <a:avLst/>
          </a:prstGeom>
          <a:solidFill>
            <a:srgbClr val="C8960C">
              <a:alpha val="18000"/>
            </a:srgbClr>
          </a:solidFill>
          <a:ln w="12700">
            <a:solidFill>
              <a:srgbClr val="C8960C"/>
            </a:solidFill>
            <a:prstDash val="solid"/>
          </a:ln>
        </p:spPr>
      </p:sp>
      <p:sp>
        <p:nvSpPr>
          <p:cNvPr id="217" name="Shape 215"/>
          <p:cNvSpPr/>
          <p:nvPr/>
        </p:nvSpPr>
        <p:spPr>
          <a:xfrm rot="2700000">
            <a:off x="1649578" y="3438144"/>
            <a:ext cx="77724" cy="77724"/>
          </a:xfrm>
          <a:prstGeom prst="rect">
            <a:avLst/>
          </a:prstGeom>
          <a:solidFill>
            <a:srgbClr val="C8960C">
              <a:alpha val="18000"/>
            </a:srgbClr>
          </a:solidFill>
          <a:ln w="12700">
            <a:solidFill>
              <a:srgbClr val="C8960C"/>
            </a:solidFill>
            <a:prstDash val="solid"/>
          </a:ln>
        </p:spPr>
      </p:sp>
      <p:sp>
        <p:nvSpPr>
          <p:cNvPr id="218" name="Shape 216"/>
          <p:cNvSpPr/>
          <p:nvPr/>
        </p:nvSpPr>
        <p:spPr>
          <a:xfrm rot="2700000">
            <a:off x="1766621" y="3438144"/>
            <a:ext cx="77724" cy="77724"/>
          </a:xfrm>
          <a:prstGeom prst="rect">
            <a:avLst/>
          </a:prstGeom>
          <a:solidFill>
            <a:srgbClr val="C8960C">
              <a:alpha val="18000"/>
            </a:srgbClr>
          </a:solidFill>
          <a:ln w="12700">
            <a:solidFill>
              <a:srgbClr val="C8960C"/>
            </a:solidFill>
            <a:prstDash val="solid"/>
          </a:ln>
        </p:spPr>
      </p:sp>
      <p:sp>
        <p:nvSpPr>
          <p:cNvPr id="219" name="Shape 217"/>
          <p:cNvSpPr/>
          <p:nvPr/>
        </p:nvSpPr>
        <p:spPr>
          <a:xfrm rot="2700000">
            <a:off x="1883664" y="3438144"/>
            <a:ext cx="77724" cy="77724"/>
          </a:xfrm>
          <a:prstGeom prst="rect">
            <a:avLst/>
          </a:prstGeom>
          <a:solidFill>
            <a:srgbClr val="C8960C">
              <a:alpha val="18000"/>
            </a:srgbClr>
          </a:solidFill>
          <a:ln w="12700">
            <a:solidFill>
              <a:srgbClr val="C8960C"/>
            </a:solidFill>
            <a:prstDash val="solid"/>
          </a:ln>
        </p:spPr>
      </p:sp>
      <p:sp>
        <p:nvSpPr>
          <p:cNvPr id="220" name="Shape 218"/>
          <p:cNvSpPr/>
          <p:nvPr/>
        </p:nvSpPr>
        <p:spPr>
          <a:xfrm rot="2700000">
            <a:off x="2000707" y="3438144"/>
            <a:ext cx="77724" cy="77724"/>
          </a:xfrm>
          <a:prstGeom prst="rect">
            <a:avLst/>
          </a:prstGeom>
          <a:solidFill>
            <a:srgbClr val="C8960C">
              <a:alpha val="18000"/>
            </a:srgbClr>
          </a:solidFill>
          <a:ln w="12700">
            <a:solidFill>
              <a:srgbClr val="C8960C"/>
            </a:solidFill>
            <a:prstDash val="solid"/>
          </a:ln>
        </p:spPr>
      </p:sp>
      <p:sp>
        <p:nvSpPr>
          <p:cNvPr id="221" name="Shape 219"/>
          <p:cNvSpPr/>
          <p:nvPr/>
        </p:nvSpPr>
        <p:spPr>
          <a:xfrm rot="2700000">
            <a:off x="2117750" y="3438144"/>
            <a:ext cx="77724" cy="77724"/>
          </a:xfrm>
          <a:prstGeom prst="rect">
            <a:avLst/>
          </a:prstGeom>
          <a:solidFill>
            <a:srgbClr val="C8960C">
              <a:alpha val="18000"/>
            </a:srgbClr>
          </a:solidFill>
          <a:ln w="12700">
            <a:solidFill>
              <a:srgbClr val="C8960C"/>
            </a:solidFill>
            <a:prstDash val="solid"/>
          </a:ln>
        </p:spPr>
      </p:sp>
      <p:sp>
        <p:nvSpPr>
          <p:cNvPr id="222" name="Shape 220"/>
          <p:cNvSpPr/>
          <p:nvPr/>
        </p:nvSpPr>
        <p:spPr>
          <a:xfrm rot="2700000">
            <a:off x="2234794" y="3438144"/>
            <a:ext cx="77724" cy="77724"/>
          </a:xfrm>
          <a:prstGeom prst="rect">
            <a:avLst/>
          </a:prstGeom>
          <a:solidFill>
            <a:srgbClr val="C8960C">
              <a:alpha val="18000"/>
            </a:srgbClr>
          </a:solidFill>
          <a:ln w="12700">
            <a:solidFill>
              <a:srgbClr val="C8960C"/>
            </a:solidFill>
            <a:prstDash val="solid"/>
          </a:ln>
        </p:spPr>
      </p:sp>
      <p:sp>
        <p:nvSpPr>
          <p:cNvPr id="223" name="Shape 221"/>
          <p:cNvSpPr/>
          <p:nvPr/>
        </p:nvSpPr>
        <p:spPr>
          <a:xfrm rot="2700000">
            <a:off x="2351837" y="3438144"/>
            <a:ext cx="77724" cy="77724"/>
          </a:xfrm>
          <a:prstGeom prst="rect">
            <a:avLst/>
          </a:prstGeom>
          <a:solidFill>
            <a:srgbClr val="C8960C">
              <a:alpha val="18000"/>
            </a:srgbClr>
          </a:solidFill>
          <a:ln w="12700">
            <a:solidFill>
              <a:srgbClr val="C8960C"/>
            </a:solidFill>
            <a:prstDash val="solid"/>
          </a:ln>
        </p:spPr>
      </p:sp>
      <p:sp>
        <p:nvSpPr>
          <p:cNvPr id="224" name="Shape 222"/>
          <p:cNvSpPr/>
          <p:nvPr/>
        </p:nvSpPr>
        <p:spPr>
          <a:xfrm rot="2700000">
            <a:off x="2468880" y="3438144"/>
            <a:ext cx="77724" cy="77724"/>
          </a:xfrm>
          <a:prstGeom prst="rect">
            <a:avLst/>
          </a:prstGeom>
          <a:solidFill>
            <a:srgbClr val="C8960C">
              <a:alpha val="18000"/>
            </a:srgbClr>
          </a:solidFill>
          <a:ln w="12700">
            <a:solidFill>
              <a:srgbClr val="C8960C"/>
            </a:solidFill>
            <a:prstDash val="solid"/>
          </a:ln>
        </p:spPr>
      </p:sp>
      <p:sp>
        <p:nvSpPr>
          <p:cNvPr id="225" name="Shape 223"/>
          <p:cNvSpPr/>
          <p:nvPr/>
        </p:nvSpPr>
        <p:spPr>
          <a:xfrm rot="2700000">
            <a:off x="2585923" y="3438144"/>
            <a:ext cx="77724" cy="77724"/>
          </a:xfrm>
          <a:prstGeom prst="rect">
            <a:avLst/>
          </a:prstGeom>
          <a:solidFill>
            <a:srgbClr val="C8960C">
              <a:alpha val="18000"/>
            </a:srgbClr>
          </a:solidFill>
          <a:ln w="12700">
            <a:solidFill>
              <a:srgbClr val="C8960C"/>
            </a:solidFill>
            <a:prstDash val="solid"/>
          </a:ln>
        </p:spPr>
      </p:sp>
      <p:sp>
        <p:nvSpPr>
          <p:cNvPr id="226" name="Shape 224"/>
          <p:cNvSpPr/>
          <p:nvPr/>
        </p:nvSpPr>
        <p:spPr>
          <a:xfrm rot="2700000">
            <a:off x="2702966" y="3438144"/>
            <a:ext cx="77724" cy="77724"/>
          </a:xfrm>
          <a:prstGeom prst="rect">
            <a:avLst/>
          </a:prstGeom>
          <a:solidFill>
            <a:srgbClr val="C8960C">
              <a:alpha val="18000"/>
            </a:srgbClr>
          </a:solidFill>
          <a:ln w="12700">
            <a:solidFill>
              <a:srgbClr val="C8960C"/>
            </a:solidFill>
            <a:prstDash val="solid"/>
          </a:ln>
        </p:spPr>
      </p:sp>
      <p:sp>
        <p:nvSpPr>
          <p:cNvPr id="227" name="Text 225"/>
          <p:cNvSpPr/>
          <p:nvPr/>
        </p:nvSpPr>
        <p:spPr>
          <a:xfrm>
            <a:off x="3328416"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LPG burner commissioning requires a flue gas analyser (O₂, CO, CO₂) to set the correct excess air ratio. This must be done by a certified LPG combustion engineer, not a general boiler technician. Request this as part of your commissioning scope in the tender documents.</a:t>
            </a:r>
            <a:endParaRPr lang="en-US" sz="880" dirty="0"/>
          </a:p>
        </p:txBody>
      </p:sp>
      <p:sp>
        <p:nvSpPr>
          <p:cNvPr id="228" name="Shape 226"/>
          <p:cNvSpPr/>
          <p:nvPr/>
        </p:nvSpPr>
        <p:spPr>
          <a:xfrm>
            <a:off x="6144768" y="2944368"/>
            <a:ext cx="2834640" cy="1920240"/>
          </a:xfrm>
          <a:prstGeom prst="rect">
            <a:avLst/>
          </a:prstGeom>
          <a:solidFill>
            <a:srgbClr val="130F0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229" name="Shape 227"/>
          <p:cNvSpPr/>
          <p:nvPr/>
        </p:nvSpPr>
        <p:spPr>
          <a:xfrm>
            <a:off x="6144768" y="2944368"/>
            <a:ext cx="2834640" cy="45720"/>
          </a:xfrm>
          <a:prstGeom prst="rect">
            <a:avLst/>
          </a:prstGeom>
          <a:solidFill>
            <a:srgbClr val="1A5FA8"/>
          </a:solidFill>
          <a:ln/>
        </p:spPr>
      </p:sp>
      <p:sp>
        <p:nvSpPr>
          <p:cNvPr id="230" name="Text 228"/>
          <p:cNvSpPr/>
          <p:nvPr/>
        </p:nvSpPr>
        <p:spPr>
          <a:xfrm>
            <a:off x="6272784" y="3035808"/>
            <a:ext cx="2651760" cy="365760"/>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  Future Gas Upgrade — Specify Dual-Fuel Burner Now</a:t>
            </a:r>
            <a:endParaRPr lang="en-US" sz="1050" dirty="0"/>
          </a:p>
        </p:txBody>
      </p:sp>
      <p:sp>
        <p:nvSpPr>
          <p:cNvPr id="231" name="Shape 229"/>
          <p:cNvSpPr/>
          <p:nvPr/>
        </p:nvSpPr>
        <p:spPr>
          <a:xfrm rot="2700000">
            <a:off x="10973" y="3438144"/>
            <a:ext cx="77724" cy="77724"/>
          </a:xfrm>
          <a:prstGeom prst="rect">
            <a:avLst/>
          </a:prstGeom>
          <a:solidFill>
            <a:srgbClr val="1A5FA8">
              <a:alpha val="18000"/>
            </a:srgbClr>
          </a:solidFill>
          <a:ln w="12700">
            <a:solidFill>
              <a:srgbClr val="1A5FA8"/>
            </a:solidFill>
            <a:prstDash val="solid"/>
          </a:ln>
        </p:spPr>
      </p:sp>
      <p:sp>
        <p:nvSpPr>
          <p:cNvPr id="232" name="Shape 230"/>
          <p:cNvSpPr/>
          <p:nvPr/>
        </p:nvSpPr>
        <p:spPr>
          <a:xfrm rot="2700000">
            <a:off x="128016" y="3438144"/>
            <a:ext cx="77724" cy="77724"/>
          </a:xfrm>
          <a:prstGeom prst="rect">
            <a:avLst/>
          </a:prstGeom>
          <a:solidFill>
            <a:srgbClr val="1A5FA8">
              <a:alpha val="18000"/>
            </a:srgbClr>
          </a:solidFill>
          <a:ln w="12700">
            <a:solidFill>
              <a:srgbClr val="1A5FA8"/>
            </a:solidFill>
            <a:prstDash val="solid"/>
          </a:ln>
        </p:spPr>
      </p:sp>
      <p:sp>
        <p:nvSpPr>
          <p:cNvPr id="233" name="Shape 231"/>
          <p:cNvSpPr/>
          <p:nvPr/>
        </p:nvSpPr>
        <p:spPr>
          <a:xfrm rot="2700000">
            <a:off x="245059" y="3438144"/>
            <a:ext cx="77724" cy="77724"/>
          </a:xfrm>
          <a:prstGeom prst="rect">
            <a:avLst/>
          </a:prstGeom>
          <a:solidFill>
            <a:srgbClr val="1A5FA8">
              <a:alpha val="18000"/>
            </a:srgbClr>
          </a:solidFill>
          <a:ln w="12700">
            <a:solidFill>
              <a:srgbClr val="1A5FA8"/>
            </a:solidFill>
            <a:prstDash val="solid"/>
          </a:ln>
        </p:spPr>
      </p:sp>
      <p:sp>
        <p:nvSpPr>
          <p:cNvPr id="234" name="Shape 232"/>
          <p:cNvSpPr/>
          <p:nvPr/>
        </p:nvSpPr>
        <p:spPr>
          <a:xfrm rot="2700000">
            <a:off x="362102" y="3438144"/>
            <a:ext cx="77724" cy="77724"/>
          </a:xfrm>
          <a:prstGeom prst="rect">
            <a:avLst/>
          </a:prstGeom>
          <a:solidFill>
            <a:srgbClr val="1A5FA8">
              <a:alpha val="18000"/>
            </a:srgbClr>
          </a:solidFill>
          <a:ln w="12700">
            <a:solidFill>
              <a:srgbClr val="1A5FA8"/>
            </a:solidFill>
            <a:prstDash val="solid"/>
          </a:ln>
        </p:spPr>
      </p:sp>
      <p:sp>
        <p:nvSpPr>
          <p:cNvPr id="235" name="Shape 233"/>
          <p:cNvSpPr/>
          <p:nvPr/>
        </p:nvSpPr>
        <p:spPr>
          <a:xfrm rot="2700000">
            <a:off x="479146" y="3438144"/>
            <a:ext cx="77724" cy="77724"/>
          </a:xfrm>
          <a:prstGeom prst="rect">
            <a:avLst/>
          </a:prstGeom>
          <a:solidFill>
            <a:srgbClr val="1A5FA8">
              <a:alpha val="18000"/>
            </a:srgbClr>
          </a:solidFill>
          <a:ln w="12700">
            <a:solidFill>
              <a:srgbClr val="1A5FA8"/>
            </a:solidFill>
            <a:prstDash val="solid"/>
          </a:ln>
        </p:spPr>
      </p:sp>
      <p:sp>
        <p:nvSpPr>
          <p:cNvPr id="236" name="Shape 234"/>
          <p:cNvSpPr/>
          <p:nvPr/>
        </p:nvSpPr>
        <p:spPr>
          <a:xfrm rot="2700000">
            <a:off x="596189" y="3438144"/>
            <a:ext cx="77724" cy="77724"/>
          </a:xfrm>
          <a:prstGeom prst="rect">
            <a:avLst/>
          </a:prstGeom>
          <a:solidFill>
            <a:srgbClr val="1A5FA8">
              <a:alpha val="18000"/>
            </a:srgbClr>
          </a:solidFill>
          <a:ln w="12700">
            <a:solidFill>
              <a:srgbClr val="1A5FA8"/>
            </a:solidFill>
            <a:prstDash val="solid"/>
          </a:ln>
        </p:spPr>
      </p:sp>
      <p:sp>
        <p:nvSpPr>
          <p:cNvPr id="237" name="Shape 235"/>
          <p:cNvSpPr/>
          <p:nvPr/>
        </p:nvSpPr>
        <p:spPr>
          <a:xfrm rot="2700000">
            <a:off x="713232" y="3438144"/>
            <a:ext cx="77724" cy="77724"/>
          </a:xfrm>
          <a:prstGeom prst="rect">
            <a:avLst/>
          </a:prstGeom>
          <a:solidFill>
            <a:srgbClr val="1A5FA8">
              <a:alpha val="18000"/>
            </a:srgbClr>
          </a:solidFill>
          <a:ln w="12700">
            <a:solidFill>
              <a:srgbClr val="1A5FA8"/>
            </a:solidFill>
            <a:prstDash val="solid"/>
          </a:ln>
        </p:spPr>
      </p:sp>
      <p:sp>
        <p:nvSpPr>
          <p:cNvPr id="238" name="Shape 236"/>
          <p:cNvSpPr/>
          <p:nvPr/>
        </p:nvSpPr>
        <p:spPr>
          <a:xfrm rot="2700000">
            <a:off x="830275" y="3438144"/>
            <a:ext cx="77724" cy="77724"/>
          </a:xfrm>
          <a:prstGeom prst="rect">
            <a:avLst/>
          </a:prstGeom>
          <a:solidFill>
            <a:srgbClr val="1A5FA8">
              <a:alpha val="18000"/>
            </a:srgbClr>
          </a:solidFill>
          <a:ln w="12700">
            <a:solidFill>
              <a:srgbClr val="1A5FA8"/>
            </a:solidFill>
            <a:prstDash val="solid"/>
          </a:ln>
        </p:spPr>
      </p:sp>
      <p:sp>
        <p:nvSpPr>
          <p:cNvPr id="239" name="Shape 237"/>
          <p:cNvSpPr/>
          <p:nvPr/>
        </p:nvSpPr>
        <p:spPr>
          <a:xfrm rot="2700000">
            <a:off x="947318" y="3438144"/>
            <a:ext cx="77724" cy="77724"/>
          </a:xfrm>
          <a:prstGeom prst="rect">
            <a:avLst/>
          </a:prstGeom>
          <a:solidFill>
            <a:srgbClr val="1A5FA8">
              <a:alpha val="18000"/>
            </a:srgbClr>
          </a:solidFill>
          <a:ln w="12700">
            <a:solidFill>
              <a:srgbClr val="1A5FA8"/>
            </a:solidFill>
            <a:prstDash val="solid"/>
          </a:ln>
        </p:spPr>
      </p:sp>
      <p:sp>
        <p:nvSpPr>
          <p:cNvPr id="240" name="Shape 238"/>
          <p:cNvSpPr/>
          <p:nvPr/>
        </p:nvSpPr>
        <p:spPr>
          <a:xfrm rot="2700000">
            <a:off x="1064362" y="3438144"/>
            <a:ext cx="77724" cy="77724"/>
          </a:xfrm>
          <a:prstGeom prst="rect">
            <a:avLst/>
          </a:prstGeom>
          <a:solidFill>
            <a:srgbClr val="1A5FA8">
              <a:alpha val="18000"/>
            </a:srgbClr>
          </a:solidFill>
          <a:ln w="12700">
            <a:solidFill>
              <a:srgbClr val="1A5FA8"/>
            </a:solidFill>
            <a:prstDash val="solid"/>
          </a:ln>
        </p:spPr>
      </p:sp>
      <p:sp>
        <p:nvSpPr>
          <p:cNvPr id="241" name="Shape 239"/>
          <p:cNvSpPr/>
          <p:nvPr/>
        </p:nvSpPr>
        <p:spPr>
          <a:xfrm rot="2700000">
            <a:off x="1181405" y="3438144"/>
            <a:ext cx="77724" cy="77724"/>
          </a:xfrm>
          <a:prstGeom prst="rect">
            <a:avLst/>
          </a:prstGeom>
          <a:solidFill>
            <a:srgbClr val="1A5FA8">
              <a:alpha val="18000"/>
            </a:srgbClr>
          </a:solidFill>
          <a:ln w="12700">
            <a:solidFill>
              <a:srgbClr val="1A5FA8"/>
            </a:solidFill>
            <a:prstDash val="solid"/>
          </a:ln>
        </p:spPr>
      </p:sp>
      <p:sp>
        <p:nvSpPr>
          <p:cNvPr id="242" name="Shape 240"/>
          <p:cNvSpPr/>
          <p:nvPr/>
        </p:nvSpPr>
        <p:spPr>
          <a:xfrm rot="2700000">
            <a:off x="1298448" y="3438144"/>
            <a:ext cx="77724" cy="77724"/>
          </a:xfrm>
          <a:prstGeom prst="rect">
            <a:avLst/>
          </a:prstGeom>
          <a:solidFill>
            <a:srgbClr val="1A5FA8">
              <a:alpha val="18000"/>
            </a:srgbClr>
          </a:solidFill>
          <a:ln w="12700">
            <a:solidFill>
              <a:srgbClr val="1A5FA8"/>
            </a:solidFill>
            <a:prstDash val="solid"/>
          </a:ln>
        </p:spPr>
      </p:sp>
      <p:sp>
        <p:nvSpPr>
          <p:cNvPr id="243" name="Shape 241"/>
          <p:cNvSpPr/>
          <p:nvPr/>
        </p:nvSpPr>
        <p:spPr>
          <a:xfrm rot="2700000">
            <a:off x="1415491" y="3438144"/>
            <a:ext cx="77724" cy="77724"/>
          </a:xfrm>
          <a:prstGeom prst="rect">
            <a:avLst/>
          </a:prstGeom>
          <a:solidFill>
            <a:srgbClr val="1A5FA8">
              <a:alpha val="18000"/>
            </a:srgbClr>
          </a:solidFill>
          <a:ln w="12700">
            <a:solidFill>
              <a:srgbClr val="1A5FA8"/>
            </a:solidFill>
            <a:prstDash val="solid"/>
          </a:ln>
        </p:spPr>
      </p:sp>
      <p:sp>
        <p:nvSpPr>
          <p:cNvPr id="244" name="Shape 242"/>
          <p:cNvSpPr/>
          <p:nvPr/>
        </p:nvSpPr>
        <p:spPr>
          <a:xfrm rot="2700000">
            <a:off x="1532534" y="3438144"/>
            <a:ext cx="77724" cy="77724"/>
          </a:xfrm>
          <a:prstGeom prst="rect">
            <a:avLst/>
          </a:prstGeom>
          <a:solidFill>
            <a:srgbClr val="1A5FA8">
              <a:alpha val="18000"/>
            </a:srgbClr>
          </a:solidFill>
          <a:ln w="12700">
            <a:solidFill>
              <a:srgbClr val="1A5FA8"/>
            </a:solidFill>
            <a:prstDash val="solid"/>
          </a:ln>
        </p:spPr>
      </p:sp>
      <p:sp>
        <p:nvSpPr>
          <p:cNvPr id="245" name="Shape 243"/>
          <p:cNvSpPr/>
          <p:nvPr/>
        </p:nvSpPr>
        <p:spPr>
          <a:xfrm rot="2700000">
            <a:off x="1649578" y="3438144"/>
            <a:ext cx="77724" cy="77724"/>
          </a:xfrm>
          <a:prstGeom prst="rect">
            <a:avLst/>
          </a:prstGeom>
          <a:solidFill>
            <a:srgbClr val="1A5FA8">
              <a:alpha val="18000"/>
            </a:srgbClr>
          </a:solidFill>
          <a:ln w="12700">
            <a:solidFill>
              <a:srgbClr val="1A5FA8"/>
            </a:solidFill>
            <a:prstDash val="solid"/>
          </a:ln>
        </p:spPr>
      </p:sp>
      <p:sp>
        <p:nvSpPr>
          <p:cNvPr id="246" name="Shape 244"/>
          <p:cNvSpPr/>
          <p:nvPr/>
        </p:nvSpPr>
        <p:spPr>
          <a:xfrm rot="2700000">
            <a:off x="1766621" y="3438144"/>
            <a:ext cx="77724" cy="77724"/>
          </a:xfrm>
          <a:prstGeom prst="rect">
            <a:avLst/>
          </a:prstGeom>
          <a:solidFill>
            <a:srgbClr val="1A5FA8">
              <a:alpha val="18000"/>
            </a:srgbClr>
          </a:solidFill>
          <a:ln w="12700">
            <a:solidFill>
              <a:srgbClr val="1A5FA8"/>
            </a:solidFill>
            <a:prstDash val="solid"/>
          </a:ln>
        </p:spPr>
      </p:sp>
      <p:sp>
        <p:nvSpPr>
          <p:cNvPr id="247" name="Shape 245"/>
          <p:cNvSpPr/>
          <p:nvPr/>
        </p:nvSpPr>
        <p:spPr>
          <a:xfrm rot="2700000">
            <a:off x="1883664" y="3438144"/>
            <a:ext cx="77724" cy="77724"/>
          </a:xfrm>
          <a:prstGeom prst="rect">
            <a:avLst/>
          </a:prstGeom>
          <a:solidFill>
            <a:srgbClr val="1A5FA8">
              <a:alpha val="18000"/>
            </a:srgbClr>
          </a:solidFill>
          <a:ln w="12700">
            <a:solidFill>
              <a:srgbClr val="1A5FA8"/>
            </a:solidFill>
            <a:prstDash val="solid"/>
          </a:ln>
        </p:spPr>
      </p:sp>
      <p:sp>
        <p:nvSpPr>
          <p:cNvPr id="248" name="Shape 246"/>
          <p:cNvSpPr/>
          <p:nvPr/>
        </p:nvSpPr>
        <p:spPr>
          <a:xfrm rot="2700000">
            <a:off x="2000707" y="3438144"/>
            <a:ext cx="77724" cy="77724"/>
          </a:xfrm>
          <a:prstGeom prst="rect">
            <a:avLst/>
          </a:prstGeom>
          <a:solidFill>
            <a:srgbClr val="1A5FA8">
              <a:alpha val="18000"/>
            </a:srgbClr>
          </a:solidFill>
          <a:ln w="12700">
            <a:solidFill>
              <a:srgbClr val="1A5FA8"/>
            </a:solidFill>
            <a:prstDash val="solid"/>
          </a:ln>
        </p:spPr>
      </p:sp>
      <p:sp>
        <p:nvSpPr>
          <p:cNvPr id="249" name="Shape 247"/>
          <p:cNvSpPr/>
          <p:nvPr/>
        </p:nvSpPr>
        <p:spPr>
          <a:xfrm rot="2700000">
            <a:off x="2117750" y="3438144"/>
            <a:ext cx="77724" cy="77724"/>
          </a:xfrm>
          <a:prstGeom prst="rect">
            <a:avLst/>
          </a:prstGeom>
          <a:solidFill>
            <a:srgbClr val="1A5FA8">
              <a:alpha val="18000"/>
            </a:srgbClr>
          </a:solidFill>
          <a:ln w="12700">
            <a:solidFill>
              <a:srgbClr val="1A5FA8"/>
            </a:solidFill>
            <a:prstDash val="solid"/>
          </a:ln>
        </p:spPr>
      </p:sp>
      <p:sp>
        <p:nvSpPr>
          <p:cNvPr id="250" name="Shape 248"/>
          <p:cNvSpPr/>
          <p:nvPr/>
        </p:nvSpPr>
        <p:spPr>
          <a:xfrm rot="2700000">
            <a:off x="2234794" y="3438144"/>
            <a:ext cx="77724" cy="77724"/>
          </a:xfrm>
          <a:prstGeom prst="rect">
            <a:avLst/>
          </a:prstGeom>
          <a:solidFill>
            <a:srgbClr val="1A5FA8">
              <a:alpha val="18000"/>
            </a:srgbClr>
          </a:solidFill>
          <a:ln w="12700">
            <a:solidFill>
              <a:srgbClr val="1A5FA8"/>
            </a:solidFill>
            <a:prstDash val="solid"/>
          </a:ln>
        </p:spPr>
      </p:sp>
      <p:sp>
        <p:nvSpPr>
          <p:cNvPr id="251" name="Shape 249"/>
          <p:cNvSpPr/>
          <p:nvPr/>
        </p:nvSpPr>
        <p:spPr>
          <a:xfrm rot="2700000">
            <a:off x="2351837" y="3438144"/>
            <a:ext cx="77724" cy="77724"/>
          </a:xfrm>
          <a:prstGeom prst="rect">
            <a:avLst/>
          </a:prstGeom>
          <a:solidFill>
            <a:srgbClr val="1A5FA8">
              <a:alpha val="18000"/>
            </a:srgbClr>
          </a:solidFill>
          <a:ln w="12700">
            <a:solidFill>
              <a:srgbClr val="1A5FA8"/>
            </a:solidFill>
            <a:prstDash val="solid"/>
          </a:ln>
        </p:spPr>
      </p:sp>
      <p:sp>
        <p:nvSpPr>
          <p:cNvPr id="252" name="Shape 250"/>
          <p:cNvSpPr/>
          <p:nvPr/>
        </p:nvSpPr>
        <p:spPr>
          <a:xfrm rot="2700000">
            <a:off x="2468880" y="3438144"/>
            <a:ext cx="77724" cy="77724"/>
          </a:xfrm>
          <a:prstGeom prst="rect">
            <a:avLst/>
          </a:prstGeom>
          <a:solidFill>
            <a:srgbClr val="1A5FA8">
              <a:alpha val="18000"/>
            </a:srgbClr>
          </a:solidFill>
          <a:ln w="12700">
            <a:solidFill>
              <a:srgbClr val="1A5FA8"/>
            </a:solidFill>
            <a:prstDash val="solid"/>
          </a:ln>
        </p:spPr>
      </p:sp>
      <p:sp>
        <p:nvSpPr>
          <p:cNvPr id="253" name="Shape 251"/>
          <p:cNvSpPr/>
          <p:nvPr/>
        </p:nvSpPr>
        <p:spPr>
          <a:xfrm rot="2700000">
            <a:off x="2585923" y="3438144"/>
            <a:ext cx="77724" cy="77724"/>
          </a:xfrm>
          <a:prstGeom prst="rect">
            <a:avLst/>
          </a:prstGeom>
          <a:solidFill>
            <a:srgbClr val="1A5FA8">
              <a:alpha val="18000"/>
            </a:srgbClr>
          </a:solidFill>
          <a:ln w="12700">
            <a:solidFill>
              <a:srgbClr val="1A5FA8"/>
            </a:solidFill>
            <a:prstDash val="solid"/>
          </a:ln>
        </p:spPr>
      </p:sp>
      <p:sp>
        <p:nvSpPr>
          <p:cNvPr id="254" name="Shape 252"/>
          <p:cNvSpPr/>
          <p:nvPr/>
        </p:nvSpPr>
        <p:spPr>
          <a:xfrm rot="2700000">
            <a:off x="2702966" y="3438144"/>
            <a:ext cx="77724" cy="77724"/>
          </a:xfrm>
          <a:prstGeom prst="rect">
            <a:avLst/>
          </a:prstGeom>
          <a:solidFill>
            <a:srgbClr val="1A5FA8">
              <a:alpha val="18000"/>
            </a:srgbClr>
          </a:solidFill>
          <a:ln w="12700">
            <a:solidFill>
              <a:srgbClr val="1A5FA8"/>
            </a:solidFill>
            <a:prstDash val="solid"/>
          </a:ln>
        </p:spPr>
      </p:sp>
      <p:sp>
        <p:nvSpPr>
          <p:cNvPr id="255" name="Text 253"/>
          <p:cNvSpPr/>
          <p:nvPr/>
        </p:nvSpPr>
        <p:spPr>
          <a:xfrm>
            <a:off x="6272784" y="3511296"/>
            <a:ext cx="2651760" cy="1298448"/>
          </a:xfrm>
          <a:prstGeom prst="rect">
            <a:avLst/>
          </a:prstGeom>
          <a:noFill/>
          <a:ln/>
        </p:spPr>
        <p:txBody>
          <a:bodyPr wrap="square" rtlCol="0" anchor="t"/>
          <a:lstStyle/>
          <a:p>
            <a:pPr indent="0" marL="0">
              <a:buNone/>
            </a:pPr>
            <a:r>
              <a:rPr lang="en-US" sz="880" dirty="0">
                <a:solidFill>
                  <a:srgbClr val="EDE0C8"/>
                </a:solidFill>
                <a:latin typeface="Calibri" pitchFamily="34" charset="0"/>
                <a:ea typeface="Calibri" pitchFamily="34" charset="-122"/>
                <a:cs typeface="Calibri" pitchFamily="34" charset="-120"/>
              </a:rPr>
              <a:t>If natural gas becomes available at your site in 3–5 years (ONEE gas grid expansion is ongoing in Morocco), a dual-fuel LPG/natural gas burner installed today avoids a complete burner replacement later. The incremental cost at purchase is modest. Recommend specifying dual-fuel as an option in your tender.</a:t>
            </a:r>
            <a:endParaRPr lang="en-US" sz="880" dirty="0"/>
          </a:p>
        </p:txBody>
      </p:sp>
      <p:sp>
        <p:nvSpPr>
          <p:cNvPr id="256" name="Shape 254"/>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75" name="Shape 273"/>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76" name="Shape 274"/>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77" name="Shape 275"/>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78" name="Shape 276"/>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79" name="Shape 277"/>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80" name="Shape 278"/>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81" name="Shape 279"/>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82" name="Shape 280"/>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83" name="Shape 281"/>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84" name="Shape 282"/>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85" name="Shape 283"/>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86" name="Shape 284"/>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87" name="Shape 285"/>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88" name="Shape 286"/>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89" name="Shape 287"/>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90" name="Shape 288"/>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91" name="Shape 289"/>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92" name="Shape 290"/>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93" name="Shape 291"/>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94" name="Shape 292"/>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95" name="Shape 293"/>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96" name="Shape 294"/>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97" name="Shape 295"/>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98" name="Shape 296"/>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99" name="Shape 297"/>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300" name="Shape 298"/>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301" name="Shape 299"/>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302" name="Shape 300"/>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303" name="Shape 301"/>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304" name="Shape 302"/>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305" name="Shape 303"/>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306" name="Shape 304"/>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307" name="Shape 305"/>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308" name="Shape 306"/>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309" name="Shape 307"/>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310" name="Shape 308"/>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311" name="Shape 309"/>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312" name="Shape 310"/>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313" name="Shape 311"/>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314" name="Shape 312"/>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315" name="Shape 313"/>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316" name="Shape 314"/>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317" name="Shape 315"/>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318" name="Shape 316"/>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319" name="Shape 317"/>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320" name="Shape 318"/>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321" name="Shape 319"/>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322" name="Shape 320"/>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323" name="Shape 321"/>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324" name="Shape 322"/>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325" name="Shape 323"/>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326" name="Shape 324"/>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327" name="Shape 325"/>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328" name="Shape 326"/>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329" name="Shape 327"/>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330" name="Shape 328"/>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331" name="Shape 329"/>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332" name="Shape 330"/>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333" name="Shape 331"/>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334" name="Text 332"/>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EU &amp; USA EXPORT — WHAT ACTUALLY MATTERS</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The boiler brand does not determine your export certification. These five things do.</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475488"/>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4864" cy="475488"/>
          </a:xfrm>
          <a:prstGeom prst="rect">
            <a:avLst/>
          </a:prstGeom>
          <a:solidFill>
            <a:srgbClr val="D4951A"/>
          </a:solidFill>
          <a:ln/>
        </p:spPr>
      </p:sp>
      <p:sp>
        <p:nvSpPr>
          <p:cNvPr id="90" name="Text 88"/>
          <p:cNvSpPr/>
          <p:nvPr/>
        </p:nvSpPr>
        <p:spPr>
          <a:xfrm>
            <a:off x="402336" y="969264"/>
            <a:ext cx="8321040" cy="402336"/>
          </a:xfrm>
          <a:prstGeom prst="rect">
            <a:avLst/>
          </a:prstGeom>
          <a:noFill/>
          <a:ln/>
        </p:spPr>
        <p:txBody>
          <a:bodyPr wrap="square" rtlCol="0" anchor="ctr"/>
          <a:lstStyle/>
          <a:p>
            <a:pPr indent="0" marL="0">
              <a:buNone/>
            </a:pPr>
            <a:r>
              <a:rPr lang="en-US" sz="1100" b="1" dirty="0">
                <a:solidFill>
                  <a:srgbClr val="D4951A"/>
                </a:solidFill>
                <a:latin typeface="Calibri" pitchFamily="34" charset="0"/>
                <a:ea typeface="Calibri" pitchFamily="34" charset="-122"/>
                <a:cs typeface="Calibri" pitchFamily="34" charset="-120"/>
              </a:rPr>
              <a:t>Key Principle: </a:t>
            </a:r>
            <a:pPr indent="0" marL="0">
              <a:buNone/>
            </a:pPr>
            <a:r>
              <a:rPr lang="en-US" sz="1050" dirty="0">
                <a:solidFill>
                  <a:srgbClr val="EDE0C8"/>
                </a:solidFill>
                <a:latin typeface="Calibri" pitchFamily="34" charset="0"/>
                <a:ea typeface="Calibri" pitchFamily="34" charset="-122"/>
                <a:cs typeface="Calibri" pitchFamily="34" charset="-120"/>
              </a:rPr>
              <a:t>No EU regulation or FDA rule specifies a boiler brand or technology type. What is regulated is the safety and traceability of what the boiler produces — steam as a food contact input — and how you document it.</a:t>
            </a:r>
            <a:endParaRPr lang="en-US" sz="1100" dirty="0"/>
          </a:p>
        </p:txBody>
      </p:sp>
      <p:sp>
        <p:nvSpPr>
          <p:cNvPr id="91" name="Shape 89"/>
          <p:cNvSpPr/>
          <p:nvPr/>
        </p:nvSpPr>
        <p:spPr>
          <a:xfrm>
            <a:off x="256032" y="1499616"/>
            <a:ext cx="8631936" cy="640080"/>
          </a:xfrm>
          <a:prstGeom prst="rect">
            <a:avLst/>
          </a:prstGeom>
          <a:solidFill>
            <a:srgbClr val="141418"/>
          </a:solidFill>
          <a:ln w="12700">
            <a:solidFill>
              <a:srgbClr val="1E1E26"/>
            </a:solidFill>
            <a:prstDash val="solid"/>
          </a:ln>
        </p:spPr>
      </p:sp>
      <p:sp>
        <p:nvSpPr>
          <p:cNvPr id="92" name="Shape 90"/>
          <p:cNvSpPr/>
          <p:nvPr/>
        </p:nvSpPr>
        <p:spPr>
          <a:xfrm>
            <a:off x="256032" y="1499616"/>
            <a:ext cx="502920" cy="640080"/>
          </a:xfrm>
          <a:prstGeom prst="rect">
            <a:avLst/>
          </a:prstGeom>
          <a:solidFill>
            <a:srgbClr val="1A5FA8"/>
          </a:solidFill>
          <a:ln/>
        </p:spPr>
      </p:sp>
      <p:sp>
        <p:nvSpPr>
          <p:cNvPr id="93" name="Text 91"/>
          <p:cNvSpPr/>
          <p:nvPr/>
        </p:nvSpPr>
        <p:spPr>
          <a:xfrm>
            <a:off x="256032" y="1499616"/>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01</a:t>
            </a:r>
            <a:endParaRPr lang="en-US" sz="1600" dirty="0"/>
          </a:p>
        </p:txBody>
      </p:sp>
      <p:sp>
        <p:nvSpPr>
          <p:cNvPr id="94" name="Text 92"/>
          <p:cNvSpPr/>
          <p:nvPr/>
        </p:nvSpPr>
        <p:spPr>
          <a:xfrm>
            <a:off x="841248" y="1536192"/>
            <a:ext cx="6766560" cy="256032"/>
          </a:xfrm>
          <a:prstGeom prst="rect">
            <a:avLst/>
          </a:prstGeom>
          <a:noFill/>
          <a:ln/>
        </p:spPr>
        <p:txBody>
          <a:bodyPr wrap="square" rtlCol="0" anchor="ctr"/>
          <a:lstStyle/>
          <a:p>
            <a:pPr indent="0" marL="0">
              <a:buNone/>
            </a:pPr>
            <a:r>
              <a:rPr lang="en-US" sz="1050" b="1" dirty="0">
                <a:solidFill>
                  <a:srgbClr val="1A5FA8"/>
                </a:solidFill>
                <a:latin typeface="Georgia" pitchFamily="34" charset="0"/>
                <a:ea typeface="Georgia" pitchFamily="34" charset="-122"/>
                <a:cs typeface="Georgia" pitchFamily="34" charset="-120"/>
              </a:rPr>
              <a:t>CE Marking under PED 2014/68/EU</a:t>
            </a:r>
            <a:endParaRPr lang="en-US" sz="1050" dirty="0"/>
          </a:p>
        </p:txBody>
      </p:sp>
      <p:sp>
        <p:nvSpPr>
          <p:cNvPr id="95" name="Text 93"/>
          <p:cNvSpPr/>
          <p:nvPr/>
        </p:nvSpPr>
        <p:spPr>
          <a:xfrm>
            <a:off x="841248" y="1801368"/>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This is the ONE area where your boiler selection directly affects export readiness. A boiler sold into Morocco may carry only Moroccan certification. For EU market credibility and FSSC 22000 audit defensibility, insist on CE marking in your tender. European-sourced Miura, Clayton, or Cleaver-Brooks units come CE marked as standard.</a:t>
            </a:r>
            <a:endParaRPr lang="en-US" sz="850" dirty="0"/>
          </a:p>
        </p:txBody>
      </p:sp>
      <p:sp>
        <p:nvSpPr>
          <p:cNvPr id="96" name="Shape 94"/>
          <p:cNvSpPr/>
          <p:nvPr/>
        </p:nvSpPr>
        <p:spPr>
          <a:xfrm>
            <a:off x="7699248" y="1536192"/>
            <a:ext cx="502920" cy="228600"/>
          </a:xfrm>
          <a:prstGeom prst="rect">
            <a:avLst/>
          </a:prstGeom>
          <a:solidFill>
            <a:srgbClr val="1A3A8A"/>
          </a:solidFill>
          <a:ln/>
        </p:spPr>
      </p:sp>
      <p:sp>
        <p:nvSpPr>
          <p:cNvPr id="97" name="Text 95"/>
          <p:cNvSpPr/>
          <p:nvPr/>
        </p:nvSpPr>
        <p:spPr>
          <a:xfrm>
            <a:off x="7699248" y="1536192"/>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EU</a:t>
            </a:r>
            <a:endParaRPr lang="en-US" sz="750" dirty="0"/>
          </a:p>
        </p:txBody>
      </p:sp>
      <p:sp>
        <p:nvSpPr>
          <p:cNvPr id="98" name="Shape 96"/>
          <p:cNvSpPr/>
          <p:nvPr/>
        </p:nvSpPr>
        <p:spPr>
          <a:xfrm>
            <a:off x="256032" y="2194560"/>
            <a:ext cx="8631936" cy="640080"/>
          </a:xfrm>
          <a:prstGeom prst="rect">
            <a:avLst/>
          </a:prstGeom>
          <a:solidFill>
            <a:srgbClr val="141418"/>
          </a:solidFill>
          <a:ln w="12700">
            <a:solidFill>
              <a:srgbClr val="1E1E26"/>
            </a:solidFill>
            <a:prstDash val="solid"/>
          </a:ln>
        </p:spPr>
      </p:sp>
      <p:sp>
        <p:nvSpPr>
          <p:cNvPr id="99" name="Shape 97"/>
          <p:cNvSpPr/>
          <p:nvPr/>
        </p:nvSpPr>
        <p:spPr>
          <a:xfrm>
            <a:off x="256032" y="2194560"/>
            <a:ext cx="502920" cy="640080"/>
          </a:xfrm>
          <a:prstGeom prst="rect">
            <a:avLst/>
          </a:prstGeom>
          <a:solidFill>
            <a:srgbClr val="1B9A8A"/>
          </a:solidFill>
          <a:ln/>
        </p:spPr>
      </p:sp>
      <p:sp>
        <p:nvSpPr>
          <p:cNvPr id="100" name="Text 98"/>
          <p:cNvSpPr/>
          <p:nvPr/>
        </p:nvSpPr>
        <p:spPr>
          <a:xfrm>
            <a:off x="256032" y="2194560"/>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02</a:t>
            </a:r>
            <a:endParaRPr lang="en-US" sz="1600" dirty="0"/>
          </a:p>
        </p:txBody>
      </p:sp>
      <p:sp>
        <p:nvSpPr>
          <p:cNvPr id="101" name="Text 99"/>
          <p:cNvSpPr/>
          <p:nvPr/>
        </p:nvSpPr>
        <p:spPr>
          <a:xfrm>
            <a:off x="841248" y="2231136"/>
            <a:ext cx="6766560" cy="256032"/>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Food-Grade Boiler Water Treatment (NSF H1)</a:t>
            </a:r>
            <a:endParaRPr lang="en-US" sz="1050" dirty="0"/>
          </a:p>
        </p:txBody>
      </p:sp>
      <p:sp>
        <p:nvSpPr>
          <p:cNvPr id="102" name="Text 100"/>
          <p:cNvSpPr/>
          <p:nvPr/>
        </p:nvSpPr>
        <p:spPr>
          <a:xfrm>
            <a:off x="841248" y="2496312"/>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Standard industrial anti-scale and oxygen-scavenging chemicals are NOT acceptable when steam contacts food. Both EU Reg. 183/2005 and FDA 21 CFR Part 507 require chemical inputs to be food-grade. Specify NSF H1 certified water treatment chemicals in your tender as a mandatory requirement. Your chemical supplier must provide a certificate.</a:t>
            </a:r>
            <a:endParaRPr lang="en-US" sz="850" dirty="0"/>
          </a:p>
        </p:txBody>
      </p:sp>
      <p:sp>
        <p:nvSpPr>
          <p:cNvPr id="103" name="Shape 101"/>
          <p:cNvSpPr/>
          <p:nvPr/>
        </p:nvSpPr>
        <p:spPr>
          <a:xfrm>
            <a:off x="7699248" y="2231136"/>
            <a:ext cx="502920" cy="228600"/>
          </a:xfrm>
          <a:prstGeom prst="rect">
            <a:avLst/>
          </a:prstGeom>
          <a:solidFill>
            <a:srgbClr val="1A3A8A"/>
          </a:solidFill>
          <a:ln/>
        </p:spPr>
      </p:sp>
      <p:sp>
        <p:nvSpPr>
          <p:cNvPr id="104" name="Text 102"/>
          <p:cNvSpPr/>
          <p:nvPr/>
        </p:nvSpPr>
        <p:spPr>
          <a:xfrm>
            <a:off x="7699248" y="2231136"/>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EU</a:t>
            </a:r>
            <a:endParaRPr lang="en-US" sz="750" dirty="0"/>
          </a:p>
        </p:txBody>
      </p:sp>
      <p:sp>
        <p:nvSpPr>
          <p:cNvPr id="105" name="Shape 103"/>
          <p:cNvSpPr/>
          <p:nvPr/>
        </p:nvSpPr>
        <p:spPr>
          <a:xfrm>
            <a:off x="8302752" y="2231136"/>
            <a:ext cx="530352" cy="228600"/>
          </a:xfrm>
          <a:prstGeom prst="rect">
            <a:avLst/>
          </a:prstGeom>
          <a:solidFill>
            <a:srgbClr val="8A1A1A"/>
          </a:solidFill>
          <a:ln/>
        </p:spPr>
      </p:sp>
      <p:sp>
        <p:nvSpPr>
          <p:cNvPr id="106" name="Text 104"/>
          <p:cNvSpPr/>
          <p:nvPr/>
        </p:nvSpPr>
        <p:spPr>
          <a:xfrm>
            <a:off x="8302752" y="2231136"/>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07" name="Shape 105"/>
          <p:cNvSpPr/>
          <p:nvPr/>
        </p:nvSpPr>
        <p:spPr>
          <a:xfrm>
            <a:off x="256032" y="2889504"/>
            <a:ext cx="8631936" cy="640080"/>
          </a:xfrm>
          <a:prstGeom prst="rect">
            <a:avLst/>
          </a:prstGeom>
          <a:solidFill>
            <a:srgbClr val="141418"/>
          </a:solidFill>
          <a:ln w="12700">
            <a:solidFill>
              <a:srgbClr val="1E1E26"/>
            </a:solidFill>
            <a:prstDash val="solid"/>
          </a:ln>
        </p:spPr>
      </p:sp>
      <p:sp>
        <p:nvSpPr>
          <p:cNvPr id="108" name="Shape 106"/>
          <p:cNvSpPr/>
          <p:nvPr/>
        </p:nvSpPr>
        <p:spPr>
          <a:xfrm>
            <a:off x="256032" y="2889504"/>
            <a:ext cx="502920" cy="640080"/>
          </a:xfrm>
          <a:prstGeom prst="rect">
            <a:avLst/>
          </a:prstGeom>
          <a:solidFill>
            <a:srgbClr val="D4951A"/>
          </a:solidFill>
          <a:ln/>
        </p:spPr>
      </p:sp>
      <p:sp>
        <p:nvSpPr>
          <p:cNvPr id="109" name="Text 107"/>
          <p:cNvSpPr/>
          <p:nvPr/>
        </p:nvSpPr>
        <p:spPr>
          <a:xfrm>
            <a:off x="256032" y="2889504"/>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03</a:t>
            </a:r>
            <a:endParaRPr lang="en-US" sz="1600" dirty="0"/>
          </a:p>
        </p:txBody>
      </p:sp>
      <p:sp>
        <p:nvSpPr>
          <p:cNvPr id="110" name="Text 108"/>
          <p:cNvSpPr/>
          <p:nvPr/>
        </p:nvSpPr>
        <p:spPr>
          <a:xfrm>
            <a:off x="841248" y="2926080"/>
            <a:ext cx="6766560" cy="256032"/>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Steam Quality as a Documented CCP</a:t>
            </a:r>
            <a:endParaRPr lang="en-US" sz="1050" dirty="0"/>
          </a:p>
        </p:txBody>
      </p:sp>
      <p:sp>
        <p:nvSpPr>
          <p:cNvPr id="111" name="Text 109"/>
          <p:cNvSpPr/>
          <p:nvPr/>
        </p:nvSpPr>
        <p:spPr>
          <a:xfrm>
            <a:off x="841248" y="3191256"/>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Your HACCP plan must identify the conditioner steam circuit as a Critical Control Point. You need a monitoring SOP (daily pH, conductivity, chemical residue), corrective action procedure, and independent laboratory steam quality test results (quarterly). An auditor will ask for these records — the boiler brand is irrelevant, the records are everything.</a:t>
            </a:r>
            <a:endParaRPr lang="en-US" sz="850" dirty="0"/>
          </a:p>
        </p:txBody>
      </p:sp>
      <p:sp>
        <p:nvSpPr>
          <p:cNvPr id="112" name="Shape 110"/>
          <p:cNvSpPr/>
          <p:nvPr/>
        </p:nvSpPr>
        <p:spPr>
          <a:xfrm>
            <a:off x="7699248" y="2926080"/>
            <a:ext cx="502920" cy="228600"/>
          </a:xfrm>
          <a:prstGeom prst="rect">
            <a:avLst/>
          </a:prstGeom>
          <a:solidFill>
            <a:srgbClr val="1A3A8A"/>
          </a:solidFill>
          <a:ln/>
        </p:spPr>
      </p:sp>
      <p:sp>
        <p:nvSpPr>
          <p:cNvPr id="113" name="Text 111"/>
          <p:cNvSpPr/>
          <p:nvPr/>
        </p:nvSpPr>
        <p:spPr>
          <a:xfrm>
            <a:off x="7699248" y="2926080"/>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EU</a:t>
            </a:r>
            <a:endParaRPr lang="en-US" sz="750" dirty="0"/>
          </a:p>
        </p:txBody>
      </p:sp>
      <p:sp>
        <p:nvSpPr>
          <p:cNvPr id="114" name="Shape 112"/>
          <p:cNvSpPr/>
          <p:nvPr/>
        </p:nvSpPr>
        <p:spPr>
          <a:xfrm>
            <a:off x="8302752" y="2926080"/>
            <a:ext cx="530352" cy="228600"/>
          </a:xfrm>
          <a:prstGeom prst="rect">
            <a:avLst/>
          </a:prstGeom>
          <a:solidFill>
            <a:srgbClr val="8A1A1A"/>
          </a:solidFill>
          <a:ln/>
        </p:spPr>
      </p:sp>
      <p:sp>
        <p:nvSpPr>
          <p:cNvPr id="115" name="Text 113"/>
          <p:cNvSpPr/>
          <p:nvPr/>
        </p:nvSpPr>
        <p:spPr>
          <a:xfrm>
            <a:off x="8302752" y="2926080"/>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16" name="Shape 114"/>
          <p:cNvSpPr/>
          <p:nvPr/>
        </p:nvSpPr>
        <p:spPr>
          <a:xfrm>
            <a:off x="256032" y="3584448"/>
            <a:ext cx="8631936" cy="640080"/>
          </a:xfrm>
          <a:prstGeom prst="rect">
            <a:avLst/>
          </a:prstGeom>
          <a:solidFill>
            <a:srgbClr val="141418"/>
          </a:solidFill>
          <a:ln w="12700">
            <a:solidFill>
              <a:srgbClr val="1E1E26"/>
            </a:solidFill>
            <a:prstDash val="solid"/>
          </a:ln>
        </p:spPr>
      </p:sp>
      <p:sp>
        <p:nvSpPr>
          <p:cNvPr id="117" name="Shape 115"/>
          <p:cNvSpPr/>
          <p:nvPr/>
        </p:nvSpPr>
        <p:spPr>
          <a:xfrm>
            <a:off x="256032" y="3584448"/>
            <a:ext cx="502920" cy="640080"/>
          </a:xfrm>
          <a:prstGeom prst="rect">
            <a:avLst/>
          </a:prstGeom>
          <a:solidFill>
            <a:srgbClr val="C0622B"/>
          </a:solidFill>
          <a:ln/>
        </p:spPr>
      </p:sp>
      <p:sp>
        <p:nvSpPr>
          <p:cNvPr id="118" name="Text 116"/>
          <p:cNvSpPr/>
          <p:nvPr/>
        </p:nvSpPr>
        <p:spPr>
          <a:xfrm>
            <a:off x="256032" y="3584448"/>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04</a:t>
            </a:r>
            <a:endParaRPr lang="en-US" sz="1600" dirty="0"/>
          </a:p>
        </p:txBody>
      </p:sp>
      <p:sp>
        <p:nvSpPr>
          <p:cNvPr id="119" name="Text 117"/>
          <p:cNvSpPr/>
          <p:nvPr/>
        </p:nvSpPr>
        <p:spPr>
          <a:xfrm>
            <a:off x="841248" y="3621024"/>
            <a:ext cx="6766560" cy="256032"/>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Calibration Traceability on All Instruments</a:t>
            </a:r>
            <a:endParaRPr lang="en-US" sz="1050" dirty="0"/>
          </a:p>
        </p:txBody>
      </p:sp>
      <p:sp>
        <p:nvSpPr>
          <p:cNvPr id="120" name="Text 118"/>
          <p:cNvSpPr/>
          <p:nvPr/>
        </p:nvSpPr>
        <p:spPr>
          <a:xfrm>
            <a:off x="841248" y="3886200"/>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Every pressure gauge, temperature sensor, safety valve, and conductivity meter on the boiler must be calibrated by an accredited body, with certificates retained for minimum 2 years. Both FSSC 22000 and FDA PCAF auditors will sample these records. Build calibration into your commissioning scope — do not treat it as an afterthought.</a:t>
            </a:r>
            <a:endParaRPr lang="en-US" sz="850" dirty="0"/>
          </a:p>
        </p:txBody>
      </p:sp>
      <p:sp>
        <p:nvSpPr>
          <p:cNvPr id="121" name="Shape 119"/>
          <p:cNvSpPr/>
          <p:nvPr/>
        </p:nvSpPr>
        <p:spPr>
          <a:xfrm>
            <a:off x="7699248" y="3621024"/>
            <a:ext cx="502920" cy="228600"/>
          </a:xfrm>
          <a:prstGeom prst="rect">
            <a:avLst/>
          </a:prstGeom>
          <a:solidFill>
            <a:srgbClr val="1A3A8A"/>
          </a:solidFill>
          <a:ln/>
        </p:spPr>
      </p:sp>
      <p:sp>
        <p:nvSpPr>
          <p:cNvPr id="122" name="Text 120"/>
          <p:cNvSpPr/>
          <p:nvPr/>
        </p:nvSpPr>
        <p:spPr>
          <a:xfrm>
            <a:off x="7699248" y="3621024"/>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EU</a:t>
            </a:r>
            <a:endParaRPr lang="en-US" sz="750" dirty="0"/>
          </a:p>
        </p:txBody>
      </p:sp>
      <p:sp>
        <p:nvSpPr>
          <p:cNvPr id="123" name="Shape 121"/>
          <p:cNvSpPr/>
          <p:nvPr/>
        </p:nvSpPr>
        <p:spPr>
          <a:xfrm>
            <a:off x="8302752" y="3621024"/>
            <a:ext cx="530352" cy="228600"/>
          </a:xfrm>
          <a:prstGeom prst="rect">
            <a:avLst/>
          </a:prstGeom>
          <a:solidFill>
            <a:srgbClr val="8A1A1A"/>
          </a:solidFill>
          <a:ln/>
        </p:spPr>
      </p:sp>
      <p:sp>
        <p:nvSpPr>
          <p:cNvPr id="124" name="Text 122"/>
          <p:cNvSpPr/>
          <p:nvPr/>
        </p:nvSpPr>
        <p:spPr>
          <a:xfrm>
            <a:off x="8302752" y="3621024"/>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25" name="Shape 123"/>
          <p:cNvSpPr/>
          <p:nvPr/>
        </p:nvSpPr>
        <p:spPr>
          <a:xfrm>
            <a:off x="256032" y="4279392"/>
            <a:ext cx="8631936" cy="640080"/>
          </a:xfrm>
          <a:prstGeom prst="rect">
            <a:avLst/>
          </a:prstGeom>
          <a:solidFill>
            <a:srgbClr val="141418"/>
          </a:solidFill>
          <a:ln w="12700">
            <a:solidFill>
              <a:srgbClr val="1E1E26"/>
            </a:solidFill>
            <a:prstDash val="solid"/>
          </a:ln>
        </p:spPr>
      </p:sp>
      <p:sp>
        <p:nvSpPr>
          <p:cNvPr id="126" name="Shape 124"/>
          <p:cNvSpPr/>
          <p:nvPr/>
        </p:nvSpPr>
        <p:spPr>
          <a:xfrm>
            <a:off x="256032" y="4279392"/>
            <a:ext cx="502920" cy="640080"/>
          </a:xfrm>
          <a:prstGeom prst="rect">
            <a:avLst/>
          </a:prstGeom>
          <a:solidFill>
            <a:srgbClr val="E8A020"/>
          </a:solidFill>
          <a:ln/>
        </p:spPr>
      </p:sp>
      <p:sp>
        <p:nvSpPr>
          <p:cNvPr id="127" name="Text 125"/>
          <p:cNvSpPr/>
          <p:nvPr/>
        </p:nvSpPr>
        <p:spPr>
          <a:xfrm>
            <a:off x="256032" y="4279392"/>
            <a:ext cx="502920" cy="640080"/>
          </a:xfrm>
          <a:prstGeom prst="rect">
            <a:avLst/>
          </a:prstGeom>
          <a:noFill/>
          <a:ln/>
        </p:spPr>
        <p:txBody>
          <a:bodyPr wrap="square" rtlCol="0" anchor="ctr"/>
          <a:lstStyle/>
          <a:p>
            <a:pPr algn="ctr" indent="0" marL="0">
              <a:buNone/>
            </a:pPr>
            <a:r>
              <a:rPr lang="en-US" sz="1600" b="1" dirty="0">
                <a:solidFill>
                  <a:srgbClr val="09090F"/>
                </a:solidFill>
                <a:latin typeface="Georgia" pitchFamily="34" charset="0"/>
                <a:ea typeface="Georgia" pitchFamily="34" charset="-122"/>
                <a:cs typeface="Georgia" pitchFamily="34" charset="-120"/>
              </a:rPr>
              <a:t>05</a:t>
            </a:r>
            <a:endParaRPr lang="en-US" sz="1600" dirty="0"/>
          </a:p>
        </p:txBody>
      </p:sp>
      <p:sp>
        <p:nvSpPr>
          <p:cNvPr id="128" name="Text 126"/>
          <p:cNvSpPr/>
          <p:nvPr/>
        </p:nvSpPr>
        <p:spPr>
          <a:xfrm>
            <a:off x="841248" y="4315968"/>
            <a:ext cx="6766560" cy="256032"/>
          </a:xfrm>
          <a:prstGeom prst="rect">
            <a:avLst/>
          </a:prstGeom>
          <a:noFill/>
          <a:ln/>
        </p:spPr>
        <p:txBody>
          <a:bodyPr wrap="square" rtlCol="0" anchor="ctr"/>
          <a:lstStyle/>
          <a:p>
            <a:pPr indent="0" marL="0">
              <a:buNone/>
            </a:pPr>
            <a:r>
              <a:rPr lang="en-US" sz="1050" b="1" dirty="0">
                <a:solidFill>
                  <a:srgbClr val="E8A020"/>
                </a:solidFill>
                <a:latin typeface="Georgia" pitchFamily="34" charset="0"/>
                <a:ea typeface="Georgia" pitchFamily="34" charset="-122"/>
                <a:cs typeface="Georgia" pitchFamily="34" charset="-120"/>
              </a:rPr>
              <a:t>Consistent Steam Supply to the Kill Step</a:t>
            </a:r>
            <a:endParaRPr lang="en-US" sz="1050" dirty="0"/>
          </a:p>
        </p:txBody>
      </p:sp>
      <p:sp>
        <p:nvSpPr>
          <p:cNvPr id="129" name="Text 127"/>
          <p:cNvSpPr/>
          <p:nvPr/>
        </p:nvSpPr>
        <p:spPr>
          <a:xfrm>
            <a:off x="841248" y="4581144"/>
            <a:ext cx="6766560" cy="310896"/>
          </a:xfrm>
          <a:prstGeom prst="rect">
            <a:avLst/>
          </a:prstGeom>
          <a:noFill/>
          <a:ln/>
        </p:spPr>
        <p:txBody>
          <a:bodyPr wrap="square" rtlCol="0" anchor="t"/>
          <a:lstStyle/>
          <a:p>
            <a:pPr indent="0" marL="0">
              <a:buNone/>
            </a:pPr>
            <a:r>
              <a:rPr lang="en-US" sz="850" dirty="0">
                <a:solidFill>
                  <a:srgbClr val="EDE0C8"/>
                </a:solidFill>
                <a:latin typeface="Calibri" pitchFamily="34" charset="0"/>
                <a:ea typeface="Calibri" pitchFamily="34" charset="-122"/>
                <a:cs typeface="Calibri" pitchFamily="34" charset="-120"/>
              </a:rPr>
              <a:t>The conditioner + extrusion kill step (≥80°C, ≥30 seconds) is your primary food safety barrier. Your HACCP validation must demonstrate the boiler can maintain this consistently throughout a production run. OTSG's superior load-following makes this validation evidence cleaner — but any boiler that can hold pressure under variable demand is acceptable if documented.</a:t>
            </a:r>
            <a:endParaRPr lang="en-US" sz="850" dirty="0"/>
          </a:p>
        </p:txBody>
      </p:sp>
      <p:sp>
        <p:nvSpPr>
          <p:cNvPr id="130" name="Shape 128"/>
          <p:cNvSpPr/>
          <p:nvPr/>
        </p:nvSpPr>
        <p:spPr>
          <a:xfrm>
            <a:off x="7699248" y="4315968"/>
            <a:ext cx="502920" cy="228600"/>
          </a:xfrm>
          <a:prstGeom prst="rect">
            <a:avLst/>
          </a:prstGeom>
          <a:solidFill>
            <a:srgbClr val="1A3A8A"/>
          </a:solidFill>
          <a:ln/>
        </p:spPr>
      </p:sp>
      <p:sp>
        <p:nvSpPr>
          <p:cNvPr id="131" name="Text 129"/>
          <p:cNvSpPr/>
          <p:nvPr/>
        </p:nvSpPr>
        <p:spPr>
          <a:xfrm>
            <a:off x="7699248" y="4315968"/>
            <a:ext cx="502920"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EU</a:t>
            </a:r>
            <a:endParaRPr lang="en-US" sz="750" dirty="0"/>
          </a:p>
        </p:txBody>
      </p:sp>
      <p:sp>
        <p:nvSpPr>
          <p:cNvPr id="132" name="Shape 130"/>
          <p:cNvSpPr/>
          <p:nvPr/>
        </p:nvSpPr>
        <p:spPr>
          <a:xfrm>
            <a:off x="8302752" y="4315968"/>
            <a:ext cx="530352" cy="228600"/>
          </a:xfrm>
          <a:prstGeom prst="rect">
            <a:avLst/>
          </a:prstGeom>
          <a:solidFill>
            <a:srgbClr val="8A1A1A"/>
          </a:solidFill>
          <a:ln/>
        </p:spPr>
      </p:sp>
      <p:sp>
        <p:nvSpPr>
          <p:cNvPr id="133" name="Text 131"/>
          <p:cNvSpPr/>
          <p:nvPr/>
        </p:nvSpPr>
        <p:spPr>
          <a:xfrm>
            <a:off x="8302752" y="4315968"/>
            <a:ext cx="530352" cy="228600"/>
          </a:xfrm>
          <a:prstGeom prst="rect">
            <a:avLst/>
          </a:prstGeom>
          <a:noFill/>
          <a:ln/>
        </p:spPr>
        <p:txBody>
          <a:bodyPr wrap="square" rtlCol="0" anchor="ctr"/>
          <a:lstStyle/>
          <a:p>
            <a:pPr algn="ctr" indent="0" marL="0">
              <a:buNone/>
            </a:pPr>
            <a:r>
              <a:rPr lang="en-US" sz="750" b="1" dirty="0">
                <a:solidFill>
                  <a:srgbClr val="EDE0C8"/>
                </a:solidFill>
                <a:latin typeface="Calibri" pitchFamily="34" charset="0"/>
                <a:ea typeface="Calibri" pitchFamily="34" charset="-122"/>
                <a:cs typeface="Calibri" pitchFamily="34" charset="-120"/>
              </a:rPr>
              <a:t>🇺🇸 USA</a:t>
            </a:r>
            <a:endParaRPr lang="en-US" sz="750" dirty="0"/>
          </a:p>
        </p:txBody>
      </p:sp>
      <p:sp>
        <p:nvSpPr>
          <p:cNvPr id="134" name="Shape 132"/>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12" name="Text 210"/>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MANUFACTURER LANDSCAPE</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Shortlisted vendors — based on confirmed knowledge, no speculation</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329184"/>
          </a:xfrm>
          <a:prstGeom prst="rect">
            <a:avLst/>
          </a:prstGeom>
          <a:solidFill>
            <a:srgbClr val="130F08"/>
          </a:solidFill>
          <a:ln w="12700">
            <a:solidFill>
              <a:srgbClr val="C0622B"/>
            </a:solidFill>
            <a:prstDash val="solid"/>
          </a:ln>
        </p:spPr>
      </p:sp>
      <p:sp>
        <p:nvSpPr>
          <p:cNvPr id="89" name="Text 87"/>
          <p:cNvSpPr/>
          <p:nvPr/>
        </p:nvSpPr>
        <p:spPr>
          <a:xfrm>
            <a:off x="347472" y="950976"/>
            <a:ext cx="8357616" cy="292608"/>
          </a:xfrm>
          <a:prstGeom prst="rect">
            <a:avLst/>
          </a:prstGeom>
          <a:noFill/>
          <a:ln/>
        </p:spPr>
        <p:txBody>
          <a:bodyPr wrap="square" rtlCol="0" anchor="ctr"/>
          <a:lstStyle/>
          <a:p>
            <a:pPr indent="0" marL="0">
              <a:buNone/>
            </a:pPr>
            <a:r>
              <a:rPr lang="en-US" sz="850" i="1" dirty="0">
                <a:solidFill>
                  <a:srgbClr val="E8A020"/>
                </a:solidFill>
                <a:latin typeface="Calibri" pitchFamily="34" charset="0"/>
                <a:ea typeface="Calibri" pitchFamily="34" charset="-122"/>
                <a:cs typeface="Calibri" pitchFamily="34" charset="-120"/>
              </a:rPr>
              <a:t>⚠  Transparency Note: Manufacturer knowledge is based on verifiable industry information. Pricing, current Morocco availability, and lead times must be confirmed directly with each vendor before any commitment.</a:t>
            </a:r>
            <a:endParaRPr lang="en-US" sz="850" dirty="0"/>
          </a:p>
        </p:txBody>
      </p:sp>
      <p:sp>
        <p:nvSpPr>
          <p:cNvPr id="90" name="Shape 88"/>
          <p:cNvSpPr/>
          <p:nvPr/>
        </p:nvSpPr>
        <p:spPr>
          <a:xfrm>
            <a:off x="256032" y="1335024"/>
            <a:ext cx="8631936" cy="676656"/>
          </a:xfrm>
          <a:prstGeom prst="rect">
            <a:avLst/>
          </a:prstGeom>
          <a:solidFill>
            <a:srgbClr val="141418"/>
          </a:solidFill>
          <a:ln w="12700">
            <a:solidFill>
              <a:srgbClr val="1E1E26"/>
            </a:solidFill>
            <a:prstDash val="solid"/>
          </a:ln>
        </p:spPr>
      </p:sp>
      <p:sp>
        <p:nvSpPr>
          <p:cNvPr id="91" name="Shape 89"/>
          <p:cNvSpPr/>
          <p:nvPr/>
        </p:nvSpPr>
        <p:spPr>
          <a:xfrm>
            <a:off x="256032" y="1335024"/>
            <a:ext cx="54864" cy="676656"/>
          </a:xfrm>
          <a:prstGeom prst="rect">
            <a:avLst/>
          </a:prstGeom>
          <a:solidFill>
            <a:srgbClr val="1B9A8A"/>
          </a:solidFill>
          <a:ln/>
        </p:spPr>
      </p:sp>
      <p:sp>
        <p:nvSpPr>
          <p:cNvPr id="92" name="Shape 90"/>
          <p:cNvSpPr/>
          <p:nvPr/>
        </p:nvSpPr>
        <p:spPr>
          <a:xfrm>
            <a:off x="8101584" y="1389888"/>
            <a:ext cx="731520" cy="237744"/>
          </a:xfrm>
          <a:prstGeom prst="rect">
            <a:avLst/>
          </a:prstGeom>
          <a:solidFill>
            <a:srgbClr val="3DAF7A"/>
          </a:solidFill>
          <a:ln/>
        </p:spPr>
      </p:sp>
      <p:sp>
        <p:nvSpPr>
          <p:cNvPr id="93" name="Text 91"/>
          <p:cNvSpPr/>
          <p:nvPr/>
        </p:nvSpPr>
        <p:spPr>
          <a:xfrm>
            <a:off x="8101584" y="138988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PRIMARY</a:t>
            </a:r>
            <a:endParaRPr lang="en-US" sz="750" dirty="0"/>
          </a:p>
        </p:txBody>
      </p:sp>
      <p:sp>
        <p:nvSpPr>
          <p:cNvPr id="94" name="Text 92"/>
          <p:cNvSpPr/>
          <p:nvPr/>
        </p:nvSpPr>
        <p:spPr>
          <a:xfrm>
            <a:off x="402336" y="1380744"/>
            <a:ext cx="1828800" cy="274320"/>
          </a:xfrm>
          <a:prstGeom prst="rect">
            <a:avLst/>
          </a:prstGeom>
          <a:noFill/>
          <a:ln/>
        </p:spPr>
        <p:txBody>
          <a:bodyPr wrap="square" rtlCol="0" anchor="ctr"/>
          <a:lstStyle/>
          <a:p>
            <a:pPr indent="0" marL="0">
              <a:buNone/>
            </a:pPr>
            <a:r>
              <a:rPr lang="en-US" sz="1200" b="1" dirty="0">
                <a:solidFill>
                  <a:srgbClr val="1B9A8A"/>
                </a:solidFill>
                <a:latin typeface="Georgia" pitchFamily="34" charset="0"/>
                <a:ea typeface="Georgia" pitchFamily="34" charset="-122"/>
                <a:cs typeface="Georgia" pitchFamily="34" charset="-120"/>
              </a:rPr>
              <a:t>MIURA</a:t>
            </a:r>
            <a:endParaRPr lang="en-US" sz="1200" dirty="0"/>
          </a:p>
        </p:txBody>
      </p:sp>
      <p:sp>
        <p:nvSpPr>
          <p:cNvPr id="95" name="Text 93"/>
          <p:cNvSpPr/>
          <p:nvPr/>
        </p:nvSpPr>
        <p:spPr>
          <a:xfrm>
            <a:off x="402336" y="165506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Japan / Europe · OTSG</a:t>
            </a:r>
            <a:endParaRPr lang="en-US" sz="850" dirty="0"/>
          </a:p>
        </p:txBody>
      </p:sp>
      <p:sp>
        <p:nvSpPr>
          <p:cNvPr id="96" name="Text 94"/>
          <p:cNvSpPr/>
          <p:nvPr/>
        </p:nvSpPr>
        <p:spPr>
          <a:xfrm>
            <a:off x="402336" y="182880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Model: LX / EX series — compact, fast-startup</a:t>
            </a:r>
            <a:endParaRPr lang="en-US" sz="800" dirty="0"/>
          </a:p>
        </p:txBody>
      </p:sp>
      <p:sp>
        <p:nvSpPr>
          <p:cNvPr id="97" name="Text 95"/>
          <p:cNvSpPr/>
          <p:nvPr/>
        </p:nvSpPr>
        <p:spPr>
          <a:xfrm>
            <a:off x="2331720"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Food Industry</a:t>
            </a:r>
            <a:endParaRPr lang="en-US" sz="800" dirty="0"/>
          </a:p>
        </p:txBody>
      </p:sp>
      <p:sp>
        <p:nvSpPr>
          <p:cNvPr id="98" name="Text 96"/>
          <p:cNvSpPr/>
          <p:nvPr/>
        </p:nvSpPr>
        <p:spPr>
          <a:xfrm>
            <a:off x="2331720"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Pharmaceutical &amp; food industry standard globally</a:t>
            </a:r>
            <a:endParaRPr lang="en-US" sz="780" dirty="0"/>
          </a:p>
        </p:txBody>
      </p:sp>
      <p:sp>
        <p:nvSpPr>
          <p:cNvPr id="99" name="Text 97"/>
          <p:cNvSpPr/>
          <p:nvPr/>
        </p:nvSpPr>
        <p:spPr>
          <a:xfrm>
            <a:off x="3813048"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CE Marked</a:t>
            </a:r>
            <a:endParaRPr lang="en-US" sz="800" dirty="0"/>
          </a:p>
        </p:txBody>
      </p:sp>
      <p:sp>
        <p:nvSpPr>
          <p:cNvPr id="100" name="Text 98"/>
          <p:cNvSpPr/>
          <p:nvPr/>
        </p:nvSpPr>
        <p:spPr>
          <a:xfrm>
            <a:off x="3813048"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Yes — European-sourced units</a:t>
            </a:r>
            <a:endParaRPr lang="en-US" sz="780" dirty="0"/>
          </a:p>
        </p:txBody>
      </p:sp>
      <p:sp>
        <p:nvSpPr>
          <p:cNvPr id="101" name="Text 99"/>
          <p:cNvSpPr/>
          <p:nvPr/>
        </p:nvSpPr>
        <p:spPr>
          <a:xfrm>
            <a:off x="5294376"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LPG</a:t>
            </a:r>
            <a:endParaRPr lang="en-US" sz="800" dirty="0"/>
          </a:p>
        </p:txBody>
      </p:sp>
      <p:sp>
        <p:nvSpPr>
          <p:cNvPr id="102" name="Text 100"/>
          <p:cNvSpPr/>
          <p:nvPr/>
        </p:nvSpPr>
        <p:spPr>
          <a:xfrm>
            <a:off x="5294376"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LPG-rated burners available</a:t>
            </a:r>
            <a:endParaRPr lang="en-US" sz="780" dirty="0"/>
          </a:p>
        </p:txBody>
      </p:sp>
      <p:sp>
        <p:nvSpPr>
          <p:cNvPr id="103" name="Text 101"/>
          <p:cNvSpPr/>
          <p:nvPr/>
        </p:nvSpPr>
        <p:spPr>
          <a:xfrm>
            <a:off x="6775704" y="1371600"/>
            <a:ext cx="1417320" cy="201168"/>
          </a:xfrm>
          <a:prstGeom prst="rect">
            <a:avLst/>
          </a:prstGeom>
          <a:noFill/>
          <a:ln/>
        </p:spPr>
        <p:txBody>
          <a:bodyPr wrap="square" rtlCol="0" anchor="ctr"/>
          <a:lstStyle/>
          <a:p>
            <a:pPr indent="0" marL="0">
              <a:buNone/>
            </a:pPr>
            <a:r>
              <a:rPr lang="en-US" sz="800" b="1" dirty="0">
                <a:solidFill>
                  <a:srgbClr val="1B9A8A"/>
                </a:solidFill>
                <a:latin typeface="Calibri" pitchFamily="34" charset="0"/>
                <a:ea typeface="Calibri" pitchFamily="34" charset="-122"/>
                <a:cs typeface="Calibri" pitchFamily="34" charset="-120"/>
              </a:rPr>
              <a:t>Service Africa</a:t>
            </a:r>
            <a:endParaRPr lang="en-US" sz="800" dirty="0"/>
          </a:p>
        </p:txBody>
      </p:sp>
      <p:sp>
        <p:nvSpPr>
          <p:cNvPr id="104" name="Text 102"/>
          <p:cNvSpPr/>
          <p:nvPr/>
        </p:nvSpPr>
        <p:spPr>
          <a:xfrm>
            <a:off x="6775704" y="155448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European office (UK, France) — verify North Africa distributor</a:t>
            </a:r>
            <a:endParaRPr lang="en-US" sz="780" dirty="0"/>
          </a:p>
        </p:txBody>
      </p:sp>
      <p:sp>
        <p:nvSpPr>
          <p:cNvPr id="105" name="Text 103"/>
          <p:cNvSpPr/>
          <p:nvPr/>
        </p:nvSpPr>
        <p:spPr>
          <a:xfrm>
            <a:off x="402336" y="1993392"/>
            <a:ext cx="7644384" cy="0"/>
          </a:xfrm>
          <a:prstGeom prst="rect">
            <a:avLst/>
          </a:prstGeom>
          <a:noFill/>
          <a:ln/>
        </p:spPr>
        <p:txBody>
          <a:bodyPr wrap="square" rtlCol="0" anchor="ctr"/>
          <a:lstStyle/>
          <a:p>
            <a:pPr indent="0" marL="0">
              <a:buNone/>
            </a:pPr>
            <a:r>
              <a:rPr lang="en-US" dirty="0">
                <a:solidFill>
                  <a:srgbClr val="6B7A8A"/>
                </a:solidFill>
                <a:latin typeface="Calibri" pitchFamily="34" charset="0"/>
                <a:ea typeface="Calibri" pitchFamily="34" charset="-122"/>
                <a:cs typeface="Calibri" pitchFamily="34" charset="-120"/>
              </a:rPr>
              <a:t>Reference name for OTSG in food processing. Fast startup and high efficiency most relevant to your LPG context.</a:t>
            </a:r>
            <a:endParaRPr lang="en-US" dirty="0"/>
          </a:p>
        </p:txBody>
      </p:sp>
      <p:sp>
        <p:nvSpPr>
          <p:cNvPr id="106" name="Shape 104"/>
          <p:cNvSpPr/>
          <p:nvPr/>
        </p:nvSpPr>
        <p:spPr>
          <a:xfrm>
            <a:off x="256032" y="2066544"/>
            <a:ext cx="8631936" cy="676656"/>
          </a:xfrm>
          <a:prstGeom prst="rect">
            <a:avLst/>
          </a:prstGeom>
          <a:solidFill>
            <a:srgbClr val="111115"/>
          </a:solidFill>
          <a:ln w="12700">
            <a:solidFill>
              <a:srgbClr val="1E1E26"/>
            </a:solidFill>
            <a:prstDash val="solid"/>
          </a:ln>
        </p:spPr>
      </p:sp>
      <p:sp>
        <p:nvSpPr>
          <p:cNvPr id="107" name="Shape 105"/>
          <p:cNvSpPr/>
          <p:nvPr/>
        </p:nvSpPr>
        <p:spPr>
          <a:xfrm>
            <a:off x="256032" y="2066544"/>
            <a:ext cx="54864" cy="676656"/>
          </a:xfrm>
          <a:prstGeom prst="rect">
            <a:avLst/>
          </a:prstGeom>
          <a:solidFill>
            <a:srgbClr val="D4951A"/>
          </a:solidFill>
          <a:ln/>
        </p:spPr>
      </p:sp>
      <p:sp>
        <p:nvSpPr>
          <p:cNvPr id="108" name="Shape 106"/>
          <p:cNvSpPr/>
          <p:nvPr/>
        </p:nvSpPr>
        <p:spPr>
          <a:xfrm>
            <a:off x="8101584" y="2121408"/>
            <a:ext cx="731520" cy="237744"/>
          </a:xfrm>
          <a:prstGeom prst="rect">
            <a:avLst/>
          </a:prstGeom>
          <a:solidFill>
            <a:srgbClr val="3DAF7A"/>
          </a:solidFill>
          <a:ln/>
        </p:spPr>
      </p:sp>
      <p:sp>
        <p:nvSpPr>
          <p:cNvPr id="109" name="Text 107"/>
          <p:cNvSpPr/>
          <p:nvPr/>
        </p:nvSpPr>
        <p:spPr>
          <a:xfrm>
            <a:off x="8101584" y="212140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PRIMARY</a:t>
            </a:r>
            <a:endParaRPr lang="en-US" sz="750" dirty="0"/>
          </a:p>
        </p:txBody>
      </p:sp>
      <p:sp>
        <p:nvSpPr>
          <p:cNvPr id="110" name="Text 108"/>
          <p:cNvSpPr/>
          <p:nvPr/>
        </p:nvSpPr>
        <p:spPr>
          <a:xfrm>
            <a:off x="402336" y="2112264"/>
            <a:ext cx="1828800" cy="274320"/>
          </a:xfrm>
          <a:prstGeom prst="rect">
            <a:avLst/>
          </a:prstGeom>
          <a:noFill/>
          <a:ln/>
        </p:spPr>
        <p:txBody>
          <a:bodyPr wrap="square" rtlCol="0" anchor="ctr"/>
          <a:lstStyle/>
          <a:p>
            <a:pPr indent="0" marL="0">
              <a:buNone/>
            </a:pPr>
            <a:r>
              <a:rPr lang="en-US" sz="1200" b="1" dirty="0">
                <a:solidFill>
                  <a:srgbClr val="D4951A"/>
                </a:solidFill>
                <a:latin typeface="Georgia" pitchFamily="34" charset="0"/>
                <a:ea typeface="Georgia" pitchFamily="34" charset="-122"/>
                <a:cs typeface="Georgia" pitchFamily="34" charset="-120"/>
              </a:rPr>
              <a:t>CLAYTON INDUSTRIES</a:t>
            </a:r>
            <a:endParaRPr lang="en-US" sz="1200" dirty="0"/>
          </a:p>
        </p:txBody>
      </p:sp>
      <p:sp>
        <p:nvSpPr>
          <p:cNvPr id="111" name="Text 109"/>
          <p:cNvSpPr/>
          <p:nvPr/>
        </p:nvSpPr>
        <p:spPr>
          <a:xfrm>
            <a:off x="402336" y="238658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USA / Belgium · OTSG</a:t>
            </a:r>
            <a:endParaRPr lang="en-US" sz="850" dirty="0"/>
          </a:p>
        </p:txBody>
      </p:sp>
      <p:sp>
        <p:nvSpPr>
          <p:cNvPr id="112" name="Text 110"/>
          <p:cNvSpPr/>
          <p:nvPr/>
        </p:nvSpPr>
        <p:spPr>
          <a:xfrm>
            <a:off x="402336" y="256032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Model: Series E / EG — vertical coil OTSG</a:t>
            </a:r>
            <a:endParaRPr lang="en-US" sz="800" dirty="0"/>
          </a:p>
        </p:txBody>
      </p:sp>
      <p:sp>
        <p:nvSpPr>
          <p:cNvPr id="113" name="Text 111"/>
          <p:cNvSpPr/>
          <p:nvPr/>
        </p:nvSpPr>
        <p:spPr>
          <a:xfrm>
            <a:off x="2331720"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Food Industry</a:t>
            </a:r>
            <a:endParaRPr lang="en-US" sz="800" dirty="0"/>
          </a:p>
        </p:txBody>
      </p:sp>
      <p:sp>
        <p:nvSpPr>
          <p:cNvPr id="114" name="Text 112"/>
          <p:cNvSpPr/>
          <p:nvPr/>
        </p:nvSpPr>
        <p:spPr>
          <a:xfrm>
            <a:off x="2331720"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Food &amp; beverage, industrial process</a:t>
            </a:r>
            <a:endParaRPr lang="en-US" sz="780" dirty="0"/>
          </a:p>
        </p:txBody>
      </p:sp>
      <p:sp>
        <p:nvSpPr>
          <p:cNvPr id="115" name="Text 113"/>
          <p:cNvSpPr/>
          <p:nvPr/>
        </p:nvSpPr>
        <p:spPr>
          <a:xfrm>
            <a:off x="3813048"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CE Marked</a:t>
            </a:r>
            <a:endParaRPr lang="en-US" sz="800" dirty="0"/>
          </a:p>
        </p:txBody>
      </p:sp>
      <p:sp>
        <p:nvSpPr>
          <p:cNvPr id="116" name="Text 114"/>
          <p:cNvSpPr/>
          <p:nvPr/>
        </p:nvSpPr>
        <p:spPr>
          <a:xfrm>
            <a:off x="3813048"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Yes — manufactured in Belgium</a:t>
            </a:r>
            <a:endParaRPr lang="en-US" sz="780" dirty="0"/>
          </a:p>
        </p:txBody>
      </p:sp>
      <p:sp>
        <p:nvSpPr>
          <p:cNvPr id="117" name="Text 115"/>
          <p:cNvSpPr/>
          <p:nvPr/>
        </p:nvSpPr>
        <p:spPr>
          <a:xfrm>
            <a:off x="5294376"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LPG</a:t>
            </a:r>
            <a:endParaRPr lang="en-US" sz="800" dirty="0"/>
          </a:p>
        </p:txBody>
      </p:sp>
      <p:sp>
        <p:nvSpPr>
          <p:cNvPr id="118" name="Text 116"/>
          <p:cNvSpPr/>
          <p:nvPr/>
        </p:nvSpPr>
        <p:spPr>
          <a:xfrm>
            <a:off x="5294376"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LPG configurations available</a:t>
            </a:r>
            <a:endParaRPr lang="en-US" sz="780" dirty="0"/>
          </a:p>
        </p:txBody>
      </p:sp>
      <p:sp>
        <p:nvSpPr>
          <p:cNvPr id="119" name="Text 117"/>
          <p:cNvSpPr/>
          <p:nvPr/>
        </p:nvSpPr>
        <p:spPr>
          <a:xfrm>
            <a:off x="6775704" y="2103120"/>
            <a:ext cx="1417320" cy="201168"/>
          </a:xfrm>
          <a:prstGeom prst="rect">
            <a:avLst/>
          </a:prstGeom>
          <a:noFill/>
          <a:ln/>
        </p:spPr>
        <p:txBody>
          <a:bodyPr wrap="square" rtlCol="0" anchor="ctr"/>
          <a:lstStyle/>
          <a:p>
            <a:pPr indent="0" marL="0">
              <a:buNone/>
            </a:pPr>
            <a:r>
              <a:rPr lang="en-US" sz="800" b="1" dirty="0">
                <a:solidFill>
                  <a:srgbClr val="D4951A"/>
                </a:solidFill>
                <a:latin typeface="Calibri" pitchFamily="34" charset="0"/>
                <a:ea typeface="Calibri" pitchFamily="34" charset="-122"/>
                <a:cs typeface="Calibri" pitchFamily="34" charset="-120"/>
              </a:rPr>
              <a:t>Service Africa</a:t>
            </a:r>
            <a:endParaRPr lang="en-US" sz="800" dirty="0"/>
          </a:p>
        </p:txBody>
      </p:sp>
      <p:sp>
        <p:nvSpPr>
          <p:cNvPr id="120" name="Text 118"/>
          <p:cNvSpPr/>
          <p:nvPr/>
        </p:nvSpPr>
        <p:spPr>
          <a:xfrm>
            <a:off x="6775704" y="228600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Belgium manufacturing — strong EU logistics to Morocco</a:t>
            </a:r>
            <a:endParaRPr lang="en-US" sz="780" dirty="0"/>
          </a:p>
        </p:txBody>
      </p:sp>
      <p:sp>
        <p:nvSpPr>
          <p:cNvPr id="121" name="Text 119"/>
          <p:cNvSpPr/>
          <p:nvPr/>
        </p:nvSpPr>
        <p:spPr>
          <a:xfrm>
            <a:off x="402336" y="2724912"/>
            <a:ext cx="7644384" cy="0"/>
          </a:xfrm>
          <a:prstGeom prst="rect">
            <a:avLst/>
          </a:prstGeom>
          <a:noFill/>
          <a:ln/>
        </p:spPr>
        <p:txBody>
          <a:bodyPr wrap="square" rtlCol="0" anchor="ctr"/>
          <a:lstStyle/>
          <a:p>
            <a:pPr indent="0" marL="0">
              <a:buNone/>
            </a:pPr>
            <a:r>
              <a:rPr lang="en-US" dirty="0">
                <a:solidFill>
                  <a:srgbClr val="6B7A8A"/>
                </a:solidFill>
                <a:latin typeface="Calibri" pitchFamily="34" charset="0"/>
                <a:ea typeface="Calibri" pitchFamily="34" charset="-122"/>
                <a:cs typeface="Calibri" pitchFamily="34" charset="-120"/>
              </a:rPr>
              <a:t>Belgian manufacturing base is a logistics advantage for Morocco vs Japan. Include in tender alongside Miura.</a:t>
            </a:r>
            <a:endParaRPr lang="en-US" dirty="0"/>
          </a:p>
        </p:txBody>
      </p:sp>
      <p:sp>
        <p:nvSpPr>
          <p:cNvPr id="122" name="Shape 120"/>
          <p:cNvSpPr/>
          <p:nvPr/>
        </p:nvSpPr>
        <p:spPr>
          <a:xfrm>
            <a:off x="256032" y="2798064"/>
            <a:ext cx="8631936" cy="676656"/>
          </a:xfrm>
          <a:prstGeom prst="rect">
            <a:avLst/>
          </a:prstGeom>
          <a:solidFill>
            <a:srgbClr val="141418"/>
          </a:solidFill>
          <a:ln w="12700">
            <a:solidFill>
              <a:srgbClr val="1E1E26"/>
            </a:solidFill>
            <a:prstDash val="solid"/>
          </a:ln>
        </p:spPr>
      </p:sp>
      <p:sp>
        <p:nvSpPr>
          <p:cNvPr id="123" name="Shape 121"/>
          <p:cNvSpPr/>
          <p:nvPr/>
        </p:nvSpPr>
        <p:spPr>
          <a:xfrm>
            <a:off x="256032" y="2798064"/>
            <a:ext cx="54864" cy="676656"/>
          </a:xfrm>
          <a:prstGeom prst="rect">
            <a:avLst/>
          </a:prstGeom>
          <a:solidFill>
            <a:srgbClr val="C0622B"/>
          </a:solidFill>
          <a:ln/>
        </p:spPr>
      </p:sp>
      <p:sp>
        <p:nvSpPr>
          <p:cNvPr id="124" name="Shape 122"/>
          <p:cNvSpPr/>
          <p:nvPr/>
        </p:nvSpPr>
        <p:spPr>
          <a:xfrm>
            <a:off x="8101584" y="2852928"/>
            <a:ext cx="731520" cy="237744"/>
          </a:xfrm>
          <a:prstGeom prst="rect">
            <a:avLst/>
          </a:prstGeom>
          <a:solidFill>
            <a:srgbClr val="E8A020"/>
          </a:solidFill>
          <a:ln/>
        </p:spPr>
      </p:sp>
      <p:sp>
        <p:nvSpPr>
          <p:cNvPr id="125" name="Text 123"/>
          <p:cNvSpPr/>
          <p:nvPr/>
        </p:nvSpPr>
        <p:spPr>
          <a:xfrm>
            <a:off x="8101584" y="285292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ALTERNATIVE</a:t>
            </a:r>
            <a:endParaRPr lang="en-US" sz="750" dirty="0"/>
          </a:p>
        </p:txBody>
      </p:sp>
      <p:sp>
        <p:nvSpPr>
          <p:cNvPr id="126" name="Text 124"/>
          <p:cNvSpPr/>
          <p:nvPr/>
        </p:nvSpPr>
        <p:spPr>
          <a:xfrm>
            <a:off x="402336" y="2843784"/>
            <a:ext cx="1828800" cy="274320"/>
          </a:xfrm>
          <a:prstGeom prst="rect">
            <a:avLst/>
          </a:prstGeom>
          <a:noFill/>
          <a:ln/>
        </p:spPr>
        <p:txBody>
          <a:bodyPr wrap="square" rtlCol="0" anchor="ctr"/>
          <a:lstStyle/>
          <a:p>
            <a:pPr indent="0" marL="0">
              <a:buNone/>
            </a:pPr>
            <a:r>
              <a:rPr lang="en-US" sz="1200" b="1" dirty="0">
                <a:solidFill>
                  <a:srgbClr val="C0622B"/>
                </a:solidFill>
                <a:latin typeface="Georgia" pitchFamily="34" charset="0"/>
                <a:ea typeface="Georgia" pitchFamily="34" charset="-122"/>
                <a:cs typeface="Georgia" pitchFamily="34" charset="-120"/>
              </a:rPr>
              <a:t>CLEAVER-BROOKS</a:t>
            </a:r>
            <a:endParaRPr lang="en-US" sz="1200" dirty="0"/>
          </a:p>
        </p:txBody>
      </p:sp>
      <p:sp>
        <p:nvSpPr>
          <p:cNvPr id="127" name="Text 125"/>
          <p:cNvSpPr/>
          <p:nvPr/>
        </p:nvSpPr>
        <p:spPr>
          <a:xfrm>
            <a:off x="402336" y="311810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USA / Global · Fire-Tube</a:t>
            </a:r>
            <a:endParaRPr lang="en-US" sz="850" dirty="0"/>
          </a:p>
        </p:txBody>
      </p:sp>
      <p:sp>
        <p:nvSpPr>
          <p:cNvPr id="128" name="Text 126"/>
          <p:cNvSpPr/>
          <p:nvPr/>
        </p:nvSpPr>
        <p:spPr>
          <a:xfrm>
            <a:off x="402336" y="329184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Model: CBex / ClearFire series</a:t>
            </a:r>
            <a:endParaRPr lang="en-US" sz="800" dirty="0"/>
          </a:p>
        </p:txBody>
      </p:sp>
      <p:sp>
        <p:nvSpPr>
          <p:cNvPr id="129" name="Text 127"/>
          <p:cNvSpPr/>
          <p:nvPr/>
        </p:nvSpPr>
        <p:spPr>
          <a:xfrm>
            <a:off x="2331720"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Food Industry</a:t>
            </a:r>
            <a:endParaRPr lang="en-US" sz="800" dirty="0"/>
          </a:p>
        </p:txBody>
      </p:sp>
      <p:sp>
        <p:nvSpPr>
          <p:cNvPr id="130" name="Text 128"/>
          <p:cNvSpPr/>
          <p:nvPr/>
        </p:nvSpPr>
        <p:spPr>
          <a:xfrm>
            <a:off x="2331720"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Broad industrial including food</a:t>
            </a:r>
            <a:endParaRPr lang="en-US" sz="780" dirty="0"/>
          </a:p>
        </p:txBody>
      </p:sp>
      <p:sp>
        <p:nvSpPr>
          <p:cNvPr id="131" name="Text 129"/>
          <p:cNvSpPr/>
          <p:nvPr/>
        </p:nvSpPr>
        <p:spPr>
          <a:xfrm>
            <a:off x="3813048"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CE Marked</a:t>
            </a:r>
            <a:endParaRPr lang="en-US" sz="800" dirty="0"/>
          </a:p>
        </p:txBody>
      </p:sp>
      <p:sp>
        <p:nvSpPr>
          <p:cNvPr id="132" name="Text 130"/>
          <p:cNvSpPr/>
          <p:nvPr/>
        </p:nvSpPr>
        <p:spPr>
          <a:xfrm>
            <a:off x="3813048"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CE models available on European range</a:t>
            </a:r>
            <a:endParaRPr lang="en-US" sz="780" dirty="0"/>
          </a:p>
        </p:txBody>
      </p:sp>
      <p:sp>
        <p:nvSpPr>
          <p:cNvPr id="133" name="Text 131"/>
          <p:cNvSpPr/>
          <p:nvPr/>
        </p:nvSpPr>
        <p:spPr>
          <a:xfrm>
            <a:off x="5294376"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LPG</a:t>
            </a:r>
            <a:endParaRPr lang="en-US" sz="800" dirty="0"/>
          </a:p>
        </p:txBody>
      </p:sp>
      <p:sp>
        <p:nvSpPr>
          <p:cNvPr id="134" name="Text 132"/>
          <p:cNvSpPr/>
          <p:nvPr/>
        </p:nvSpPr>
        <p:spPr>
          <a:xfrm>
            <a:off x="5294376"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LPG burners standard option</a:t>
            </a:r>
            <a:endParaRPr lang="en-US" sz="780" dirty="0"/>
          </a:p>
        </p:txBody>
      </p:sp>
      <p:sp>
        <p:nvSpPr>
          <p:cNvPr id="135" name="Text 133"/>
          <p:cNvSpPr/>
          <p:nvPr/>
        </p:nvSpPr>
        <p:spPr>
          <a:xfrm>
            <a:off x="6775704" y="2834640"/>
            <a:ext cx="1417320" cy="201168"/>
          </a:xfrm>
          <a:prstGeom prst="rect">
            <a:avLst/>
          </a:prstGeom>
          <a:noFill/>
          <a:ln/>
        </p:spPr>
        <p:txBody>
          <a:bodyPr wrap="square" rtlCol="0" anchor="ctr"/>
          <a:lstStyle/>
          <a:p>
            <a:pPr indent="0" marL="0">
              <a:buNone/>
            </a:pPr>
            <a:r>
              <a:rPr lang="en-US" sz="800" b="1" dirty="0">
                <a:solidFill>
                  <a:srgbClr val="C0622B"/>
                </a:solidFill>
                <a:latin typeface="Calibri" pitchFamily="34" charset="0"/>
                <a:ea typeface="Calibri" pitchFamily="34" charset="-122"/>
                <a:cs typeface="Calibri" pitchFamily="34" charset="-120"/>
              </a:rPr>
              <a:t>Service Africa</a:t>
            </a:r>
            <a:endParaRPr lang="en-US" sz="800" dirty="0"/>
          </a:p>
        </p:txBody>
      </p:sp>
      <p:sp>
        <p:nvSpPr>
          <p:cNvPr id="136" name="Text 134"/>
          <p:cNvSpPr/>
          <p:nvPr/>
        </p:nvSpPr>
        <p:spPr>
          <a:xfrm>
            <a:off x="6775704" y="301752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Broad global network — verify North Africa</a:t>
            </a:r>
            <a:endParaRPr lang="en-US" sz="780" dirty="0"/>
          </a:p>
        </p:txBody>
      </p:sp>
      <p:sp>
        <p:nvSpPr>
          <p:cNvPr id="137" name="Text 135"/>
          <p:cNvSpPr/>
          <p:nvPr/>
        </p:nvSpPr>
        <p:spPr>
          <a:xfrm>
            <a:off x="402336" y="3456432"/>
            <a:ext cx="7644384" cy="0"/>
          </a:xfrm>
          <a:prstGeom prst="rect">
            <a:avLst/>
          </a:prstGeom>
          <a:noFill/>
          <a:ln/>
        </p:spPr>
        <p:txBody>
          <a:bodyPr wrap="square" rtlCol="0" anchor="ctr"/>
          <a:lstStyle/>
          <a:p>
            <a:pPr indent="0" marL="0">
              <a:buNone/>
            </a:pPr>
            <a:r>
              <a:rPr lang="en-US" dirty="0">
                <a:solidFill>
                  <a:srgbClr val="6B7A8A"/>
                </a:solidFill>
                <a:latin typeface="Calibri" pitchFamily="34" charset="0"/>
                <a:ea typeface="Calibri" pitchFamily="34" charset="-122"/>
                <a:cs typeface="Calibri" pitchFamily="34" charset="-120"/>
              </a:rPr>
              <a:t>If fire-tube is preferred for spare parts availability, Cleaver-Brooks is the international reference. Proven reliability but lower efficiency on LPG.</a:t>
            </a:r>
            <a:endParaRPr lang="en-US" dirty="0"/>
          </a:p>
        </p:txBody>
      </p:sp>
      <p:sp>
        <p:nvSpPr>
          <p:cNvPr id="138" name="Shape 136"/>
          <p:cNvSpPr/>
          <p:nvPr/>
        </p:nvSpPr>
        <p:spPr>
          <a:xfrm>
            <a:off x="256032" y="3529584"/>
            <a:ext cx="8631936" cy="676656"/>
          </a:xfrm>
          <a:prstGeom prst="rect">
            <a:avLst/>
          </a:prstGeom>
          <a:solidFill>
            <a:srgbClr val="111115"/>
          </a:solidFill>
          <a:ln w="12700">
            <a:solidFill>
              <a:srgbClr val="1E1E26"/>
            </a:solidFill>
            <a:prstDash val="solid"/>
          </a:ln>
        </p:spPr>
      </p:sp>
      <p:sp>
        <p:nvSpPr>
          <p:cNvPr id="139" name="Shape 137"/>
          <p:cNvSpPr/>
          <p:nvPr/>
        </p:nvSpPr>
        <p:spPr>
          <a:xfrm>
            <a:off x="256032" y="3529584"/>
            <a:ext cx="54864" cy="676656"/>
          </a:xfrm>
          <a:prstGeom prst="rect">
            <a:avLst/>
          </a:prstGeom>
          <a:solidFill>
            <a:srgbClr val="E8A020"/>
          </a:solidFill>
          <a:ln/>
        </p:spPr>
      </p:sp>
      <p:sp>
        <p:nvSpPr>
          <p:cNvPr id="140" name="Shape 138"/>
          <p:cNvSpPr/>
          <p:nvPr/>
        </p:nvSpPr>
        <p:spPr>
          <a:xfrm>
            <a:off x="8101584" y="3584448"/>
            <a:ext cx="731520" cy="237744"/>
          </a:xfrm>
          <a:prstGeom prst="rect">
            <a:avLst/>
          </a:prstGeom>
          <a:solidFill>
            <a:srgbClr val="E8A020"/>
          </a:solidFill>
          <a:ln/>
        </p:spPr>
      </p:sp>
      <p:sp>
        <p:nvSpPr>
          <p:cNvPr id="141" name="Text 139"/>
          <p:cNvSpPr/>
          <p:nvPr/>
        </p:nvSpPr>
        <p:spPr>
          <a:xfrm>
            <a:off x="8101584" y="358444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ALTERNATIVE</a:t>
            </a:r>
            <a:endParaRPr lang="en-US" sz="750" dirty="0"/>
          </a:p>
        </p:txBody>
      </p:sp>
      <p:sp>
        <p:nvSpPr>
          <p:cNvPr id="142" name="Text 140"/>
          <p:cNvSpPr/>
          <p:nvPr/>
        </p:nvSpPr>
        <p:spPr>
          <a:xfrm>
            <a:off x="402336" y="3575304"/>
            <a:ext cx="1828800" cy="274320"/>
          </a:xfrm>
          <a:prstGeom prst="rect">
            <a:avLst/>
          </a:prstGeom>
          <a:noFill/>
          <a:ln/>
        </p:spPr>
        <p:txBody>
          <a:bodyPr wrap="square" rtlCol="0" anchor="ctr"/>
          <a:lstStyle/>
          <a:p>
            <a:pPr indent="0" marL="0">
              <a:buNone/>
            </a:pPr>
            <a:r>
              <a:rPr lang="en-US" sz="1200" b="1" dirty="0">
                <a:solidFill>
                  <a:srgbClr val="E8A020"/>
                </a:solidFill>
                <a:latin typeface="Georgia" pitchFamily="34" charset="0"/>
                <a:ea typeface="Georgia" pitchFamily="34" charset="-122"/>
                <a:cs typeface="Georgia" pitchFamily="34" charset="-120"/>
              </a:rPr>
              <a:t>FULTON</a:t>
            </a:r>
            <a:endParaRPr lang="en-US" sz="1200" dirty="0"/>
          </a:p>
        </p:txBody>
      </p:sp>
      <p:sp>
        <p:nvSpPr>
          <p:cNvPr id="143" name="Text 141"/>
          <p:cNvSpPr/>
          <p:nvPr/>
        </p:nvSpPr>
        <p:spPr>
          <a:xfrm>
            <a:off x="402336" y="384962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USA / UK · OTSG / Fire-Tube</a:t>
            </a:r>
            <a:endParaRPr lang="en-US" sz="850" dirty="0"/>
          </a:p>
        </p:txBody>
      </p:sp>
      <p:sp>
        <p:nvSpPr>
          <p:cNvPr id="144" name="Text 142"/>
          <p:cNvSpPr/>
          <p:nvPr/>
        </p:nvSpPr>
        <p:spPr>
          <a:xfrm>
            <a:off x="402336" y="402336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Model: VSRT series (spiral rib tube — hybrid)</a:t>
            </a:r>
            <a:endParaRPr lang="en-US" sz="800" dirty="0"/>
          </a:p>
        </p:txBody>
      </p:sp>
      <p:sp>
        <p:nvSpPr>
          <p:cNvPr id="145" name="Text 143"/>
          <p:cNvSpPr/>
          <p:nvPr/>
        </p:nvSpPr>
        <p:spPr>
          <a:xfrm>
            <a:off x="2331720"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Food Industry</a:t>
            </a:r>
            <a:endParaRPr lang="en-US" sz="800" dirty="0"/>
          </a:p>
        </p:txBody>
      </p:sp>
      <p:sp>
        <p:nvSpPr>
          <p:cNvPr id="146" name="Text 144"/>
          <p:cNvSpPr/>
          <p:nvPr/>
        </p:nvSpPr>
        <p:spPr>
          <a:xfrm>
            <a:off x="2331720"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Food &amp; beverage sector track record</a:t>
            </a:r>
            <a:endParaRPr lang="en-US" sz="780" dirty="0"/>
          </a:p>
        </p:txBody>
      </p:sp>
      <p:sp>
        <p:nvSpPr>
          <p:cNvPr id="147" name="Text 145"/>
          <p:cNvSpPr/>
          <p:nvPr/>
        </p:nvSpPr>
        <p:spPr>
          <a:xfrm>
            <a:off x="3813048"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CE Marked</a:t>
            </a:r>
            <a:endParaRPr lang="en-US" sz="800" dirty="0"/>
          </a:p>
        </p:txBody>
      </p:sp>
      <p:sp>
        <p:nvSpPr>
          <p:cNvPr id="148" name="Text 146"/>
          <p:cNvSpPr/>
          <p:nvPr/>
        </p:nvSpPr>
        <p:spPr>
          <a:xfrm>
            <a:off x="3813048"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Yes — UK manufactured</a:t>
            </a:r>
            <a:endParaRPr lang="en-US" sz="780" dirty="0"/>
          </a:p>
        </p:txBody>
      </p:sp>
      <p:sp>
        <p:nvSpPr>
          <p:cNvPr id="149" name="Text 147"/>
          <p:cNvSpPr/>
          <p:nvPr/>
        </p:nvSpPr>
        <p:spPr>
          <a:xfrm>
            <a:off x="5294376"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LPG</a:t>
            </a:r>
            <a:endParaRPr lang="en-US" sz="800" dirty="0"/>
          </a:p>
        </p:txBody>
      </p:sp>
      <p:sp>
        <p:nvSpPr>
          <p:cNvPr id="150" name="Text 148"/>
          <p:cNvSpPr/>
          <p:nvPr/>
        </p:nvSpPr>
        <p:spPr>
          <a:xfrm>
            <a:off x="5294376"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LPG available</a:t>
            </a:r>
            <a:endParaRPr lang="en-US" sz="780" dirty="0"/>
          </a:p>
        </p:txBody>
      </p:sp>
      <p:sp>
        <p:nvSpPr>
          <p:cNvPr id="151" name="Text 149"/>
          <p:cNvSpPr/>
          <p:nvPr/>
        </p:nvSpPr>
        <p:spPr>
          <a:xfrm>
            <a:off x="6775704" y="3566160"/>
            <a:ext cx="1417320" cy="201168"/>
          </a:xfrm>
          <a:prstGeom prst="rect">
            <a:avLst/>
          </a:prstGeom>
          <a:noFill/>
          <a:ln/>
        </p:spPr>
        <p:txBody>
          <a:bodyPr wrap="square" rtlCol="0" anchor="ctr"/>
          <a:lstStyle/>
          <a:p>
            <a:pPr indent="0" marL="0">
              <a:buNone/>
            </a:pPr>
            <a:r>
              <a:rPr lang="en-US" sz="800" b="1" dirty="0">
                <a:solidFill>
                  <a:srgbClr val="E8A020"/>
                </a:solidFill>
                <a:latin typeface="Calibri" pitchFamily="34" charset="0"/>
                <a:ea typeface="Calibri" pitchFamily="34" charset="-122"/>
                <a:cs typeface="Calibri" pitchFamily="34" charset="-120"/>
              </a:rPr>
              <a:t>Service Africa</a:t>
            </a:r>
            <a:endParaRPr lang="en-US" sz="800" dirty="0"/>
          </a:p>
        </p:txBody>
      </p:sp>
      <p:sp>
        <p:nvSpPr>
          <p:cNvPr id="152" name="Text 150"/>
          <p:cNvSpPr/>
          <p:nvPr/>
        </p:nvSpPr>
        <p:spPr>
          <a:xfrm>
            <a:off x="6775704" y="374904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UK distribution — verify North Africa agent</a:t>
            </a:r>
            <a:endParaRPr lang="en-US" sz="780" dirty="0"/>
          </a:p>
        </p:txBody>
      </p:sp>
      <p:sp>
        <p:nvSpPr>
          <p:cNvPr id="153" name="Text 151"/>
          <p:cNvSpPr/>
          <p:nvPr/>
        </p:nvSpPr>
        <p:spPr>
          <a:xfrm>
            <a:off x="402336" y="4187952"/>
            <a:ext cx="7644384" cy="0"/>
          </a:xfrm>
          <a:prstGeom prst="rect">
            <a:avLst/>
          </a:prstGeom>
          <a:noFill/>
          <a:ln/>
        </p:spPr>
        <p:txBody>
          <a:bodyPr wrap="square" rtlCol="0" anchor="ctr"/>
          <a:lstStyle/>
          <a:p>
            <a:pPr indent="0" marL="0">
              <a:buNone/>
            </a:pPr>
            <a:r>
              <a:rPr lang="en-US" dirty="0">
                <a:solidFill>
                  <a:srgbClr val="6B7A8A"/>
                </a:solidFill>
                <a:latin typeface="Calibri" pitchFamily="34" charset="0"/>
                <a:ea typeface="Calibri" pitchFamily="34" charset="-122"/>
                <a:cs typeface="Calibri" pitchFamily="34" charset="-120"/>
              </a:rPr>
              <a:t>Interesting hybrid technology between OTSG and fire-tube. Good food industry track record in Europe.</a:t>
            </a:r>
            <a:endParaRPr lang="en-US" dirty="0"/>
          </a:p>
        </p:txBody>
      </p:sp>
      <p:sp>
        <p:nvSpPr>
          <p:cNvPr id="154" name="Shape 152"/>
          <p:cNvSpPr/>
          <p:nvPr/>
        </p:nvSpPr>
        <p:spPr>
          <a:xfrm>
            <a:off x="256032" y="4261104"/>
            <a:ext cx="8631936" cy="676656"/>
          </a:xfrm>
          <a:prstGeom prst="rect">
            <a:avLst/>
          </a:prstGeom>
          <a:solidFill>
            <a:srgbClr val="141418"/>
          </a:solidFill>
          <a:ln w="12700">
            <a:solidFill>
              <a:srgbClr val="1E1E26"/>
            </a:solidFill>
            <a:prstDash val="solid"/>
          </a:ln>
        </p:spPr>
      </p:sp>
      <p:sp>
        <p:nvSpPr>
          <p:cNvPr id="155" name="Shape 153"/>
          <p:cNvSpPr/>
          <p:nvPr/>
        </p:nvSpPr>
        <p:spPr>
          <a:xfrm>
            <a:off x="256032" y="4261104"/>
            <a:ext cx="54864" cy="676656"/>
          </a:xfrm>
          <a:prstGeom prst="rect">
            <a:avLst/>
          </a:prstGeom>
          <a:solidFill>
            <a:srgbClr val="1A5FA8"/>
          </a:solidFill>
          <a:ln/>
        </p:spPr>
      </p:sp>
      <p:sp>
        <p:nvSpPr>
          <p:cNvPr id="156" name="Shape 154"/>
          <p:cNvSpPr/>
          <p:nvPr/>
        </p:nvSpPr>
        <p:spPr>
          <a:xfrm>
            <a:off x="8101584" y="4315968"/>
            <a:ext cx="731520" cy="237744"/>
          </a:xfrm>
          <a:prstGeom prst="rect">
            <a:avLst/>
          </a:prstGeom>
          <a:solidFill>
            <a:srgbClr val="1A5FA8"/>
          </a:solidFill>
          <a:ln/>
        </p:spPr>
      </p:sp>
      <p:sp>
        <p:nvSpPr>
          <p:cNvPr id="157" name="Text 155"/>
          <p:cNvSpPr/>
          <p:nvPr/>
        </p:nvSpPr>
        <p:spPr>
          <a:xfrm>
            <a:off x="8101584" y="4315968"/>
            <a:ext cx="731520" cy="23774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REGIONAL</a:t>
            </a:r>
            <a:endParaRPr lang="en-US" sz="750" dirty="0"/>
          </a:p>
        </p:txBody>
      </p:sp>
      <p:sp>
        <p:nvSpPr>
          <p:cNvPr id="158" name="Text 156"/>
          <p:cNvSpPr/>
          <p:nvPr/>
        </p:nvSpPr>
        <p:spPr>
          <a:xfrm>
            <a:off x="402336" y="4306824"/>
            <a:ext cx="1828800" cy="274320"/>
          </a:xfrm>
          <a:prstGeom prst="rect">
            <a:avLst/>
          </a:prstGeom>
          <a:noFill/>
          <a:ln/>
        </p:spPr>
        <p:txBody>
          <a:bodyPr wrap="square" rtlCol="0" anchor="ctr"/>
          <a:lstStyle/>
          <a:p>
            <a:pPr indent="0" marL="0">
              <a:buNone/>
            </a:pPr>
            <a:r>
              <a:rPr lang="en-US" sz="1200" b="1" dirty="0">
                <a:solidFill>
                  <a:srgbClr val="1A5FA8"/>
                </a:solidFill>
                <a:latin typeface="Georgia" pitchFamily="34" charset="0"/>
                <a:ea typeface="Georgia" pitchFamily="34" charset="-122"/>
                <a:cs typeface="Georgia" pitchFamily="34" charset="-120"/>
              </a:rPr>
              <a:t>ICI CALDAIE</a:t>
            </a:r>
            <a:endParaRPr lang="en-US" sz="1200" dirty="0"/>
          </a:p>
        </p:txBody>
      </p:sp>
      <p:sp>
        <p:nvSpPr>
          <p:cNvPr id="159" name="Text 157"/>
          <p:cNvSpPr/>
          <p:nvPr/>
        </p:nvSpPr>
        <p:spPr>
          <a:xfrm>
            <a:off x="402336" y="4581144"/>
            <a:ext cx="1828800" cy="201168"/>
          </a:xfrm>
          <a:prstGeom prst="rect">
            <a:avLst/>
          </a:prstGeom>
          <a:noFill/>
          <a:ln/>
        </p:spPr>
        <p:txBody>
          <a:bodyPr wrap="square" rtlCol="0" anchor="ctr"/>
          <a:lstStyle/>
          <a:p>
            <a:pPr indent="0" marL="0">
              <a:buNone/>
            </a:pPr>
            <a:r>
              <a:rPr lang="en-US" sz="850" dirty="0">
                <a:solidFill>
                  <a:srgbClr val="6B7A8A"/>
                </a:solidFill>
                <a:latin typeface="Calibri" pitchFamily="34" charset="0"/>
                <a:ea typeface="Calibri" pitchFamily="34" charset="-122"/>
                <a:cs typeface="Calibri" pitchFamily="34" charset="-120"/>
              </a:rPr>
              <a:t>Italy · Fire-Tube</a:t>
            </a:r>
            <a:endParaRPr lang="en-US" sz="850" dirty="0"/>
          </a:p>
        </p:txBody>
      </p:sp>
      <p:sp>
        <p:nvSpPr>
          <p:cNvPr id="160" name="Text 158"/>
          <p:cNvSpPr/>
          <p:nvPr/>
        </p:nvSpPr>
        <p:spPr>
          <a:xfrm>
            <a:off x="402336" y="4754880"/>
            <a:ext cx="1828800" cy="164592"/>
          </a:xfrm>
          <a:prstGeom prst="rect">
            <a:avLst/>
          </a:prstGeom>
          <a:noFill/>
          <a:ln/>
        </p:spPr>
        <p:txBody>
          <a:bodyPr wrap="square" rtlCol="0" anchor="ctr"/>
          <a:lstStyle/>
          <a:p>
            <a:pPr indent="0" marL="0">
              <a:buNone/>
            </a:pPr>
            <a:r>
              <a:rPr lang="en-US" sz="800" i="1" dirty="0">
                <a:solidFill>
                  <a:srgbClr val="D8C9A8"/>
                </a:solidFill>
                <a:latin typeface="Calibri" pitchFamily="34" charset="0"/>
                <a:ea typeface="Calibri" pitchFamily="34" charset="-122"/>
                <a:cs typeface="Calibri" pitchFamily="34" charset="-120"/>
              </a:rPr>
              <a:t>Model: ICI TIGON / ELIA series</a:t>
            </a:r>
            <a:endParaRPr lang="en-US" sz="800" dirty="0"/>
          </a:p>
        </p:txBody>
      </p:sp>
      <p:sp>
        <p:nvSpPr>
          <p:cNvPr id="161" name="Text 159"/>
          <p:cNvSpPr/>
          <p:nvPr/>
        </p:nvSpPr>
        <p:spPr>
          <a:xfrm>
            <a:off x="2331720"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Food Industry</a:t>
            </a:r>
            <a:endParaRPr lang="en-US" sz="800" dirty="0"/>
          </a:p>
        </p:txBody>
      </p:sp>
      <p:sp>
        <p:nvSpPr>
          <p:cNvPr id="162" name="Text 160"/>
          <p:cNvSpPr/>
          <p:nvPr/>
        </p:nvSpPr>
        <p:spPr>
          <a:xfrm>
            <a:off x="2331720"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Industrial process including food</a:t>
            </a:r>
            <a:endParaRPr lang="en-US" sz="780" dirty="0"/>
          </a:p>
        </p:txBody>
      </p:sp>
      <p:sp>
        <p:nvSpPr>
          <p:cNvPr id="163" name="Text 161"/>
          <p:cNvSpPr/>
          <p:nvPr/>
        </p:nvSpPr>
        <p:spPr>
          <a:xfrm>
            <a:off x="3813048"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CE Marked</a:t>
            </a:r>
            <a:endParaRPr lang="en-US" sz="800" dirty="0"/>
          </a:p>
        </p:txBody>
      </p:sp>
      <p:sp>
        <p:nvSpPr>
          <p:cNvPr id="164" name="Text 162"/>
          <p:cNvSpPr/>
          <p:nvPr/>
        </p:nvSpPr>
        <p:spPr>
          <a:xfrm>
            <a:off x="3813048"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Yes — Italian manufactured</a:t>
            </a:r>
            <a:endParaRPr lang="en-US" sz="780" dirty="0"/>
          </a:p>
        </p:txBody>
      </p:sp>
      <p:sp>
        <p:nvSpPr>
          <p:cNvPr id="165" name="Text 163"/>
          <p:cNvSpPr/>
          <p:nvPr/>
        </p:nvSpPr>
        <p:spPr>
          <a:xfrm>
            <a:off x="5294376"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LPG</a:t>
            </a:r>
            <a:endParaRPr lang="en-US" sz="800" dirty="0"/>
          </a:p>
        </p:txBody>
      </p:sp>
      <p:sp>
        <p:nvSpPr>
          <p:cNvPr id="166" name="Text 164"/>
          <p:cNvSpPr/>
          <p:nvPr/>
        </p:nvSpPr>
        <p:spPr>
          <a:xfrm>
            <a:off x="5294376"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LPG configurations available</a:t>
            </a:r>
            <a:endParaRPr lang="en-US" sz="780" dirty="0"/>
          </a:p>
        </p:txBody>
      </p:sp>
      <p:sp>
        <p:nvSpPr>
          <p:cNvPr id="167" name="Text 165"/>
          <p:cNvSpPr/>
          <p:nvPr/>
        </p:nvSpPr>
        <p:spPr>
          <a:xfrm>
            <a:off x="6775704" y="4297680"/>
            <a:ext cx="1417320" cy="201168"/>
          </a:xfrm>
          <a:prstGeom prst="rect">
            <a:avLst/>
          </a:prstGeom>
          <a:noFill/>
          <a:ln/>
        </p:spPr>
        <p:txBody>
          <a:bodyPr wrap="square" rtlCol="0" anchor="ctr"/>
          <a:lstStyle/>
          <a:p>
            <a:pPr indent="0" marL="0">
              <a:buNone/>
            </a:pPr>
            <a:r>
              <a:rPr lang="en-US" sz="800" b="1" dirty="0">
                <a:solidFill>
                  <a:srgbClr val="1A5FA8"/>
                </a:solidFill>
                <a:latin typeface="Calibri" pitchFamily="34" charset="0"/>
                <a:ea typeface="Calibri" pitchFamily="34" charset="-122"/>
                <a:cs typeface="Calibri" pitchFamily="34" charset="-120"/>
              </a:rPr>
              <a:t>Service Africa</a:t>
            </a:r>
            <a:endParaRPr lang="en-US" sz="800" dirty="0"/>
          </a:p>
        </p:txBody>
      </p:sp>
      <p:sp>
        <p:nvSpPr>
          <p:cNvPr id="168" name="Text 166"/>
          <p:cNvSpPr/>
          <p:nvPr/>
        </p:nvSpPr>
        <p:spPr>
          <a:xfrm>
            <a:off x="6775704" y="4480560"/>
            <a:ext cx="1417320" cy="256032"/>
          </a:xfrm>
          <a:prstGeom prst="rect">
            <a:avLst/>
          </a:prstGeom>
          <a:noFill/>
          <a:ln/>
        </p:spPr>
        <p:txBody>
          <a:bodyPr wrap="square" rtlCol="0" anchor="ctr"/>
          <a:lstStyle/>
          <a:p>
            <a:pPr indent="0" marL="0">
              <a:buNone/>
            </a:pPr>
            <a:r>
              <a:rPr lang="en-US" sz="780" dirty="0">
                <a:solidFill>
                  <a:srgbClr val="EDE0C8"/>
                </a:solidFill>
                <a:latin typeface="Calibri" pitchFamily="34" charset="0"/>
                <a:ea typeface="Calibri" pitchFamily="34" charset="-122"/>
                <a:cs typeface="Calibri" pitchFamily="34" charset="-120"/>
              </a:rPr>
              <a:t>Strong Mediterranean &amp; North Africa distribution network</a:t>
            </a:r>
            <a:endParaRPr lang="en-US" sz="780" dirty="0"/>
          </a:p>
        </p:txBody>
      </p:sp>
      <p:sp>
        <p:nvSpPr>
          <p:cNvPr id="169" name="Text 167"/>
          <p:cNvSpPr/>
          <p:nvPr/>
        </p:nvSpPr>
        <p:spPr>
          <a:xfrm>
            <a:off x="402336" y="4919472"/>
            <a:ext cx="7644384" cy="0"/>
          </a:xfrm>
          <a:prstGeom prst="rect">
            <a:avLst/>
          </a:prstGeom>
          <a:noFill/>
          <a:ln/>
        </p:spPr>
        <p:txBody>
          <a:bodyPr wrap="square" rtlCol="0" anchor="ctr"/>
          <a:lstStyle/>
          <a:p>
            <a:pPr indent="0" marL="0">
              <a:buNone/>
            </a:pPr>
            <a:r>
              <a:rPr lang="en-US" dirty="0">
                <a:solidFill>
                  <a:srgbClr val="6B7A8A"/>
                </a:solidFill>
                <a:latin typeface="Calibri" pitchFamily="34" charset="0"/>
                <a:ea typeface="Calibri" pitchFamily="34" charset="-122"/>
                <a:cs typeface="Calibri" pitchFamily="34" charset="-120"/>
              </a:rPr>
              <a:t>Geographic proximity advantage — Italian suppliers have historically strong distribution in Morocco and North Africa. Spare parts access likely better than Japanese or US brands.</a:t>
            </a:r>
            <a:endParaRPr lang="en-US" dirty="0"/>
          </a:p>
        </p:txBody>
      </p:sp>
      <p:sp>
        <p:nvSpPr>
          <p:cNvPr id="170" name="Shape 168"/>
          <p:cNvSpPr/>
          <p:nvPr/>
        </p:nvSpPr>
        <p:spPr>
          <a:xfrm>
            <a:off x="256032" y="4992624"/>
            <a:ext cx="8631936" cy="0"/>
          </a:xfrm>
          <a:prstGeom prst="rect">
            <a:avLst/>
          </a:prstGeom>
          <a:solidFill>
            <a:srgbClr val="09090F"/>
          </a:solidFill>
          <a:ln/>
        </p:spPr>
      </p:sp>
      <p:sp>
        <p:nvSpPr>
          <p:cNvPr id="171" name="Shape 16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49" name="Text 24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TOTAL COST OF OWNERSHIP — 5-YEAR ANALYSIS</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LPG economics fundamentally change the CAPEX vs OPEX trade-off</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377440"/>
                <a:gridCol w="1737360"/>
                <a:gridCol w="1737360"/>
                <a:gridCol w="2779776"/>
              </a:tblGrid>
              <a:tr h="301752">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Cost Category</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OTSG</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Fire-Tube</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Key Driver</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Purchase Price</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Higher +20–35%</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Lower — baseline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Fire-tube has lower CAPEX. Difference narrows with commissioning included.</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LPG Fuel — Daily Startup Cost</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Low (3–5 min startup)</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High (30–60 min startup)</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~55 min × daily startup × LPG rate × 300 days/year = significant annual delta</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LPG Fuel — Operating Efficiency</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90–95% thermal efficiency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82–88% thermal efficiency</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7% efficiency gap × LPG cost × 2,500 Kg/H output = large annual saving</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Water Treatment Chemicals</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Lower (minimal blowdown)</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Higher (blowdown losses)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Blowdown wastes treated water and energy — adds to annual OPEX</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Maintenance Labour</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Lower — fewer procedures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Higher — blowdown, vessel checks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OTSG has simpler daily operating procedures</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Spare Parts (Morocco context)</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D94040"/>
                          </a:solidFill>
                          <a:latin typeface="Calibri" pitchFamily="34" charset="0"/>
                          <a:ea typeface="Calibri" pitchFamily="34" charset="-122"/>
                          <a:cs typeface="Calibri" pitchFamily="34" charset="-120"/>
                        </a:rPr>
                        <a:t>Higher — import required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dirty="0">
                          <a:solidFill>
                            <a:srgbClr val="3DAF7A"/>
                          </a:solidFill>
                          <a:latin typeface="Calibri" pitchFamily="34" charset="0"/>
                          <a:ea typeface="Calibri" pitchFamily="34" charset="-122"/>
                          <a:cs typeface="Calibri" pitchFamily="34" charset="-120"/>
                        </a:rPr>
                        <a:t>More locally available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Fire-tube has advantage on parts availability in Morocco</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301752">
                <a:tc>
                  <a:txBody>
                    <a:bodyPr/>
                    <a:lstStyle/>
                    <a:p>
                      <a:pPr indent="0" marL="0">
                        <a:buNone/>
                      </a:pPr>
                      <a:r>
                        <a:rPr lang="en-US" sz="950" dirty="0">
                          <a:solidFill>
                            <a:srgbClr val="D8C9A8"/>
                          </a:solidFill>
                          <a:latin typeface="Calibri" pitchFamily="34" charset="0"/>
                          <a:ea typeface="Calibri" pitchFamily="34" charset="-122"/>
                          <a:cs typeface="Calibri" pitchFamily="34" charset="-120"/>
                        </a:rPr>
                        <a:t>Annual Inspection (regulatory)</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6B7A8A"/>
                          </a:solidFill>
                          <a:latin typeface="Calibri" pitchFamily="34" charset="0"/>
                          <a:ea typeface="Calibri" pitchFamily="34" charset="-122"/>
                          <a:cs typeface="Calibri" pitchFamily="34" charset="-120"/>
                        </a:rPr>
                        <a:t>Required both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dirty="0">
                          <a:solidFill>
                            <a:srgbClr val="6B7A8A"/>
                          </a:solidFill>
                          <a:latin typeface="Calibri" pitchFamily="34" charset="0"/>
                          <a:ea typeface="Calibri" pitchFamily="34" charset="-122"/>
                          <a:cs typeface="Calibri" pitchFamily="34" charset="-120"/>
                        </a:rPr>
                        <a:t>Required both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Moroccan pressure vessel law applies to both technologies equally</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301752">
                <a:tc>
                  <a:txBody>
                    <a:bodyPr/>
                    <a:lstStyle/>
                    <a:p>
                      <a:pPr indent="0" marL="0">
                        <a:buNone/>
                      </a:pPr>
                      <a:r>
                        <a:rPr lang="en-US" sz="950" b="1" dirty="0">
                          <a:solidFill>
                            <a:srgbClr val="D8C9A8"/>
                          </a:solidFill>
                          <a:latin typeface="Calibri" pitchFamily="34" charset="0"/>
                          <a:ea typeface="Calibri" pitchFamily="34" charset="-122"/>
                          <a:cs typeface="Calibri" pitchFamily="34" charset="-120"/>
                        </a:rPr>
                        <a:t>5-Year TCO on LPG</a:t>
                      </a:r>
                      <a:endParaRPr lang="en-US" sz="9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LOWER overall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HIGHER overall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50" dirty="0">
                          <a:solidFill>
                            <a:srgbClr val="6B7A8A"/>
                          </a:solidFill>
                          <a:latin typeface="Calibri" pitchFamily="34" charset="0"/>
                          <a:ea typeface="Calibri" pitchFamily="34" charset="-122"/>
                          <a:cs typeface="Calibri" pitchFamily="34" charset="-120"/>
                        </a:rPr>
                        <a:t>OTSG efficiency premium pays back in 2.5–3.5 years on LPG</a:t>
                      </a:r>
                      <a:endParaRPr lang="en-US" sz="85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a:off x="256032" y="4407408"/>
            <a:ext cx="8631936" cy="475488"/>
          </a:xfrm>
          <a:prstGeom prst="rect">
            <a:avLst/>
          </a:prstGeom>
          <a:solidFill>
            <a:srgbClr val="141418"/>
          </a:solidFill>
          <a:ln w="12700">
            <a:solidFill>
              <a:srgbClr val="1B9A8A"/>
            </a:solidFill>
            <a:prstDash val="solid"/>
          </a:ln>
        </p:spPr>
      </p:sp>
      <p:sp>
        <p:nvSpPr>
          <p:cNvPr id="90" name="Shape 87"/>
          <p:cNvSpPr/>
          <p:nvPr/>
        </p:nvSpPr>
        <p:spPr>
          <a:xfrm>
            <a:off x="256032" y="4407408"/>
            <a:ext cx="54864" cy="475488"/>
          </a:xfrm>
          <a:prstGeom prst="rect">
            <a:avLst/>
          </a:prstGeom>
          <a:solidFill>
            <a:srgbClr val="1B9A8A"/>
          </a:solidFill>
          <a:ln/>
        </p:spPr>
      </p:sp>
      <p:sp>
        <p:nvSpPr>
          <p:cNvPr id="91" name="Text 88"/>
          <p:cNvSpPr/>
          <p:nvPr/>
        </p:nvSpPr>
        <p:spPr>
          <a:xfrm>
            <a:off x="402336" y="4443984"/>
            <a:ext cx="8321040" cy="402336"/>
          </a:xfrm>
          <a:prstGeom prst="rect">
            <a:avLst/>
          </a:prstGeom>
          <a:noFill/>
          <a:ln/>
        </p:spPr>
        <p:txBody>
          <a:bodyPr wrap="square" rtlCol="0" anchor="ctr"/>
          <a:lstStyle/>
          <a:p>
            <a:pPr indent="0" marL="0">
              <a:buNone/>
            </a:pPr>
            <a:r>
              <a:rPr lang="en-US" sz="1050" b="1" dirty="0">
                <a:solidFill>
                  <a:srgbClr val="1B9A8A"/>
                </a:solidFill>
                <a:latin typeface="Calibri" pitchFamily="34" charset="0"/>
                <a:ea typeface="Calibri" pitchFamily="34" charset="-122"/>
                <a:cs typeface="Calibri" pitchFamily="34" charset="-120"/>
              </a:rPr>
              <a:t>LPG Payback Logic: </a:t>
            </a:r>
            <a:pPr indent="0" marL="0">
              <a:buNone/>
            </a:pPr>
            <a:r>
              <a:rPr lang="en-US" sz="950" dirty="0">
                <a:solidFill>
                  <a:srgbClr val="EDE0C8"/>
                </a:solidFill>
                <a:latin typeface="Calibri" pitchFamily="34" charset="0"/>
                <a:ea typeface="Calibri" pitchFamily="34" charset="-122"/>
                <a:cs typeface="Calibri" pitchFamily="34" charset="-120"/>
              </a:rPr>
              <a:t>At 7% higher thermal efficiency and 55 minutes less startup time per day, the OTSG OPEX saving on LPG pays back the CAPEX premium in approximately 2.5–3.5 years depending on LPG market price and annual operating hours. This analysis should be run with your LPG supplier's confirmed unit price before final vendor selection.</a:t>
            </a:r>
            <a:endParaRPr lang="en-US" sz="1050" dirty="0"/>
          </a:p>
        </p:txBody>
      </p:sp>
      <p:sp>
        <p:nvSpPr>
          <p:cNvPr id="92" name="Shape 8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7" name="Shape 16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8" name="Shape 16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9" name="Shape 16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70" name="Text 16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RECOMMENDED CONFIGURATION</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Engineering recommendation for Pet Factory Maroc</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8631936" cy="658368"/>
          </a:xfrm>
          <a:prstGeom prst="rect">
            <a:avLst/>
          </a:prstGeom>
          <a:solidFill>
            <a:srgbClr val="1B9A8A"/>
          </a:solidFill>
          <a:ln/>
          <a:effectLst>
            <a:outerShdw sx="100000" sy="100000" kx="0" ky="0" algn="bl" rotWithShape="0" blurRad="152400" dist="50800" dir="8100000">
              <a:srgbClr val="000000">
                <a:alpha val="45000"/>
              </a:srgbClr>
            </a:outerShdw>
          </a:effectLst>
        </p:spPr>
      </p:sp>
      <p:sp>
        <p:nvSpPr>
          <p:cNvPr id="89" name="Shape 87"/>
          <p:cNvSpPr/>
          <p:nvPr/>
        </p:nvSpPr>
        <p:spPr>
          <a:xfrm rot="2700000">
            <a:off x="10973" y="932688"/>
            <a:ext cx="77724" cy="77724"/>
          </a:xfrm>
          <a:prstGeom prst="rect">
            <a:avLst/>
          </a:prstGeom>
          <a:solidFill>
            <a:srgbClr val="D4951A">
              <a:alpha val="30000"/>
            </a:srgbClr>
          </a:solidFill>
          <a:ln w="12700">
            <a:solidFill>
              <a:srgbClr val="D4951A"/>
            </a:solidFill>
            <a:prstDash val="solid"/>
          </a:ln>
        </p:spPr>
      </p:sp>
      <p:sp>
        <p:nvSpPr>
          <p:cNvPr id="90" name="Shape 88"/>
          <p:cNvSpPr/>
          <p:nvPr/>
        </p:nvSpPr>
        <p:spPr>
          <a:xfrm rot="2700000">
            <a:off x="128016" y="932688"/>
            <a:ext cx="77724" cy="77724"/>
          </a:xfrm>
          <a:prstGeom prst="rect">
            <a:avLst/>
          </a:prstGeom>
          <a:solidFill>
            <a:srgbClr val="D4951A">
              <a:alpha val="30000"/>
            </a:srgbClr>
          </a:solidFill>
          <a:ln w="12700">
            <a:solidFill>
              <a:srgbClr val="D4951A"/>
            </a:solidFill>
            <a:prstDash val="solid"/>
          </a:ln>
        </p:spPr>
      </p:sp>
      <p:sp>
        <p:nvSpPr>
          <p:cNvPr id="91" name="Shape 89"/>
          <p:cNvSpPr/>
          <p:nvPr/>
        </p:nvSpPr>
        <p:spPr>
          <a:xfrm rot="2700000">
            <a:off x="245059" y="932688"/>
            <a:ext cx="77724" cy="77724"/>
          </a:xfrm>
          <a:prstGeom prst="rect">
            <a:avLst/>
          </a:prstGeom>
          <a:solidFill>
            <a:srgbClr val="D4951A">
              <a:alpha val="30000"/>
            </a:srgbClr>
          </a:solidFill>
          <a:ln w="12700">
            <a:solidFill>
              <a:srgbClr val="D4951A"/>
            </a:solidFill>
            <a:prstDash val="solid"/>
          </a:ln>
        </p:spPr>
      </p:sp>
      <p:sp>
        <p:nvSpPr>
          <p:cNvPr id="92" name="Shape 90"/>
          <p:cNvSpPr/>
          <p:nvPr/>
        </p:nvSpPr>
        <p:spPr>
          <a:xfrm rot="2700000">
            <a:off x="362102" y="932688"/>
            <a:ext cx="77724" cy="77724"/>
          </a:xfrm>
          <a:prstGeom prst="rect">
            <a:avLst/>
          </a:prstGeom>
          <a:solidFill>
            <a:srgbClr val="D4951A">
              <a:alpha val="30000"/>
            </a:srgbClr>
          </a:solidFill>
          <a:ln w="12700">
            <a:solidFill>
              <a:srgbClr val="D4951A"/>
            </a:solidFill>
            <a:prstDash val="solid"/>
          </a:ln>
        </p:spPr>
      </p:sp>
      <p:sp>
        <p:nvSpPr>
          <p:cNvPr id="93" name="Shape 91"/>
          <p:cNvSpPr/>
          <p:nvPr/>
        </p:nvSpPr>
        <p:spPr>
          <a:xfrm rot="2700000">
            <a:off x="479146" y="932688"/>
            <a:ext cx="77724" cy="77724"/>
          </a:xfrm>
          <a:prstGeom prst="rect">
            <a:avLst/>
          </a:prstGeom>
          <a:solidFill>
            <a:srgbClr val="D4951A">
              <a:alpha val="30000"/>
            </a:srgbClr>
          </a:solidFill>
          <a:ln w="12700">
            <a:solidFill>
              <a:srgbClr val="D4951A"/>
            </a:solidFill>
            <a:prstDash val="solid"/>
          </a:ln>
        </p:spPr>
      </p:sp>
      <p:sp>
        <p:nvSpPr>
          <p:cNvPr id="94" name="Shape 92"/>
          <p:cNvSpPr/>
          <p:nvPr/>
        </p:nvSpPr>
        <p:spPr>
          <a:xfrm rot="2700000">
            <a:off x="596189" y="932688"/>
            <a:ext cx="77724" cy="77724"/>
          </a:xfrm>
          <a:prstGeom prst="rect">
            <a:avLst/>
          </a:prstGeom>
          <a:solidFill>
            <a:srgbClr val="D4951A">
              <a:alpha val="30000"/>
            </a:srgbClr>
          </a:solidFill>
          <a:ln w="12700">
            <a:solidFill>
              <a:srgbClr val="D4951A"/>
            </a:solidFill>
            <a:prstDash val="solid"/>
          </a:ln>
        </p:spPr>
      </p:sp>
      <p:sp>
        <p:nvSpPr>
          <p:cNvPr id="95" name="Shape 93"/>
          <p:cNvSpPr/>
          <p:nvPr/>
        </p:nvSpPr>
        <p:spPr>
          <a:xfrm rot="2700000">
            <a:off x="713232" y="932688"/>
            <a:ext cx="77724" cy="77724"/>
          </a:xfrm>
          <a:prstGeom prst="rect">
            <a:avLst/>
          </a:prstGeom>
          <a:solidFill>
            <a:srgbClr val="D4951A">
              <a:alpha val="30000"/>
            </a:srgbClr>
          </a:solidFill>
          <a:ln w="12700">
            <a:solidFill>
              <a:srgbClr val="D4951A"/>
            </a:solidFill>
            <a:prstDash val="solid"/>
          </a:ln>
        </p:spPr>
      </p:sp>
      <p:sp>
        <p:nvSpPr>
          <p:cNvPr id="96" name="Shape 94"/>
          <p:cNvSpPr/>
          <p:nvPr/>
        </p:nvSpPr>
        <p:spPr>
          <a:xfrm rot="2700000">
            <a:off x="830275" y="932688"/>
            <a:ext cx="77724" cy="77724"/>
          </a:xfrm>
          <a:prstGeom prst="rect">
            <a:avLst/>
          </a:prstGeom>
          <a:solidFill>
            <a:srgbClr val="D4951A">
              <a:alpha val="30000"/>
            </a:srgbClr>
          </a:solidFill>
          <a:ln w="12700">
            <a:solidFill>
              <a:srgbClr val="D4951A"/>
            </a:solidFill>
            <a:prstDash val="solid"/>
          </a:ln>
        </p:spPr>
      </p:sp>
      <p:sp>
        <p:nvSpPr>
          <p:cNvPr id="97" name="Shape 95"/>
          <p:cNvSpPr/>
          <p:nvPr/>
        </p:nvSpPr>
        <p:spPr>
          <a:xfrm rot="2700000">
            <a:off x="947318" y="932688"/>
            <a:ext cx="77724" cy="77724"/>
          </a:xfrm>
          <a:prstGeom prst="rect">
            <a:avLst/>
          </a:prstGeom>
          <a:solidFill>
            <a:srgbClr val="D4951A">
              <a:alpha val="30000"/>
            </a:srgbClr>
          </a:solidFill>
          <a:ln w="12700">
            <a:solidFill>
              <a:srgbClr val="D4951A"/>
            </a:solidFill>
            <a:prstDash val="solid"/>
          </a:ln>
        </p:spPr>
      </p:sp>
      <p:sp>
        <p:nvSpPr>
          <p:cNvPr id="98" name="Shape 96"/>
          <p:cNvSpPr/>
          <p:nvPr/>
        </p:nvSpPr>
        <p:spPr>
          <a:xfrm rot="2700000">
            <a:off x="1064362" y="932688"/>
            <a:ext cx="77724" cy="77724"/>
          </a:xfrm>
          <a:prstGeom prst="rect">
            <a:avLst/>
          </a:prstGeom>
          <a:solidFill>
            <a:srgbClr val="D4951A">
              <a:alpha val="30000"/>
            </a:srgbClr>
          </a:solidFill>
          <a:ln w="12700">
            <a:solidFill>
              <a:srgbClr val="D4951A"/>
            </a:solidFill>
            <a:prstDash val="solid"/>
          </a:ln>
        </p:spPr>
      </p:sp>
      <p:sp>
        <p:nvSpPr>
          <p:cNvPr id="99" name="Shape 97"/>
          <p:cNvSpPr/>
          <p:nvPr/>
        </p:nvSpPr>
        <p:spPr>
          <a:xfrm rot="2700000">
            <a:off x="1181405" y="932688"/>
            <a:ext cx="77724" cy="77724"/>
          </a:xfrm>
          <a:prstGeom prst="rect">
            <a:avLst/>
          </a:prstGeom>
          <a:solidFill>
            <a:srgbClr val="D4951A">
              <a:alpha val="30000"/>
            </a:srgbClr>
          </a:solidFill>
          <a:ln w="12700">
            <a:solidFill>
              <a:srgbClr val="D4951A"/>
            </a:solidFill>
            <a:prstDash val="solid"/>
          </a:ln>
        </p:spPr>
      </p:sp>
      <p:sp>
        <p:nvSpPr>
          <p:cNvPr id="100" name="Shape 98"/>
          <p:cNvSpPr/>
          <p:nvPr/>
        </p:nvSpPr>
        <p:spPr>
          <a:xfrm rot="2700000">
            <a:off x="1298448" y="932688"/>
            <a:ext cx="77724" cy="77724"/>
          </a:xfrm>
          <a:prstGeom prst="rect">
            <a:avLst/>
          </a:prstGeom>
          <a:solidFill>
            <a:srgbClr val="D4951A">
              <a:alpha val="30000"/>
            </a:srgbClr>
          </a:solidFill>
          <a:ln w="12700">
            <a:solidFill>
              <a:srgbClr val="D4951A"/>
            </a:solidFill>
            <a:prstDash val="solid"/>
          </a:ln>
        </p:spPr>
      </p:sp>
      <p:sp>
        <p:nvSpPr>
          <p:cNvPr id="101" name="Shape 99"/>
          <p:cNvSpPr/>
          <p:nvPr/>
        </p:nvSpPr>
        <p:spPr>
          <a:xfrm rot="2700000">
            <a:off x="1415491" y="932688"/>
            <a:ext cx="77724" cy="77724"/>
          </a:xfrm>
          <a:prstGeom prst="rect">
            <a:avLst/>
          </a:prstGeom>
          <a:solidFill>
            <a:srgbClr val="D4951A">
              <a:alpha val="30000"/>
            </a:srgbClr>
          </a:solidFill>
          <a:ln w="12700">
            <a:solidFill>
              <a:srgbClr val="D4951A"/>
            </a:solidFill>
            <a:prstDash val="solid"/>
          </a:ln>
        </p:spPr>
      </p:sp>
      <p:sp>
        <p:nvSpPr>
          <p:cNvPr id="102" name="Shape 100"/>
          <p:cNvSpPr/>
          <p:nvPr/>
        </p:nvSpPr>
        <p:spPr>
          <a:xfrm rot="2700000">
            <a:off x="1532534" y="932688"/>
            <a:ext cx="77724" cy="77724"/>
          </a:xfrm>
          <a:prstGeom prst="rect">
            <a:avLst/>
          </a:prstGeom>
          <a:solidFill>
            <a:srgbClr val="D4951A">
              <a:alpha val="30000"/>
            </a:srgbClr>
          </a:solidFill>
          <a:ln w="12700">
            <a:solidFill>
              <a:srgbClr val="D4951A"/>
            </a:solidFill>
            <a:prstDash val="solid"/>
          </a:ln>
        </p:spPr>
      </p:sp>
      <p:sp>
        <p:nvSpPr>
          <p:cNvPr id="103" name="Shape 101"/>
          <p:cNvSpPr/>
          <p:nvPr/>
        </p:nvSpPr>
        <p:spPr>
          <a:xfrm rot="2700000">
            <a:off x="1649578" y="932688"/>
            <a:ext cx="77724" cy="77724"/>
          </a:xfrm>
          <a:prstGeom prst="rect">
            <a:avLst/>
          </a:prstGeom>
          <a:solidFill>
            <a:srgbClr val="D4951A">
              <a:alpha val="30000"/>
            </a:srgbClr>
          </a:solidFill>
          <a:ln w="12700">
            <a:solidFill>
              <a:srgbClr val="D4951A"/>
            </a:solidFill>
            <a:prstDash val="solid"/>
          </a:ln>
        </p:spPr>
      </p:sp>
      <p:sp>
        <p:nvSpPr>
          <p:cNvPr id="104" name="Shape 102"/>
          <p:cNvSpPr/>
          <p:nvPr/>
        </p:nvSpPr>
        <p:spPr>
          <a:xfrm rot="2700000">
            <a:off x="1766621" y="932688"/>
            <a:ext cx="77724" cy="77724"/>
          </a:xfrm>
          <a:prstGeom prst="rect">
            <a:avLst/>
          </a:prstGeom>
          <a:solidFill>
            <a:srgbClr val="D4951A">
              <a:alpha val="30000"/>
            </a:srgbClr>
          </a:solidFill>
          <a:ln w="12700">
            <a:solidFill>
              <a:srgbClr val="D4951A"/>
            </a:solidFill>
            <a:prstDash val="solid"/>
          </a:ln>
        </p:spPr>
      </p:sp>
      <p:sp>
        <p:nvSpPr>
          <p:cNvPr id="105" name="Shape 103"/>
          <p:cNvSpPr/>
          <p:nvPr/>
        </p:nvSpPr>
        <p:spPr>
          <a:xfrm rot="2700000">
            <a:off x="1883664" y="932688"/>
            <a:ext cx="77724" cy="77724"/>
          </a:xfrm>
          <a:prstGeom prst="rect">
            <a:avLst/>
          </a:prstGeom>
          <a:solidFill>
            <a:srgbClr val="D4951A">
              <a:alpha val="30000"/>
            </a:srgbClr>
          </a:solidFill>
          <a:ln w="12700">
            <a:solidFill>
              <a:srgbClr val="D4951A"/>
            </a:solidFill>
            <a:prstDash val="solid"/>
          </a:ln>
        </p:spPr>
      </p:sp>
      <p:sp>
        <p:nvSpPr>
          <p:cNvPr id="106" name="Shape 104"/>
          <p:cNvSpPr/>
          <p:nvPr/>
        </p:nvSpPr>
        <p:spPr>
          <a:xfrm rot="2700000">
            <a:off x="2000707" y="932688"/>
            <a:ext cx="77724" cy="77724"/>
          </a:xfrm>
          <a:prstGeom prst="rect">
            <a:avLst/>
          </a:prstGeom>
          <a:solidFill>
            <a:srgbClr val="D4951A">
              <a:alpha val="30000"/>
            </a:srgbClr>
          </a:solidFill>
          <a:ln w="12700">
            <a:solidFill>
              <a:srgbClr val="D4951A"/>
            </a:solidFill>
            <a:prstDash val="solid"/>
          </a:ln>
        </p:spPr>
      </p:sp>
      <p:sp>
        <p:nvSpPr>
          <p:cNvPr id="107" name="Shape 105"/>
          <p:cNvSpPr/>
          <p:nvPr/>
        </p:nvSpPr>
        <p:spPr>
          <a:xfrm rot="2700000">
            <a:off x="2117750" y="932688"/>
            <a:ext cx="77724" cy="77724"/>
          </a:xfrm>
          <a:prstGeom prst="rect">
            <a:avLst/>
          </a:prstGeom>
          <a:solidFill>
            <a:srgbClr val="D4951A">
              <a:alpha val="30000"/>
            </a:srgbClr>
          </a:solidFill>
          <a:ln w="12700">
            <a:solidFill>
              <a:srgbClr val="D4951A"/>
            </a:solidFill>
            <a:prstDash val="solid"/>
          </a:ln>
        </p:spPr>
      </p:sp>
      <p:sp>
        <p:nvSpPr>
          <p:cNvPr id="108" name="Shape 106"/>
          <p:cNvSpPr/>
          <p:nvPr/>
        </p:nvSpPr>
        <p:spPr>
          <a:xfrm rot="2700000">
            <a:off x="2234794" y="932688"/>
            <a:ext cx="77724" cy="77724"/>
          </a:xfrm>
          <a:prstGeom prst="rect">
            <a:avLst/>
          </a:prstGeom>
          <a:solidFill>
            <a:srgbClr val="D4951A">
              <a:alpha val="30000"/>
            </a:srgbClr>
          </a:solidFill>
          <a:ln w="12700">
            <a:solidFill>
              <a:srgbClr val="D4951A"/>
            </a:solidFill>
            <a:prstDash val="solid"/>
          </a:ln>
        </p:spPr>
      </p:sp>
      <p:sp>
        <p:nvSpPr>
          <p:cNvPr id="109" name="Shape 107"/>
          <p:cNvSpPr/>
          <p:nvPr/>
        </p:nvSpPr>
        <p:spPr>
          <a:xfrm rot="2700000">
            <a:off x="2351837" y="932688"/>
            <a:ext cx="77724" cy="77724"/>
          </a:xfrm>
          <a:prstGeom prst="rect">
            <a:avLst/>
          </a:prstGeom>
          <a:solidFill>
            <a:srgbClr val="D4951A">
              <a:alpha val="30000"/>
            </a:srgbClr>
          </a:solidFill>
          <a:ln w="12700">
            <a:solidFill>
              <a:srgbClr val="D4951A"/>
            </a:solidFill>
            <a:prstDash val="solid"/>
          </a:ln>
        </p:spPr>
      </p:sp>
      <p:sp>
        <p:nvSpPr>
          <p:cNvPr id="110" name="Shape 108"/>
          <p:cNvSpPr/>
          <p:nvPr/>
        </p:nvSpPr>
        <p:spPr>
          <a:xfrm rot="2700000">
            <a:off x="2468880" y="932688"/>
            <a:ext cx="77724" cy="77724"/>
          </a:xfrm>
          <a:prstGeom prst="rect">
            <a:avLst/>
          </a:prstGeom>
          <a:solidFill>
            <a:srgbClr val="D4951A">
              <a:alpha val="30000"/>
            </a:srgbClr>
          </a:solidFill>
          <a:ln w="12700">
            <a:solidFill>
              <a:srgbClr val="D4951A"/>
            </a:solidFill>
            <a:prstDash val="solid"/>
          </a:ln>
        </p:spPr>
      </p:sp>
      <p:sp>
        <p:nvSpPr>
          <p:cNvPr id="111" name="Shape 109"/>
          <p:cNvSpPr/>
          <p:nvPr/>
        </p:nvSpPr>
        <p:spPr>
          <a:xfrm rot="2700000">
            <a:off x="2585923" y="932688"/>
            <a:ext cx="77724" cy="77724"/>
          </a:xfrm>
          <a:prstGeom prst="rect">
            <a:avLst/>
          </a:prstGeom>
          <a:solidFill>
            <a:srgbClr val="D4951A">
              <a:alpha val="30000"/>
            </a:srgbClr>
          </a:solidFill>
          <a:ln w="12700">
            <a:solidFill>
              <a:srgbClr val="D4951A"/>
            </a:solidFill>
            <a:prstDash val="solid"/>
          </a:ln>
        </p:spPr>
      </p:sp>
      <p:sp>
        <p:nvSpPr>
          <p:cNvPr id="112" name="Shape 110"/>
          <p:cNvSpPr/>
          <p:nvPr/>
        </p:nvSpPr>
        <p:spPr>
          <a:xfrm rot="2700000">
            <a:off x="2702966" y="932688"/>
            <a:ext cx="77724" cy="77724"/>
          </a:xfrm>
          <a:prstGeom prst="rect">
            <a:avLst/>
          </a:prstGeom>
          <a:solidFill>
            <a:srgbClr val="D4951A">
              <a:alpha val="30000"/>
            </a:srgbClr>
          </a:solidFill>
          <a:ln w="12700">
            <a:solidFill>
              <a:srgbClr val="D4951A"/>
            </a:solidFill>
            <a:prstDash val="solid"/>
          </a:ln>
        </p:spPr>
      </p:sp>
      <p:sp>
        <p:nvSpPr>
          <p:cNvPr id="113" name="Shape 111"/>
          <p:cNvSpPr/>
          <p:nvPr/>
        </p:nvSpPr>
        <p:spPr>
          <a:xfrm rot="2700000">
            <a:off x="2820010" y="932688"/>
            <a:ext cx="77724" cy="77724"/>
          </a:xfrm>
          <a:prstGeom prst="rect">
            <a:avLst/>
          </a:prstGeom>
          <a:solidFill>
            <a:srgbClr val="D4951A">
              <a:alpha val="30000"/>
            </a:srgbClr>
          </a:solidFill>
          <a:ln w="12700">
            <a:solidFill>
              <a:srgbClr val="D4951A"/>
            </a:solidFill>
            <a:prstDash val="solid"/>
          </a:ln>
        </p:spPr>
      </p:sp>
      <p:sp>
        <p:nvSpPr>
          <p:cNvPr id="114" name="Shape 112"/>
          <p:cNvSpPr/>
          <p:nvPr/>
        </p:nvSpPr>
        <p:spPr>
          <a:xfrm rot="2700000">
            <a:off x="2937053" y="932688"/>
            <a:ext cx="77724" cy="77724"/>
          </a:xfrm>
          <a:prstGeom prst="rect">
            <a:avLst/>
          </a:prstGeom>
          <a:solidFill>
            <a:srgbClr val="D4951A">
              <a:alpha val="30000"/>
            </a:srgbClr>
          </a:solidFill>
          <a:ln w="12700">
            <a:solidFill>
              <a:srgbClr val="D4951A"/>
            </a:solidFill>
            <a:prstDash val="solid"/>
          </a:ln>
        </p:spPr>
      </p:sp>
      <p:sp>
        <p:nvSpPr>
          <p:cNvPr id="115" name="Shape 113"/>
          <p:cNvSpPr/>
          <p:nvPr/>
        </p:nvSpPr>
        <p:spPr>
          <a:xfrm rot="2700000">
            <a:off x="3054096" y="932688"/>
            <a:ext cx="77724" cy="77724"/>
          </a:xfrm>
          <a:prstGeom prst="rect">
            <a:avLst/>
          </a:prstGeom>
          <a:solidFill>
            <a:srgbClr val="D4951A">
              <a:alpha val="30000"/>
            </a:srgbClr>
          </a:solidFill>
          <a:ln w="12700">
            <a:solidFill>
              <a:srgbClr val="D4951A"/>
            </a:solidFill>
            <a:prstDash val="solid"/>
          </a:ln>
        </p:spPr>
      </p:sp>
      <p:sp>
        <p:nvSpPr>
          <p:cNvPr id="116" name="Shape 114"/>
          <p:cNvSpPr/>
          <p:nvPr/>
        </p:nvSpPr>
        <p:spPr>
          <a:xfrm rot="2700000">
            <a:off x="3171139" y="932688"/>
            <a:ext cx="77724" cy="77724"/>
          </a:xfrm>
          <a:prstGeom prst="rect">
            <a:avLst/>
          </a:prstGeom>
          <a:solidFill>
            <a:srgbClr val="D4951A">
              <a:alpha val="30000"/>
            </a:srgbClr>
          </a:solidFill>
          <a:ln w="12700">
            <a:solidFill>
              <a:srgbClr val="D4951A"/>
            </a:solidFill>
            <a:prstDash val="solid"/>
          </a:ln>
        </p:spPr>
      </p:sp>
      <p:sp>
        <p:nvSpPr>
          <p:cNvPr id="117" name="Shape 115"/>
          <p:cNvSpPr/>
          <p:nvPr/>
        </p:nvSpPr>
        <p:spPr>
          <a:xfrm rot="2700000">
            <a:off x="3288182" y="932688"/>
            <a:ext cx="77724" cy="77724"/>
          </a:xfrm>
          <a:prstGeom prst="rect">
            <a:avLst/>
          </a:prstGeom>
          <a:solidFill>
            <a:srgbClr val="D4951A">
              <a:alpha val="30000"/>
            </a:srgbClr>
          </a:solidFill>
          <a:ln w="12700">
            <a:solidFill>
              <a:srgbClr val="D4951A"/>
            </a:solidFill>
            <a:prstDash val="solid"/>
          </a:ln>
        </p:spPr>
      </p:sp>
      <p:sp>
        <p:nvSpPr>
          <p:cNvPr id="118" name="Shape 116"/>
          <p:cNvSpPr/>
          <p:nvPr/>
        </p:nvSpPr>
        <p:spPr>
          <a:xfrm rot="2700000">
            <a:off x="3405226" y="932688"/>
            <a:ext cx="77724" cy="77724"/>
          </a:xfrm>
          <a:prstGeom prst="rect">
            <a:avLst/>
          </a:prstGeom>
          <a:solidFill>
            <a:srgbClr val="D4951A">
              <a:alpha val="30000"/>
            </a:srgbClr>
          </a:solidFill>
          <a:ln w="12700">
            <a:solidFill>
              <a:srgbClr val="D4951A"/>
            </a:solidFill>
            <a:prstDash val="solid"/>
          </a:ln>
        </p:spPr>
      </p:sp>
      <p:sp>
        <p:nvSpPr>
          <p:cNvPr id="119" name="Shape 117"/>
          <p:cNvSpPr/>
          <p:nvPr/>
        </p:nvSpPr>
        <p:spPr>
          <a:xfrm rot="2700000">
            <a:off x="3522269" y="932688"/>
            <a:ext cx="77724" cy="77724"/>
          </a:xfrm>
          <a:prstGeom prst="rect">
            <a:avLst/>
          </a:prstGeom>
          <a:solidFill>
            <a:srgbClr val="D4951A">
              <a:alpha val="30000"/>
            </a:srgbClr>
          </a:solidFill>
          <a:ln w="12700">
            <a:solidFill>
              <a:srgbClr val="D4951A"/>
            </a:solidFill>
            <a:prstDash val="solid"/>
          </a:ln>
        </p:spPr>
      </p:sp>
      <p:sp>
        <p:nvSpPr>
          <p:cNvPr id="120" name="Shape 118"/>
          <p:cNvSpPr/>
          <p:nvPr/>
        </p:nvSpPr>
        <p:spPr>
          <a:xfrm rot="2700000">
            <a:off x="3639312" y="932688"/>
            <a:ext cx="77724" cy="77724"/>
          </a:xfrm>
          <a:prstGeom prst="rect">
            <a:avLst/>
          </a:prstGeom>
          <a:solidFill>
            <a:srgbClr val="D4951A">
              <a:alpha val="30000"/>
            </a:srgbClr>
          </a:solidFill>
          <a:ln w="12700">
            <a:solidFill>
              <a:srgbClr val="D4951A"/>
            </a:solidFill>
            <a:prstDash val="solid"/>
          </a:ln>
        </p:spPr>
      </p:sp>
      <p:sp>
        <p:nvSpPr>
          <p:cNvPr id="121" name="Shape 119"/>
          <p:cNvSpPr/>
          <p:nvPr/>
        </p:nvSpPr>
        <p:spPr>
          <a:xfrm rot="2700000">
            <a:off x="3756355" y="932688"/>
            <a:ext cx="77724" cy="77724"/>
          </a:xfrm>
          <a:prstGeom prst="rect">
            <a:avLst/>
          </a:prstGeom>
          <a:solidFill>
            <a:srgbClr val="D4951A">
              <a:alpha val="30000"/>
            </a:srgbClr>
          </a:solidFill>
          <a:ln w="12700">
            <a:solidFill>
              <a:srgbClr val="D4951A"/>
            </a:solidFill>
            <a:prstDash val="solid"/>
          </a:ln>
        </p:spPr>
      </p:sp>
      <p:sp>
        <p:nvSpPr>
          <p:cNvPr id="122" name="Shape 120"/>
          <p:cNvSpPr/>
          <p:nvPr/>
        </p:nvSpPr>
        <p:spPr>
          <a:xfrm rot="2700000">
            <a:off x="3873398" y="932688"/>
            <a:ext cx="77724" cy="77724"/>
          </a:xfrm>
          <a:prstGeom prst="rect">
            <a:avLst/>
          </a:prstGeom>
          <a:solidFill>
            <a:srgbClr val="D4951A">
              <a:alpha val="30000"/>
            </a:srgbClr>
          </a:solidFill>
          <a:ln w="12700">
            <a:solidFill>
              <a:srgbClr val="D4951A"/>
            </a:solidFill>
            <a:prstDash val="solid"/>
          </a:ln>
        </p:spPr>
      </p:sp>
      <p:sp>
        <p:nvSpPr>
          <p:cNvPr id="123" name="Shape 121"/>
          <p:cNvSpPr/>
          <p:nvPr/>
        </p:nvSpPr>
        <p:spPr>
          <a:xfrm rot="2700000">
            <a:off x="3990442" y="932688"/>
            <a:ext cx="77724" cy="77724"/>
          </a:xfrm>
          <a:prstGeom prst="rect">
            <a:avLst/>
          </a:prstGeom>
          <a:solidFill>
            <a:srgbClr val="D4951A">
              <a:alpha val="30000"/>
            </a:srgbClr>
          </a:solidFill>
          <a:ln w="12700">
            <a:solidFill>
              <a:srgbClr val="D4951A"/>
            </a:solidFill>
            <a:prstDash val="solid"/>
          </a:ln>
        </p:spPr>
      </p:sp>
      <p:sp>
        <p:nvSpPr>
          <p:cNvPr id="124" name="Shape 122"/>
          <p:cNvSpPr/>
          <p:nvPr/>
        </p:nvSpPr>
        <p:spPr>
          <a:xfrm rot="2700000">
            <a:off x="4107485" y="932688"/>
            <a:ext cx="77724" cy="77724"/>
          </a:xfrm>
          <a:prstGeom prst="rect">
            <a:avLst/>
          </a:prstGeom>
          <a:solidFill>
            <a:srgbClr val="D4951A">
              <a:alpha val="30000"/>
            </a:srgbClr>
          </a:solidFill>
          <a:ln w="12700">
            <a:solidFill>
              <a:srgbClr val="D4951A"/>
            </a:solidFill>
            <a:prstDash val="solid"/>
          </a:ln>
        </p:spPr>
      </p:sp>
      <p:sp>
        <p:nvSpPr>
          <p:cNvPr id="125" name="Shape 123"/>
          <p:cNvSpPr/>
          <p:nvPr/>
        </p:nvSpPr>
        <p:spPr>
          <a:xfrm rot="2700000">
            <a:off x="4224528" y="932688"/>
            <a:ext cx="77724" cy="77724"/>
          </a:xfrm>
          <a:prstGeom prst="rect">
            <a:avLst/>
          </a:prstGeom>
          <a:solidFill>
            <a:srgbClr val="D4951A">
              <a:alpha val="30000"/>
            </a:srgbClr>
          </a:solidFill>
          <a:ln w="12700">
            <a:solidFill>
              <a:srgbClr val="D4951A"/>
            </a:solidFill>
            <a:prstDash val="solid"/>
          </a:ln>
        </p:spPr>
      </p:sp>
      <p:sp>
        <p:nvSpPr>
          <p:cNvPr id="126" name="Shape 124"/>
          <p:cNvSpPr/>
          <p:nvPr/>
        </p:nvSpPr>
        <p:spPr>
          <a:xfrm rot="2700000">
            <a:off x="4341571" y="932688"/>
            <a:ext cx="77724" cy="77724"/>
          </a:xfrm>
          <a:prstGeom prst="rect">
            <a:avLst/>
          </a:prstGeom>
          <a:solidFill>
            <a:srgbClr val="D4951A">
              <a:alpha val="30000"/>
            </a:srgbClr>
          </a:solidFill>
          <a:ln w="12700">
            <a:solidFill>
              <a:srgbClr val="D4951A"/>
            </a:solidFill>
            <a:prstDash val="solid"/>
          </a:ln>
        </p:spPr>
      </p:sp>
      <p:sp>
        <p:nvSpPr>
          <p:cNvPr id="127" name="Shape 125"/>
          <p:cNvSpPr/>
          <p:nvPr/>
        </p:nvSpPr>
        <p:spPr>
          <a:xfrm rot="2700000">
            <a:off x="4458614" y="932688"/>
            <a:ext cx="77724" cy="77724"/>
          </a:xfrm>
          <a:prstGeom prst="rect">
            <a:avLst/>
          </a:prstGeom>
          <a:solidFill>
            <a:srgbClr val="D4951A">
              <a:alpha val="30000"/>
            </a:srgbClr>
          </a:solidFill>
          <a:ln w="12700">
            <a:solidFill>
              <a:srgbClr val="D4951A"/>
            </a:solidFill>
            <a:prstDash val="solid"/>
          </a:ln>
        </p:spPr>
      </p:sp>
      <p:sp>
        <p:nvSpPr>
          <p:cNvPr id="128" name="Shape 126"/>
          <p:cNvSpPr/>
          <p:nvPr/>
        </p:nvSpPr>
        <p:spPr>
          <a:xfrm rot="2700000">
            <a:off x="4575658" y="932688"/>
            <a:ext cx="77724" cy="77724"/>
          </a:xfrm>
          <a:prstGeom prst="rect">
            <a:avLst/>
          </a:prstGeom>
          <a:solidFill>
            <a:srgbClr val="D4951A">
              <a:alpha val="30000"/>
            </a:srgbClr>
          </a:solidFill>
          <a:ln w="12700">
            <a:solidFill>
              <a:srgbClr val="D4951A"/>
            </a:solidFill>
            <a:prstDash val="solid"/>
          </a:ln>
        </p:spPr>
      </p:sp>
      <p:sp>
        <p:nvSpPr>
          <p:cNvPr id="129" name="Shape 127"/>
          <p:cNvSpPr/>
          <p:nvPr/>
        </p:nvSpPr>
        <p:spPr>
          <a:xfrm rot="2700000">
            <a:off x="4692701" y="932688"/>
            <a:ext cx="77724" cy="77724"/>
          </a:xfrm>
          <a:prstGeom prst="rect">
            <a:avLst/>
          </a:prstGeom>
          <a:solidFill>
            <a:srgbClr val="D4951A">
              <a:alpha val="30000"/>
            </a:srgbClr>
          </a:solidFill>
          <a:ln w="12700">
            <a:solidFill>
              <a:srgbClr val="D4951A"/>
            </a:solidFill>
            <a:prstDash val="solid"/>
          </a:ln>
        </p:spPr>
      </p:sp>
      <p:sp>
        <p:nvSpPr>
          <p:cNvPr id="130" name="Shape 128"/>
          <p:cNvSpPr/>
          <p:nvPr/>
        </p:nvSpPr>
        <p:spPr>
          <a:xfrm rot="2700000">
            <a:off x="4809744" y="932688"/>
            <a:ext cx="77724" cy="77724"/>
          </a:xfrm>
          <a:prstGeom prst="rect">
            <a:avLst/>
          </a:prstGeom>
          <a:solidFill>
            <a:srgbClr val="D4951A">
              <a:alpha val="30000"/>
            </a:srgbClr>
          </a:solidFill>
          <a:ln w="12700">
            <a:solidFill>
              <a:srgbClr val="D4951A"/>
            </a:solidFill>
            <a:prstDash val="solid"/>
          </a:ln>
        </p:spPr>
      </p:sp>
      <p:sp>
        <p:nvSpPr>
          <p:cNvPr id="131" name="Shape 129"/>
          <p:cNvSpPr/>
          <p:nvPr/>
        </p:nvSpPr>
        <p:spPr>
          <a:xfrm rot="2700000">
            <a:off x="4926787" y="932688"/>
            <a:ext cx="77724" cy="77724"/>
          </a:xfrm>
          <a:prstGeom prst="rect">
            <a:avLst/>
          </a:prstGeom>
          <a:solidFill>
            <a:srgbClr val="D4951A">
              <a:alpha val="30000"/>
            </a:srgbClr>
          </a:solidFill>
          <a:ln w="12700">
            <a:solidFill>
              <a:srgbClr val="D4951A"/>
            </a:solidFill>
            <a:prstDash val="solid"/>
          </a:ln>
        </p:spPr>
      </p:sp>
      <p:sp>
        <p:nvSpPr>
          <p:cNvPr id="132" name="Shape 130"/>
          <p:cNvSpPr/>
          <p:nvPr/>
        </p:nvSpPr>
        <p:spPr>
          <a:xfrm rot="2700000">
            <a:off x="5043830" y="932688"/>
            <a:ext cx="77724" cy="77724"/>
          </a:xfrm>
          <a:prstGeom prst="rect">
            <a:avLst/>
          </a:prstGeom>
          <a:solidFill>
            <a:srgbClr val="D4951A">
              <a:alpha val="30000"/>
            </a:srgbClr>
          </a:solidFill>
          <a:ln w="12700">
            <a:solidFill>
              <a:srgbClr val="D4951A"/>
            </a:solidFill>
            <a:prstDash val="solid"/>
          </a:ln>
        </p:spPr>
      </p:sp>
      <p:sp>
        <p:nvSpPr>
          <p:cNvPr id="133" name="Shape 131"/>
          <p:cNvSpPr/>
          <p:nvPr/>
        </p:nvSpPr>
        <p:spPr>
          <a:xfrm rot="2700000">
            <a:off x="5160874" y="932688"/>
            <a:ext cx="77724" cy="77724"/>
          </a:xfrm>
          <a:prstGeom prst="rect">
            <a:avLst/>
          </a:prstGeom>
          <a:solidFill>
            <a:srgbClr val="D4951A">
              <a:alpha val="30000"/>
            </a:srgbClr>
          </a:solidFill>
          <a:ln w="12700">
            <a:solidFill>
              <a:srgbClr val="D4951A"/>
            </a:solidFill>
            <a:prstDash val="solid"/>
          </a:ln>
        </p:spPr>
      </p:sp>
      <p:sp>
        <p:nvSpPr>
          <p:cNvPr id="134" name="Shape 132"/>
          <p:cNvSpPr/>
          <p:nvPr/>
        </p:nvSpPr>
        <p:spPr>
          <a:xfrm rot="2700000">
            <a:off x="5277917" y="932688"/>
            <a:ext cx="77724" cy="77724"/>
          </a:xfrm>
          <a:prstGeom prst="rect">
            <a:avLst/>
          </a:prstGeom>
          <a:solidFill>
            <a:srgbClr val="D4951A">
              <a:alpha val="30000"/>
            </a:srgbClr>
          </a:solidFill>
          <a:ln w="12700">
            <a:solidFill>
              <a:srgbClr val="D4951A"/>
            </a:solidFill>
            <a:prstDash val="solid"/>
          </a:ln>
        </p:spPr>
      </p:sp>
      <p:sp>
        <p:nvSpPr>
          <p:cNvPr id="135" name="Shape 133"/>
          <p:cNvSpPr/>
          <p:nvPr/>
        </p:nvSpPr>
        <p:spPr>
          <a:xfrm rot="2700000">
            <a:off x="5394960" y="932688"/>
            <a:ext cx="77724" cy="77724"/>
          </a:xfrm>
          <a:prstGeom prst="rect">
            <a:avLst/>
          </a:prstGeom>
          <a:solidFill>
            <a:srgbClr val="D4951A">
              <a:alpha val="30000"/>
            </a:srgbClr>
          </a:solidFill>
          <a:ln w="12700">
            <a:solidFill>
              <a:srgbClr val="D4951A"/>
            </a:solidFill>
            <a:prstDash val="solid"/>
          </a:ln>
        </p:spPr>
      </p:sp>
      <p:sp>
        <p:nvSpPr>
          <p:cNvPr id="136" name="Shape 134"/>
          <p:cNvSpPr/>
          <p:nvPr/>
        </p:nvSpPr>
        <p:spPr>
          <a:xfrm rot="2700000">
            <a:off x="5512003" y="932688"/>
            <a:ext cx="77724" cy="77724"/>
          </a:xfrm>
          <a:prstGeom prst="rect">
            <a:avLst/>
          </a:prstGeom>
          <a:solidFill>
            <a:srgbClr val="D4951A">
              <a:alpha val="30000"/>
            </a:srgbClr>
          </a:solidFill>
          <a:ln w="12700">
            <a:solidFill>
              <a:srgbClr val="D4951A"/>
            </a:solidFill>
            <a:prstDash val="solid"/>
          </a:ln>
        </p:spPr>
      </p:sp>
      <p:sp>
        <p:nvSpPr>
          <p:cNvPr id="137" name="Shape 135"/>
          <p:cNvSpPr/>
          <p:nvPr/>
        </p:nvSpPr>
        <p:spPr>
          <a:xfrm rot="2700000">
            <a:off x="5629046" y="932688"/>
            <a:ext cx="77724" cy="77724"/>
          </a:xfrm>
          <a:prstGeom prst="rect">
            <a:avLst/>
          </a:prstGeom>
          <a:solidFill>
            <a:srgbClr val="D4951A">
              <a:alpha val="30000"/>
            </a:srgbClr>
          </a:solidFill>
          <a:ln w="12700">
            <a:solidFill>
              <a:srgbClr val="D4951A"/>
            </a:solidFill>
            <a:prstDash val="solid"/>
          </a:ln>
        </p:spPr>
      </p:sp>
      <p:sp>
        <p:nvSpPr>
          <p:cNvPr id="138" name="Shape 136"/>
          <p:cNvSpPr/>
          <p:nvPr/>
        </p:nvSpPr>
        <p:spPr>
          <a:xfrm rot="2700000">
            <a:off x="5746090" y="932688"/>
            <a:ext cx="77724" cy="77724"/>
          </a:xfrm>
          <a:prstGeom prst="rect">
            <a:avLst/>
          </a:prstGeom>
          <a:solidFill>
            <a:srgbClr val="D4951A">
              <a:alpha val="30000"/>
            </a:srgbClr>
          </a:solidFill>
          <a:ln w="12700">
            <a:solidFill>
              <a:srgbClr val="D4951A"/>
            </a:solidFill>
            <a:prstDash val="solid"/>
          </a:ln>
        </p:spPr>
      </p:sp>
      <p:sp>
        <p:nvSpPr>
          <p:cNvPr id="139" name="Shape 137"/>
          <p:cNvSpPr/>
          <p:nvPr/>
        </p:nvSpPr>
        <p:spPr>
          <a:xfrm rot="2700000">
            <a:off x="5863133" y="932688"/>
            <a:ext cx="77724" cy="77724"/>
          </a:xfrm>
          <a:prstGeom prst="rect">
            <a:avLst/>
          </a:prstGeom>
          <a:solidFill>
            <a:srgbClr val="D4951A">
              <a:alpha val="30000"/>
            </a:srgbClr>
          </a:solidFill>
          <a:ln w="12700">
            <a:solidFill>
              <a:srgbClr val="D4951A"/>
            </a:solidFill>
            <a:prstDash val="solid"/>
          </a:ln>
        </p:spPr>
      </p:sp>
      <p:sp>
        <p:nvSpPr>
          <p:cNvPr id="140" name="Shape 138"/>
          <p:cNvSpPr/>
          <p:nvPr/>
        </p:nvSpPr>
        <p:spPr>
          <a:xfrm rot="2700000">
            <a:off x="5980176" y="932688"/>
            <a:ext cx="77724" cy="77724"/>
          </a:xfrm>
          <a:prstGeom prst="rect">
            <a:avLst/>
          </a:prstGeom>
          <a:solidFill>
            <a:srgbClr val="D4951A">
              <a:alpha val="30000"/>
            </a:srgbClr>
          </a:solidFill>
          <a:ln w="12700">
            <a:solidFill>
              <a:srgbClr val="D4951A"/>
            </a:solidFill>
            <a:prstDash val="solid"/>
          </a:ln>
        </p:spPr>
      </p:sp>
      <p:sp>
        <p:nvSpPr>
          <p:cNvPr id="141" name="Shape 139"/>
          <p:cNvSpPr/>
          <p:nvPr/>
        </p:nvSpPr>
        <p:spPr>
          <a:xfrm rot="2700000">
            <a:off x="6097219" y="932688"/>
            <a:ext cx="77724" cy="77724"/>
          </a:xfrm>
          <a:prstGeom prst="rect">
            <a:avLst/>
          </a:prstGeom>
          <a:solidFill>
            <a:srgbClr val="D4951A">
              <a:alpha val="30000"/>
            </a:srgbClr>
          </a:solidFill>
          <a:ln w="12700">
            <a:solidFill>
              <a:srgbClr val="D4951A"/>
            </a:solidFill>
            <a:prstDash val="solid"/>
          </a:ln>
        </p:spPr>
      </p:sp>
      <p:sp>
        <p:nvSpPr>
          <p:cNvPr id="142" name="Shape 140"/>
          <p:cNvSpPr/>
          <p:nvPr/>
        </p:nvSpPr>
        <p:spPr>
          <a:xfrm rot="2700000">
            <a:off x="6214262" y="932688"/>
            <a:ext cx="77724" cy="77724"/>
          </a:xfrm>
          <a:prstGeom prst="rect">
            <a:avLst/>
          </a:prstGeom>
          <a:solidFill>
            <a:srgbClr val="D4951A">
              <a:alpha val="30000"/>
            </a:srgbClr>
          </a:solidFill>
          <a:ln w="12700">
            <a:solidFill>
              <a:srgbClr val="D4951A"/>
            </a:solidFill>
            <a:prstDash val="solid"/>
          </a:ln>
        </p:spPr>
      </p:sp>
      <p:sp>
        <p:nvSpPr>
          <p:cNvPr id="143" name="Shape 141"/>
          <p:cNvSpPr/>
          <p:nvPr/>
        </p:nvSpPr>
        <p:spPr>
          <a:xfrm rot="2700000">
            <a:off x="6331306" y="932688"/>
            <a:ext cx="77724" cy="77724"/>
          </a:xfrm>
          <a:prstGeom prst="rect">
            <a:avLst/>
          </a:prstGeom>
          <a:solidFill>
            <a:srgbClr val="D4951A">
              <a:alpha val="30000"/>
            </a:srgbClr>
          </a:solidFill>
          <a:ln w="12700">
            <a:solidFill>
              <a:srgbClr val="D4951A"/>
            </a:solidFill>
            <a:prstDash val="solid"/>
          </a:ln>
        </p:spPr>
      </p:sp>
      <p:sp>
        <p:nvSpPr>
          <p:cNvPr id="144" name="Shape 142"/>
          <p:cNvSpPr/>
          <p:nvPr/>
        </p:nvSpPr>
        <p:spPr>
          <a:xfrm rot="2700000">
            <a:off x="6448349" y="932688"/>
            <a:ext cx="77724" cy="77724"/>
          </a:xfrm>
          <a:prstGeom prst="rect">
            <a:avLst/>
          </a:prstGeom>
          <a:solidFill>
            <a:srgbClr val="D4951A">
              <a:alpha val="30000"/>
            </a:srgbClr>
          </a:solidFill>
          <a:ln w="12700">
            <a:solidFill>
              <a:srgbClr val="D4951A"/>
            </a:solidFill>
            <a:prstDash val="solid"/>
          </a:ln>
        </p:spPr>
      </p:sp>
      <p:sp>
        <p:nvSpPr>
          <p:cNvPr id="145" name="Shape 143"/>
          <p:cNvSpPr/>
          <p:nvPr/>
        </p:nvSpPr>
        <p:spPr>
          <a:xfrm rot="2700000">
            <a:off x="6565392" y="932688"/>
            <a:ext cx="77724" cy="77724"/>
          </a:xfrm>
          <a:prstGeom prst="rect">
            <a:avLst/>
          </a:prstGeom>
          <a:solidFill>
            <a:srgbClr val="D4951A">
              <a:alpha val="30000"/>
            </a:srgbClr>
          </a:solidFill>
          <a:ln w="12700">
            <a:solidFill>
              <a:srgbClr val="D4951A"/>
            </a:solidFill>
            <a:prstDash val="solid"/>
          </a:ln>
        </p:spPr>
      </p:sp>
      <p:sp>
        <p:nvSpPr>
          <p:cNvPr id="146" name="Shape 144"/>
          <p:cNvSpPr/>
          <p:nvPr/>
        </p:nvSpPr>
        <p:spPr>
          <a:xfrm rot="2700000">
            <a:off x="6682435" y="932688"/>
            <a:ext cx="77724" cy="77724"/>
          </a:xfrm>
          <a:prstGeom prst="rect">
            <a:avLst/>
          </a:prstGeom>
          <a:solidFill>
            <a:srgbClr val="D4951A">
              <a:alpha val="30000"/>
            </a:srgbClr>
          </a:solidFill>
          <a:ln w="12700">
            <a:solidFill>
              <a:srgbClr val="D4951A"/>
            </a:solidFill>
            <a:prstDash val="solid"/>
          </a:ln>
        </p:spPr>
      </p:sp>
      <p:sp>
        <p:nvSpPr>
          <p:cNvPr id="147" name="Shape 145"/>
          <p:cNvSpPr/>
          <p:nvPr/>
        </p:nvSpPr>
        <p:spPr>
          <a:xfrm rot="2700000">
            <a:off x="6799478" y="932688"/>
            <a:ext cx="77724" cy="77724"/>
          </a:xfrm>
          <a:prstGeom prst="rect">
            <a:avLst/>
          </a:prstGeom>
          <a:solidFill>
            <a:srgbClr val="D4951A">
              <a:alpha val="30000"/>
            </a:srgbClr>
          </a:solidFill>
          <a:ln w="12700">
            <a:solidFill>
              <a:srgbClr val="D4951A"/>
            </a:solidFill>
            <a:prstDash val="solid"/>
          </a:ln>
        </p:spPr>
      </p:sp>
      <p:sp>
        <p:nvSpPr>
          <p:cNvPr id="148" name="Shape 146"/>
          <p:cNvSpPr/>
          <p:nvPr/>
        </p:nvSpPr>
        <p:spPr>
          <a:xfrm rot="2700000">
            <a:off x="6916522" y="932688"/>
            <a:ext cx="77724" cy="77724"/>
          </a:xfrm>
          <a:prstGeom prst="rect">
            <a:avLst/>
          </a:prstGeom>
          <a:solidFill>
            <a:srgbClr val="D4951A">
              <a:alpha val="30000"/>
            </a:srgbClr>
          </a:solidFill>
          <a:ln w="12700">
            <a:solidFill>
              <a:srgbClr val="D4951A"/>
            </a:solidFill>
            <a:prstDash val="solid"/>
          </a:ln>
        </p:spPr>
      </p:sp>
      <p:sp>
        <p:nvSpPr>
          <p:cNvPr id="149" name="Shape 147"/>
          <p:cNvSpPr/>
          <p:nvPr/>
        </p:nvSpPr>
        <p:spPr>
          <a:xfrm rot="2700000">
            <a:off x="7033565" y="932688"/>
            <a:ext cx="77724" cy="77724"/>
          </a:xfrm>
          <a:prstGeom prst="rect">
            <a:avLst/>
          </a:prstGeom>
          <a:solidFill>
            <a:srgbClr val="D4951A">
              <a:alpha val="30000"/>
            </a:srgbClr>
          </a:solidFill>
          <a:ln w="12700">
            <a:solidFill>
              <a:srgbClr val="D4951A"/>
            </a:solidFill>
            <a:prstDash val="solid"/>
          </a:ln>
        </p:spPr>
      </p:sp>
      <p:sp>
        <p:nvSpPr>
          <p:cNvPr id="150" name="Shape 148"/>
          <p:cNvSpPr/>
          <p:nvPr/>
        </p:nvSpPr>
        <p:spPr>
          <a:xfrm rot="2700000">
            <a:off x="7150608" y="932688"/>
            <a:ext cx="77724" cy="77724"/>
          </a:xfrm>
          <a:prstGeom prst="rect">
            <a:avLst/>
          </a:prstGeom>
          <a:solidFill>
            <a:srgbClr val="D4951A">
              <a:alpha val="30000"/>
            </a:srgbClr>
          </a:solidFill>
          <a:ln w="12700">
            <a:solidFill>
              <a:srgbClr val="D4951A"/>
            </a:solidFill>
            <a:prstDash val="solid"/>
          </a:ln>
        </p:spPr>
      </p:sp>
      <p:sp>
        <p:nvSpPr>
          <p:cNvPr id="151" name="Shape 149"/>
          <p:cNvSpPr/>
          <p:nvPr/>
        </p:nvSpPr>
        <p:spPr>
          <a:xfrm rot="2700000">
            <a:off x="7267651" y="932688"/>
            <a:ext cx="77724" cy="77724"/>
          </a:xfrm>
          <a:prstGeom prst="rect">
            <a:avLst/>
          </a:prstGeom>
          <a:solidFill>
            <a:srgbClr val="D4951A">
              <a:alpha val="30000"/>
            </a:srgbClr>
          </a:solidFill>
          <a:ln w="12700">
            <a:solidFill>
              <a:srgbClr val="D4951A"/>
            </a:solidFill>
            <a:prstDash val="solid"/>
          </a:ln>
        </p:spPr>
      </p:sp>
      <p:sp>
        <p:nvSpPr>
          <p:cNvPr id="152" name="Shape 150"/>
          <p:cNvSpPr/>
          <p:nvPr/>
        </p:nvSpPr>
        <p:spPr>
          <a:xfrm rot="2700000">
            <a:off x="7384694" y="932688"/>
            <a:ext cx="77724" cy="77724"/>
          </a:xfrm>
          <a:prstGeom prst="rect">
            <a:avLst/>
          </a:prstGeom>
          <a:solidFill>
            <a:srgbClr val="D4951A">
              <a:alpha val="30000"/>
            </a:srgbClr>
          </a:solidFill>
          <a:ln w="12700">
            <a:solidFill>
              <a:srgbClr val="D4951A"/>
            </a:solidFill>
            <a:prstDash val="solid"/>
          </a:ln>
        </p:spPr>
      </p:sp>
      <p:sp>
        <p:nvSpPr>
          <p:cNvPr id="153" name="Shape 151"/>
          <p:cNvSpPr/>
          <p:nvPr/>
        </p:nvSpPr>
        <p:spPr>
          <a:xfrm rot="2700000">
            <a:off x="7501738" y="932688"/>
            <a:ext cx="77724" cy="77724"/>
          </a:xfrm>
          <a:prstGeom prst="rect">
            <a:avLst/>
          </a:prstGeom>
          <a:solidFill>
            <a:srgbClr val="D4951A">
              <a:alpha val="30000"/>
            </a:srgbClr>
          </a:solidFill>
          <a:ln w="12700">
            <a:solidFill>
              <a:srgbClr val="D4951A"/>
            </a:solidFill>
            <a:prstDash val="solid"/>
          </a:ln>
        </p:spPr>
      </p:sp>
      <p:sp>
        <p:nvSpPr>
          <p:cNvPr id="154" name="Shape 152"/>
          <p:cNvSpPr/>
          <p:nvPr/>
        </p:nvSpPr>
        <p:spPr>
          <a:xfrm rot="2700000">
            <a:off x="7618781" y="932688"/>
            <a:ext cx="77724" cy="77724"/>
          </a:xfrm>
          <a:prstGeom prst="rect">
            <a:avLst/>
          </a:prstGeom>
          <a:solidFill>
            <a:srgbClr val="D4951A">
              <a:alpha val="30000"/>
            </a:srgbClr>
          </a:solidFill>
          <a:ln w="12700">
            <a:solidFill>
              <a:srgbClr val="D4951A"/>
            </a:solidFill>
            <a:prstDash val="solid"/>
          </a:ln>
        </p:spPr>
      </p:sp>
      <p:sp>
        <p:nvSpPr>
          <p:cNvPr id="155" name="Shape 153"/>
          <p:cNvSpPr/>
          <p:nvPr/>
        </p:nvSpPr>
        <p:spPr>
          <a:xfrm rot="2700000">
            <a:off x="7735824" y="932688"/>
            <a:ext cx="77724" cy="77724"/>
          </a:xfrm>
          <a:prstGeom prst="rect">
            <a:avLst/>
          </a:prstGeom>
          <a:solidFill>
            <a:srgbClr val="D4951A">
              <a:alpha val="30000"/>
            </a:srgbClr>
          </a:solidFill>
          <a:ln w="12700">
            <a:solidFill>
              <a:srgbClr val="D4951A"/>
            </a:solidFill>
            <a:prstDash val="solid"/>
          </a:ln>
        </p:spPr>
      </p:sp>
      <p:sp>
        <p:nvSpPr>
          <p:cNvPr id="156" name="Shape 154"/>
          <p:cNvSpPr/>
          <p:nvPr/>
        </p:nvSpPr>
        <p:spPr>
          <a:xfrm rot="2700000">
            <a:off x="7852867" y="932688"/>
            <a:ext cx="77724" cy="77724"/>
          </a:xfrm>
          <a:prstGeom prst="rect">
            <a:avLst/>
          </a:prstGeom>
          <a:solidFill>
            <a:srgbClr val="D4951A">
              <a:alpha val="30000"/>
            </a:srgbClr>
          </a:solidFill>
          <a:ln w="12700">
            <a:solidFill>
              <a:srgbClr val="D4951A"/>
            </a:solidFill>
            <a:prstDash val="solid"/>
          </a:ln>
        </p:spPr>
      </p:sp>
      <p:sp>
        <p:nvSpPr>
          <p:cNvPr id="157" name="Shape 155"/>
          <p:cNvSpPr/>
          <p:nvPr/>
        </p:nvSpPr>
        <p:spPr>
          <a:xfrm rot="2700000">
            <a:off x="7969910" y="932688"/>
            <a:ext cx="77724" cy="77724"/>
          </a:xfrm>
          <a:prstGeom prst="rect">
            <a:avLst/>
          </a:prstGeom>
          <a:solidFill>
            <a:srgbClr val="D4951A">
              <a:alpha val="30000"/>
            </a:srgbClr>
          </a:solidFill>
          <a:ln w="12700">
            <a:solidFill>
              <a:srgbClr val="D4951A"/>
            </a:solidFill>
            <a:prstDash val="solid"/>
          </a:ln>
        </p:spPr>
      </p:sp>
      <p:sp>
        <p:nvSpPr>
          <p:cNvPr id="158" name="Shape 156"/>
          <p:cNvSpPr/>
          <p:nvPr/>
        </p:nvSpPr>
        <p:spPr>
          <a:xfrm rot="2700000">
            <a:off x="8086954" y="932688"/>
            <a:ext cx="77724" cy="77724"/>
          </a:xfrm>
          <a:prstGeom prst="rect">
            <a:avLst/>
          </a:prstGeom>
          <a:solidFill>
            <a:srgbClr val="D4951A">
              <a:alpha val="30000"/>
            </a:srgbClr>
          </a:solidFill>
          <a:ln w="12700">
            <a:solidFill>
              <a:srgbClr val="D4951A"/>
            </a:solidFill>
            <a:prstDash val="solid"/>
          </a:ln>
        </p:spPr>
      </p:sp>
      <p:sp>
        <p:nvSpPr>
          <p:cNvPr id="159" name="Shape 157"/>
          <p:cNvSpPr/>
          <p:nvPr/>
        </p:nvSpPr>
        <p:spPr>
          <a:xfrm rot="2700000">
            <a:off x="8203997" y="932688"/>
            <a:ext cx="77724" cy="77724"/>
          </a:xfrm>
          <a:prstGeom prst="rect">
            <a:avLst/>
          </a:prstGeom>
          <a:solidFill>
            <a:srgbClr val="D4951A">
              <a:alpha val="30000"/>
            </a:srgbClr>
          </a:solidFill>
          <a:ln w="12700">
            <a:solidFill>
              <a:srgbClr val="D4951A"/>
            </a:solidFill>
            <a:prstDash val="solid"/>
          </a:ln>
        </p:spPr>
      </p:sp>
      <p:sp>
        <p:nvSpPr>
          <p:cNvPr id="160" name="Shape 158"/>
          <p:cNvSpPr/>
          <p:nvPr/>
        </p:nvSpPr>
        <p:spPr>
          <a:xfrm rot="2700000">
            <a:off x="8321040" y="932688"/>
            <a:ext cx="77724" cy="77724"/>
          </a:xfrm>
          <a:prstGeom prst="rect">
            <a:avLst/>
          </a:prstGeom>
          <a:solidFill>
            <a:srgbClr val="D4951A">
              <a:alpha val="30000"/>
            </a:srgbClr>
          </a:solidFill>
          <a:ln w="12700">
            <a:solidFill>
              <a:srgbClr val="D4951A"/>
            </a:solidFill>
            <a:prstDash val="solid"/>
          </a:ln>
        </p:spPr>
      </p:sp>
      <p:sp>
        <p:nvSpPr>
          <p:cNvPr id="161" name="Shape 159"/>
          <p:cNvSpPr/>
          <p:nvPr/>
        </p:nvSpPr>
        <p:spPr>
          <a:xfrm rot="2700000">
            <a:off x="8438083" y="932688"/>
            <a:ext cx="77724" cy="77724"/>
          </a:xfrm>
          <a:prstGeom prst="rect">
            <a:avLst/>
          </a:prstGeom>
          <a:solidFill>
            <a:srgbClr val="D4951A">
              <a:alpha val="30000"/>
            </a:srgbClr>
          </a:solidFill>
          <a:ln w="12700">
            <a:solidFill>
              <a:srgbClr val="D4951A"/>
            </a:solidFill>
            <a:prstDash val="solid"/>
          </a:ln>
        </p:spPr>
      </p:sp>
      <p:sp>
        <p:nvSpPr>
          <p:cNvPr id="162" name="Shape 160"/>
          <p:cNvSpPr/>
          <p:nvPr/>
        </p:nvSpPr>
        <p:spPr>
          <a:xfrm rot="2700000">
            <a:off x="8555126" y="932688"/>
            <a:ext cx="77724" cy="77724"/>
          </a:xfrm>
          <a:prstGeom prst="rect">
            <a:avLst/>
          </a:prstGeom>
          <a:solidFill>
            <a:srgbClr val="D4951A">
              <a:alpha val="30000"/>
            </a:srgbClr>
          </a:solidFill>
          <a:ln w="12700">
            <a:solidFill>
              <a:srgbClr val="D4951A"/>
            </a:solidFill>
            <a:prstDash val="solid"/>
          </a:ln>
        </p:spPr>
      </p:sp>
      <p:sp>
        <p:nvSpPr>
          <p:cNvPr id="163" name="Shape 161"/>
          <p:cNvSpPr/>
          <p:nvPr/>
        </p:nvSpPr>
        <p:spPr>
          <a:xfrm rot="2700000">
            <a:off x="8672170" y="932688"/>
            <a:ext cx="77724" cy="77724"/>
          </a:xfrm>
          <a:prstGeom prst="rect">
            <a:avLst/>
          </a:prstGeom>
          <a:solidFill>
            <a:srgbClr val="D4951A">
              <a:alpha val="30000"/>
            </a:srgbClr>
          </a:solidFill>
          <a:ln w="12700">
            <a:solidFill>
              <a:srgbClr val="D4951A"/>
            </a:solidFill>
            <a:prstDash val="solid"/>
          </a:ln>
        </p:spPr>
      </p:sp>
      <p:sp>
        <p:nvSpPr>
          <p:cNvPr id="164" name="Text 162"/>
          <p:cNvSpPr/>
          <p:nvPr/>
        </p:nvSpPr>
        <p:spPr>
          <a:xfrm>
            <a:off x="365760" y="987552"/>
            <a:ext cx="8412480" cy="384048"/>
          </a:xfrm>
          <a:prstGeom prst="rect">
            <a:avLst/>
          </a:prstGeom>
          <a:noFill/>
          <a:ln/>
        </p:spPr>
        <p:txBody>
          <a:bodyPr wrap="square" rtlCol="0" anchor="b"/>
          <a:lstStyle/>
          <a:p>
            <a:pPr indent="0" marL="0">
              <a:buNone/>
            </a:pPr>
            <a:r>
              <a:rPr lang="en-US" sz="1500" b="1" dirty="0">
                <a:solidFill>
                  <a:srgbClr val="09090F"/>
                </a:solidFill>
                <a:latin typeface="Georgia" pitchFamily="34" charset="0"/>
                <a:ea typeface="Georgia" pitchFamily="34" charset="-122"/>
                <a:cs typeface="Georgia" pitchFamily="34" charset="-120"/>
              </a:rPr>
              <a:t>✅  TWO INDEPENDENT OTSG UNITS — One Dedicated per Production Line</a:t>
            </a:r>
            <a:endParaRPr lang="en-US" sz="1500" dirty="0"/>
          </a:p>
        </p:txBody>
      </p:sp>
      <p:sp>
        <p:nvSpPr>
          <p:cNvPr id="165" name="Text 163"/>
          <p:cNvSpPr/>
          <p:nvPr/>
        </p:nvSpPr>
        <p:spPr>
          <a:xfrm>
            <a:off x="365760" y="1371600"/>
            <a:ext cx="8412480" cy="182880"/>
          </a:xfrm>
          <a:prstGeom prst="rect">
            <a:avLst/>
          </a:prstGeom>
          <a:noFill/>
          <a:ln/>
        </p:spPr>
        <p:txBody>
          <a:bodyPr wrap="square" rtlCol="0" anchor="ctr"/>
          <a:lstStyle/>
          <a:p>
            <a:pPr indent="0" marL="0">
              <a:buNone/>
            </a:pPr>
            <a:r>
              <a:rPr lang="en-US" sz="1000" i="1" dirty="0">
                <a:solidFill>
                  <a:srgbClr val="09090F"/>
                </a:solidFill>
                <a:latin typeface="Calibri" pitchFamily="34" charset="0"/>
                <a:ea typeface="Calibri" pitchFamily="34" charset="-122"/>
                <a:cs typeface="Calibri" pitchFamily="34" charset="-120"/>
              </a:rPr>
              <a:t>Miura LX series or Clayton Industries Series E  ·  2,400–2,600 Kg/H each  ·  5 bar(g)  ·  LPG with dual-fuel option  ·  CE marked</a:t>
            </a:r>
            <a:endParaRPr lang="en-US" sz="1000" dirty="0"/>
          </a:p>
        </p:txBody>
      </p:sp>
      <p:sp>
        <p:nvSpPr>
          <p:cNvPr id="166" name="Shape 164"/>
          <p:cNvSpPr/>
          <p:nvPr/>
        </p:nvSpPr>
        <p:spPr>
          <a:xfrm>
            <a:off x="365760" y="1828800"/>
            <a:ext cx="1828800" cy="1005840"/>
          </a:xfrm>
          <a:prstGeom prst="rect">
            <a:avLst/>
          </a:prstGeom>
          <a:solidFill>
            <a:srgbClr val="130F0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67" name="Text 165"/>
          <p:cNvSpPr/>
          <p:nvPr/>
        </p:nvSpPr>
        <p:spPr>
          <a:xfrm>
            <a:off x="365760" y="1828800"/>
            <a:ext cx="1828800" cy="1005840"/>
          </a:xfrm>
          <a:prstGeom prst="rect">
            <a:avLst/>
          </a:prstGeom>
          <a:noFill/>
          <a:ln/>
        </p:spPr>
        <p:txBody>
          <a:bodyPr wrap="square" rtlCol="0" anchor="ctr"/>
          <a:lstStyle/>
          <a:p>
            <a:pPr algn="ctr" indent="0" marL="0">
              <a:buNone/>
            </a:pPr>
            <a:r>
              <a:rPr lang="en-US" sz="1050" b="1" dirty="0">
                <a:solidFill>
                  <a:srgbClr val="1B9A8A"/>
                </a:solidFill>
                <a:latin typeface="Georgia" pitchFamily="34" charset="0"/>
                <a:ea typeface="Georgia" pitchFamily="34" charset="-122"/>
                <a:cs typeface="Georgia" pitchFamily="34" charset="-120"/>
              </a:rPr>
              <a:t>BOILER 1</a:t>
            </a:r>
            <a:endParaRPr lang="en-US" sz="1050" dirty="0"/>
          </a:p>
          <a:p>
            <a:pPr algn="ctr" indent="0" marL="0">
              <a:buNone/>
            </a:pPr>
            <a:r>
              <a:rPr lang="en-US" sz="1050" b="1" dirty="0">
                <a:solidFill>
                  <a:srgbClr val="1B9A8A"/>
                </a:solidFill>
                <a:latin typeface="Georgia" pitchFamily="34" charset="0"/>
                <a:ea typeface="Georgia" pitchFamily="34" charset="-122"/>
                <a:cs typeface="Georgia" pitchFamily="34" charset="-120"/>
              </a:rPr>
              <a:t>OTSG 2,500 Kg/H</a:t>
            </a:r>
            <a:endParaRPr lang="en-US" sz="1050" dirty="0"/>
          </a:p>
        </p:txBody>
      </p:sp>
      <p:sp>
        <p:nvSpPr>
          <p:cNvPr id="168" name="Shape 166"/>
          <p:cNvSpPr/>
          <p:nvPr/>
        </p:nvSpPr>
        <p:spPr>
          <a:xfrm>
            <a:off x="365760" y="3200400"/>
            <a:ext cx="1828800" cy="1005840"/>
          </a:xfrm>
          <a:prstGeom prst="rect">
            <a:avLst/>
          </a:prstGeom>
          <a:solidFill>
            <a:srgbClr val="130F0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169" name="Text 167"/>
          <p:cNvSpPr/>
          <p:nvPr/>
        </p:nvSpPr>
        <p:spPr>
          <a:xfrm>
            <a:off x="365760" y="3200400"/>
            <a:ext cx="1828800" cy="1005840"/>
          </a:xfrm>
          <a:prstGeom prst="rect">
            <a:avLst/>
          </a:prstGeom>
          <a:noFill/>
          <a:ln/>
        </p:spPr>
        <p:txBody>
          <a:bodyPr wrap="square" rtlCol="0" anchor="ctr"/>
          <a:lstStyle/>
          <a:p>
            <a:pPr algn="ctr" indent="0" marL="0">
              <a:buNone/>
            </a:pPr>
            <a:r>
              <a:rPr lang="en-US" sz="1050" b="1" dirty="0">
                <a:solidFill>
                  <a:srgbClr val="E8A020"/>
                </a:solidFill>
                <a:latin typeface="Georgia" pitchFamily="34" charset="0"/>
                <a:ea typeface="Georgia" pitchFamily="34" charset="-122"/>
                <a:cs typeface="Georgia" pitchFamily="34" charset="-120"/>
              </a:rPr>
              <a:t>BOILER 2</a:t>
            </a:r>
            <a:endParaRPr lang="en-US" sz="1050" dirty="0"/>
          </a:p>
          <a:p>
            <a:pPr algn="ctr" indent="0" marL="0">
              <a:buNone/>
            </a:pPr>
            <a:r>
              <a:rPr lang="en-US" sz="1050" b="1" dirty="0">
                <a:solidFill>
                  <a:srgbClr val="E8A020"/>
                </a:solidFill>
                <a:latin typeface="Georgia" pitchFamily="34" charset="0"/>
                <a:ea typeface="Georgia" pitchFamily="34" charset="-122"/>
                <a:cs typeface="Georgia" pitchFamily="34" charset="-120"/>
              </a:rPr>
              <a:t>OTSG 2,500 Kg/H</a:t>
            </a:r>
            <a:endParaRPr lang="en-US" sz="1050" dirty="0"/>
          </a:p>
        </p:txBody>
      </p:sp>
      <p:sp>
        <p:nvSpPr>
          <p:cNvPr id="170" name="Shape 168"/>
          <p:cNvSpPr/>
          <p:nvPr/>
        </p:nvSpPr>
        <p:spPr>
          <a:xfrm>
            <a:off x="4754880" y="1828800"/>
            <a:ext cx="1828800" cy="1005840"/>
          </a:xfrm>
          <a:prstGeom prst="rect">
            <a:avLst/>
          </a:prstGeom>
          <a:solidFill>
            <a:srgbClr val="130F0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71" name="Text 169"/>
          <p:cNvSpPr/>
          <p:nvPr/>
        </p:nvSpPr>
        <p:spPr>
          <a:xfrm>
            <a:off x="4754880" y="1828800"/>
            <a:ext cx="1828800" cy="1005840"/>
          </a:xfrm>
          <a:prstGeom prst="rect">
            <a:avLst/>
          </a:prstGeom>
          <a:noFill/>
          <a:ln/>
        </p:spPr>
        <p:txBody>
          <a:bodyPr wrap="square" rtlCol="0" anchor="ctr"/>
          <a:lstStyle/>
          <a:p>
            <a:pPr algn="ctr" indent="0" marL="0">
              <a:buNone/>
            </a:pPr>
            <a:r>
              <a:rPr lang="en-US" sz="1050" b="1" dirty="0">
                <a:solidFill>
                  <a:srgbClr val="D4951A"/>
                </a:solidFill>
                <a:latin typeface="Georgia" pitchFamily="34" charset="0"/>
                <a:ea typeface="Georgia" pitchFamily="34" charset="-122"/>
                <a:cs typeface="Georgia" pitchFamily="34" charset="-120"/>
              </a:rPr>
              <a:t>PRODUCTION</a:t>
            </a:r>
            <a:endParaRPr lang="en-US" sz="1050" dirty="0"/>
          </a:p>
          <a:p>
            <a:pPr algn="ctr" indent="0" marL="0">
              <a:buNone/>
            </a:pPr>
            <a:r>
              <a:rPr lang="en-US" sz="1050" b="1" dirty="0">
                <a:solidFill>
                  <a:srgbClr val="D4951A"/>
                </a:solidFill>
                <a:latin typeface="Georgia" pitchFamily="34" charset="0"/>
                <a:ea typeface="Georgia" pitchFamily="34" charset="-122"/>
                <a:cs typeface="Georgia" pitchFamily="34" charset="-120"/>
              </a:rPr>
              <a:t>LINE 1 — 5 T/H</a:t>
            </a:r>
            <a:endParaRPr lang="en-US" sz="1050" dirty="0"/>
          </a:p>
        </p:txBody>
      </p:sp>
      <p:sp>
        <p:nvSpPr>
          <p:cNvPr id="172" name="Shape 170"/>
          <p:cNvSpPr/>
          <p:nvPr/>
        </p:nvSpPr>
        <p:spPr>
          <a:xfrm>
            <a:off x="4754880" y="3200400"/>
            <a:ext cx="1828800" cy="1005840"/>
          </a:xfrm>
          <a:prstGeom prst="rect">
            <a:avLst/>
          </a:prstGeom>
          <a:solidFill>
            <a:srgbClr val="130F0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173" name="Text 171"/>
          <p:cNvSpPr/>
          <p:nvPr/>
        </p:nvSpPr>
        <p:spPr>
          <a:xfrm>
            <a:off x="4754880" y="3200400"/>
            <a:ext cx="1828800" cy="1005840"/>
          </a:xfrm>
          <a:prstGeom prst="rect">
            <a:avLst/>
          </a:prstGeom>
          <a:noFill/>
          <a:ln/>
        </p:spPr>
        <p:txBody>
          <a:bodyPr wrap="square" rtlCol="0" anchor="ctr"/>
          <a:lstStyle/>
          <a:p>
            <a:pPr algn="ctr" indent="0" marL="0">
              <a:buNone/>
            </a:pPr>
            <a:r>
              <a:rPr lang="en-US" sz="1050" b="1" dirty="0">
                <a:solidFill>
                  <a:srgbClr val="C0622B"/>
                </a:solidFill>
                <a:latin typeface="Georgia" pitchFamily="34" charset="0"/>
                <a:ea typeface="Georgia" pitchFamily="34" charset="-122"/>
                <a:cs typeface="Georgia" pitchFamily="34" charset="-120"/>
              </a:rPr>
              <a:t>PRODUCTION</a:t>
            </a:r>
            <a:endParaRPr lang="en-US" sz="1050" dirty="0"/>
          </a:p>
          <a:p>
            <a:pPr algn="ctr" indent="0" marL="0">
              <a:buNone/>
            </a:pPr>
            <a:r>
              <a:rPr lang="en-US" sz="1050" b="1" dirty="0">
                <a:solidFill>
                  <a:srgbClr val="C0622B"/>
                </a:solidFill>
                <a:latin typeface="Georgia" pitchFamily="34" charset="0"/>
                <a:ea typeface="Georgia" pitchFamily="34" charset="-122"/>
                <a:cs typeface="Georgia" pitchFamily="34" charset="-120"/>
              </a:rPr>
              <a:t>LINE 2 — 5 T/H</a:t>
            </a:r>
            <a:endParaRPr lang="en-US" sz="1050" dirty="0"/>
          </a:p>
          <a:p>
            <a:pPr algn="ctr" indent="0" marL="0">
              <a:buNone/>
            </a:pPr>
            <a:r>
              <a:rPr lang="en-US" sz="1050" b="1" dirty="0">
                <a:solidFill>
                  <a:srgbClr val="C0622B"/>
                </a:solidFill>
                <a:latin typeface="Georgia" pitchFamily="34" charset="0"/>
                <a:ea typeface="Georgia" pitchFamily="34" charset="-122"/>
                <a:cs typeface="Georgia" pitchFamily="34" charset="-120"/>
              </a:rPr>
              <a:t>(Year 1 Vision)</a:t>
            </a:r>
            <a:endParaRPr lang="en-US" sz="1050" dirty="0"/>
          </a:p>
        </p:txBody>
      </p:sp>
      <p:sp>
        <p:nvSpPr>
          <p:cNvPr id="174" name="Shape 172"/>
          <p:cNvSpPr/>
          <p:nvPr/>
        </p:nvSpPr>
        <p:spPr>
          <a:xfrm>
            <a:off x="2194560" y="2331720"/>
            <a:ext cx="2560320" cy="0"/>
          </a:xfrm>
          <a:prstGeom prst="line">
            <a:avLst/>
          </a:prstGeom>
          <a:noFill/>
          <a:ln w="12700">
            <a:solidFill>
              <a:srgbClr val="1B9A8A"/>
            </a:solidFill>
            <a:prstDash val="solid"/>
          </a:ln>
        </p:spPr>
      </p:sp>
      <p:sp>
        <p:nvSpPr>
          <p:cNvPr id="175" name="Text 173"/>
          <p:cNvSpPr/>
          <p:nvPr/>
        </p:nvSpPr>
        <p:spPr>
          <a:xfrm>
            <a:off x="2743200" y="2167128"/>
            <a:ext cx="1371600" cy="228600"/>
          </a:xfrm>
          <a:prstGeom prst="rect">
            <a:avLst/>
          </a:prstGeom>
          <a:noFill/>
          <a:ln/>
        </p:spPr>
        <p:txBody>
          <a:bodyPr wrap="square" rtlCol="0" anchor="ctr"/>
          <a:lstStyle/>
          <a:p>
            <a:pPr algn="ctr" indent="0" marL="0">
              <a:buNone/>
            </a:pPr>
            <a:r>
              <a:rPr lang="en-US" sz="800" b="1" dirty="0">
                <a:solidFill>
                  <a:srgbClr val="1B9A8A"/>
                </a:solidFill>
                <a:latin typeface="Calibri" pitchFamily="34" charset="0"/>
                <a:ea typeface="Calibri" pitchFamily="34" charset="-122"/>
                <a:cs typeface="Calibri" pitchFamily="34" charset="-120"/>
              </a:rPr>
              <a:t>STEAM →</a:t>
            </a:r>
            <a:endParaRPr lang="en-US" sz="800" dirty="0"/>
          </a:p>
        </p:txBody>
      </p:sp>
      <p:sp>
        <p:nvSpPr>
          <p:cNvPr id="176" name="Shape 174"/>
          <p:cNvSpPr/>
          <p:nvPr/>
        </p:nvSpPr>
        <p:spPr>
          <a:xfrm>
            <a:off x="2194560" y="3703320"/>
            <a:ext cx="2560320" cy="0"/>
          </a:xfrm>
          <a:prstGeom prst="line">
            <a:avLst/>
          </a:prstGeom>
          <a:noFill/>
          <a:ln w="12700">
            <a:solidFill>
              <a:srgbClr val="E8A020"/>
            </a:solidFill>
            <a:prstDash val="solid"/>
          </a:ln>
        </p:spPr>
      </p:sp>
      <p:sp>
        <p:nvSpPr>
          <p:cNvPr id="177" name="Text 175"/>
          <p:cNvSpPr/>
          <p:nvPr/>
        </p:nvSpPr>
        <p:spPr>
          <a:xfrm>
            <a:off x="2743200" y="3538728"/>
            <a:ext cx="1371600" cy="228600"/>
          </a:xfrm>
          <a:prstGeom prst="rect">
            <a:avLst/>
          </a:prstGeom>
          <a:noFill/>
          <a:ln/>
        </p:spPr>
        <p:txBody>
          <a:bodyPr wrap="square" rtlCol="0" anchor="ctr"/>
          <a:lstStyle/>
          <a:p>
            <a:pPr algn="ctr" indent="0" marL="0">
              <a:buNone/>
            </a:pPr>
            <a:r>
              <a:rPr lang="en-US" sz="800" b="1" dirty="0">
                <a:solidFill>
                  <a:srgbClr val="E8A020"/>
                </a:solidFill>
                <a:latin typeface="Calibri" pitchFamily="34" charset="0"/>
                <a:ea typeface="Calibri" pitchFamily="34" charset="-122"/>
                <a:cs typeface="Calibri" pitchFamily="34" charset="-120"/>
              </a:rPr>
              <a:t>STEAM →</a:t>
            </a:r>
            <a:endParaRPr lang="en-US" sz="800" dirty="0"/>
          </a:p>
        </p:txBody>
      </p:sp>
      <p:sp>
        <p:nvSpPr>
          <p:cNvPr id="178" name="Shape 176"/>
          <p:cNvSpPr/>
          <p:nvPr/>
        </p:nvSpPr>
        <p:spPr>
          <a:xfrm>
            <a:off x="6766560" y="1828800"/>
            <a:ext cx="2103120" cy="68580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79" name="Shape 177"/>
          <p:cNvSpPr/>
          <p:nvPr/>
        </p:nvSpPr>
        <p:spPr>
          <a:xfrm>
            <a:off x="6766560" y="1828800"/>
            <a:ext cx="2103120" cy="36576"/>
          </a:xfrm>
          <a:prstGeom prst="rect">
            <a:avLst/>
          </a:prstGeom>
          <a:solidFill>
            <a:srgbClr val="1B9A8A"/>
          </a:solidFill>
          <a:ln/>
        </p:spPr>
      </p:sp>
      <p:sp>
        <p:nvSpPr>
          <p:cNvPr id="180" name="Text 178"/>
          <p:cNvSpPr/>
          <p:nvPr/>
        </p:nvSpPr>
        <p:spPr>
          <a:xfrm>
            <a:off x="6876288" y="1901952"/>
            <a:ext cx="1920240" cy="237744"/>
          </a:xfrm>
          <a:prstGeom prst="rect">
            <a:avLst/>
          </a:prstGeom>
          <a:noFill/>
          <a:ln/>
        </p:spPr>
        <p:txBody>
          <a:bodyPr wrap="square" rtlCol="0" anchor="ctr"/>
          <a:lstStyle/>
          <a:p>
            <a:pPr indent="0" marL="0">
              <a:buNone/>
            </a:pPr>
            <a:r>
              <a:rPr lang="en-US" sz="950" b="1" dirty="0">
                <a:solidFill>
                  <a:srgbClr val="1B9A8A"/>
                </a:solidFill>
                <a:latin typeface="Georgia" pitchFamily="34" charset="0"/>
                <a:ea typeface="Georgia" pitchFamily="34" charset="-122"/>
                <a:cs typeface="Georgia" pitchFamily="34" charset="-120"/>
              </a:rPr>
              <a:t>Operational Independence</a:t>
            </a:r>
            <a:endParaRPr lang="en-US" sz="950" dirty="0"/>
          </a:p>
        </p:txBody>
      </p:sp>
      <p:sp>
        <p:nvSpPr>
          <p:cNvPr id="181" name="Text 179"/>
          <p:cNvSpPr/>
          <p:nvPr/>
        </p:nvSpPr>
        <p:spPr>
          <a:xfrm>
            <a:off x="6876288" y="2139696"/>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Each line starts, stops, and is maintained independently. Line 1 production is never affected by Line 2 boiler maintenance.</a:t>
            </a:r>
            <a:endParaRPr lang="en-US" sz="780" dirty="0"/>
          </a:p>
        </p:txBody>
      </p:sp>
      <p:sp>
        <p:nvSpPr>
          <p:cNvPr id="182" name="Shape 180"/>
          <p:cNvSpPr/>
          <p:nvPr/>
        </p:nvSpPr>
        <p:spPr>
          <a:xfrm>
            <a:off x="6766560" y="2578608"/>
            <a:ext cx="2103120" cy="685800"/>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83" name="Shape 181"/>
          <p:cNvSpPr/>
          <p:nvPr/>
        </p:nvSpPr>
        <p:spPr>
          <a:xfrm>
            <a:off x="6766560" y="2578608"/>
            <a:ext cx="2103120" cy="36576"/>
          </a:xfrm>
          <a:prstGeom prst="rect">
            <a:avLst/>
          </a:prstGeom>
          <a:solidFill>
            <a:srgbClr val="D4951A"/>
          </a:solidFill>
          <a:ln/>
        </p:spPr>
      </p:sp>
      <p:sp>
        <p:nvSpPr>
          <p:cNvPr id="184" name="Text 182"/>
          <p:cNvSpPr/>
          <p:nvPr/>
        </p:nvSpPr>
        <p:spPr>
          <a:xfrm>
            <a:off x="6876288" y="2651760"/>
            <a:ext cx="1920240" cy="237744"/>
          </a:xfrm>
          <a:prstGeom prst="rect">
            <a:avLst/>
          </a:prstGeom>
          <a:noFill/>
          <a:ln/>
        </p:spPr>
        <p:txBody>
          <a:bodyPr wrap="square" rtlCol="0" anchor="ctr"/>
          <a:lstStyle/>
          <a:p>
            <a:pPr indent="0" marL="0">
              <a:buNone/>
            </a:pPr>
            <a:r>
              <a:rPr lang="en-US" sz="950" b="1" dirty="0">
                <a:solidFill>
                  <a:srgbClr val="D4951A"/>
                </a:solidFill>
                <a:latin typeface="Georgia" pitchFamily="34" charset="0"/>
                <a:ea typeface="Georgia" pitchFamily="34" charset="-122"/>
                <a:cs typeface="Georgia" pitchFamily="34" charset="-120"/>
              </a:rPr>
              <a:t>N+1 Redundancy Built-In</a:t>
            </a:r>
            <a:endParaRPr lang="en-US" sz="950" dirty="0"/>
          </a:p>
        </p:txBody>
      </p:sp>
      <p:sp>
        <p:nvSpPr>
          <p:cNvPr id="185" name="Text 183"/>
          <p:cNvSpPr/>
          <p:nvPr/>
        </p:nvSpPr>
        <p:spPr>
          <a:xfrm>
            <a:off x="6876288" y="2889504"/>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If Boiler 1 trips, Line 1 slows but does not stop if Boiler 2 can cross-supply temporarily via a header cross-connection valve.</a:t>
            </a:r>
            <a:endParaRPr lang="en-US" sz="780" dirty="0"/>
          </a:p>
        </p:txBody>
      </p:sp>
      <p:sp>
        <p:nvSpPr>
          <p:cNvPr id="186" name="Shape 184"/>
          <p:cNvSpPr/>
          <p:nvPr/>
        </p:nvSpPr>
        <p:spPr>
          <a:xfrm>
            <a:off x="6766560" y="3328416"/>
            <a:ext cx="2103120" cy="685800"/>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187" name="Shape 185"/>
          <p:cNvSpPr/>
          <p:nvPr/>
        </p:nvSpPr>
        <p:spPr>
          <a:xfrm>
            <a:off x="6766560" y="3328416"/>
            <a:ext cx="2103120" cy="36576"/>
          </a:xfrm>
          <a:prstGeom prst="rect">
            <a:avLst/>
          </a:prstGeom>
          <a:solidFill>
            <a:srgbClr val="E8A020"/>
          </a:solidFill>
          <a:ln/>
        </p:spPr>
      </p:sp>
      <p:sp>
        <p:nvSpPr>
          <p:cNvPr id="188" name="Text 186"/>
          <p:cNvSpPr/>
          <p:nvPr/>
        </p:nvSpPr>
        <p:spPr>
          <a:xfrm>
            <a:off x="6876288" y="3401568"/>
            <a:ext cx="1920240" cy="237744"/>
          </a:xfrm>
          <a:prstGeom prst="rect">
            <a:avLst/>
          </a:prstGeom>
          <a:noFill/>
          <a:ln/>
        </p:spPr>
        <p:txBody>
          <a:bodyPr wrap="square" rtlCol="0" anchor="ctr"/>
          <a:lstStyle/>
          <a:p>
            <a:pPr indent="0" marL="0">
              <a:buNone/>
            </a:pPr>
            <a:r>
              <a:rPr lang="en-US" sz="950" b="1" dirty="0">
                <a:solidFill>
                  <a:srgbClr val="E8A020"/>
                </a:solidFill>
                <a:latin typeface="Georgia" pitchFamily="34" charset="0"/>
                <a:ea typeface="Georgia" pitchFamily="34" charset="-122"/>
                <a:cs typeface="Georgia" pitchFamily="34" charset="-120"/>
              </a:rPr>
              <a:t>Partial Load Efficiency</a:t>
            </a:r>
            <a:endParaRPr lang="en-US" sz="950" dirty="0"/>
          </a:p>
        </p:txBody>
      </p:sp>
      <p:sp>
        <p:nvSpPr>
          <p:cNvPr id="189" name="Text 187"/>
          <p:cNvSpPr/>
          <p:nvPr/>
        </p:nvSpPr>
        <p:spPr>
          <a:xfrm>
            <a:off x="6876288" y="3639312"/>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When only Line 1 operates, Boiler 2 is offline. Each boiler runs at its design point — no efficiency penalty from part-loading a large shared vessel.</a:t>
            </a:r>
            <a:endParaRPr lang="en-US" sz="780" dirty="0"/>
          </a:p>
        </p:txBody>
      </p:sp>
      <p:sp>
        <p:nvSpPr>
          <p:cNvPr id="190" name="Shape 188"/>
          <p:cNvSpPr/>
          <p:nvPr/>
        </p:nvSpPr>
        <p:spPr>
          <a:xfrm>
            <a:off x="6766560" y="4078224"/>
            <a:ext cx="2103120" cy="685800"/>
          </a:xfrm>
          <a:prstGeom prst="rect">
            <a:avLst/>
          </a:prstGeom>
          <a:solidFill>
            <a:srgbClr val="14141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191" name="Shape 189"/>
          <p:cNvSpPr/>
          <p:nvPr/>
        </p:nvSpPr>
        <p:spPr>
          <a:xfrm>
            <a:off x="6766560" y="4078224"/>
            <a:ext cx="2103120" cy="36576"/>
          </a:xfrm>
          <a:prstGeom prst="rect">
            <a:avLst/>
          </a:prstGeom>
          <a:solidFill>
            <a:srgbClr val="C0622B"/>
          </a:solidFill>
          <a:ln/>
        </p:spPr>
      </p:sp>
      <p:sp>
        <p:nvSpPr>
          <p:cNvPr id="192" name="Text 190"/>
          <p:cNvSpPr/>
          <p:nvPr/>
        </p:nvSpPr>
        <p:spPr>
          <a:xfrm>
            <a:off x="6876288" y="4151376"/>
            <a:ext cx="1920240" cy="237744"/>
          </a:xfrm>
          <a:prstGeom prst="rect">
            <a:avLst/>
          </a:prstGeom>
          <a:noFill/>
          <a:ln/>
        </p:spPr>
        <p:txBody>
          <a:bodyPr wrap="square" rtlCol="0" anchor="ctr"/>
          <a:lstStyle/>
          <a:p>
            <a:pPr indent="0" marL="0">
              <a:buNone/>
            </a:pPr>
            <a:r>
              <a:rPr lang="en-US" sz="950" b="1" dirty="0">
                <a:solidFill>
                  <a:srgbClr val="C0622B"/>
                </a:solidFill>
                <a:latin typeface="Georgia" pitchFamily="34" charset="0"/>
                <a:ea typeface="Georgia" pitchFamily="34" charset="-122"/>
                <a:cs typeface="Georgia" pitchFamily="34" charset="-120"/>
              </a:rPr>
              <a:t>HACCP Simplification</a:t>
            </a:r>
            <a:endParaRPr lang="en-US" sz="950" dirty="0"/>
          </a:p>
        </p:txBody>
      </p:sp>
      <p:sp>
        <p:nvSpPr>
          <p:cNvPr id="193" name="Text 191"/>
          <p:cNvSpPr/>
          <p:nvPr/>
        </p:nvSpPr>
        <p:spPr>
          <a:xfrm>
            <a:off x="6876288" y="4389120"/>
            <a:ext cx="1920240" cy="347472"/>
          </a:xfrm>
          <a:prstGeom prst="rect">
            <a:avLst/>
          </a:prstGeom>
          <a:noFill/>
          <a:ln/>
        </p:spPr>
        <p:txBody>
          <a:bodyPr wrap="square" rtlCol="0" anchor="t"/>
          <a:lstStyle/>
          <a:p>
            <a:pPr indent="0" marL="0">
              <a:buNone/>
            </a:pPr>
            <a:r>
              <a:rPr lang="en-US" sz="780" dirty="0">
                <a:solidFill>
                  <a:srgbClr val="EDE0C8"/>
                </a:solidFill>
                <a:latin typeface="Calibri" pitchFamily="34" charset="0"/>
                <a:ea typeface="Calibri" pitchFamily="34" charset="-122"/>
                <a:cs typeface="Calibri" pitchFamily="34" charset="-120"/>
              </a:rPr>
              <a:t>Each boiler serves one production line — traceability is direct. If a steam quality issue occurs, affected product is limited to one line.</a:t>
            </a:r>
            <a:endParaRPr lang="en-US" sz="780" dirty="0"/>
          </a:p>
        </p:txBody>
      </p:sp>
      <p:sp>
        <p:nvSpPr>
          <p:cNvPr id="194" name="Shape 192"/>
          <p:cNvSpPr/>
          <p:nvPr/>
        </p:nvSpPr>
        <p:spPr>
          <a:xfrm>
            <a:off x="365760" y="4315968"/>
            <a:ext cx="4370832" cy="475488"/>
          </a:xfrm>
          <a:prstGeom prst="rect">
            <a:avLst/>
          </a:prstGeom>
          <a:solidFill>
            <a:srgbClr val="141418"/>
          </a:solidFill>
          <a:ln w="12700">
            <a:solidFill>
              <a:srgbClr val="C0622B"/>
            </a:solidFill>
            <a:prstDash val="solid"/>
          </a:ln>
        </p:spPr>
      </p:sp>
      <p:sp>
        <p:nvSpPr>
          <p:cNvPr id="195" name="Shape 193"/>
          <p:cNvSpPr/>
          <p:nvPr/>
        </p:nvSpPr>
        <p:spPr>
          <a:xfrm>
            <a:off x="365760" y="4315968"/>
            <a:ext cx="54864" cy="475488"/>
          </a:xfrm>
          <a:prstGeom prst="rect">
            <a:avLst/>
          </a:prstGeom>
          <a:solidFill>
            <a:srgbClr val="C0622B"/>
          </a:solidFill>
          <a:ln/>
        </p:spPr>
      </p:sp>
      <p:sp>
        <p:nvSpPr>
          <p:cNvPr id="196" name="Text 194"/>
          <p:cNvSpPr/>
          <p:nvPr/>
        </p:nvSpPr>
        <p:spPr>
          <a:xfrm>
            <a:off x="512064" y="4352544"/>
            <a:ext cx="4133088" cy="402336"/>
          </a:xfrm>
          <a:prstGeom prst="rect">
            <a:avLst/>
          </a:prstGeom>
          <a:noFill/>
          <a:ln/>
        </p:spPr>
        <p:txBody>
          <a:bodyPr wrap="square" rtlCol="0" anchor="ctr"/>
          <a:lstStyle/>
          <a:p>
            <a:pPr indent="0" marL="0">
              <a:buNone/>
            </a:pPr>
            <a:r>
              <a:rPr lang="en-US" sz="950" b="1" dirty="0">
                <a:solidFill>
                  <a:srgbClr val="C0622B"/>
                </a:solidFill>
                <a:latin typeface="Calibri" pitchFamily="34" charset="0"/>
                <a:ea typeface="Calibri" pitchFamily="34" charset="-122"/>
                <a:cs typeface="Calibri" pitchFamily="34" charset="-120"/>
              </a:rPr>
              <a:t>LPG Infrastructure: </a:t>
            </a:r>
            <a:pPr indent="0" marL="0">
              <a:buNone/>
            </a:pPr>
            <a:r>
              <a:rPr lang="en-US" sz="900" dirty="0">
                <a:solidFill>
                  <a:srgbClr val="EDE0C8"/>
                </a:solidFill>
                <a:latin typeface="Calibri" pitchFamily="34" charset="0"/>
                <a:ea typeface="Calibri" pitchFamily="34" charset="-122"/>
                <a:cs typeface="Calibri" pitchFamily="34" charset="-120"/>
              </a:rPr>
              <a:t>One shared 15T bulk LPG tank + vaporiser serves both boilers. Specify dual-fuel burners (LPG + future NG) to protect against future fuel switch.</a:t>
            </a:r>
            <a:endParaRPr lang="en-US" sz="950" dirty="0"/>
          </a:p>
        </p:txBody>
      </p:sp>
      <p:sp>
        <p:nvSpPr>
          <p:cNvPr id="197" name="Shape 195"/>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59" name="Shape 257"/>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60" name="Shape 258"/>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61" name="Shape 259"/>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62" name="Shape 260"/>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63" name="Shape 261"/>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64" name="Shape 262"/>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65" name="Shape 263"/>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66" name="Shape 264"/>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67" name="Shape 265"/>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68" name="Shape 266"/>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69" name="Shape 267"/>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70" name="Shape 268"/>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71" name="Shape 269"/>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72" name="Shape 270"/>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73" name="Shape 271"/>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74" name="Shape 272"/>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75" name="Text 273"/>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RISK REGISTER</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Key risks and mitigations for boiler selection and commissioning</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56032" y="932688"/>
          <a:ext cx="8631936" cy="914400"/>
        </p:xfrm>
        <a:graphic>
          <a:graphicData uri="http://schemas.openxmlformats.org/drawingml/2006/table">
            <a:tbl>
              <a:tblPr/>
              <a:tblGrid>
                <a:gridCol w="2651760"/>
                <a:gridCol w="594360"/>
                <a:gridCol w="548640"/>
                <a:gridCol w="4837176"/>
              </a:tblGrid>
              <a:tr h="475488">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Prob.</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c>
                  <a:txBody>
                    <a:bodyPr/>
                    <a:lstStyle/>
                    <a:p>
                      <a:pPr indent="0" marL="0">
                        <a:buNone/>
                      </a:pPr>
                      <a:r>
                        <a:rPr lang="en-US" sz="1000" b="1" dirty="0">
                          <a:solidFill>
                            <a:srgbClr val="09090F"/>
                          </a:solidFill>
                          <a:latin typeface="Calibri" pitchFamily="34" charset="0"/>
                          <a:ea typeface="Calibri" pitchFamily="34" charset="-122"/>
                          <a:cs typeface="Calibri" pitchFamily="34" charset="-120"/>
                        </a:rPr>
                        <a:t>Mitigation &amp; Owner</a:t>
                      </a:r>
                      <a:endParaRPr lang="en-US" sz="10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D4951A"/>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LPG supply disruption — no backup fuel</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Specify dual-fuel burner (LPG + NG) at purchase. Maintain minimum 10T LPG buffer stock on-site at all times. Define emergency procedures.</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Boiler delivery delay — China/Europe lead times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Boiler is on the critical path. Issue PO as first equipment order. For European OTSGs (Clayton Belgium, Miura UK): 12–20 weeks typical. Track weekly.</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OTSG spare parts not available in Morocco</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Negotiate a 2-year critical spare parts package in the purchase contract. Stock locally: coils, burner nozzles, sensors, safety valve, BMS controller.</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Single LPG supplier — price or supply risk</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Contract with two LPG suppliers before commissioning. Negotiate a fixed-price contract for Year 1 to protect against LPG price volatility.</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Steam quality out of spec — HACCP failure</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NSF H1 chemicals from day one. Daily water quality log. Quarterly independent steam lab test. CCP monitoring SOP in place before first export.</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Pressure vessel cert not obtained pre-commissioning</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Engage Moroccan certified inspection authority immediately. Annual cert is a legal operating requirement — no cert = cannot run the boiler legally.</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LPG burner field-converted from natural gas</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D9404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algn="ctr" indent="0" marL="0">
                        <a:buNone/>
                      </a:pPr>
                      <a:r>
                        <a:rPr lang="en-US" sz="900" b="1" dirty="0">
                          <a:solidFill>
                            <a:srgbClr val="3DAF7A"/>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Specify in tender: LPG burner must be factory-rated and calibrated — no field conversions accepted. Include this as a mandatory contract requirement.</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41418"/>
                    </a:solidFill>
                  </a:tcPr>
                </a:tc>
              </a:tr>
              <a:tr h="475488">
                <a:tc>
                  <a:txBody>
                    <a:bodyPr/>
                    <a:lstStyle/>
                    <a:p>
                      <a:pPr indent="0" marL="0">
                        <a:buNone/>
                      </a:pPr>
                      <a:r>
                        <a:rPr lang="en-US" sz="900" dirty="0">
                          <a:solidFill>
                            <a:srgbClr val="EDE0C8"/>
                          </a:solidFill>
                          <a:latin typeface="Calibri" pitchFamily="34" charset="0"/>
                          <a:ea typeface="Calibri" pitchFamily="34" charset="-122"/>
                          <a:cs typeface="Calibri" pitchFamily="34" charset="-120"/>
                        </a:rPr>
                        <a:t>Boiler oversized for actual steam demand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algn="ctr" indent="0" marL="0">
                        <a:buNone/>
                      </a:pPr>
                      <a:r>
                        <a:rPr lang="en-US" sz="900" b="1" dirty="0">
                          <a:solidFill>
                            <a:srgbClr val="E8A020"/>
                          </a:solidFill>
                          <a:latin typeface="Calibri" pitchFamily="34" charset="0"/>
                          <a:ea typeface="Calibri" pitchFamily="34" charset="-122"/>
                          <a:cs typeface="Calibri" pitchFamily="34" charset="-120"/>
                        </a:rPr>
                        <a:t>MED</a:t>
                      </a:r>
                      <a:endParaRPr lang="en-US" sz="90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c>
                  <a:txBody>
                    <a:bodyPr/>
                    <a:lstStyle/>
                    <a:p>
                      <a:pPr indent="0" marL="0">
                        <a:buNone/>
                      </a:pPr>
                      <a:r>
                        <a:rPr lang="en-US" sz="880" dirty="0">
                          <a:solidFill>
                            <a:srgbClr val="EDE0C8"/>
                          </a:solidFill>
                          <a:latin typeface="Calibri" pitchFamily="34" charset="0"/>
                          <a:ea typeface="Calibri" pitchFamily="34" charset="-122"/>
                          <a:cs typeface="Calibri" pitchFamily="34" charset="-120"/>
                        </a:rPr>
                        <a:t>Obtain FAMSUN steam consumption table per process step before issuing boiler PO. Validate 2,123 Kg/H figure is confirmed and complete.</a:t>
                      </a:r>
                      <a:endParaRPr lang="en-US" sz="880" dirty="0">
                        <a:latin typeface="Calibri" charset="0"/>
                        <a:ea typeface="Calibri" charset="0"/>
                        <a:cs typeface="Calibri" charset="0"/>
                      </a:endParaRPr>
                    </a:p>
                  </a:txBody>
                  <a:tcPr marL="91440" marR="91440" marT="45720" marB="45720">
                    <a:lnL w="6350" cap="flat" cmpd="sng" algn="ctr">
                      <a:solidFill>
                        <a:srgbClr val="1E1E26"/>
                      </a:solidFill>
                      <a:prstDash val="solid"/>
                      <a:round/>
                      <a:headEnd type="none" w="med" len="med"/>
                      <a:tailEnd type="none" w="med" len="med"/>
                    </a:lnL>
                    <a:lnR w="6350" cap="flat" cmpd="sng" algn="ctr">
                      <a:solidFill>
                        <a:srgbClr val="1E1E26"/>
                      </a:solidFill>
                      <a:prstDash val="solid"/>
                      <a:round/>
                      <a:headEnd type="none" w="med" len="med"/>
                      <a:tailEnd type="none" w="med" len="med"/>
                    </a:lnR>
                    <a:lnT w="6350" cap="flat" cmpd="sng" algn="ctr">
                      <a:solidFill>
                        <a:srgbClr val="1E1E26"/>
                      </a:solidFill>
                      <a:prstDash val="solid"/>
                      <a:round/>
                      <a:headEnd type="none" w="med" len="med"/>
                      <a:tailEnd type="none" w="med" len="med"/>
                    </a:lnT>
                    <a:lnB w="6350" cap="flat" cmpd="sng" algn="ctr">
                      <a:solidFill>
                        <a:srgbClr val="1E1E26"/>
                      </a:solidFill>
                      <a:prstDash val="solid"/>
                      <a:round/>
                      <a:headEnd type="none" w="med" len="med"/>
                      <a:tailEnd type="none" w="med" len="med"/>
                    </a:lnB>
                    <a:solidFill>
                      <a:srgbClr val="111115"/>
                    </a:solidFill>
                  </a:tcPr>
                </a:tc>
              </a:tr>
            </a:tbl>
          </a:graphicData>
        </a:graphic>
      </p:graphicFrame>
      <p:sp>
        <p:nvSpPr>
          <p:cNvPr id="89" name="Shape 86"/>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90" name="Shape 87"/>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91" name="Shape 88"/>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92" name="Shape 89"/>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93" name="Shape 90"/>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94" name="Shape 91"/>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95" name="Shape 92"/>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96" name="Shape 93"/>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97" name="Shape 94"/>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98" name="Shape 95"/>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99" name="Shape 96"/>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00" name="Shape 97"/>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01" name="Shape 98"/>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02" name="Shape 99"/>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03" name="Shape 100"/>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04" name="Shape 101"/>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05" name="Shape 102"/>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06" name="Shape 103"/>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07" name="Shape 104"/>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08" name="Shape 105"/>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09" name="Shape 106"/>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10" name="Shape 107"/>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11" name="Shape 108"/>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12" name="Shape 109"/>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13" name="Shape 110"/>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14" name="Shape 111"/>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15" name="Shape 112"/>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16" name="Shape 113"/>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17" name="Shape 114"/>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18" name="Shape 115"/>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19" name="Shape 116"/>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20" name="Shape 117"/>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21" name="Shape 118"/>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22" name="Shape 119"/>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23" name="Shape 120"/>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24" name="Shape 121"/>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25" name="Shape 122"/>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26" name="Shape 123"/>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27" name="Shape 124"/>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28" name="Shape 125"/>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29" name="Shape 126"/>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30" name="Shape 127"/>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31" name="Shape 128"/>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32" name="Shape 129"/>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33" name="Shape 130"/>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34" name="Shape 131"/>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35" name="Shape 132"/>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36" name="Shape 133"/>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37" name="Shape 134"/>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38" name="Shape 135"/>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39" name="Shape 136"/>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40" name="Shape 137"/>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41" name="Shape 138"/>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42" name="Shape 139"/>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43" name="Shape 140"/>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44" name="Shape 141"/>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45" name="Shape 142"/>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46" name="Shape 143"/>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47" name="Shape 144"/>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48" name="Shape 145"/>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49" name="Shape 146"/>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50" name="Shape 147"/>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51" name="Shape 148"/>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52" name="Shape 149"/>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53" name="Shape 150"/>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54" name="Shape 151"/>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55" name="Shape 152"/>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56" name="Shape 153"/>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57" name="Shape 154"/>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58" name="Shape 155"/>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159" name="Shape 156"/>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160" name="Shape 157"/>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161" name="Shape 158"/>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162" name="Shape 159"/>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163" name="Shape 160"/>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164" name="Shape 161"/>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165" name="Shape 162"/>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166" name="Shape 163"/>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167" name="Text 164"/>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TENDER SPECIFICATION</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Mandatory requirements to include in every boiler enquiry document</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14400"/>
            <a:ext cx="2834640" cy="45720"/>
          </a:xfrm>
          <a:prstGeom prst="rect">
            <a:avLst/>
          </a:prstGeom>
          <a:solidFill>
            <a:srgbClr val="D4951A"/>
          </a:solidFill>
          <a:ln/>
        </p:spPr>
      </p:sp>
      <p:sp>
        <p:nvSpPr>
          <p:cNvPr id="90" name="Shape 88"/>
          <p:cNvSpPr/>
          <p:nvPr/>
        </p:nvSpPr>
        <p:spPr>
          <a:xfrm rot="2700000">
            <a:off x="1554480" y="868680"/>
            <a:ext cx="91440" cy="91440"/>
          </a:xfrm>
          <a:prstGeom prst="rect">
            <a:avLst/>
          </a:prstGeom>
          <a:solidFill>
            <a:srgbClr val="D4951A"/>
          </a:solidFill>
          <a:ln w="12700">
            <a:solidFill>
              <a:srgbClr val="09090F"/>
            </a:solidFill>
            <a:prstDash val="solid"/>
          </a:ln>
        </p:spPr>
      </p:sp>
      <p:sp>
        <p:nvSpPr>
          <p:cNvPr id="91" name="Text 89"/>
          <p:cNvSpPr/>
          <p:nvPr/>
        </p:nvSpPr>
        <p:spPr>
          <a:xfrm>
            <a:off x="365760" y="969264"/>
            <a:ext cx="2651760" cy="365760"/>
          </a:xfrm>
          <a:prstGeom prst="rect">
            <a:avLst/>
          </a:prstGeom>
          <a:noFill/>
          <a:ln/>
        </p:spPr>
        <p:txBody>
          <a:bodyPr wrap="square" rtlCol="0" anchor="ctr"/>
          <a:lstStyle/>
          <a:p>
            <a:pPr indent="0" marL="0">
              <a:buNone/>
            </a:pPr>
            <a:r>
              <a:rPr lang="en-US" sz="1050" b="1" dirty="0">
                <a:solidFill>
                  <a:srgbClr val="D4951A"/>
                </a:solidFill>
                <a:latin typeface="Georgia" pitchFamily="34" charset="0"/>
                <a:ea typeface="Georgia" pitchFamily="34" charset="-122"/>
                <a:cs typeface="Georgia" pitchFamily="34" charset="-120"/>
              </a:rPr>
              <a:t>MANDATORY TECHNICAL SPECS</a:t>
            </a:r>
            <a:endParaRPr lang="en-US" sz="1050" dirty="0"/>
          </a:p>
        </p:txBody>
      </p:sp>
      <p:sp>
        <p:nvSpPr>
          <p:cNvPr id="92" name="Shape 90"/>
          <p:cNvSpPr/>
          <p:nvPr/>
        </p:nvSpPr>
        <p:spPr>
          <a:xfrm rot="2700000">
            <a:off x="10973" y="1371600"/>
            <a:ext cx="77724" cy="77724"/>
          </a:xfrm>
          <a:prstGeom prst="rect">
            <a:avLst/>
          </a:prstGeom>
          <a:solidFill>
            <a:srgbClr val="D4951A">
              <a:alpha val="18000"/>
            </a:srgbClr>
          </a:solidFill>
          <a:ln w="12700">
            <a:solidFill>
              <a:srgbClr val="D4951A"/>
            </a:solidFill>
            <a:prstDash val="solid"/>
          </a:ln>
        </p:spPr>
      </p:sp>
      <p:sp>
        <p:nvSpPr>
          <p:cNvPr id="93" name="Shape 91"/>
          <p:cNvSpPr/>
          <p:nvPr/>
        </p:nvSpPr>
        <p:spPr>
          <a:xfrm rot="2700000">
            <a:off x="128016" y="1371600"/>
            <a:ext cx="77724" cy="77724"/>
          </a:xfrm>
          <a:prstGeom prst="rect">
            <a:avLst/>
          </a:prstGeom>
          <a:solidFill>
            <a:srgbClr val="D4951A">
              <a:alpha val="18000"/>
            </a:srgbClr>
          </a:solidFill>
          <a:ln w="12700">
            <a:solidFill>
              <a:srgbClr val="D4951A"/>
            </a:solidFill>
            <a:prstDash val="solid"/>
          </a:ln>
        </p:spPr>
      </p:sp>
      <p:sp>
        <p:nvSpPr>
          <p:cNvPr id="94" name="Shape 92"/>
          <p:cNvSpPr/>
          <p:nvPr/>
        </p:nvSpPr>
        <p:spPr>
          <a:xfrm rot="2700000">
            <a:off x="245059" y="1371600"/>
            <a:ext cx="77724" cy="77724"/>
          </a:xfrm>
          <a:prstGeom prst="rect">
            <a:avLst/>
          </a:prstGeom>
          <a:solidFill>
            <a:srgbClr val="D4951A">
              <a:alpha val="18000"/>
            </a:srgbClr>
          </a:solidFill>
          <a:ln w="12700">
            <a:solidFill>
              <a:srgbClr val="D4951A"/>
            </a:solidFill>
            <a:prstDash val="solid"/>
          </a:ln>
        </p:spPr>
      </p:sp>
      <p:sp>
        <p:nvSpPr>
          <p:cNvPr id="95" name="Shape 93"/>
          <p:cNvSpPr/>
          <p:nvPr/>
        </p:nvSpPr>
        <p:spPr>
          <a:xfrm rot="2700000">
            <a:off x="362102" y="1371600"/>
            <a:ext cx="77724" cy="77724"/>
          </a:xfrm>
          <a:prstGeom prst="rect">
            <a:avLst/>
          </a:prstGeom>
          <a:solidFill>
            <a:srgbClr val="D4951A">
              <a:alpha val="18000"/>
            </a:srgbClr>
          </a:solidFill>
          <a:ln w="12700">
            <a:solidFill>
              <a:srgbClr val="D4951A"/>
            </a:solidFill>
            <a:prstDash val="solid"/>
          </a:ln>
        </p:spPr>
      </p:sp>
      <p:sp>
        <p:nvSpPr>
          <p:cNvPr id="96" name="Shape 94"/>
          <p:cNvSpPr/>
          <p:nvPr/>
        </p:nvSpPr>
        <p:spPr>
          <a:xfrm rot="2700000">
            <a:off x="479146" y="1371600"/>
            <a:ext cx="77724" cy="77724"/>
          </a:xfrm>
          <a:prstGeom prst="rect">
            <a:avLst/>
          </a:prstGeom>
          <a:solidFill>
            <a:srgbClr val="D4951A">
              <a:alpha val="18000"/>
            </a:srgbClr>
          </a:solidFill>
          <a:ln w="12700">
            <a:solidFill>
              <a:srgbClr val="D4951A"/>
            </a:solidFill>
            <a:prstDash val="solid"/>
          </a:ln>
        </p:spPr>
      </p:sp>
      <p:sp>
        <p:nvSpPr>
          <p:cNvPr id="97" name="Shape 95"/>
          <p:cNvSpPr/>
          <p:nvPr/>
        </p:nvSpPr>
        <p:spPr>
          <a:xfrm rot="2700000">
            <a:off x="596189" y="1371600"/>
            <a:ext cx="77724" cy="77724"/>
          </a:xfrm>
          <a:prstGeom prst="rect">
            <a:avLst/>
          </a:prstGeom>
          <a:solidFill>
            <a:srgbClr val="D4951A">
              <a:alpha val="18000"/>
            </a:srgbClr>
          </a:solidFill>
          <a:ln w="12700">
            <a:solidFill>
              <a:srgbClr val="D4951A"/>
            </a:solidFill>
            <a:prstDash val="solid"/>
          </a:ln>
        </p:spPr>
      </p:sp>
      <p:sp>
        <p:nvSpPr>
          <p:cNvPr id="98" name="Shape 96"/>
          <p:cNvSpPr/>
          <p:nvPr/>
        </p:nvSpPr>
        <p:spPr>
          <a:xfrm rot="2700000">
            <a:off x="713232" y="1371600"/>
            <a:ext cx="77724" cy="77724"/>
          </a:xfrm>
          <a:prstGeom prst="rect">
            <a:avLst/>
          </a:prstGeom>
          <a:solidFill>
            <a:srgbClr val="D4951A">
              <a:alpha val="18000"/>
            </a:srgbClr>
          </a:solidFill>
          <a:ln w="12700">
            <a:solidFill>
              <a:srgbClr val="D4951A"/>
            </a:solidFill>
            <a:prstDash val="solid"/>
          </a:ln>
        </p:spPr>
      </p:sp>
      <p:sp>
        <p:nvSpPr>
          <p:cNvPr id="99" name="Shape 97"/>
          <p:cNvSpPr/>
          <p:nvPr/>
        </p:nvSpPr>
        <p:spPr>
          <a:xfrm rot="2700000">
            <a:off x="830275" y="1371600"/>
            <a:ext cx="77724" cy="77724"/>
          </a:xfrm>
          <a:prstGeom prst="rect">
            <a:avLst/>
          </a:prstGeom>
          <a:solidFill>
            <a:srgbClr val="D4951A">
              <a:alpha val="18000"/>
            </a:srgbClr>
          </a:solidFill>
          <a:ln w="12700">
            <a:solidFill>
              <a:srgbClr val="D4951A"/>
            </a:solidFill>
            <a:prstDash val="solid"/>
          </a:ln>
        </p:spPr>
      </p:sp>
      <p:sp>
        <p:nvSpPr>
          <p:cNvPr id="100" name="Shape 98"/>
          <p:cNvSpPr/>
          <p:nvPr/>
        </p:nvSpPr>
        <p:spPr>
          <a:xfrm rot="2700000">
            <a:off x="947318" y="1371600"/>
            <a:ext cx="77724" cy="77724"/>
          </a:xfrm>
          <a:prstGeom prst="rect">
            <a:avLst/>
          </a:prstGeom>
          <a:solidFill>
            <a:srgbClr val="D4951A">
              <a:alpha val="18000"/>
            </a:srgbClr>
          </a:solidFill>
          <a:ln w="12700">
            <a:solidFill>
              <a:srgbClr val="D4951A"/>
            </a:solidFill>
            <a:prstDash val="solid"/>
          </a:ln>
        </p:spPr>
      </p:sp>
      <p:sp>
        <p:nvSpPr>
          <p:cNvPr id="101" name="Shape 99"/>
          <p:cNvSpPr/>
          <p:nvPr/>
        </p:nvSpPr>
        <p:spPr>
          <a:xfrm rot="2700000">
            <a:off x="1064362" y="1371600"/>
            <a:ext cx="77724" cy="77724"/>
          </a:xfrm>
          <a:prstGeom prst="rect">
            <a:avLst/>
          </a:prstGeom>
          <a:solidFill>
            <a:srgbClr val="D4951A">
              <a:alpha val="18000"/>
            </a:srgbClr>
          </a:solidFill>
          <a:ln w="12700">
            <a:solidFill>
              <a:srgbClr val="D4951A"/>
            </a:solidFill>
            <a:prstDash val="solid"/>
          </a:ln>
        </p:spPr>
      </p:sp>
      <p:sp>
        <p:nvSpPr>
          <p:cNvPr id="102" name="Shape 100"/>
          <p:cNvSpPr/>
          <p:nvPr/>
        </p:nvSpPr>
        <p:spPr>
          <a:xfrm rot="2700000">
            <a:off x="1181405" y="1371600"/>
            <a:ext cx="77724" cy="77724"/>
          </a:xfrm>
          <a:prstGeom prst="rect">
            <a:avLst/>
          </a:prstGeom>
          <a:solidFill>
            <a:srgbClr val="D4951A">
              <a:alpha val="18000"/>
            </a:srgbClr>
          </a:solidFill>
          <a:ln w="12700">
            <a:solidFill>
              <a:srgbClr val="D4951A"/>
            </a:solidFill>
            <a:prstDash val="solid"/>
          </a:ln>
        </p:spPr>
      </p:sp>
      <p:sp>
        <p:nvSpPr>
          <p:cNvPr id="103" name="Shape 101"/>
          <p:cNvSpPr/>
          <p:nvPr/>
        </p:nvSpPr>
        <p:spPr>
          <a:xfrm rot="2700000">
            <a:off x="1298448" y="1371600"/>
            <a:ext cx="77724" cy="77724"/>
          </a:xfrm>
          <a:prstGeom prst="rect">
            <a:avLst/>
          </a:prstGeom>
          <a:solidFill>
            <a:srgbClr val="D4951A">
              <a:alpha val="18000"/>
            </a:srgbClr>
          </a:solidFill>
          <a:ln w="12700">
            <a:solidFill>
              <a:srgbClr val="D4951A"/>
            </a:solidFill>
            <a:prstDash val="solid"/>
          </a:ln>
        </p:spPr>
      </p:sp>
      <p:sp>
        <p:nvSpPr>
          <p:cNvPr id="104" name="Shape 102"/>
          <p:cNvSpPr/>
          <p:nvPr/>
        </p:nvSpPr>
        <p:spPr>
          <a:xfrm rot="2700000">
            <a:off x="1415491" y="1371600"/>
            <a:ext cx="77724" cy="77724"/>
          </a:xfrm>
          <a:prstGeom prst="rect">
            <a:avLst/>
          </a:prstGeom>
          <a:solidFill>
            <a:srgbClr val="D4951A">
              <a:alpha val="18000"/>
            </a:srgbClr>
          </a:solidFill>
          <a:ln w="12700">
            <a:solidFill>
              <a:srgbClr val="D4951A"/>
            </a:solidFill>
            <a:prstDash val="solid"/>
          </a:ln>
        </p:spPr>
      </p:sp>
      <p:sp>
        <p:nvSpPr>
          <p:cNvPr id="105" name="Shape 103"/>
          <p:cNvSpPr/>
          <p:nvPr/>
        </p:nvSpPr>
        <p:spPr>
          <a:xfrm rot="2700000">
            <a:off x="1532534" y="1371600"/>
            <a:ext cx="77724" cy="77724"/>
          </a:xfrm>
          <a:prstGeom prst="rect">
            <a:avLst/>
          </a:prstGeom>
          <a:solidFill>
            <a:srgbClr val="D4951A">
              <a:alpha val="18000"/>
            </a:srgbClr>
          </a:solidFill>
          <a:ln w="12700">
            <a:solidFill>
              <a:srgbClr val="D4951A"/>
            </a:solidFill>
            <a:prstDash val="solid"/>
          </a:ln>
        </p:spPr>
      </p:sp>
      <p:sp>
        <p:nvSpPr>
          <p:cNvPr id="106" name="Shape 104"/>
          <p:cNvSpPr/>
          <p:nvPr/>
        </p:nvSpPr>
        <p:spPr>
          <a:xfrm rot="2700000">
            <a:off x="1649578" y="1371600"/>
            <a:ext cx="77724" cy="77724"/>
          </a:xfrm>
          <a:prstGeom prst="rect">
            <a:avLst/>
          </a:prstGeom>
          <a:solidFill>
            <a:srgbClr val="D4951A">
              <a:alpha val="18000"/>
            </a:srgbClr>
          </a:solidFill>
          <a:ln w="12700">
            <a:solidFill>
              <a:srgbClr val="D4951A"/>
            </a:solidFill>
            <a:prstDash val="solid"/>
          </a:ln>
        </p:spPr>
      </p:sp>
      <p:sp>
        <p:nvSpPr>
          <p:cNvPr id="107" name="Shape 105"/>
          <p:cNvSpPr/>
          <p:nvPr/>
        </p:nvSpPr>
        <p:spPr>
          <a:xfrm rot="2700000">
            <a:off x="1766621" y="1371600"/>
            <a:ext cx="77724" cy="77724"/>
          </a:xfrm>
          <a:prstGeom prst="rect">
            <a:avLst/>
          </a:prstGeom>
          <a:solidFill>
            <a:srgbClr val="D4951A">
              <a:alpha val="18000"/>
            </a:srgbClr>
          </a:solidFill>
          <a:ln w="12700">
            <a:solidFill>
              <a:srgbClr val="D4951A"/>
            </a:solidFill>
            <a:prstDash val="solid"/>
          </a:ln>
        </p:spPr>
      </p:sp>
      <p:sp>
        <p:nvSpPr>
          <p:cNvPr id="108" name="Shape 106"/>
          <p:cNvSpPr/>
          <p:nvPr/>
        </p:nvSpPr>
        <p:spPr>
          <a:xfrm rot="2700000">
            <a:off x="1883664" y="1371600"/>
            <a:ext cx="77724" cy="77724"/>
          </a:xfrm>
          <a:prstGeom prst="rect">
            <a:avLst/>
          </a:prstGeom>
          <a:solidFill>
            <a:srgbClr val="D4951A">
              <a:alpha val="18000"/>
            </a:srgbClr>
          </a:solidFill>
          <a:ln w="12700">
            <a:solidFill>
              <a:srgbClr val="D4951A"/>
            </a:solidFill>
            <a:prstDash val="solid"/>
          </a:ln>
        </p:spPr>
      </p:sp>
      <p:sp>
        <p:nvSpPr>
          <p:cNvPr id="109" name="Shape 107"/>
          <p:cNvSpPr/>
          <p:nvPr/>
        </p:nvSpPr>
        <p:spPr>
          <a:xfrm rot="2700000">
            <a:off x="2000707" y="1371600"/>
            <a:ext cx="77724" cy="77724"/>
          </a:xfrm>
          <a:prstGeom prst="rect">
            <a:avLst/>
          </a:prstGeom>
          <a:solidFill>
            <a:srgbClr val="D4951A">
              <a:alpha val="18000"/>
            </a:srgbClr>
          </a:solidFill>
          <a:ln w="12700">
            <a:solidFill>
              <a:srgbClr val="D4951A"/>
            </a:solidFill>
            <a:prstDash val="solid"/>
          </a:ln>
        </p:spPr>
      </p:sp>
      <p:sp>
        <p:nvSpPr>
          <p:cNvPr id="110" name="Shape 108"/>
          <p:cNvSpPr/>
          <p:nvPr/>
        </p:nvSpPr>
        <p:spPr>
          <a:xfrm rot="2700000">
            <a:off x="2117750" y="1371600"/>
            <a:ext cx="77724" cy="77724"/>
          </a:xfrm>
          <a:prstGeom prst="rect">
            <a:avLst/>
          </a:prstGeom>
          <a:solidFill>
            <a:srgbClr val="D4951A">
              <a:alpha val="18000"/>
            </a:srgbClr>
          </a:solidFill>
          <a:ln w="12700">
            <a:solidFill>
              <a:srgbClr val="D4951A"/>
            </a:solidFill>
            <a:prstDash val="solid"/>
          </a:ln>
        </p:spPr>
      </p:sp>
      <p:sp>
        <p:nvSpPr>
          <p:cNvPr id="111" name="Shape 109"/>
          <p:cNvSpPr/>
          <p:nvPr/>
        </p:nvSpPr>
        <p:spPr>
          <a:xfrm rot="2700000">
            <a:off x="2234794" y="1371600"/>
            <a:ext cx="77724" cy="77724"/>
          </a:xfrm>
          <a:prstGeom prst="rect">
            <a:avLst/>
          </a:prstGeom>
          <a:solidFill>
            <a:srgbClr val="D4951A">
              <a:alpha val="18000"/>
            </a:srgbClr>
          </a:solidFill>
          <a:ln w="12700">
            <a:solidFill>
              <a:srgbClr val="D4951A"/>
            </a:solidFill>
            <a:prstDash val="solid"/>
          </a:ln>
        </p:spPr>
      </p:sp>
      <p:sp>
        <p:nvSpPr>
          <p:cNvPr id="112" name="Shape 110"/>
          <p:cNvSpPr/>
          <p:nvPr/>
        </p:nvSpPr>
        <p:spPr>
          <a:xfrm rot="2700000">
            <a:off x="2351837" y="1371600"/>
            <a:ext cx="77724" cy="77724"/>
          </a:xfrm>
          <a:prstGeom prst="rect">
            <a:avLst/>
          </a:prstGeom>
          <a:solidFill>
            <a:srgbClr val="D4951A">
              <a:alpha val="18000"/>
            </a:srgbClr>
          </a:solidFill>
          <a:ln w="12700">
            <a:solidFill>
              <a:srgbClr val="D4951A"/>
            </a:solidFill>
            <a:prstDash val="solid"/>
          </a:ln>
        </p:spPr>
      </p:sp>
      <p:sp>
        <p:nvSpPr>
          <p:cNvPr id="113" name="Shape 111"/>
          <p:cNvSpPr/>
          <p:nvPr/>
        </p:nvSpPr>
        <p:spPr>
          <a:xfrm rot="2700000">
            <a:off x="2468880" y="1371600"/>
            <a:ext cx="77724" cy="77724"/>
          </a:xfrm>
          <a:prstGeom prst="rect">
            <a:avLst/>
          </a:prstGeom>
          <a:solidFill>
            <a:srgbClr val="D4951A">
              <a:alpha val="18000"/>
            </a:srgbClr>
          </a:solidFill>
          <a:ln w="12700">
            <a:solidFill>
              <a:srgbClr val="D4951A"/>
            </a:solidFill>
            <a:prstDash val="solid"/>
          </a:ln>
        </p:spPr>
      </p:sp>
      <p:sp>
        <p:nvSpPr>
          <p:cNvPr id="114" name="Shape 112"/>
          <p:cNvSpPr/>
          <p:nvPr/>
        </p:nvSpPr>
        <p:spPr>
          <a:xfrm rot="2700000">
            <a:off x="2585923" y="1371600"/>
            <a:ext cx="77724" cy="77724"/>
          </a:xfrm>
          <a:prstGeom prst="rect">
            <a:avLst/>
          </a:prstGeom>
          <a:solidFill>
            <a:srgbClr val="D4951A">
              <a:alpha val="18000"/>
            </a:srgbClr>
          </a:solidFill>
          <a:ln w="12700">
            <a:solidFill>
              <a:srgbClr val="D4951A"/>
            </a:solidFill>
            <a:prstDash val="solid"/>
          </a:ln>
        </p:spPr>
      </p:sp>
      <p:sp>
        <p:nvSpPr>
          <p:cNvPr id="115" name="Shape 113"/>
          <p:cNvSpPr/>
          <p:nvPr/>
        </p:nvSpPr>
        <p:spPr>
          <a:xfrm rot="2700000">
            <a:off x="2702966" y="1371600"/>
            <a:ext cx="77724" cy="77724"/>
          </a:xfrm>
          <a:prstGeom prst="rect">
            <a:avLst/>
          </a:prstGeom>
          <a:solidFill>
            <a:srgbClr val="D4951A">
              <a:alpha val="18000"/>
            </a:srgbClr>
          </a:solidFill>
          <a:ln w="12700">
            <a:solidFill>
              <a:srgbClr val="D4951A"/>
            </a:solidFill>
            <a:prstDash val="solid"/>
          </a:ln>
        </p:spPr>
      </p:sp>
      <p:sp>
        <p:nvSpPr>
          <p:cNvPr id="116" name="Shape 114"/>
          <p:cNvSpPr/>
          <p:nvPr/>
        </p:nvSpPr>
        <p:spPr>
          <a:xfrm rot="2700000">
            <a:off x="2820010" y="1371600"/>
            <a:ext cx="77724" cy="77724"/>
          </a:xfrm>
          <a:prstGeom prst="rect">
            <a:avLst/>
          </a:prstGeom>
          <a:solidFill>
            <a:srgbClr val="D4951A">
              <a:alpha val="18000"/>
            </a:srgbClr>
          </a:solidFill>
          <a:ln w="12700">
            <a:solidFill>
              <a:srgbClr val="D4951A"/>
            </a:solidFill>
            <a:prstDash val="solid"/>
          </a:ln>
        </p:spPr>
      </p:sp>
      <p:sp>
        <p:nvSpPr>
          <p:cNvPr id="117" name="Shape 115"/>
          <p:cNvSpPr/>
          <p:nvPr/>
        </p:nvSpPr>
        <p:spPr>
          <a:xfrm rot="2700000">
            <a:off x="2937053" y="1371600"/>
            <a:ext cx="77724" cy="77724"/>
          </a:xfrm>
          <a:prstGeom prst="rect">
            <a:avLst/>
          </a:prstGeom>
          <a:solidFill>
            <a:srgbClr val="D4951A">
              <a:alpha val="18000"/>
            </a:srgbClr>
          </a:solidFill>
          <a:ln w="12700">
            <a:solidFill>
              <a:srgbClr val="D4951A"/>
            </a:solidFill>
            <a:prstDash val="solid"/>
          </a:ln>
        </p:spPr>
      </p:sp>
      <p:sp>
        <p:nvSpPr>
          <p:cNvPr id="118" name="Text 116"/>
          <p:cNvSpPr/>
          <p:nvPr/>
        </p:nvSpPr>
        <p:spPr>
          <a:xfrm>
            <a:off x="365760" y="1444752"/>
            <a:ext cx="2670048" cy="3364992"/>
          </a:xfrm>
          <a:prstGeom prst="rect">
            <a:avLst/>
          </a:prstGeom>
          <a:noFill/>
          <a:ln/>
        </p:spPr>
        <p:txBody>
          <a:bodyPr wrap="square" rtlCol="0" anchor="t"/>
          <a:lstStyle/>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Nameplate output: 2,400–2,600 Kg/H minimum</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Working pressure: 5 bar(g) design</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Steam type: Saturated, dryness fraction ≥0.95</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Fuel: LPG primary, dual-fuel (LPG + NG) preferred</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Thermal efficiency: ≥90% LHV on LPG</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CE marked under PED 2014/68/EU — mandatory</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MAWP and design code stamped on pressure vessel</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Safety relief valve: factory-set, sized to pass full output</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Low water level cutout: independently tested</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Automatic flue gas purge: 4× furnace volume before ignition</a:t>
            </a:r>
            <a:endParaRPr lang="en-US" sz="880" dirty="0"/>
          </a:p>
        </p:txBody>
      </p:sp>
      <p:sp>
        <p:nvSpPr>
          <p:cNvPr id="119" name="Shape 117"/>
          <p:cNvSpPr/>
          <p:nvPr/>
        </p:nvSpPr>
        <p:spPr>
          <a:xfrm>
            <a:off x="3200400"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20" name="Shape 118"/>
          <p:cNvSpPr/>
          <p:nvPr/>
        </p:nvSpPr>
        <p:spPr>
          <a:xfrm>
            <a:off x="3200400" y="914400"/>
            <a:ext cx="2834640" cy="45720"/>
          </a:xfrm>
          <a:prstGeom prst="rect">
            <a:avLst/>
          </a:prstGeom>
          <a:solidFill>
            <a:srgbClr val="1B9A8A"/>
          </a:solidFill>
          <a:ln/>
        </p:spPr>
      </p:sp>
      <p:sp>
        <p:nvSpPr>
          <p:cNvPr id="121" name="Shape 119"/>
          <p:cNvSpPr/>
          <p:nvPr/>
        </p:nvSpPr>
        <p:spPr>
          <a:xfrm rot="2700000">
            <a:off x="4498848" y="868680"/>
            <a:ext cx="91440" cy="91440"/>
          </a:xfrm>
          <a:prstGeom prst="rect">
            <a:avLst/>
          </a:prstGeom>
          <a:solidFill>
            <a:srgbClr val="1B9A8A"/>
          </a:solidFill>
          <a:ln w="12700">
            <a:solidFill>
              <a:srgbClr val="09090F"/>
            </a:solidFill>
            <a:prstDash val="solid"/>
          </a:ln>
        </p:spPr>
      </p:sp>
      <p:sp>
        <p:nvSpPr>
          <p:cNvPr id="122" name="Text 120"/>
          <p:cNvSpPr/>
          <p:nvPr/>
        </p:nvSpPr>
        <p:spPr>
          <a:xfrm>
            <a:off x="3310128" y="969264"/>
            <a:ext cx="2651760" cy="365760"/>
          </a:xfrm>
          <a:prstGeom prst="rect">
            <a:avLst/>
          </a:prstGeom>
          <a:noFill/>
          <a:ln/>
        </p:spPr>
        <p:txBody>
          <a:bodyPr wrap="square" rtlCol="0" anchor="ctr"/>
          <a:lstStyle/>
          <a:p>
            <a:pPr indent="0" marL="0">
              <a:buNone/>
            </a:pPr>
            <a:r>
              <a:rPr lang="en-US" sz="1050" b="1" dirty="0">
                <a:solidFill>
                  <a:srgbClr val="1B9A8A"/>
                </a:solidFill>
                <a:latin typeface="Georgia" pitchFamily="34" charset="0"/>
                <a:ea typeface="Georgia" pitchFamily="34" charset="-122"/>
                <a:cs typeface="Georgia" pitchFamily="34" charset="-120"/>
              </a:rPr>
              <a:t>MANDATORY FOOD SAFETY SPECS</a:t>
            </a:r>
            <a:endParaRPr lang="en-US" sz="1050" dirty="0"/>
          </a:p>
        </p:txBody>
      </p:sp>
      <p:sp>
        <p:nvSpPr>
          <p:cNvPr id="123" name="Shape 121"/>
          <p:cNvSpPr/>
          <p:nvPr/>
        </p:nvSpPr>
        <p:spPr>
          <a:xfrm rot="2700000">
            <a:off x="10973" y="1371600"/>
            <a:ext cx="77724" cy="77724"/>
          </a:xfrm>
          <a:prstGeom prst="rect">
            <a:avLst/>
          </a:prstGeom>
          <a:solidFill>
            <a:srgbClr val="1B9A8A">
              <a:alpha val="18000"/>
            </a:srgbClr>
          </a:solidFill>
          <a:ln w="12700">
            <a:solidFill>
              <a:srgbClr val="1B9A8A"/>
            </a:solidFill>
            <a:prstDash val="solid"/>
          </a:ln>
        </p:spPr>
      </p:sp>
      <p:sp>
        <p:nvSpPr>
          <p:cNvPr id="124" name="Shape 122"/>
          <p:cNvSpPr/>
          <p:nvPr/>
        </p:nvSpPr>
        <p:spPr>
          <a:xfrm rot="2700000">
            <a:off x="128016" y="1371600"/>
            <a:ext cx="77724" cy="77724"/>
          </a:xfrm>
          <a:prstGeom prst="rect">
            <a:avLst/>
          </a:prstGeom>
          <a:solidFill>
            <a:srgbClr val="1B9A8A">
              <a:alpha val="18000"/>
            </a:srgbClr>
          </a:solidFill>
          <a:ln w="12700">
            <a:solidFill>
              <a:srgbClr val="1B9A8A"/>
            </a:solidFill>
            <a:prstDash val="solid"/>
          </a:ln>
        </p:spPr>
      </p:sp>
      <p:sp>
        <p:nvSpPr>
          <p:cNvPr id="125" name="Shape 123"/>
          <p:cNvSpPr/>
          <p:nvPr/>
        </p:nvSpPr>
        <p:spPr>
          <a:xfrm rot="2700000">
            <a:off x="245059" y="1371600"/>
            <a:ext cx="77724" cy="77724"/>
          </a:xfrm>
          <a:prstGeom prst="rect">
            <a:avLst/>
          </a:prstGeom>
          <a:solidFill>
            <a:srgbClr val="1B9A8A">
              <a:alpha val="18000"/>
            </a:srgbClr>
          </a:solidFill>
          <a:ln w="12700">
            <a:solidFill>
              <a:srgbClr val="1B9A8A"/>
            </a:solidFill>
            <a:prstDash val="solid"/>
          </a:ln>
        </p:spPr>
      </p:sp>
      <p:sp>
        <p:nvSpPr>
          <p:cNvPr id="126" name="Shape 124"/>
          <p:cNvSpPr/>
          <p:nvPr/>
        </p:nvSpPr>
        <p:spPr>
          <a:xfrm rot="2700000">
            <a:off x="362102" y="1371600"/>
            <a:ext cx="77724" cy="77724"/>
          </a:xfrm>
          <a:prstGeom prst="rect">
            <a:avLst/>
          </a:prstGeom>
          <a:solidFill>
            <a:srgbClr val="1B9A8A">
              <a:alpha val="18000"/>
            </a:srgbClr>
          </a:solidFill>
          <a:ln w="12700">
            <a:solidFill>
              <a:srgbClr val="1B9A8A"/>
            </a:solidFill>
            <a:prstDash val="solid"/>
          </a:ln>
        </p:spPr>
      </p:sp>
      <p:sp>
        <p:nvSpPr>
          <p:cNvPr id="127" name="Shape 125"/>
          <p:cNvSpPr/>
          <p:nvPr/>
        </p:nvSpPr>
        <p:spPr>
          <a:xfrm rot="2700000">
            <a:off x="479146" y="1371600"/>
            <a:ext cx="77724" cy="77724"/>
          </a:xfrm>
          <a:prstGeom prst="rect">
            <a:avLst/>
          </a:prstGeom>
          <a:solidFill>
            <a:srgbClr val="1B9A8A">
              <a:alpha val="18000"/>
            </a:srgbClr>
          </a:solidFill>
          <a:ln w="12700">
            <a:solidFill>
              <a:srgbClr val="1B9A8A"/>
            </a:solidFill>
            <a:prstDash val="solid"/>
          </a:ln>
        </p:spPr>
      </p:sp>
      <p:sp>
        <p:nvSpPr>
          <p:cNvPr id="128" name="Shape 126"/>
          <p:cNvSpPr/>
          <p:nvPr/>
        </p:nvSpPr>
        <p:spPr>
          <a:xfrm rot="2700000">
            <a:off x="596189" y="1371600"/>
            <a:ext cx="77724" cy="77724"/>
          </a:xfrm>
          <a:prstGeom prst="rect">
            <a:avLst/>
          </a:prstGeom>
          <a:solidFill>
            <a:srgbClr val="1B9A8A">
              <a:alpha val="18000"/>
            </a:srgbClr>
          </a:solidFill>
          <a:ln w="12700">
            <a:solidFill>
              <a:srgbClr val="1B9A8A"/>
            </a:solidFill>
            <a:prstDash val="solid"/>
          </a:ln>
        </p:spPr>
      </p:sp>
      <p:sp>
        <p:nvSpPr>
          <p:cNvPr id="129" name="Shape 127"/>
          <p:cNvSpPr/>
          <p:nvPr/>
        </p:nvSpPr>
        <p:spPr>
          <a:xfrm rot="2700000">
            <a:off x="713232" y="1371600"/>
            <a:ext cx="77724" cy="77724"/>
          </a:xfrm>
          <a:prstGeom prst="rect">
            <a:avLst/>
          </a:prstGeom>
          <a:solidFill>
            <a:srgbClr val="1B9A8A">
              <a:alpha val="18000"/>
            </a:srgbClr>
          </a:solidFill>
          <a:ln w="12700">
            <a:solidFill>
              <a:srgbClr val="1B9A8A"/>
            </a:solidFill>
            <a:prstDash val="solid"/>
          </a:ln>
        </p:spPr>
      </p:sp>
      <p:sp>
        <p:nvSpPr>
          <p:cNvPr id="130" name="Shape 128"/>
          <p:cNvSpPr/>
          <p:nvPr/>
        </p:nvSpPr>
        <p:spPr>
          <a:xfrm rot="2700000">
            <a:off x="830275" y="1371600"/>
            <a:ext cx="77724" cy="77724"/>
          </a:xfrm>
          <a:prstGeom prst="rect">
            <a:avLst/>
          </a:prstGeom>
          <a:solidFill>
            <a:srgbClr val="1B9A8A">
              <a:alpha val="18000"/>
            </a:srgbClr>
          </a:solidFill>
          <a:ln w="12700">
            <a:solidFill>
              <a:srgbClr val="1B9A8A"/>
            </a:solidFill>
            <a:prstDash val="solid"/>
          </a:ln>
        </p:spPr>
      </p:sp>
      <p:sp>
        <p:nvSpPr>
          <p:cNvPr id="131" name="Shape 129"/>
          <p:cNvSpPr/>
          <p:nvPr/>
        </p:nvSpPr>
        <p:spPr>
          <a:xfrm rot="2700000">
            <a:off x="947318" y="1371600"/>
            <a:ext cx="77724" cy="77724"/>
          </a:xfrm>
          <a:prstGeom prst="rect">
            <a:avLst/>
          </a:prstGeom>
          <a:solidFill>
            <a:srgbClr val="1B9A8A">
              <a:alpha val="18000"/>
            </a:srgbClr>
          </a:solidFill>
          <a:ln w="12700">
            <a:solidFill>
              <a:srgbClr val="1B9A8A"/>
            </a:solidFill>
            <a:prstDash val="solid"/>
          </a:ln>
        </p:spPr>
      </p:sp>
      <p:sp>
        <p:nvSpPr>
          <p:cNvPr id="132" name="Shape 130"/>
          <p:cNvSpPr/>
          <p:nvPr/>
        </p:nvSpPr>
        <p:spPr>
          <a:xfrm rot="2700000">
            <a:off x="1064362" y="1371600"/>
            <a:ext cx="77724" cy="77724"/>
          </a:xfrm>
          <a:prstGeom prst="rect">
            <a:avLst/>
          </a:prstGeom>
          <a:solidFill>
            <a:srgbClr val="1B9A8A">
              <a:alpha val="18000"/>
            </a:srgbClr>
          </a:solidFill>
          <a:ln w="12700">
            <a:solidFill>
              <a:srgbClr val="1B9A8A"/>
            </a:solidFill>
            <a:prstDash val="solid"/>
          </a:ln>
        </p:spPr>
      </p:sp>
      <p:sp>
        <p:nvSpPr>
          <p:cNvPr id="133" name="Shape 131"/>
          <p:cNvSpPr/>
          <p:nvPr/>
        </p:nvSpPr>
        <p:spPr>
          <a:xfrm rot="2700000">
            <a:off x="1181405" y="1371600"/>
            <a:ext cx="77724" cy="77724"/>
          </a:xfrm>
          <a:prstGeom prst="rect">
            <a:avLst/>
          </a:prstGeom>
          <a:solidFill>
            <a:srgbClr val="1B9A8A">
              <a:alpha val="18000"/>
            </a:srgbClr>
          </a:solidFill>
          <a:ln w="12700">
            <a:solidFill>
              <a:srgbClr val="1B9A8A"/>
            </a:solidFill>
            <a:prstDash val="solid"/>
          </a:ln>
        </p:spPr>
      </p:sp>
      <p:sp>
        <p:nvSpPr>
          <p:cNvPr id="134" name="Shape 132"/>
          <p:cNvSpPr/>
          <p:nvPr/>
        </p:nvSpPr>
        <p:spPr>
          <a:xfrm rot="2700000">
            <a:off x="1298448" y="1371600"/>
            <a:ext cx="77724" cy="77724"/>
          </a:xfrm>
          <a:prstGeom prst="rect">
            <a:avLst/>
          </a:prstGeom>
          <a:solidFill>
            <a:srgbClr val="1B9A8A">
              <a:alpha val="18000"/>
            </a:srgbClr>
          </a:solidFill>
          <a:ln w="12700">
            <a:solidFill>
              <a:srgbClr val="1B9A8A"/>
            </a:solidFill>
            <a:prstDash val="solid"/>
          </a:ln>
        </p:spPr>
      </p:sp>
      <p:sp>
        <p:nvSpPr>
          <p:cNvPr id="135" name="Shape 133"/>
          <p:cNvSpPr/>
          <p:nvPr/>
        </p:nvSpPr>
        <p:spPr>
          <a:xfrm rot="2700000">
            <a:off x="1415491" y="1371600"/>
            <a:ext cx="77724" cy="77724"/>
          </a:xfrm>
          <a:prstGeom prst="rect">
            <a:avLst/>
          </a:prstGeom>
          <a:solidFill>
            <a:srgbClr val="1B9A8A">
              <a:alpha val="18000"/>
            </a:srgbClr>
          </a:solidFill>
          <a:ln w="12700">
            <a:solidFill>
              <a:srgbClr val="1B9A8A"/>
            </a:solidFill>
            <a:prstDash val="solid"/>
          </a:ln>
        </p:spPr>
      </p:sp>
      <p:sp>
        <p:nvSpPr>
          <p:cNvPr id="136" name="Shape 134"/>
          <p:cNvSpPr/>
          <p:nvPr/>
        </p:nvSpPr>
        <p:spPr>
          <a:xfrm rot="2700000">
            <a:off x="1532534" y="1371600"/>
            <a:ext cx="77724" cy="77724"/>
          </a:xfrm>
          <a:prstGeom prst="rect">
            <a:avLst/>
          </a:prstGeom>
          <a:solidFill>
            <a:srgbClr val="1B9A8A">
              <a:alpha val="18000"/>
            </a:srgbClr>
          </a:solidFill>
          <a:ln w="12700">
            <a:solidFill>
              <a:srgbClr val="1B9A8A"/>
            </a:solidFill>
            <a:prstDash val="solid"/>
          </a:ln>
        </p:spPr>
      </p:sp>
      <p:sp>
        <p:nvSpPr>
          <p:cNvPr id="137" name="Shape 135"/>
          <p:cNvSpPr/>
          <p:nvPr/>
        </p:nvSpPr>
        <p:spPr>
          <a:xfrm rot="2700000">
            <a:off x="1649578" y="1371600"/>
            <a:ext cx="77724" cy="77724"/>
          </a:xfrm>
          <a:prstGeom prst="rect">
            <a:avLst/>
          </a:prstGeom>
          <a:solidFill>
            <a:srgbClr val="1B9A8A">
              <a:alpha val="18000"/>
            </a:srgbClr>
          </a:solidFill>
          <a:ln w="12700">
            <a:solidFill>
              <a:srgbClr val="1B9A8A"/>
            </a:solidFill>
            <a:prstDash val="solid"/>
          </a:ln>
        </p:spPr>
      </p:sp>
      <p:sp>
        <p:nvSpPr>
          <p:cNvPr id="138" name="Shape 136"/>
          <p:cNvSpPr/>
          <p:nvPr/>
        </p:nvSpPr>
        <p:spPr>
          <a:xfrm rot="2700000">
            <a:off x="1766621" y="1371600"/>
            <a:ext cx="77724" cy="77724"/>
          </a:xfrm>
          <a:prstGeom prst="rect">
            <a:avLst/>
          </a:prstGeom>
          <a:solidFill>
            <a:srgbClr val="1B9A8A">
              <a:alpha val="18000"/>
            </a:srgbClr>
          </a:solidFill>
          <a:ln w="12700">
            <a:solidFill>
              <a:srgbClr val="1B9A8A"/>
            </a:solidFill>
            <a:prstDash val="solid"/>
          </a:ln>
        </p:spPr>
      </p:sp>
      <p:sp>
        <p:nvSpPr>
          <p:cNvPr id="139" name="Shape 137"/>
          <p:cNvSpPr/>
          <p:nvPr/>
        </p:nvSpPr>
        <p:spPr>
          <a:xfrm rot="2700000">
            <a:off x="1883664" y="1371600"/>
            <a:ext cx="77724" cy="77724"/>
          </a:xfrm>
          <a:prstGeom prst="rect">
            <a:avLst/>
          </a:prstGeom>
          <a:solidFill>
            <a:srgbClr val="1B9A8A">
              <a:alpha val="18000"/>
            </a:srgbClr>
          </a:solidFill>
          <a:ln w="12700">
            <a:solidFill>
              <a:srgbClr val="1B9A8A"/>
            </a:solidFill>
            <a:prstDash val="solid"/>
          </a:ln>
        </p:spPr>
      </p:sp>
      <p:sp>
        <p:nvSpPr>
          <p:cNvPr id="140" name="Shape 138"/>
          <p:cNvSpPr/>
          <p:nvPr/>
        </p:nvSpPr>
        <p:spPr>
          <a:xfrm rot="2700000">
            <a:off x="2000707" y="1371600"/>
            <a:ext cx="77724" cy="77724"/>
          </a:xfrm>
          <a:prstGeom prst="rect">
            <a:avLst/>
          </a:prstGeom>
          <a:solidFill>
            <a:srgbClr val="1B9A8A">
              <a:alpha val="18000"/>
            </a:srgbClr>
          </a:solidFill>
          <a:ln w="12700">
            <a:solidFill>
              <a:srgbClr val="1B9A8A"/>
            </a:solidFill>
            <a:prstDash val="solid"/>
          </a:ln>
        </p:spPr>
      </p:sp>
      <p:sp>
        <p:nvSpPr>
          <p:cNvPr id="141" name="Shape 139"/>
          <p:cNvSpPr/>
          <p:nvPr/>
        </p:nvSpPr>
        <p:spPr>
          <a:xfrm rot="2700000">
            <a:off x="2117750" y="1371600"/>
            <a:ext cx="77724" cy="77724"/>
          </a:xfrm>
          <a:prstGeom prst="rect">
            <a:avLst/>
          </a:prstGeom>
          <a:solidFill>
            <a:srgbClr val="1B9A8A">
              <a:alpha val="18000"/>
            </a:srgbClr>
          </a:solidFill>
          <a:ln w="12700">
            <a:solidFill>
              <a:srgbClr val="1B9A8A"/>
            </a:solidFill>
            <a:prstDash val="solid"/>
          </a:ln>
        </p:spPr>
      </p:sp>
      <p:sp>
        <p:nvSpPr>
          <p:cNvPr id="142" name="Shape 140"/>
          <p:cNvSpPr/>
          <p:nvPr/>
        </p:nvSpPr>
        <p:spPr>
          <a:xfrm rot="2700000">
            <a:off x="2234794" y="1371600"/>
            <a:ext cx="77724" cy="77724"/>
          </a:xfrm>
          <a:prstGeom prst="rect">
            <a:avLst/>
          </a:prstGeom>
          <a:solidFill>
            <a:srgbClr val="1B9A8A">
              <a:alpha val="18000"/>
            </a:srgbClr>
          </a:solidFill>
          <a:ln w="12700">
            <a:solidFill>
              <a:srgbClr val="1B9A8A"/>
            </a:solidFill>
            <a:prstDash val="solid"/>
          </a:ln>
        </p:spPr>
      </p:sp>
      <p:sp>
        <p:nvSpPr>
          <p:cNvPr id="143" name="Shape 141"/>
          <p:cNvSpPr/>
          <p:nvPr/>
        </p:nvSpPr>
        <p:spPr>
          <a:xfrm rot="2700000">
            <a:off x="2351837" y="1371600"/>
            <a:ext cx="77724" cy="77724"/>
          </a:xfrm>
          <a:prstGeom prst="rect">
            <a:avLst/>
          </a:prstGeom>
          <a:solidFill>
            <a:srgbClr val="1B9A8A">
              <a:alpha val="18000"/>
            </a:srgbClr>
          </a:solidFill>
          <a:ln w="12700">
            <a:solidFill>
              <a:srgbClr val="1B9A8A"/>
            </a:solidFill>
            <a:prstDash val="solid"/>
          </a:ln>
        </p:spPr>
      </p:sp>
      <p:sp>
        <p:nvSpPr>
          <p:cNvPr id="144" name="Shape 142"/>
          <p:cNvSpPr/>
          <p:nvPr/>
        </p:nvSpPr>
        <p:spPr>
          <a:xfrm rot="2700000">
            <a:off x="2468880" y="1371600"/>
            <a:ext cx="77724" cy="77724"/>
          </a:xfrm>
          <a:prstGeom prst="rect">
            <a:avLst/>
          </a:prstGeom>
          <a:solidFill>
            <a:srgbClr val="1B9A8A">
              <a:alpha val="18000"/>
            </a:srgbClr>
          </a:solidFill>
          <a:ln w="12700">
            <a:solidFill>
              <a:srgbClr val="1B9A8A"/>
            </a:solidFill>
            <a:prstDash val="solid"/>
          </a:ln>
        </p:spPr>
      </p:sp>
      <p:sp>
        <p:nvSpPr>
          <p:cNvPr id="145" name="Shape 143"/>
          <p:cNvSpPr/>
          <p:nvPr/>
        </p:nvSpPr>
        <p:spPr>
          <a:xfrm rot="2700000">
            <a:off x="2585923" y="1371600"/>
            <a:ext cx="77724" cy="77724"/>
          </a:xfrm>
          <a:prstGeom prst="rect">
            <a:avLst/>
          </a:prstGeom>
          <a:solidFill>
            <a:srgbClr val="1B9A8A">
              <a:alpha val="18000"/>
            </a:srgbClr>
          </a:solidFill>
          <a:ln w="12700">
            <a:solidFill>
              <a:srgbClr val="1B9A8A"/>
            </a:solidFill>
            <a:prstDash val="solid"/>
          </a:ln>
        </p:spPr>
      </p:sp>
      <p:sp>
        <p:nvSpPr>
          <p:cNvPr id="146" name="Shape 144"/>
          <p:cNvSpPr/>
          <p:nvPr/>
        </p:nvSpPr>
        <p:spPr>
          <a:xfrm rot="2700000">
            <a:off x="2702966" y="1371600"/>
            <a:ext cx="77724" cy="77724"/>
          </a:xfrm>
          <a:prstGeom prst="rect">
            <a:avLst/>
          </a:prstGeom>
          <a:solidFill>
            <a:srgbClr val="1B9A8A">
              <a:alpha val="18000"/>
            </a:srgbClr>
          </a:solidFill>
          <a:ln w="12700">
            <a:solidFill>
              <a:srgbClr val="1B9A8A"/>
            </a:solidFill>
            <a:prstDash val="solid"/>
          </a:ln>
        </p:spPr>
      </p:sp>
      <p:sp>
        <p:nvSpPr>
          <p:cNvPr id="147" name="Shape 145"/>
          <p:cNvSpPr/>
          <p:nvPr/>
        </p:nvSpPr>
        <p:spPr>
          <a:xfrm rot="2700000">
            <a:off x="2820010" y="1371600"/>
            <a:ext cx="77724" cy="77724"/>
          </a:xfrm>
          <a:prstGeom prst="rect">
            <a:avLst/>
          </a:prstGeom>
          <a:solidFill>
            <a:srgbClr val="1B9A8A">
              <a:alpha val="18000"/>
            </a:srgbClr>
          </a:solidFill>
          <a:ln w="12700">
            <a:solidFill>
              <a:srgbClr val="1B9A8A"/>
            </a:solidFill>
            <a:prstDash val="solid"/>
          </a:ln>
        </p:spPr>
      </p:sp>
      <p:sp>
        <p:nvSpPr>
          <p:cNvPr id="148" name="Shape 146"/>
          <p:cNvSpPr/>
          <p:nvPr/>
        </p:nvSpPr>
        <p:spPr>
          <a:xfrm rot="2700000">
            <a:off x="2937053" y="1371600"/>
            <a:ext cx="77724" cy="77724"/>
          </a:xfrm>
          <a:prstGeom prst="rect">
            <a:avLst/>
          </a:prstGeom>
          <a:solidFill>
            <a:srgbClr val="1B9A8A">
              <a:alpha val="18000"/>
            </a:srgbClr>
          </a:solidFill>
          <a:ln w="12700">
            <a:solidFill>
              <a:srgbClr val="1B9A8A"/>
            </a:solidFill>
            <a:prstDash val="solid"/>
          </a:ln>
        </p:spPr>
      </p:sp>
      <p:sp>
        <p:nvSpPr>
          <p:cNvPr id="149" name="Text 147"/>
          <p:cNvSpPr/>
          <p:nvPr/>
        </p:nvSpPr>
        <p:spPr>
          <a:xfrm>
            <a:off x="3310128" y="1444752"/>
            <a:ext cx="2670048" cy="3364992"/>
          </a:xfrm>
          <a:prstGeom prst="rect">
            <a:avLst/>
          </a:prstGeom>
          <a:noFill/>
          <a:ln/>
        </p:spPr>
        <p:txBody>
          <a:bodyPr wrap="square" rtlCol="0" anchor="t"/>
          <a:lstStyle/>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NSF H1 certified water treatment chemicals — supplier cert required</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No copper or zinc alloy fittings in steam circuit</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Steam sampling point with isolation valve</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Condensate quality monitoring provision</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All instruments calibration-ready with certificate provision</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BMS with data logging output (4–20mA or Modbus TCP)</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Daily operating log template included in commissioning docs</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HACCP documentation support from supplier on request</a:t>
            </a:r>
            <a:endParaRPr lang="en-US" sz="880" dirty="0"/>
          </a:p>
        </p:txBody>
      </p:sp>
      <p:sp>
        <p:nvSpPr>
          <p:cNvPr id="150" name="Shape 148"/>
          <p:cNvSpPr/>
          <p:nvPr/>
        </p:nvSpPr>
        <p:spPr>
          <a:xfrm>
            <a:off x="6144768" y="914400"/>
            <a:ext cx="2834640" cy="3968496"/>
          </a:xfrm>
          <a:prstGeom prst="rect">
            <a:avLst/>
          </a:prstGeom>
          <a:solidFill>
            <a:srgbClr val="141418"/>
          </a:solidFill>
          <a:ln w="12700">
            <a:solidFill>
              <a:srgbClr val="1E1E26"/>
            </a:solidFill>
            <a:prstDash val="solid"/>
          </a:ln>
          <a:effectLst>
            <a:outerShdw sx="100000" sy="100000" kx="0" ky="0" algn="bl" rotWithShape="0" blurRad="76200" dist="25400" dir="8100000">
              <a:srgbClr val="000000">
                <a:alpha val="30000"/>
              </a:srgbClr>
            </a:outerShdw>
          </a:effectLst>
        </p:spPr>
      </p:sp>
      <p:sp>
        <p:nvSpPr>
          <p:cNvPr id="151" name="Shape 149"/>
          <p:cNvSpPr/>
          <p:nvPr/>
        </p:nvSpPr>
        <p:spPr>
          <a:xfrm>
            <a:off x="6144768" y="914400"/>
            <a:ext cx="2834640" cy="45720"/>
          </a:xfrm>
          <a:prstGeom prst="rect">
            <a:avLst/>
          </a:prstGeom>
          <a:solidFill>
            <a:srgbClr val="C0622B"/>
          </a:solidFill>
          <a:ln/>
        </p:spPr>
      </p:sp>
      <p:sp>
        <p:nvSpPr>
          <p:cNvPr id="152" name="Shape 150"/>
          <p:cNvSpPr/>
          <p:nvPr/>
        </p:nvSpPr>
        <p:spPr>
          <a:xfrm rot="2700000">
            <a:off x="7443216" y="868680"/>
            <a:ext cx="91440" cy="91440"/>
          </a:xfrm>
          <a:prstGeom prst="rect">
            <a:avLst/>
          </a:prstGeom>
          <a:solidFill>
            <a:srgbClr val="C0622B"/>
          </a:solidFill>
          <a:ln w="12700">
            <a:solidFill>
              <a:srgbClr val="09090F"/>
            </a:solidFill>
            <a:prstDash val="solid"/>
          </a:ln>
        </p:spPr>
      </p:sp>
      <p:sp>
        <p:nvSpPr>
          <p:cNvPr id="153" name="Text 151"/>
          <p:cNvSpPr/>
          <p:nvPr/>
        </p:nvSpPr>
        <p:spPr>
          <a:xfrm>
            <a:off x="6254496" y="969264"/>
            <a:ext cx="2651760" cy="365760"/>
          </a:xfrm>
          <a:prstGeom prst="rect">
            <a:avLst/>
          </a:prstGeom>
          <a:noFill/>
          <a:ln/>
        </p:spPr>
        <p:txBody>
          <a:bodyPr wrap="square" rtlCol="0" anchor="ctr"/>
          <a:lstStyle/>
          <a:p>
            <a:pPr indent="0" marL="0">
              <a:buNone/>
            </a:pPr>
            <a:r>
              <a:rPr lang="en-US" sz="1050" b="1" dirty="0">
                <a:solidFill>
                  <a:srgbClr val="C0622B"/>
                </a:solidFill>
                <a:latin typeface="Georgia" pitchFamily="34" charset="0"/>
                <a:ea typeface="Georgia" pitchFamily="34" charset="-122"/>
                <a:cs typeface="Georgia" pitchFamily="34" charset="-120"/>
              </a:rPr>
              <a:t>SCOPE OF SUPPLY — MANDATORY</a:t>
            </a:r>
            <a:endParaRPr lang="en-US" sz="1050" dirty="0"/>
          </a:p>
        </p:txBody>
      </p:sp>
      <p:sp>
        <p:nvSpPr>
          <p:cNvPr id="154" name="Shape 152"/>
          <p:cNvSpPr/>
          <p:nvPr/>
        </p:nvSpPr>
        <p:spPr>
          <a:xfrm rot="2700000">
            <a:off x="10973" y="1371600"/>
            <a:ext cx="77724" cy="77724"/>
          </a:xfrm>
          <a:prstGeom prst="rect">
            <a:avLst/>
          </a:prstGeom>
          <a:solidFill>
            <a:srgbClr val="C0622B">
              <a:alpha val="18000"/>
            </a:srgbClr>
          </a:solidFill>
          <a:ln w="12700">
            <a:solidFill>
              <a:srgbClr val="C0622B"/>
            </a:solidFill>
            <a:prstDash val="solid"/>
          </a:ln>
        </p:spPr>
      </p:sp>
      <p:sp>
        <p:nvSpPr>
          <p:cNvPr id="155" name="Shape 153"/>
          <p:cNvSpPr/>
          <p:nvPr/>
        </p:nvSpPr>
        <p:spPr>
          <a:xfrm rot="2700000">
            <a:off x="128016" y="1371600"/>
            <a:ext cx="77724" cy="77724"/>
          </a:xfrm>
          <a:prstGeom prst="rect">
            <a:avLst/>
          </a:prstGeom>
          <a:solidFill>
            <a:srgbClr val="C0622B">
              <a:alpha val="18000"/>
            </a:srgbClr>
          </a:solidFill>
          <a:ln w="12700">
            <a:solidFill>
              <a:srgbClr val="C0622B"/>
            </a:solidFill>
            <a:prstDash val="solid"/>
          </a:ln>
        </p:spPr>
      </p:sp>
      <p:sp>
        <p:nvSpPr>
          <p:cNvPr id="156" name="Shape 154"/>
          <p:cNvSpPr/>
          <p:nvPr/>
        </p:nvSpPr>
        <p:spPr>
          <a:xfrm rot="2700000">
            <a:off x="245059" y="1371600"/>
            <a:ext cx="77724" cy="77724"/>
          </a:xfrm>
          <a:prstGeom prst="rect">
            <a:avLst/>
          </a:prstGeom>
          <a:solidFill>
            <a:srgbClr val="C0622B">
              <a:alpha val="18000"/>
            </a:srgbClr>
          </a:solidFill>
          <a:ln w="12700">
            <a:solidFill>
              <a:srgbClr val="C0622B"/>
            </a:solidFill>
            <a:prstDash val="solid"/>
          </a:ln>
        </p:spPr>
      </p:sp>
      <p:sp>
        <p:nvSpPr>
          <p:cNvPr id="157" name="Shape 155"/>
          <p:cNvSpPr/>
          <p:nvPr/>
        </p:nvSpPr>
        <p:spPr>
          <a:xfrm rot="2700000">
            <a:off x="362102" y="1371600"/>
            <a:ext cx="77724" cy="77724"/>
          </a:xfrm>
          <a:prstGeom prst="rect">
            <a:avLst/>
          </a:prstGeom>
          <a:solidFill>
            <a:srgbClr val="C0622B">
              <a:alpha val="18000"/>
            </a:srgbClr>
          </a:solidFill>
          <a:ln w="12700">
            <a:solidFill>
              <a:srgbClr val="C0622B"/>
            </a:solidFill>
            <a:prstDash val="solid"/>
          </a:ln>
        </p:spPr>
      </p:sp>
      <p:sp>
        <p:nvSpPr>
          <p:cNvPr id="158" name="Shape 156"/>
          <p:cNvSpPr/>
          <p:nvPr/>
        </p:nvSpPr>
        <p:spPr>
          <a:xfrm rot="2700000">
            <a:off x="479146" y="1371600"/>
            <a:ext cx="77724" cy="77724"/>
          </a:xfrm>
          <a:prstGeom prst="rect">
            <a:avLst/>
          </a:prstGeom>
          <a:solidFill>
            <a:srgbClr val="C0622B">
              <a:alpha val="18000"/>
            </a:srgbClr>
          </a:solidFill>
          <a:ln w="12700">
            <a:solidFill>
              <a:srgbClr val="C0622B"/>
            </a:solidFill>
            <a:prstDash val="solid"/>
          </a:ln>
        </p:spPr>
      </p:sp>
      <p:sp>
        <p:nvSpPr>
          <p:cNvPr id="159" name="Shape 157"/>
          <p:cNvSpPr/>
          <p:nvPr/>
        </p:nvSpPr>
        <p:spPr>
          <a:xfrm rot="2700000">
            <a:off x="596189" y="1371600"/>
            <a:ext cx="77724" cy="77724"/>
          </a:xfrm>
          <a:prstGeom prst="rect">
            <a:avLst/>
          </a:prstGeom>
          <a:solidFill>
            <a:srgbClr val="C0622B">
              <a:alpha val="18000"/>
            </a:srgbClr>
          </a:solidFill>
          <a:ln w="12700">
            <a:solidFill>
              <a:srgbClr val="C0622B"/>
            </a:solidFill>
            <a:prstDash val="solid"/>
          </a:ln>
        </p:spPr>
      </p:sp>
      <p:sp>
        <p:nvSpPr>
          <p:cNvPr id="160" name="Shape 158"/>
          <p:cNvSpPr/>
          <p:nvPr/>
        </p:nvSpPr>
        <p:spPr>
          <a:xfrm rot="2700000">
            <a:off x="713232" y="1371600"/>
            <a:ext cx="77724" cy="77724"/>
          </a:xfrm>
          <a:prstGeom prst="rect">
            <a:avLst/>
          </a:prstGeom>
          <a:solidFill>
            <a:srgbClr val="C0622B">
              <a:alpha val="18000"/>
            </a:srgbClr>
          </a:solidFill>
          <a:ln w="12700">
            <a:solidFill>
              <a:srgbClr val="C0622B"/>
            </a:solidFill>
            <a:prstDash val="solid"/>
          </a:ln>
        </p:spPr>
      </p:sp>
      <p:sp>
        <p:nvSpPr>
          <p:cNvPr id="161" name="Shape 159"/>
          <p:cNvSpPr/>
          <p:nvPr/>
        </p:nvSpPr>
        <p:spPr>
          <a:xfrm rot="2700000">
            <a:off x="830275" y="1371600"/>
            <a:ext cx="77724" cy="77724"/>
          </a:xfrm>
          <a:prstGeom prst="rect">
            <a:avLst/>
          </a:prstGeom>
          <a:solidFill>
            <a:srgbClr val="C0622B">
              <a:alpha val="18000"/>
            </a:srgbClr>
          </a:solidFill>
          <a:ln w="12700">
            <a:solidFill>
              <a:srgbClr val="C0622B"/>
            </a:solidFill>
            <a:prstDash val="solid"/>
          </a:ln>
        </p:spPr>
      </p:sp>
      <p:sp>
        <p:nvSpPr>
          <p:cNvPr id="162" name="Shape 160"/>
          <p:cNvSpPr/>
          <p:nvPr/>
        </p:nvSpPr>
        <p:spPr>
          <a:xfrm rot="2700000">
            <a:off x="947318" y="1371600"/>
            <a:ext cx="77724" cy="77724"/>
          </a:xfrm>
          <a:prstGeom prst="rect">
            <a:avLst/>
          </a:prstGeom>
          <a:solidFill>
            <a:srgbClr val="C0622B">
              <a:alpha val="18000"/>
            </a:srgbClr>
          </a:solidFill>
          <a:ln w="12700">
            <a:solidFill>
              <a:srgbClr val="C0622B"/>
            </a:solidFill>
            <a:prstDash val="solid"/>
          </a:ln>
        </p:spPr>
      </p:sp>
      <p:sp>
        <p:nvSpPr>
          <p:cNvPr id="163" name="Shape 161"/>
          <p:cNvSpPr/>
          <p:nvPr/>
        </p:nvSpPr>
        <p:spPr>
          <a:xfrm rot="2700000">
            <a:off x="1064362" y="1371600"/>
            <a:ext cx="77724" cy="77724"/>
          </a:xfrm>
          <a:prstGeom prst="rect">
            <a:avLst/>
          </a:prstGeom>
          <a:solidFill>
            <a:srgbClr val="C0622B">
              <a:alpha val="18000"/>
            </a:srgbClr>
          </a:solidFill>
          <a:ln w="12700">
            <a:solidFill>
              <a:srgbClr val="C0622B"/>
            </a:solidFill>
            <a:prstDash val="solid"/>
          </a:ln>
        </p:spPr>
      </p:sp>
      <p:sp>
        <p:nvSpPr>
          <p:cNvPr id="164" name="Shape 162"/>
          <p:cNvSpPr/>
          <p:nvPr/>
        </p:nvSpPr>
        <p:spPr>
          <a:xfrm rot="2700000">
            <a:off x="1181405" y="1371600"/>
            <a:ext cx="77724" cy="77724"/>
          </a:xfrm>
          <a:prstGeom prst="rect">
            <a:avLst/>
          </a:prstGeom>
          <a:solidFill>
            <a:srgbClr val="C0622B">
              <a:alpha val="18000"/>
            </a:srgbClr>
          </a:solidFill>
          <a:ln w="12700">
            <a:solidFill>
              <a:srgbClr val="C0622B"/>
            </a:solidFill>
            <a:prstDash val="solid"/>
          </a:ln>
        </p:spPr>
      </p:sp>
      <p:sp>
        <p:nvSpPr>
          <p:cNvPr id="165" name="Shape 163"/>
          <p:cNvSpPr/>
          <p:nvPr/>
        </p:nvSpPr>
        <p:spPr>
          <a:xfrm rot="2700000">
            <a:off x="1298448" y="1371600"/>
            <a:ext cx="77724" cy="77724"/>
          </a:xfrm>
          <a:prstGeom prst="rect">
            <a:avLst/>
          </a:prstGeom>
          <a:solidFill>
            <a:srgbClr val="C0622B">
              <a:alpha val="18000"/>
            </a:srgbClr>
          </a:solidFill>
          <a:ln w="12700">
            <a:solidFill>
              <a:srgbClr val="C0622B"/>
            </a:solidFill>
            <a:prstDash val="solid"/>
          </a:ln>
        </p:spPr>
      </p:sp>
      <p:sp>
        <p:nvSpPr>
          <p:cNvPr id="166" name="Shape 164"/>
          <p:cNvSpPr/>
          <p:nvPr/>
        </p:nvSpPr>
        <p:spPr>
          <a:xfrm rot="2700000">
            <a:off x="1415491" y="1371600"/>
            <a:ext cx="77724" cy="77724"/>
          </a:xfrm>
          <a:prstGeom prst="rect">
            <a:avLst/>
          </a:prstGeom>
          <a:solidFill>
            <a:srgbClr val="C0622B">
              <a:alpha val="18000"/>
            </a:srgbClr>
          </a:solidFill>
          <a:ln w="12700">
            <a:solidFill>
              <a:srgbClr val="C0622B"/>
            </a:solidFill>
            <a:prstDash val="solid"/>
          </a:ln>
        </p:spPr>
      </p:sp>
      <p:sp>
        <p:nvSpPr>
          <p:cNvPr id="167" name="Shape 165"/>
          <p:cNvSpPr/>
          <p:nvPr/>
        </p:nvSpPr>
        <p:spPr>
          <a:xfrm rot="2700000">
            <a:off x="1532534" y="1371600"/>
            <a:ext cx="77724" cy="77724"/>
          </a:xfrm>
          <a:prstGeom prst="rect">
            <a:avLst/>
          </a:prstGeom>
          <a:solidFill>
            <a:srgbClr val="C0622B">
              <a:alpha val="18000"/>
            </a:srgbClr>
          </a:solidFill>
          <a:ln w="12700">
            <a:solidFill>
              <a:srgbClr val="C0622B"/>
            </a:solidFill>
            <a:prstDash val="solid"/>
          </a:ln>
        </p:spPr>
      </p:sp>
      <p:sp>
        <p:nvSpPr>
          <p:cNvPr id="168" name="Shape 166"/>
          <p:cNvSpPr/>
          <p:nvPr/>
        </p:nvSpPr>
        <p:spPr>
          <a:xfrm rot="2700000">
            <a:off x="1649578" y="1371600"/>
            <a:ext cx="77724" cy="77724"/>
          </a:xfrm>
          <a:prstGeom prst="rect">
            <a:avLst/>
          </a:prstGeom>
          <a:solidFill>
            <a:srgbClr val="C0622B">
              <a:alpha val="18000"/>
            </a:srgbClr>
          </a:solidFill>
          <a:ln w="12700">
            <a:solidFill>
              <a:srgbClr val="C0622B"/>
            </a:solidFill>
            <a:prstDash val="solid"/>
          </a:ln>
        </p:spPr>
      </p:sp>
      <p:sp>
        <p:nvSpPr>
          <p:cNvPr id="169" name="Shape 167"/>
          <p:cNvSpPr/>
          <p:nvPr/>
        </p:nvSpPr>
        <p:spPr>
          <a:xfrm rot="2700000">
            <a:off x="1766621" y="1371600"/>
            <a:ext cx="77724" cy="77724"/>
          </a:xfrm>
          <a:prstGeom prst="rect">
            <a:avLst/>
          </a:prstGeom>
          <a:solidFill>
            <a:srgbClr val="C0622B">
              <a:alpha val="18000"/>
            </a:srgbClr>
          </a:solidFill>
          <a:ln w="12700">
            <a:solidFill>
              <a:srgbClr val="C0622B"/>
            </a:solidFill>
            <a:prstDash val="solid"/>
          </a:ln>
        </p:spPr>
      </p:sp>
      <p:sp>
        <p:nvSpPr>
          <p:cNvPr id="170" name="Shape 168"/>
          <p:cNvSpPr/>
          <p:nvPr/>
        </p:nvSpPr>
        <p:spPr>
          <a:xfrm rot="2700000">
            <a:off x="1883664" y="1371600"/>
            <a:ext cx="77724" cy="77724"/>
          </a:xfrm>
          <a:prstGeom prst="rect">
            <a:avLst/>
          </a:prstGeom>
          <a:solidFill>
            <a:srgbClr val="C0622B">
              <a:alpha val="18000"/>
            </a:srgbClr>
          </a:solidFill>
          <a:ln w="12700">
            <a:solidFill>
              <a:srgbClr val="C0622B"/>
            </a:solidFill>
            <a:prstDash val="solid"/>
          </a:ln>
        </p:spPr>
      </p:sp>
      <p:sp>
        <p:nvSpPr>
          <p:cNvPr id="171" name="Shape 169"/>
          <p:cNvSpPr/>
          <p:nvPr/>
        </p:nvSpPr>
        <p:spPr>
          <a:xfrm rot="2700000">
            <a:off x="2000707" y="1371600"/>
            <a:ext cx="77724" cy="77724"/>
          </a:xfrm>
          <a:prstGeom prst="rect">
            <a:avLst/>
          </a:prstGeom>
          <a:solidFill>
            <a:srgbClr val="C0622B">
              <a:alpha val="18000"/>
            </a:srgbClr>
          </a:solidFill>
          <a:ln w="12700">
            <a:solidFill>
              <a:srgbClr val="C0622B"/>
            </a:solidFill>
            <a:prstDash val="solid"/>
          </a:ln>
        </p:spPr>
      </p:sp>
      <p:sp>
        <p:nvSpPr>
          <p:cNvPr id="172" name="Shape 170"/>
          <p:cNvSpPr/>
          <p:nvPr/>
        </p:nvSpPr>
        <p:spPr>
          <a:xfrm rot="2700000">
            <a:off x="2117750" y="1371600"/>
            <a:ext cx="77724" cy="77724"/>
          </a:xfrm>
          <a:prstGeom prst="rect">
            <a:avLst/>
          </a:prstGeom>
          <a:solidFill>
            <a:srgbClr val="C0622B">
              <a:alpha val="18000"/>
            </a:srgbClr>
          </a:solidFill>
          <a:ln w="12700">
            <a:solidFill>
              <a:srgbClr val="C0622B"/>
            </a:solidFill>
            <a:prstDash val="solid"/>
          </a:ln>
        </p:spPr>
      </p:sp>
      <p:sp>
        <p:nvSpPr>
          <p:cNvPr id="173" name="Shape 171"/>
          <p:cNvSpPr/>
          <p:nvPr/>
        </p:nvSpPr>
        <p:spPr>
          <a:xfrm rot="2700000">
            <a:off x="2234794" y="1371600"/>
            <a:ext cx="77724" cy="77724"/>
          </a:xfrm>
          <a:prstGeom prst="rect">
            <a:avLst/>
          </a:prstGeom>
          <a:solidFill>
            <a:srgbClr val="C0622B">
              <a:alpha val="18000"/>
            </a:srgbClr>
          </a:solidFill>
          <a:ln w="12700">
            <a:solidFill>
              <a:srgbClr val="C0622B"/>
            </a:solidFill>
            <a:prstDash val="solid"/>
          </a:ln>
        </p:spPr>
      </p:sp>
      <p:sp>
        <p:nvSpPr>
          <p:cNvPr id="174" name="Shape 172"/>
          <p:cNvSpPr/>
          <p:nvPr/>
        </p:nvSpPr>
        <p:spPr>
          <a:xfrm rot="2700000">
            <a:off x="2351837" y="1371600"/>
            <a:ext cx="77724" cy="77724"/>
          </a:xfrm>
          <a:prstGeom prst="rect">
            <a:avLst/>
          </a:prstGeom>
          <a:solidFill>
            <a:srgbClr val="C0622B">
              <a:alpha val="18000"/>
            </a:srgbClr>
          </a:solidFill>
          <a:ln w="12700">
            <a:solidFill>
              <a:srgbClr val="C0622B"/>
            </a:solidFill>
            <a:prstDash val="solid"/>
          </a:ln>
        </p:spPr>
      </p:sp>
      <p:sp>
        <p:nvSpPr>
          <p:cNvPr id="175" name="Shape 173"/>
          <p:cNvSpPr/>
          <p:nvPr/>
        </p:nvSpPr>
        <p:spPr>
          <a:xfrm rot="2700000">
            <a:off x="2468880" y="1371600"/>
            <a:ext cx="77724" cy="77724"/>
          </a:xfrm>
          <a:prstGeom prst="rect">
            <a:avLst/>
          </a:prstGeom>
          <a:solidFill>
            <a:srgbClr val="C0622B">
              <a:alpha val="18000"/>
            </a:srgbClr>
          </a:solidFill>
          <a:ln w="12700">
            <a:solidFill>
              <a:srgbClr val="C0622B"/>
            </a:solidFill>
            <a:prstDash val="solid"/>
          </a:ln>
        </p:spPr>
      </p:sp>
      <p:sp>
        <p:nvSpPr>
          <p:cNvPr id="176" name="Shape 174"/>
          <p:cNvSpPr/>
          <p:nvPr/>
        </p:nvSpPr>
        <p:spPr>
          <a:xfrm rot="2700000">
            <a:off x="2585923" y="1371600"/>
            <a:ext cx="77724" cy="77724"/>
          </a:xfrm>
          <a:prstGeom prst="rect">
            <a:avLst/>
          </a:prstGeom>
          <a:solidFill>
            <a:srgbClr val="C0622B">
              <a:alpha val="18000"/>
            </a:srgbClr>
          </a:solidFill>
          <a:ln w="12700">
            <a:solidFill>
              <a:srgbClr val="C0622B"/>
            </a:solidFill>
            <a:prstDash val="solid"/>
          </a:ln>
        </p:spPr>
      </p:sp>
      <p:sp>
        <p:nvSpPr>
          <p:cNvPr id="177" name="Shape 175"/>
          <p:cNvSpPr/>
          <p:nvPr/>
        </p:nvSpPr>
        <p:spPr>
          <a:xfrm rot="2700000">
            <a:off x="2702966" y="1371600"/>
            <a:ext cx="77724" cy="77724"/>
          </a:xfrm>
          <a:prstGeom prst="rect">
            <a:avLst/>
          </a:prstGeom>
          <a:solidFill>
            <a:srgbClr val="C0622B">
              <a:alpha val="18000"/>
            </a:srgbClr>
          </a:solidFill>
          <a:ln w="12700">
            <a:solidFill>
              <a:srgbClr val="C0622B"/>
            </a:solidFill>
            <a:prstDash val="solid"/>
          </a:ln>
        </p:spPr>
      </p:sp>
      <p:sp>
        <p:nvSpPr>
          <p:cNvPr id="178" name="Shape 176"/>
          <p:cNvSpPr/>
          <p:nvPr/>
        </p:nvSpPr>
        <p:spPr>
          <a:xfrm rot="2700000">
            <a:off x="2820010" y="1371600"/>
            <a:ext cx="77724" cy="77724"/>
          </a:xfrm>
          <a:prstGeom prst="rect">
            <a:avLst/>
          </a:prstGeom>
          <a:solidFill>
            <a:srgbClr val="C0622B">
              <a:alpha val="18000"/>
            </a:srgbClr>
          </a:solidFill>
          <a:ln w="12700">
            <a:solidFill>
              <a:srgbClr val="C0622B"/>
            </a:solidFill>
            <a:prstDash val="solid"/>
          </a:ln>
        </p:spPr>
      </p:sp>
      <p:sp>
        <p:nvSpPr>
          <p:cNvPr id="179" name="Shape 177"/>
          <p:cNvSpPr/>
          <p:nvPr/>
        </p:nvSpPr>
        <p:spPr>
          <a:xfrm rot="2700000">
            <a:off x="2937053" y="1371600"/>
            <a:ext cx="77724" cy="77724"/>
          </a:xfrm>
          <a:prstGeom prst="rect">
            <a:avLst/>
          </a:prstGeom>
          <a:solidFill>
            <a:srgbClr val="C0622B">
              <a:alpha val="18000"/>
            </a:srgbClr>
          </a:solidFill>
          <a:ln w="12700">
            <a:solidFill>
              <a:srgbClr val="C0622B"/>
            </a:solidFill>
            <a:prstDash val="solid"/>
          </a:ln>
        </p:spPr>
      </p:sp>
      <p:sp>
        <p:nvSpPr>
          <p:cNvPr id="180" name="Text 178"/>
          <p:cNvSpPr/>
          <p:nvPr/>
        </p:nvSpPr>
        <p:spPr>
          <a:xfrm>
            <a:off x="6254496" y="1444752"/>
            <a:ext cx="2670048" cy="3364992"/>
          </a:xfrm>
          <a:prstGeom prst="rect">
            <a:avLst/>
          </a:prstGeom>
          <a:noFill/>
          <a:ln/>
        </p:spPr>
        <p:txBody>
          <a:bodyPr wrap="square" rtlCol="0" anchor="t"/>
          <a:lstStyle/>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Complete water treatment package (softener + deaerator + dosing)</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Bulk LPG storage scope or interface documentation</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Full commissioning by OEM engineer — not subcontracted</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LPG combustion analysis at commissioning — certified engineer</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Operator training: minimum 2 days, in English or French</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Spare parts package: 2-year critical inventory quoted</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O&amp;M manual in English or French — mandatory</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CE Declaration of Conformity issued at delivery</a:t>
            </a:r>
            <a:endParaRPr lang="en-US" sz="880" dirty="0"/>
          </a:p>
          <a:p>
            <a:pPr indent="0" marL="0">
              <a:spcAft>
                <a:spcPts val="400"/>
              </a:spcAft>
              <a:buNone/>
            </a:pPr>
            <a:r>
              <a:rPr lang="en-US" sz="880" dirty="0">
                <a:solidFill>
                  <a:srgbClr val="EDE0C8"/>
                </a:solidFill>
                <a:latin typeface="Calibri" pitchFamily="34" charset="0"/>
                <a:ea typeface="Calibri" pitchFamily="34" charset="-122"/>
                <a:cs typeface="Calibri" pitchFamily="34" charset="-120"/>
              </a:rPr>
              <a:t>◆  Pressure vessel test certificate at factory + site</a:t>
            </a:r>
            <a:endParaRPr lang="en-US" sz="880" dirty="0"/>
          </a:p>
        </p:txBody>
      </p:sp>
      <p:sp>
        <p:nvSpPr>
          <p:cNvPr id="181" name="Shape 179"/>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208" name="Shape 206"/>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209" name="Shape 207"/>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210" name="Shape 208"/>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211" name="Shape 209"/>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212" name="Shape 210"/>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213" name="Shape 211"/>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214" name="Shape 212"/>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215" name="Shape 213"/>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216" name="Shape 214"/>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217" name="Shape 215"/>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218" name="Shape 216"/>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219" name="Shape 217"/>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220" name="Shape 218"/>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221" name="Shape 219"/>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222" name="Shape 220"/>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223" name="Shape 221"/>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224" name="Shape 222"/>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225" name="Shape 223"/>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226" name="Shape 224"/>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227" name="Shape 225"/>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228" name="Shape 226"/>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229" name="Shape 227"/>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230" name="Shape 228"/>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231" name="Shape 229"/>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232" name="Shape 230"/>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233" name="Shape 231"/>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234" name="Shape 232"/>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235" name="Shape 233"/>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236" name="Shape 234"/>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237" name="Shape 235"/>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238" name="Shape 236"/>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239" name="Shape 237"/>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240" name="Shape 238"/>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241" name="Shape 239"/>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242" name="Shape 240"/>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243" name="Shape 241"/>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244" name="Shape 242"/>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245" name="Shape 243"/>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246" name="Shape 244"/>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247" name="Shape 245"/>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248" name="Shape 246"/>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249" name="Shape 247"/>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250" name="Shape 248"/>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51" name="Shape 249"/>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52" name="Shape 250"/>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53" name="Shape 251"/>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54" name="Shape 252"/>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55" name="Shape 253"/>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56" name="Shape 254"/>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57" name="Shape 255"/>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58" name="Shape 256"/>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59" name="Text 257"/>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5050A"/>
          </a:solidFill>
          <a:ln/>
        </p:spPr>
      </p:sp>
      <p:sp>
        <p:nvSpPr>
          <p:cNvPr id="3" name="Shape 1"/>
          <p:cNvSpPr/>
          <p:nvPr/>
        </p:nvSpPr>
        <p:spPr>
          <a:xfrm>
            <a:off x="0" y="0"/>
            <a:ext cx="64008" cy="804672"/>
          </a:xfrm>
          <a:prstGeom prst="rect">
            <a:avLst/>
          </a:prstGeom>
          <a:solidFill>
            <a:srgbClr val="D4951A"/>
          </a:solidFill>
          <a:ln/>
        </p:spPr>
      </p:sp>
      <p:sp>
        <p:nvSpPr>
          <p:cNvPr id="4" name="Shape 2"/>
          <p:cNvSpPr/>
          <p:nvPr/>
        </p:nvSpPr>
        <p:spPr>
          <a:xfrm rot="2700000">
            <a:off x="10973" y="694944"/>
            <a:ext cx="77724" cy="77724"/>
          </a:xfrm>
          <a:prstGeom prst="rect">
            <a:avLst/>
          </a:prstGeom>
          <a:solidFill>
            <a:srgbClr val="D4951A">
              <a:alpha val="48000"/>
            </a:srgbClr>
          </a:solidFill>
          <a:ln w="12700">
            <a:solidFill>
              <a:srgbClr val="D4951A"/>
            </a:solidFill>
            <a:prstDash val="solid"/>
          </a:ln>
        </p:spPr>
      </p:sp>
      <p:sp>
        <p:nvSpPr>
          <p:cNvPr id="5" name="Shape 3"/>
          <p:cNvSpPr/>
          <p:nvPr/>
        </p:nvSpPr>
        <p:spPr>
          <a:xfrm rot="2700000">
            <a:off x="128016" y="694944"/>
            <a:ext cx="77724" cy="77724"/>
          </a:xfrm>
          <a:prstGeom prst="rect">
            <a:avLst/>
          </a:prstGeom>
          <a:solidFill>
            <a:srgbClr val="D4951A">
              <a:alpha val="48000"/>
            </a:srgbClr>
          </a:solidFill>
          <a:ln w="12700">
            <a:solidFill>
              <a:srgbClr val="D4951A"/>
            </a:solidFill>
            <a:prstDash val="solid"/>
          </a:ln>
        </p:spPr>
      </p:sp>
      <p:sp>
        <p:nvSpPr>
          <p:cNvPr id="6" name="Shape 4"/>
          <p:cNvSpPr/>
          <p:nvPr/>
        </p:nvSpPr>
        <p:spPr>
          <a:xfrm rot="2700000">
            <a:off x="245059" y="694944"/>
            <a:ext cx="77724" cy="77724"/>
          </a:xfrm>
          <a:prstGeom prst="rect">
            <a:avLst/>
          </a:prstGeom>
          <a:solidFill>
            <a:srgbClr val="D4951A">
              <a:alpha val="48000"/>
            </a:srgbClr>
          </a:solidFill>
          <a:ln w="12700">
            <a:solidFill>
              <a:srgbClr val="D4951A"/>
            </a:solidFill>
            <a:prstDash val="solid"/>
          </a:ln>
        </p:spPr>
      </p:sp>
      <p:sp>
        <p:nvSpPr>
          <p:cNvPr id="7" name="Shape 5"/>
          <p:cNvSpPr/>
          <p:nvPr/>
        </p:nvSpPr>
        <p:spPr>
          <a:xfrm rot="2700000">
            <a:off x="362102" y="694944"/>
            <a:ext cx="77724" cy="77724"/>
          </a:xfrm>
          <a:prstGeom prst="rect">
            <a:avLst/>
          </a:prstGeom>
          <a:solidFill>
            <a:srgbClr val="D4951A">
              <a:alpha val="48000"/>
            </a:srgbClr>
          </a:solidFill>
          <a:ln w="12700">
            <a:solidFill>
              <a:srgbClr val="D4951A"/>
            </a:solidFill>
            <a:prstDash val="solid"/>
          </a:ln>
        </p:spPr>
      </p:sp>
      <p:sp>
        <p:nvSpPr>
          <p:cNvPr id="8" name="Shape 6"/>
          <p:cNvSpPr/>
          <p:nvPr/>
        </p:nvSpPr>
        <p:spPr>
          <a:xfrm rot="2700000">
            <a:off x="479146" y="694944"/>
            <a:ext cx="77724" cy="77724"/>
          </a:xfrm>
          <a:prstGeom prst="rect">
            <a:avLst/>
          </a:prstGeom>
          <a:solidFill>
            <a:srgbClr val="D4951A">
              <a:alpha val="48000"/>
            </a:srgbClr>
          </a:solidFill>
          <a:ln w="12700">
            <a:solidFill>
              <a:srgbClr val="D4951A"/>
            </a:solidFill>
            <a:prstDash val="solid"/>
          </a:ln>
        </p:spPr>
      </p:sp>
      <p:sp>
        <p:nvSpPr>
          <p:cNvPr id="9" name="Shape 7"/>
          <p:cNvSpPr/>
          <p:nvPr/>
        </p:nvSpPr>
        <p:spPr>
          <a:xfrm rot="2700000">
            <a:off x="596189" y="694944"/>
            <a:ext cx="77724" cy="77724"/>
          </a:xfrm>
          <a:prstGeom prst="rect">
            <a:avLst/>
          </a:prstGeom>
          <a:solidFill>
            <a:srgbClr val="D4951A">
              <a:alpha val="48000"/>
            </a:srgbClr>
          </a:solidFill>
          <a:ln w="12700">
            <a:solidFill>
              <a:srgbClr val="D4951A"/>
            </a:solidFill>
            <a:prstDash val="solid"/>
          </a:ln>
        </p:spPr>
      </p:sp>
      <p:sp>
        <p:nvSpPr>
          <p:cNvPr id="10" name="Shape 8"/>
          <p:cNvSpPr/>
          <p:nvPr/>
        </p:nvSpPr>
        <p:spPr>
          <a:xfrm rot="2700000">
            <a:off x="713232" y="694944"/>
            <a:ext cx="77724" cy="77724"/>
          </a:xfrm>
          <a:prstGeom prst="rect">
            <a:avLst/>
          </a:prstGeom>
          <a:solidFill>
            <a:srgbClr val="D4951A">
              <a:alpha val="48000"/>
            </a:srgbClr>
          </a:solidFill>
          <a:ln w="12700">
            <a:solidFill>
              <a:srgbClr val="D4951A"/>
            </a:solidFill>
            <a:prstDash val="solid"/>
          </a:ln>
        </p:spPr>
      </p:sp>
      <p:sp>
        <p:nvSpPr>
          <p:cNvPr id="11" name="Shape 9"/>
          <p:cNvSpPr/>
          <p:nvPr/>
        </p:nvSpPr>
        <p:spPr>
          <a:xfrm rot="2700000">
            <a:off x="830275" y="694944"/>
            <a:ext cx="77724" cy="77724"/>
          </a:xfrm>
          <a:prstGeom prst="rect">
            <a:avLst/>
          </a:prstGeom>
          <a:solidFill>
            <a:srgbClr val="D4951A">
              <a:alpha val="48000"/>
            </a:srgbClr>
          </a:solidFill>
          <a:ln w="12700">
            <a:solidFill>
              <a:srgbClr val="D4951A"/>
            </a:solidFill>
            <a:prstDash val="solid"/>
          </a:ln>
        </p:spPr>
      </p:sp>
      <p:sp>
        <p:nvSpPr>
          <p:cNvPr id="12" name="Shape 10"/>
          <p:cNvSpPr/>
          <p:nvPr/>
        </p:nvSpPr>
        <p:spPr>
          <a:xfrm rot="2700000">
            <a:off x="947318" y="694944"/>
            <a:ext cx="77724" cy="77724"/>
          </a:xfrm>
          <a:prstGeom prst="rect">
            <a:avLst/>
          </a:prstGeom>
          <a:solidFill>
            <a:srgbClr val="D4951A">
              <a:alpha val="48000"/>
            </a:srgbClr>
          </a:solidFill>
          <a:ln w="12700">
            <a:solidFill>
              <a:srgbClr val="D4951A"/>
            </a:solidFill>
            <a:prstDash val="solid"/>
          </a:ln>
        </p:spPr>
      </p:sp>
      <p:sp>
        <p:nvSpPr>
          <p:cNvPr id="13" name="Shape 11"/>
          <p:cNvSpPr/>
          <p:nvPr/>
        </p:nvSpPr>
        <p:spPr>
          <a:xfrm rot="2700000">
            <a:off x="1064362" y="694944"/>
            <a:ext cx="77724" cy="77724"/>
          </a:xfrm>
          <a:prstGeom prst="rect">
            <a:avLst/>
          </a:prstGeom>
          <a:solidFill>
            <a:srgbClr val="D4951A">
              <a:alpha val="48000"/>
            </a:srgbClr>
          </a:solidFill>
          <a:ln w="12700">
            <a:solidFill>
              <a:srgbClr val="D4951A"/>
            </a:solidFill>
            <a:prstDash val="solid"/>
          </a:ln>
        </p:spPr>
      </p:sp>
      <p:sp>
        <p:nvSpPr>
          <p:cNvPr id="14" name="Shape 12"/>
          <p:cNvSpPr/>
          <p:nvPr/>
        </p:nvSpPr>
        <p:spPr>
          <a:xfrm rot="2700000">
            <a:off x="1181405" y="694944"/>
            <a:ext cx="77724" cy="77724"/>
          </a:xfrm>
          <a:prstGeom prst="rect">
            <a:avLst/>
          </a:prstGeom>
          <a:solidFill>
            <a:srgbClr val="D4951A">
              <a:alpha val="48000"/>
            </a:srgbClr>
          </a:solidFill>
          <a:ln w="12700">
            <a:solidFill>
              <a:srgbClr val="D4951A"/>
            </a:solidFill>
            <a:prstDash val="solid"/>
          </a:ln>
        </p:spPr>
      </p:sp>
      <p:sp>
        <p:nvSpPr>
          <p:cNvPr id="15" name="Shape 13"/>
          <p:cNvSpPr/>
          <p:nvPr/>
        </p:nvSpPr>
        <p:spPr>
          <a:xfrm rot="2700000">
            <a:off x="1298448" y="694944"/>
            <a:ext cx="77724" cy="77724"/>
          </a:xfrm>
          <a:prstGeom prst="rect">
            <a:avLst/>
          </a:prstGeom>
          <a:solidFill>
            <a:srgbClr val="D4951A">
              <a:alpha val="48000"/>
            </a:srgbClr>
          </a:solidFill>
          <a:ln w="12700">
            <a:solidFill>
              <a:srgbClr val="D4951A"/>
            </a:solidFill>
            <a:prstDash val="solid"/>
          </a:ln>
        </p:spPr>
      </p:sp>
      <p:sp>
        <p:nvSpPr>
          <p:cNvPr id="16" name="Shape 14"/>
          <p:cNvSpPr/>
          <p:nvPr/>
        </p:nvSpPr>
        <p:spPr>
          <a:xfrm rot="2700000">
            <a:off x="1415491" y="694944"/>
            <a:ext cx="77724" cy="77724"/>
          </a:xfrm>
          <a:prstGeom prst="rect">
            <a:avLst/>
          </a:prstGeom>
          <a:solidFill>
            <a:srgbClr val="D4951A">
              <a:alpha val="48000"/>
            </a:srgbClr>
          </a:solidFill>
          <a:ln w="12700">
            <a:solidFill>
              <a:srgbClr val="D4951A"/>
            </a:solidFill>
            <a:prstDash val="solid"/>
          </a:ln>
        </p:spPr>
      </p:sp>
      <p:sp>
        <p:nvSpPr>
          <p:cNvPr id="17" name="Shape 15"/>
          <p:cNvSpPr/>
          <p:nvPr/>
        </p:nvSpPr>
        <p:spPr>
          <a:xfrm rot="2700000">
            <a:off x="1532534" y="694944"/>
            <a:ext cx="77724" cy="77724"/>
          </a:xfrm>
          <a:prstGeom prst="rect">
            <a:avLst/>
          </a:prstGeom>
          <a:solidFill>
            <a:srgbClr val="D4951A">
              <a:alpha val="48000"/>
            </a:srgbClr>
          </a:solidFill>
          <a:ln w="12700">
            <a:solidFill>
              <a:srgbClr val="D4951A"/>
            </a:solidFill>
            <a:prstDash val="solid"/>
          </a:ln>
        </p:spPr>
      </p:sp>
      <p:sp>
        <p:nvSpPr>
          <p:cNvPr id="18" name="Shape 16"/>
          <p:cNvSpPr/>
          <p:nvPr/>
        </p:nvSpPr>
        <p:spPr>
          <a:xfrm rot="2700000">
            <a:off x="1649578" y="694944"/>
            <a:ext cx="77724" cy="77724"/>
          </a:xfrm>
          <a:prstGeom prst="rect">
            <a:avLst/>
          </a:prstGeom>
          <a:solidFill>
            <a:srgbClr val="D4951A">
              <a:alpha val="48000"/>
            </a:srgbClr>
          </a:solidFill>
          <a:ln w="12700">
            <a:solidFill>
              <a:srgbClr val="D4951A"/>
            </a:solidFill>
            <a:prstDash val="solid"/>
          </a:ln>
        </p:spPr>
      </p:sp>
      <p:sp>
        <p:nvSpPr>
          <p:cNvPr id="19" name="Shape 17"/>
          <p:cNvSpPr/>
          <p:nvPr/>
        </p:nvSpPr>
        <p:spPr>
          <a:xfrm rot="2700000">
            <a:off x="1766621" y="694944"/>
            <a:ext cx="77724" cy="77724"/>
          </a:xfrm>
          <a:prstGeom prst="rect">
            <a:avLst/>
          </a:prstGeom>
          <a:solidFill>
            <a:srgbClr val="D4951A">
              <a:alpha val="48000"/>
            </a:srgbClr>
          </a:solidFill>
          <a:ln w="12700">
            <a:solidFill>
              <a:srgbClr val="D4951A"/>
            </a:solidFill>
            <a:prstDash val="solid"/>
          </a:ln>
        </p:spPr>
      </p:sp>
      <p:sp>
        <p:nvSpPr>
          <p:cNvPr id="20" name="Shape 18"/>
          <p:cNvSpPr/>
          <p:nvPr/>
        </p:nvSpPr>
        <p:spPr>
          <a:xfrm rot="2700000">
            <a:off x="1883664" y="694944"/>
            <a:ext cx="77724" cy="77724"/>
          </a:xfrm>
          <a:prstGeom prst="rect">
            <a:avLst/>
          </a:prstGeom>
          <a:solidFill>
            <a:srgbClr val="D4951A">
              <a:alpha val="48000"/>
            </a:srgbClr>
          </a:solidFill>
          <a:ln w="12700">
            <a:solidFill>
              <a:srgbClr val="D4951A"/>
            </a:solidFill>
            <a:prstDash val="solid"/>
          </a:ln>
        </p:spPr>
      </p:sp>
      <p:sp>
        <p:nvSpPr>
          <p:cNvPr id="21" name="Shape 19"/>
          <p:cNvSpPr/>
          <p:nvPr/>
        </p:nvSpPr>
        <p:spPr>
          <a:xfrm rot="2700000">
            <a:off x="2000707" y="694944"/>
            <a:ext cx="77724" cy="77724"/>
          </a:xfrm>
          <a:prstGeom prst="rect">
            <a:avLst/>
          </a:prstGeom>
          <a:solidFill>
            <a:srgbClr val="D4951A">
              <a:alpha val="48000"/>
            </a:srgbClr>
          </a:solidFill>
          <a:ln w="12700">
            <a:solidFill>
              <a:srgbClr val="D4951A"/>
            </a:solidFill>
            <a:prstDash val="solid"/>
          </a:ln>
        </p:spPr>
      </p:sp>
      <p:sp>
        <p:nvSpPr>
          <p:cNvPr id="22" name="Shape 20"/>
          <p:cNvSpPr/>
          <p:nvPr/>
        </p:nvSpPr>
        <p:spPr>
          <a:xfrm rot="2700000">
            <a:off x="2117750" y="694944"/>
            <a:ext cx="77724" cy="77724"/>
          </a:xfrm>
          <a:prstGeom prst="rect">
            <a:avLst/>
          </a:prstGeom>
          <a:solidFill>
            <a:srgbClr val="D4951A">
              <a:alpha val="48000"/>
            </a:srgbClr>
          </a:solidFill>
          <a:ln w="12700">
            <a:solidFill>
              <a:srgbClr val="D4951A"/>
            </a:solidFill>
            <a:prstDash val="solid"/>
          </a:ln>
        </p:spPr>
      </p:sp>
      <p:sp>
        <p:nvSpPr>
          <p:cNvPr id="23" name="Shape 21"/>
          <p:cNvSpPr/>
          <p:nvPr/>
        </p:nvSpPr>
        <p:spPr>
          <a:xfrm rot="2700000">
            <a:off x="2234794" y="694944"/>
            <a:ext cx="77724" cy="77724"/>
          </a:xfrm>
          <a:prstGeom prst="rect">
            <a:avLst/>
          </a:prstGeom>
          <a:solidFill>
            <a:srgbClr val="D4951A">
              <a:alpha val="48000"/>
            </a:srgbClr>
          </a:solidFill>
          <a:ln w="12700">
            <a:solidFill>
              <a:srgbClr val="D4951A"/>
            </a:solidFill>
            <a:prstDash val="solid"/>
          </a:ln>
        </p:spPr>
      </p:sp>
      <p:sp>
        <p:nvSpPr>
          <p:cNvPr id="24" name="Shape 22"/>
          <p:cNvSpPr/>
          <p:nvPr/>
        </p:nvSpPr>
        <p:spPr>
          <a:xfrm rot="2700000">
            <a:off x="2351837" y="694944"/>
            <a:ext cx="77724" cy="77724"/>
          </a:xfrm>
          <a:prstGeom prst="rect">
            <a:avLst/>
          </a:prstGeom>
          <a:solidFill>
            <a:srgbClr val="D4951A">
              <a:alpha val="48000"/>
            </a:srgbClr>
          </a:solidFill>
          <a:ln w="12700">
            <a:solidFill>
              <a:srgbClr val="D4951A"/>
            </a:solidFill>
            <a:prstDash val="solid"/>
          </a:ln>
        </p:spPr>
      </p:sp>
      <p:sp>
        <p:nvSpPr>
          <p:cNvPr id="25" name="Shape 23"/>
          <p:cNvSpPr/>
          <p:nvPr/>
        </p:nvSpPr>
        <p:spPr>
          <a:xfrm rot="2700000">
            <a:off x="2468880" y="694944"/>
            <a:ext cx="77724" cy="77724"/>
          </a:xfrm>
          <a:prstGeom prst="rect">
            <a:avLst/>
          </a:prstGeom>
          <a:solidFill>
            <a:srgbClr val="D4951A">
              <a:alpha val="48000"/>
            </a:srgbClr>
          </a:solidFill>
          <a:ln w="12700">
            <a:solidFill>
              <a:srgbClr val="D4951A"/>
            </a:solidFill>
            <a:prstDash val="solid"/>
          </a:ln>
        </p:spPr>
      </p:sp>
      <p:sp>
        <p:nvSpPr>
          <p:cNvPr id="26" name="Shape 24"/>
          <p:cNvSpPr/>
          <p:nvPr/>
        </p:nvSpPr>
        <p:spPr>
          <a:xfrm rot="2700000">
            <a:off x="2585923" y="694944"/>
            <a:ext cx="77724" cy="77724"/>
          </a:xfrm>
          <a:prstGeom prst="rect">
            <a:avLst/>
          </a:prstGeom>
          <a:solidFill>
            <a:srgbClr val="D4951A">
              <a:alpha val="48000"/>
            </a:srgbClr>
          </a:solidFill>
          <a:ln w="12700">
            <a:solidFill>
              <a:srgbClr val="D4951A"/>
            </a:solidFill>
            <a:prstDash val="solid"/>
          </a:ln>
        </p:spPr>
      </p:sp>
      <p:sp>
        <p:nvSpPr>
          <p:cNvPr id="27" name="Shape 25"/>
          <p:cNvSpPr/>
          <p:nvPr/>
        </p:nvSpPr>
        <p:spPr>
          <a:xfrm rot="2700000">
            <a:off x="2702966" y="694944"/>
            <a:ext cx="77724" cy="77724"/>
          </a:xfrm>
          <a:prstGeom prst="rect">
            <a:avLst/>
          </a:prstGeom>
          <a:solidFill>
            <a:srgbClr val="D4951A">
              <a:alpha val="48000"/>
            </a:srgbClr>
          </a:solidFill>
          <a:ln w="12700">
            <a:solidFill>
              <a:srgbClr val="D4951A"/>
            </a:solidFill>
            <a:prstDash val="solid"/>
          </a:ln>
        </p:spPr>
      </p:sp>
      <p:sp>
        <p:nvSpPr>
          <p:cNvPr id="28" name="Shape 26"/>
          <p:cNvSpPr/>
          <p:nvPr/>
        </p:nvSpPr>
        <p:spPr>
          <a:xfrm rot="2700000">
            <a:off x="2820010" y="694944"/>
            <a:ext cx="77724" cy="77724"/>
          </a:xfrm>
          <a:prstGeom prst="rect">
            <a:avLst/>
          </a:prstGeom>
          <a:solidFill>
            <a:srgbClr val="D4951A">
              <a:alpha val="48000"/>
            </a:srgbClr>
          </a:solidFill>
          <a:ln w="12700">
            <a:solidFill>
              <a:srgbClr val="D4951A"/>
            </a:solidFill>
            <a:prstDash val="solid"/>
          </a:ln>
        </p:spPr>
      </p:sp>
      <p:sp>
        <p:nvSpPr>
          <p:cNvPr id="29" name="Shape 27"/>
          <p:cNvSpPr/>
          <p:nvPr/>
        </p:nvSpPr>
        <p:spPr>
          <a:xfrm rot="2700000">
            <a:off x="2937053" y="694944"/>
            <a:ext cx="77724" cy="77724"/>
          </a:xfrm>
          <a:prstGeom prst="rect">
            <a:avLst/>
          </a:prstGeom>
          <a:solidFill>
            <a:srgbClr val="D4951A">
              <a:alpha val="48000"/>
            </a:srgbClr>
          </a:solidFill>
          <a:ln w="12700">
            <a:solidFill>
              <a:srgbClr val="D4951A"/>
            </a:solidFill>
            <a:prstDash val="solid"/>
          </a:ln>
        </p:spPr>
      </p:sp>
      <p:sp>
        <p:nvSpPr>
          <p:cNvPr id="30" name="Shape 28"/>
          <p:cNvSpPr/>
          <p:nvPr/>
        </p:nvSpPr>
        <p:spPr>
          <a:xfrm rot="2700000">
            <a:off x="3054096" y="694944"/>
            <a:ext cx="77724" cy="77724"/>
          </a:xfrm>
          <a:prstGeom prst="rect">
            <a:avLst/>
          </a:prstGeom>
          <a:solidFill>
            <a:srgbClr val="D4951A">
              <a:alpha val="48000"/>
            </a:srgbClr>
          </a:solidFill>
          <a:ln w="12700">
            <a:solidFill>
              <a:srgbClr val="D4951A"/>
            </a:solidFill>
            <a:prstDash val="solid"/>
          </a:ln>
        </p:spPr>
      </p:sp>
      <p:sp>
        <p:nvSpPr>
          <p:cNvPr id="31" name="Shape 29"/>
          <p:cNvSpPr/>
          <p:nvPr/>
        </p:nvSpPr>
        <p:spPr>
          <a:xfrm rot="2700000">
            <a:off x="3171139" y="694944"/>
            <a:ext cx="77724" cy="77724"/>
          </a:xfrm>
          <a:prstGeom prst="rect">
            <a:avLst/>
          </a:prstGeom>
          <a:solidFill>
            <a:srgbClr val="D4951A">
              <a:alpha val="48000"/>
            </a:srgbClr>
          </a:solidFill>
          <a:ln w="12700">
            <a:solidFill>
              <a:srgbClr val="D4951A"/>
            </a:solidFill>
            <a:prstDash val="solid"/>
          </a:ln>
        </p:spPr>
      </p:sp>
      <p:sp>
        <p:nvSpPr>
          <p:cNvPr id="32" name="Shape 30"/>
          <p:cNvSpPr/>
          <p:nvPr/>
        </p:nvSpPr>
        <p:spPr>
          <a:xfrm rot="2700000">
            <a:off x="3288182" y="694944"/>
            <a:ext cx="77724" cy="77724"/>
          </a:xfrm>
          <a:prstGeom prst="rect">
            <a:avLst/>
          </a:prstGeom>
          <a:solidFill>
            <a:srgbClr val="D4951A">
              <a:alpha val="48000"/>
            </a:srgbClr>
          </a:solidFill>
          <a:ln w="12700">
            <a:solidFill>
              <a:srgbClr val="D4951A"/>
            </a:solidFill>
            <a:prstDash val="solid"/>
          </a:ln>
        </p:spPr>
      </p:sp>
      <p:sp>
        <p:nvSpPr>
          <p:cNvPr id="33" name="Shape 31"/>
          <p:cNvSpPr/>
          <p:nvPr/>
        </p:nvSpPr>
        <p:spPr>
          <a:xfrm rot="2700000">
            <a:off x="3405226" y="694944"/>
            <a:ext cx="77724" cy="77724"/>
          </a:xfrm>
          <a:prstGeom prst="rect">
            <a:avLst/>
          </a:prstGeom>
          <a:solidFill>
            <a:srgbClr val="D4951A">
              <a:alpha val="48000"/>
            </a:srgbClr>
          </a:solidFill>
          <a:ln w="12700">
            <a:solidFill>
              <a:srgbClr val="D4951A"/>
            </a:solidFill>
            <a:prstDash val="solid"/>
          </a:ln>
        </p:spPr>
      </p:sp>
      <p:sp>
        <p:nvSpPr>
          <p:cNvPr id="34" name="Shape 32"/>
          <p:cNvSpPr/>
          <p:nvPr/>
        </p:nvSpPr>
        <p:spPr>
          <a:xfrm rot="2700000">
            <a:off x="3522269" y="694944"/>
            <a:ext cx="77724" cy="77724"/>
          </a:xfrm>
          <a:prstGeom prst="rect">
            <a:avLst/>
          </a:prstGeom>
          <a:solidFill>
            <a:srgbClr val="D4951A">
              <a:alpha val="48000"/>
            </a:srgbClr>
          </a:solidFill>
          <a:ln w="12700">
            <a:solidFill>
              <a:srgbClr val="D4951A"/>
            </a:solidFill>
            <a:prstDash val="solid"/>
          </a:ln>
        </p:spPr>
      </p:sp>
      <p:sp>
        <p:nvSpPr>
          <p:cNvPr id="35" name="Shape 33"/>
          <p:cNvSpPr/>
          <p:nvPr/>
        </p:nvSpPr>
        <p:spPr>
          <a:xfrm rot="2700000">
            <a:off x="3639312" y="694944"/>
            <a:ext cx="77724" cy="77724"/>
          </a:xfrm>
          <a:prstGeom prst="rect">
            <a:avLst/>
          </a:prstGeom>
          <a:solidFill>
            <a:srgbClr val="D4951A">
              <a:alpha val="48000"/>
            </a:srgbClr>
          </a:solidFill>
          <a:ln w="12700">
            <a:solidFill>
              <a:srgbClr val="D4951A"/>
            </a:solidFill>
            <a:prstDash val="solid"/>
          </a:ln>
        </p:spPr>
      </p:sp>
      <p:sp>
        <p:nvSpPr>
          <p:cNvPr id="36" name="Shape 34"/>
          <p:cNvSpPr/>
          <p:nvPr/>
        </p:nvSpPr>
        <p:spPr>
          <a:xfrm rot="2700000">
            <a:off x="3756355" y="694944"/>
            <a:ext cx="77724" cy="77724"/>
          </a:xfrm>
          <a:prstGeom prst="rect">
            <a:avLst/>
          </a:prstGeom>
          <a:solidFill>
            <a:srgbClr val="D4951A">
              <a:alpha val="48000"/>
            </a:srgbClr>
          </a:solidFill>
          <a:ln w="12700">
            <a:solidFill>
              <a:srgbClr val="D4951A"/>
            </a:solidFill>
            <a:prstDash val="solid"/>
          </a:ln>
        </p:spPr>
      </p:sp>
      <p:sp>
        <p:nvSpPr>
          <p:cNvPr id="37" name="Shape 35"/>
          <p:cNvSpPr/>
          <p:nvPr/>
        </p:nvSpPr>
        <p:spPr>
          <a:xfrm rot="2700000">
            <a:off x="3873398" y="694944"/>
            <a:ext cx="77724" cy="77724"/>
          </a:xfrm>
          <a:prstGeom prst="rect">
            <a:avLst/>
          </a:prstGeom>
          <a:solidFill>
            <a:srgbClr val="D4951A">
              <a:alpha val="48000"/>
            </a:srgbClr>
          </a:solidFill>
          <a:ln w="12700">
            <a:solidFill>
              <a:srgbClr val="D4951A"/>
            </a:solidFill>
            <a:prstDash val="solid"/>
          </a:ln>
        </p:spPr>
      </p:sp>
      <p:sp>
        <p:nvSpPr>
          <p:cNvPr id="38" name="Shape 36"/>
          <p:cNvSpPr/>
          <p:nvPr/>
        </p:nvSpPr>
        <p:spPr>
          <a:xfrm rot="2700000">
            <a:off x="3990442" y="694944"/>
            <a:ext cx="77724" cy="77724"/>
          </a:xfrm>
          <a:prstGeom prst="rect">
            <a:avLst/>
          </a:prstGeom>
          <a:solidFill>
            <a:srgbClr val="D4951A">
              <a:alpha val="48000"/>
            </a:srgbClr>
          </a:solidFill>
          <a:ln w="12700">
            <a:solidFill>
              <a:srgbClr val="D4951A"/>
            </a:solidFill>
            <a:prstDash val="solid"/>
          </a:ln>
        </p:spPr>
      </p:sp>
      <p:sp>
        <p:nvSpPr>
          <p:cNvPr id="39" name="Shape 37"/>
          <p:cNvSpPr/>
          <p:nvPr/>
        </p:nvSpPr>
        <p:spPr>
          <a:xfrm rot="2700000">
            <a:off x="4107485" y="694944"/>
            <a:ext cx="77724" cy="77724"/>
          </a:xfrm>
          <a:prstGeom prst="rect">
            <a:avLst/>
          </a:prstGeom>
          <a:solidFill>
            <a:srgbClr val="D4951A">
              <a:alpha val="48000"/>
            </a:srgbClr>
          </a:solidFill>
          <a:ln w="12700">
            <a:solidFill>
              <a:srgbClr val="D4951A"/>
            </a:solidFill>
            <a:prstDash val="solid"/>
          </a:ln>
        </p:spPr>
      </p:sp>
      <p:sp>
        <p:nvSpPr>
          <p:cNvPr id="40" name="Shape 38"/>
          <p:cNvSpPr/>
          <p:nvPr/>
        </p:nvSpPr>
        <p:spPr>
          <a:xfrm rot="2700000">
            <a:off x="4224528" y="694944"/>
            <a:ext cx="77724" cy="77724"/>
          </a:xfrm>
          <a:prstGeom prst="rect">
            <a:avLst/>
          </a:prstGeom>
          <a:solidFill>
            <a:srgbClr val="D4951A">
              <a:alpha val="48000"/>
            </a:srgbClr>
          </a:solidFill>
          <a:ln w="12700">
            <a:solidFill>
              <a:srgbClr val="D4951A"/>
            </a:solidFill>
            <a:prstDash val="solid"/>
          </a:ln>
        </p:spPr>
      </p:sp>
      <p:sp>
        <p:nvSpPr>
          <p:cNvPr id="41" name="Shape 39"/>
          <p:cNvSpPr/>
          <p:nvPr/>
        </p:nvSpPr>
        <p:spPr>
          <a:xfrm rot="2700000">
            <a:off x="4341571" y="694944"/>
            <a:ext cx="77724" cy="77724"/>
          </a:xfrm>
          <a:prstGeom prst="rect">
            <a:avLst/>
          </a:prstGeom>
          <a:solidFill>
            <a:srgbClr val="D4951A">
              <a:alpha val="48000"/>
            </a:srgbClr>
          </a:solidFill>
          <a:ln w="12700">
            <a:solidFill>
              <a:srgbClr val="D4951A"/>
            </a:solidFill>
            <a:prstDash val="solid"/>
          </a:ln>
        </p:spPr>
      </p:sp>
      <p:sp>
        <p:nvSpPr>
          <p:cNvPr id="42" name="Shape 40"/>
          <p:cNvSpPr/>
          <p:nvPr/>
        </p:nvSpPr>
        <p:spPr>
          <a:xfrm rot="2700000">
            <a:off x="4458614" y="694944"/>
            <a:ext cx="77724" cy="77724"/>
          </a:xfrm>
          <a:prstGeom prst="rect">
            <a:avLst/>
          </a:prstGeom>
          <a:solidFill>
            <a:srgbClr val="D4951A">
              <a:alpha val="48000"/>
            </a:srgbClr>
          </a:solidFill>
          <a:ln w="12700">
            <a:solidFill>
              <a:srgbClr val="D4951A"/>
            </a:solidFill>
            <a:prstDash val="solid"/>
          </a:ln>
        </p:spPr>
      </p:sp>
      <p:sp>
        <p:nvSpPr>
          <p:cNvPr id="43" name="Shape 41"/>
          <p:cNvSpPr/>
          <p:nvPr/>
        </p:nvSpPr>
        <p:spPr>
          <a:xfrm rot="2700000">
            <a:off x="4575658" y="694944"/>
            <a:ext cx="77724" cy="77724"/>
          </a:xfrm>
          <a:prstGeom prst="rect">
            <a:avLst/>
          </a:prstGeom>
          <a:solidFill>
            <a:srgbClr val="D4951A">
              <a:alpha val="48000"/>
            </a:srgbClr>
          </a:solidFill>
          <a:ln w="12700">
            <a:solidFill>
              <a:srgbClr val="D4951A"/>
            </a:solidFill>
            <a:prstDash val="solid"/>
          </a:ln>
        </p:spPr>
      </p:sp>
      <p:sp>
        <p:nvSpPr>
          <p:cNvPr id="44" name="Shape 42"/>
          <p:cNvSpPr/>
          <p:nvPr/>
        </p:nvSpPr>
        <p:spPr>
          <a:xfrm rot="2700000">
            <a:off x="4692701" y="694944"/>
            <a:ext cx="77724" cy="77724"/>
          </a:xfrm>
          <a:prstGeom prst="rect">
            <a:avLst/>
          </a:prstGeom>
          <a:solidFill>
            <a:srgbClr val="D4951A">
              <a:alpha val="48000"/>
            </a:srgbClr>
          </a:solidFill>
          <a:ln w="12700">
            <a:solidFill>
              <a:srgbClr val="D4951A"/>
            </a:solidFill>
            <a:prstDash val="solid"/>
          </a:ln>
        </p:spPr>
      </p:sp>
      <p:sp>
        <p:nvSpPr>
          <p:cNvPr id="45" name="Shape 43"/>
          <p:cNvSpPr/>
          <p:nvPr/>
        </p:nvSpPr>
        <p:spPr>
          <a:xfrm rot="2700000">
            <a:off x="4809744" y="694944"/>
            <a:ext cx="77724" cy="77724"/>
          </a:xfrm>
          <a:prstGeom prst="rect">
            <a:avLst/>
          </a:prstGeom>
          <a:solidFill>
            <a:srgbClr val="D4951A">
              <a:alpha val="48000"/>
            </a:srgbClr>
          </a:solidFill>
          <a:ln w="12700">
            <a:solidFill>
              <a:srgbClr val="D4951A"/>
            </a:solidFill>
            <a:prstDash val="solid"/>
          </a:ln>
        </p:spPr>
      </p:sp>
      <p:sp>
        <p:nvSpPr>
          <p:cNvPr id="46" name="Shape 44"/>
          <p:cNvSpPr/>
          <p:nvPr/>
        </p:nvSpPr>
        <p:spPr>
          <a:xfrm rot="2700000">
            <a:off x="4926787" y="694944"/>
            <a:ext cx="77724" cy="77724"/>
          </a:xfrm>
          <a:prstGeom prst="rect">
            <a:avLst/>
          </a:prstGeom>
          <a:solidFill>
            <a:srgbClr val="D4951A">
              <a:alpha val="48000"/>
            </a:srgbClr>
          </a:solidFill>
          <a:ln w="12700">
            <a:solidFill>
              <a:srgbClr val="D4951A"/>
            </a:solidFill>
            <a:prstDash val="solid"/>
          </a:ln>
        </p:spPr>
      </p:sp>
      <p:sp>
        <p:nvSpPr>
          <p:cNvPr id="47" name="Shape 45"/>
          <p:cNvSpPr/>
          <p:nvPr/>
        </p:nvSpPr>
        <p:spPr>
          <a:xfrm rot="2700000">
            <a:off x="5043830" y="694944"/>
            <a:ext cx="77724" cy="77724"/>
          </a:xfrm>
          <a:prstGeom prst="rect">
            <a:avLst/>
          </a:prstGeom>
          <a:solidFill>
            <a:srgbClr val="D4951A">
              <a:alpha val="48000"/>
            </a:srgbClr>
          </a:solidFill>
          <a:ln w="12700">
            <a:solidFill>
              <a:srgbClr val="D4951A"/>
            </a:solidFill>
            <a:prstDash val="solid"/>
          </a:ln>
        </p:spPr>
      </p:sp>
      <p:sp>
        <p:nvSpPr>
          <p:cNvPr id="48" name="Shape 46"/>
          <p:cNvSpPr/>
          <p:nvPr/>
        </p:nvSpPr>
        <p:spPr>
          <a:xfrm rot="2700000">
            <a:off x="5160874" y="694944"/>
            <a:ext cx="77724" cy="77724"/>
          </a:xfrm>
          <a:prstGeom prst="rect">
            <a:avLst/>
          </a:prstGeom>
          <a:solidFill>
            <a:srgbClr val="D4951A">
              <a:alpha val="48000"/>
            </a:srgbClr>
          </a:solidFill>
          <a:ln w="12700">
            <a:solidFill>
              <a:srgbClr val="D4951A"/>
            </a:solidFill>
            <a:prstDash val="solid"/>
          </a:ln>
        </p:spPr>
      </p:sp>
      <p:sp>
        <p:nvSpPr>
          <p:cNvPr id="49" name="Shape 47"/>
          <p:cNvSpPr/>
          <p:nvPr/>
        </p:nvSpPr>
        <p:spPr>
          <a:xfrm rot="2700000">
            <a:off x="5277917" y="694944"/>
            <a:ext cx="77724" cy="77724"/>
          </a:xfrm>
          <a:prstGeom prst="rect">
            <a:avLst/>
          </a:prstGeom>
          <a:solidFill>
            <a:srgbClr val="D4951A">
              <a:alpha val="48000"/>
            </a:srgbClr>
          </a:solidFill>
          <a:ln w="12700">
            <a:solidFill>
              <a:srgbClr val="D4951A"/>
            </a:solidFill>
            <a:prstDash val="solid"/>
          </a:ln>
        </p:spPr>
      </p:sp>
      <p:sp>
        <p:nvSpPr>
          <p:cNvPr id="50" name="Shape 48"/>
          <p:cNvSpPr/>
          <p:nvPr/>
        </p:nvSpPr>
        <p:spPr>
          <a:xfrm rot="2700000">
            <a:off x="5394960" y="694944"/>
            <a:ext cx="77724" cy="77724"/>
          </a:xfrm>
          <a:prstGeom prst="rect">
            <a:avLst/>
          </a:prstGeom>
          <a:solidFill>
            <a:srgbClr val="D4951A">
              <a:alpha val="48000"/>
            </a:srgbClr>
          </a:solidFill>
          <a:ln w="12700">
            <a:solidFill>
              <a:srgbClr val="D4951A"/>
            </a:solidFill>
            <a:prstDash val="solid"/>
          </a:ln>
        </p:spPr>
      </p:sp>
      <p:sp>
        <p:nvSpPr>
          <p:cNvPr id="51" name="Shape 49"/>
          <p:cNvSpPr/>
          <p:nvPr/>
        </p:nvSpPr>
        <p:spPr>
          <a:xfrm rot="2700000">
            <a:off x="5512003" y="694944"/>
            <a:ext cx="77724" cy="77724"/>
          </a:xfrm>
          <a:prstGeom prst="rect">
            <a:avLst/>
          </a:prstGeom>
          <a:solidFill>
            <a:srgbClr val="D4951A">
              <a:alpha val="48000"/>
            </a:srgbClr>
          </a:solidFill>
          <a:ln w="12700">
            <a:solidFill>
              <a:srgbClr val="D4951A"/>
            </a:solidFill>
            <a:prstDash val="solid"/>
          </a:ln>
        </p:spPr>
      </p:sp>
      <p:sp>
        <p:nvSpPr>
          <p:cNvPr id="52" name="Shape 50"/>
          <p:cNvSpPr/>
          <p:nvPr/>
        </p:nvSpPr>
        <p:spPr>
          <a:xfrm rot="2700000">
            <a:off x="5629046" y="694944"/>
            <a:ext cx="77724" cy="77724"/>
          </a:xfrm>
          <a:prstGeom prst="rect">
            <a:avLst/>
          </a:prstGeom>
          <a:solidFill>
            <a:srgbClr val="D4951A">
              <a:alpha val="48000"/>
            </a:srgbClr>
          </a:solidFill>
          <a:ln w="12700">
            <a:solidFill>
              <a:srgbClr val="D4951A"/>
            </a:solidFill>
            <a:prstDash val="solid"/>
          </a:ln>
        </p:spPr>
      </p:sp>
      <p:sp>
        <p:nvSpPr>
          <p:cNvPr id="53" name="Shape 51"/>
          <p:cNvSpPr/>
          <p:nvPr/>
        </p:nvSpPr>
        <p:spPr>
          <a:xfrm rot="2700000">
            <a:off x="5746090" y="694944"/>
            <a:ext cx="77724" cy="77724"/>
          </a:xfrm>
          <a:prstGeom prst="rect">
            <a:avLst/>
          </a:prstGeom>
          <a:solidFill>
            <a:srgbClr val="D4951A">
              <a:alpha val="48000"/>
            </a:srgbClr>
          </a:solidFill>
          <a:ln w="12700">
            <a:solidFill>
              <a:srgbClr val="D4951A"/>
            </a:solidFill>
            <a:prstDash val="solid"/>
          </a:ln>
        </p:spPr>
      </p:sp>
      <p:sp>
        <p:nvSpPr>
          <p:cNvPr id="54" name="Shape 52"/>
          <p:cNvSpPr/>
          <p:nvPr/>
        </p:nvSpPr>
        <p:spPr>
          <a:xfrm rot="2700000">
            <a:off x="5863133" y="694944"/>
            <a:ext cx="77724" cy="77724"/>
          </a:xfrm>
          <a:prstGeom prst="rect">
            <a:avLst/>
          </a:prstGeom>
          <a:solidFill>
            <a:srgbClr val="D4951A">
              <a:alpha val="48000"/>
            </a:srgbClr>
          </a:solidFill>
          <a:ln w="12700">
            <a:solidFill>
              <a:srgbClr val="D4951A"/>
            </a:solidFill>
            <a:prstDash val="solid"/>
          </a:ln>
        </p:spPr>
      </p:sp>
      <p:sp>
        <p:nvSpPr>
          <p:cNvPr id="55" name="Shape 53"/>
          <p:cNvSpPr/>
          <p:nvPr/>
        </p:nvSpPr>
        <p:spPr>
          <a:xfrm rot="2700000">
            <a:off x="5980176" y="694944"/>
            <a:ext cx="77724" cy="77724"/>
          </a:xfrm>
          <a:prstGeom prst="rect">
            <a:avLst/>
          </a:prstGeom>
          <a:solidFill>
            <a:srgbClr val="D4951A">
              <a:alpha val="48000"/>
            </a:srgbClr>
          </a:solidFill>
          <a:ln w="12700">
            <a:solidFill>
              <a:srgbClr val="D4951A"/>
            </a:solidFill>
            <a:prstDash val="solid"/>
          </a:ln>
        </p:spPr>
      </p:sp>
      <p:sp>
        <p:nvSpPr>
          <p:cNvPr id="56" name="Shape 54"/>
          <p:cNvSpPr/>
          <p:nvPr/>
        </p:nvSpPr>
        <p:spPr>
          <a:xfrm rot="2700000">
            <a:off x="6097219" y="694944"/>
            <a:ext cx="77724" cy="77724"/>
          </a:xfrm>
          <a:prstGeom prst="rect">
            <a:avLst/>
          </a:prstGeom>
          <a:solidFill>
            <a:srgbClr val="D4951A">
              <a:alpha val="48000"/>
            </a:srgbClr>
          </a:solidFill>
          <a:ln w="12700">
            <a:solidFill>
              <a:srgbClr val="D4951A"/>
            </a:solidFill>
            <a:prstDash val="solid"/>
          </a:ln>
        </p:spPr>
      </p:sp>
      <p:sp>
        <p:nvSpPr>
          <p:cNvPr id="57" name="Shape 55"/>
          <p:cNvSpPr/>
          <p:nvPr/>
        </p:nvSpPr>
        <p:spPr>
          <a:xfrm rot="2700000">
            <a:off x="6214262" y="694944"/>
            <a:ext cx="77724" cy="77724"/>
          </a:xfrm>
          <a:prstGeom prst="rect">
            <a:avLst/>
          </a:prstGeom>
          <a:solidFill>
            <a:srgbClr val="D4951A">
              <a:alpha val="48000"/>
            </a:srgbClr>
          </a:solidFill>
          <a:ln w="12700">
            <a:solidFill>
              <a:srgbClr val="D4951A"/>
            </a:solidFill>
            <a:prstDash val="solid"/>
          </a:ln>
        </p:spPr>
      </p:sp>
      <p:sp>
        <p:nvSpPr>
          <p:cNvPr id="58" name="Shape 56"/>
          <p:cNvSpPr/>
          <p:nvPr/>
        </p:nvSpPr>
        <p:spPr>
          <a:xfrm rot="2700000">
            <a:off x="6331306" y="694944"/>
            <a:ext cx="77724" cy="77724"/>
          </a:xfrm>
          <a:prstGeom prst="rect">
            <a:avLst/>
          </a:prstGeom>
          <a:solidFill>
            <a:srgbClr val="D4951A">
              <a:alpha val="48000"/>
            </a:srgbClr>
          </a:solidFill>
          <a:ln w="12700">
            <a:solidFill>
              <a:srgbClr val="D4951A"/>
            </a:solidFill>
            <a:prstDash val="solid"/>
          </a:ln>
        </p:spPr>
      </p:sp>
      <p:sp>
        <p:nvSpPr>
          <p:cNvPr id="59" name="Shape 57"/>
          <p:cNvSpPr/>
          <p:nvPr/>
        </p:nvSpPr>
        <p:spPr>
          <a:xfrm rot="2700000">
            <a:off x="6448349" y="694944"/>
            <a:ext cx="77724" cy="77724"/>
          </a:xfrm>
          <a:prstGeom prst="rect">
            <a:avLst/>
          </a:prstGeom>
          <a:solidFill>
            <a:srgbClr val="D4951A">
              <a:alpha val="48000"/>
            </a:srgbClr>
          </a:solidFill>
          <a:ln w="12700">
            <a:solidFill>
              <a:srgbClr val="D4951A"/>
            </a:solidFill>
            <a:prstDash val="solid"/>
          </a:ln>
        </p:spPr>
      </p:sp>
      <p:sp>
        <p:nvSpPr>
          <p:cNvPr id="60" name="Shape 58"/>
          <p:cNvSpPr/>
          <p:nvPr/>
        </p:nvSpPr>
        <p:spPr>
          <a:xfrm rot="2700000">
            <a:off x="6565392" y="694944"/>
            <a:ext cx="77724" cy="77724"/>
          </a:xfrm>
          <a:prstGeom prst="rect">
            <a:avLst/>
          </a:prstGeom>
          <a:solidFill>
            <a:srgbClr val="D4951A">
              <a:alpha val="48000"/>
            </a:srgbClr>
          </a:solidFill>
          <a:ln w="12700">
            <a:solidFill>
              <a:srgbClr val="D4951A"/>
            </a:solidFill>
            <a:prstDash val="solid"/>
          </a:ln>
        </p:spPr>
      </p:sp>
      <p:sp>
        <p:nvSpPr>
          <p:cNvPr id="61" name="Shape 59"/>
          <p:cNvSpPr/>
          <p:nvPr/>
        </p:nvSpPr>
        <p:spPr>
          <a:xfrm rot="2700000">
            <a:off x="6682435" y="694944"/>
            <a:ext cx="77724" cy="77724"/>
          </a:xfrm>
          <a:prstGeom prst="rect">
            <a:avLst/>
          </a:prstGeom>
          <a:solidFill>
            <a:srgbClr val="D4951A">
              <a:alpha val="48000"/>
            </a:srgbClr>
          </a:solidFill>
          <a:ln w="12700">
            <a:solidFill>
              <a:srgbClr val="D4951A"/>
            </a:solidFill>
            <a:prstDash val="solid"/>
          </a:ln>
        </p:spPr>
      </p:sp>
      <p:sp>
        <p:nvSpPr>
          <p:cNvPr id="62" name="Shape 60"/>
          <p:cNvSpPr/>
          <p:nvPr/>
        </p:nvSpPr>
        <p:spPr>
          <a:xfrm rot="2700000">
            <a:off x="6799478" y="694944"/>
            <a:ext cx="77724" cy="77724"/>
          </a:xfrm>
          <a:prstGeom prst="rect">
            <a:avLst/>
          </a:prstGeom>
          <a:solidFill>
            <a:srgbClr val="D4951A">
              <a:alpha val="48000"/>
            </a:srgbClr>
          </a:solidFill>
          <a:ln w="12700">
            <a:solidFill>
              <a:srgbClr val="D4951A"/>
            </a:solidFill>
            <a:prstDash val="solid"/>
          </a:ln>
        </p:spPr>
      </p:sp>
      <p:sp>
        <p:nvSpPr>
          <p:cNvPr id="63" name="Shape 61"/>
          <p:cNvSpPr/>
          <p:nvPr/>
        </p:nvSpPr>
        <p:spPr>
          <a:xfrm rot="2700000">
            <a:off x="6916522" y="694944"/>
            <a:ext cx="77724" cy="77724"/>
          </a:xfrm>
          <a:prstGeom prst="rect">
            <a:avLst/>
          </a:prstGeom>
          <a:solidFill>
            <a:srgbClr val="D4951A">
              <a:alpha val="48000"/>
            </a:srgbClr>
          </a:solidFill>
          <a:ln w="12700">
            <a:solidFill>
              <a:srgbClr val="D4951A"/>
            </a:solidFill>
            <a:prstDash val="solid"/>
          </a:ln>
        </p:spPr>
      </p:sp>
      <p:sp>
        <p:nvSpPr>
          <p:cNvPr id="64" name="Shape 62"/>
          <p:cNvSpPr/>
          <p:nvPr/>
        </p:nvSpPr>
        <p:spPr>
          <a:xfrm rot="2700000">
            <a:off x="7033565" y="694944"/>
            <a:ext cx="77724" cy="77724"/>
          </a:xfrm>
          <a:prstGeom prst="rect">
            <a:avLst/>
          </a:prstGeom>
          <a:solidFill>
            <a:srgbClr val="D4951A">
              <a:alpha val="48000"/>
            </a:srgbClr>
          </a:solidFill>
          <a:ln w="12700">
            <a:solidFill>
              <a:srgbClr val="D4951A"/>
            </a:solidFill>
            <a:prstDash val="solid"/>
          </a:ln>
        </p:spPr>
      </p:sp>
      <p:sp>
        <p:nvSpPr>
          <p:cNvPr id="65" name="Shape 63"/>
          <p:cNvSpPr/>
          <p:nvPr/>
        </p:nvSpPr>
        <p:spPr>
          <a:xfrm rot="2700000">
            <a:off x="7150608" y="694944"/>
            <a:ext cx="77724" cy="77724"/>
          </a:xfrm>
          <a:prstGeom prst="rect">
            <a:avLst/>
          </a:prstGeom>
          <a:solidFill>
            <a:srgbClr val="D4951A">
              <a:alpha val="48000"/>
            </a:srgbClr>
          </a:solidFill>
          <a:ln w="12700">
            <a:solidFill>
              <a:srgbClr val="D4951A"/>
            </a:solidFill>
            <a:prstDash val="solid"/>
          </a:ln>
        </p:spPr>
      </p:sp>
      <p:sp>
        <p:nvSpPr>
          <p:cNvPr id="66" name="Shape 64"/>
          <p:cNvSpPr/>
          <p:nvPr/>
        </p:nvSpPr>
        <p:spPr>
          <a:xfrm rot="2700000">
            <a:off x="7267651" y="694944"/>
            <a:ext cx="77724" cy="77724"/>
          </a:xfrm>
          <a:prstGeom prst="rect">
            <a:avLst/>
          </a:prstGeom>
          <a:solidFill>
            <a:srgbClr val="D4951A">
              <a:alpha val="48000"/>
            </a:srgbClr>
          </a:solidFill>
          <a:ln w="12700">
            <a:solidFill>
              <a:srgbClr val="D4951A"/>
            </a:solidFill>
            <a:prstDash val="solid"/>
          </a:ln>
        </p:spPr>
      </p:sp>
      <p:sp>
        <p:nvSpPr>
          <p:cNvPr id="67" name="Shape 65"/>
          <p:cNvSpPr/>
          <p:nvPr/>
        </p:nvSpPr>
        <p:spPr>
          <a:xfrm rot="2700000">
            <a:off x="7384694" y="694944"/>
            <a:ext cx="77724" cy="77724"/>
          </a:xfrm>
          <a:prstGeom prst="rect">
            <a:avLst/>
          </a:prstGeom>
          <a:solidFill>
            <a:srgbClr val="D4951A">
              <a:alpha val="48000"/>
            </a:srgbClr>
          </a:solidFill>
          <a:ln w="12700">
            <a:solidFill>
              <a:srgbClr val="D4951A"/>
            </a:solidFill>
            <a:prstDash val="solid"/>
          </a:ln>
        </p:spPr>
      </p:sp>
      <p:sp>
        <p:nvSpPr>
          <p:cNvPr id="68" name="Shape 66"/>
          <p:cNvSpPr/>
          <p:nvPr/>
        </p:nvSpPr>
        <p:spPr>
          <a:xfrm rot="2700000">
            <a:off x="7501738" y="694944"/>
            <a:ext cx="77724" cy="77724"/>
          </a:xfrm>
          <a:prstGeom prst="rect">
            <a:avLst/>
          </a:prstGeom>
          <a:solidFill>
            <a:srgbClr val="D4951A">
              <a:alpha val="48000"/>
            </a:srgbClr>
          </a:solidFill>
          <a:ln w="12700">
            <a:solidFill>
              <a:srgbClr val="D4951A"/>
            </a:solidFill>
            <a:prstDash val="solid"/>
          </a:ln>
        </p:spPr>
      </p:sp>
      <p:sp>
        <p:nvSpPr>
          <p:cNvPr id="69" name="Shape 67"/>
          <p:cNvSpPr/>
          <p:nvPr/>
        </p:nvSpPr>
        <p:spPr>
          <a:xfrm rot="2700000">
            <a:off x="7618781" y="694944"/>
            <a:ext cx="77724" cy="77724"/>
          </a:xfrm>
          <a:prstGeom prst="rect">
            <a:avLst/>
          </a:prstGeom>
          <a:solidFill>
            <a:srgbClr val="D4951A">
              <a:alpha val="48000"/>
            </a:srgbClr>
          </a:solidFill>
          <a:ln w="12700">
            <a:solidFill>
              <a:srgbClr val="D4951A"/>
            </a:solidFill>
            <a:prstDash val="solid"/>
          </a:ln>
        </p:spPr>
      </p:sp>
      <p:sp>
        <p:nvSpPr>
          <p:cNvPr id="70" name="Shape 68"/>
          <p:cNvSpPr/>
          <p:nvPr/>
        </p:nvSpPr>
        <p:spPr>
          <a:xfrm rot="2700000">
            <a:off x="7735824" y="694944"/>
            <a:ext cx="77724" cy="77724"/>
          </a:xfrm>
          <a:prstGeom prst="rect">
            <a:avLst/>
          </a:prstGeom>
          <a:solidFill>
            <a:srgbClr val="D4951A">
              <a:alpha val="48000"/>
            </a:srgbClr>
          </a:solidFill>
          <a:ln w="12700">
            <a:solidFill>
              <a:srgbClr val="D4951A"/>
            </a:solidFill>
            <a:prstDash val="solid"/>
          </a:ln>
        </p:spPr>
      </p:sp>
      <p:sp>
        <p:nvSpPr>
          <p:cNvPr id="71" name="Shape 69"/>
          <p:cNvSpPr/>
          <p:nvPr/>
        </p:nvSpPr>
        <p:spPr>
          <a:xfrm rot="2700000">
            <a:off x="7852867" y="694944"/>
            <a:ext cx="77724" cy="77724"/>
          </a:xfrm>
          <a:prstGeom prst="rect">
            <a:avLst/>
          </a:prstGeom>
          <a:solidFill>
            <a:srgbClr val="D4951A">
              <a:alpha val="48000"/>
            </a:srgbClr>
          </a:solidFill>
          <a:ln w="12700">
            <a:solidFill>
              <a:srgbClr val="D4951A"/>
            </a:solidFill>
            <a:prstDash val="solid"/>
          </a:ln>
        </p:spPr>
      </p:sp>
      <p:sp>
        <p:nvSpPr>
          <p:cNvPr id="72" name="Shape 70"/>
          <p:cNvSpPr/>
          <p:nvPr/>
        </p:nvSpPr>
        <p:spPr>
          <a:xfrm rot="2700000">
            <a:off x="7969910" y="694944"/>
            <a:ext cx="77724" cy="77724"/>
          </a:xfrm>
          <a:prstGeom prst="rect">
            <a:avLst/>
          </a:prstGeom>
          <a:solidFill>
            <a:srgbClr val="D4951A">
              <a:alpha val="48000"/>
            </a:srgbClr>
          </a:solidFill>
          <a:ln w="12700">
            <a:solidFill>
              <a:srgbClr val="D4951A"/>
            </a:solidFill>
            <a:prstDash val="solid"/>
          </a:ln>
        </p:spPr>
      </p:sp>
      <p:sp>
        <p:nvSpPr>
          <p:cNvPr id="73" name="Shape 71"/>
          <p:cNvSpPr/>
          <p:nvPr/>
        </p:nvSpPr>
        <p:spPr>
          <a:xfrm rot="2700000">
            <a:off x="8086954" y="694944"/>
            <a:ext cx="77724" cy="77724"/>
          </a:xfrm>
          <a:prstGeom prst="rect">
            <a:avLst/>
          </a:prstGeom>
          <a:solidFill>
            <a:srgbClr val="D4951A">
              <a:alpha val="48000"/>
            </a:srgbClr>
          </a:solidFill>
          <a:ln w="12700">
            <a:solidFill>
              <a:srgbClr val="D4951A"/>
            </a:solidFill>
            <a:prstDash val="solid"/>
          </a:ln>
        </p:spPr>
      </p:sp>
      <p:sp>
        <p:nvSpPr>
          <p:cNvPr id="74" name="Shape 72"/>
          <p:cNvSpPr/>
          <p:nvPr/>
        </p:nvSpPr>
        <p:spPr>
          <a:xfrm rot="2700000">
            <a:off x="8203997" y="694944"/>
            <a:ext cx="77724" cy="77724"/>
          </a:xfrm>
          <a:prstGeom prst="rect">
            <a:avLst/>
          </a:prstGeom>
          <a:solidFill>
            <a:srgbClr val="D4951A">
              <a:alpha val="48000"/>
            </a:srgbClr>
          </a:solidFill>
          <a:ln w="12700">
            <a:solidFill>
              <a:srgbClr val="D4951A"/>
            </a:solidFill>
            <a:prstDash val="solid"/>
          </a:ln>
        </p:spPr>
      </p:sp>
      <p:sp>
        <p:nvSpPr>
          <p:cNvPr id="75" name="Shape 73"/>
          <p:cNvSpPr/>
          <p:nvPr/>
        </p:nvSpPr>
        <p:spPr>
          <a:xfrm rot="2700000">
            <a:off x="8321040" y="694944"/>
            <a:ext cx="77724" cy="77724"/>
          </a:xfrm>
          <a:prstGeom prst="rect">
            <a:avLst/>
          </a:prstGeom>
          <a:solidFill>
            <a:srgbClr val="D4951A">
              <a:alpha val="48000"/>
            </a:srgbClr>
          </a:solidFill>
          <a:ln w="12700">
            <a:solidFill>
              <a:srgbClr val="D4951A"/>
            </a:solidFill>
            <a:prstDash val="solid"/>
          </a:ln>
        </p:spPr>
      </p:sp>
      <p:sp>
        <p:nvSpPr>
          <p:cNvPr id="76" name="Shape 74"/>
          <p:cNvSpPr/>
          <p:nvPr/>
        </p:nvSpPr>
        <p:spPr>
          <a:xfrm rot="2700000">
            <a:off x="8438083" y="694944"/>
            <a:ext cx="77724" cy="77724"/>
          </a:xfrm>
          <a:prstGeom prst="rect">
            <a:avLst/>
          </a:prstGeom>
          <a:solidFill>
            <a:srgbClr val="D4951A">
              <a:alpha val="48000"/>
            </a:srgbClr>
          </a:solidFill>
          <a:ln w="12700">
            <a:solidFill>
              <a:srgbClr val="D4951A"/>
            </a:solidFill>
            <a:prstDash val="solid"/>
          </a:ln>
        </p:spPr>
      </p:sp>
      <p:sp>
        <p:nvSpPr>
          <p:cNvPr id="77" name="Shape 75"/>
          <p:cNvSpPr/>
          <p:nvPr/>
        </p:nvSpPr>
        <p:spPr>
          <a:xfrm rot="2700000">
            <a:off x="8555126" y="694944"/>
            <a:ext cx="77724" cy="77724"/>
          </a:xfrm>
          <a:prstGeom prst="rect">
            <a:avLst/>
          </a:prstGeom>
          <a:solidFill>
            <a:srgbClr val="D4951A">
              <a:alpha val="48000"/>
            </a:srgbClr>
          </a:solidFill>
          <a:ln w="12700">
            <a:solidFill>
              <a:srgbClr val="D4951A"/>
            </a:solidFill>
            <a:prstDash val="solid"/>
          </a:ln>
        </p:spPr>
      </p:sp>
      <p:sp>
        <p:nvSpPr>
          <p:cNvPr id="78" name="Shape 76"/>
          <p:cNvSpPr/>
          <p:nvPr/>
        </p:nvSpPr>
        <p:spPr>
          <a:xfrm rot="2700000">
            <a:off x="8672170" y="694944"/>
            <a:ext cx="77724" cy="77724"/>
          </a:xfrm>
          <a:prstGeom prst="rect">
            <a:avLst/>
          </a:prstGeom>
          <a:solidFill>
            <a:srgbClr val="D4951A">
              <a:alpha val="48000"/>
            </a:srgbClr>
          </a:solidFill>
          <a:ln w="12700">
            <a:solidFill>
              <a:srgbClr val="D4951A"/>
            </a:solidFill>
            <a:prstDash val="solid"/>
          </a:ln>
        </p:spPr>
      </p:sp>
      <p:sp>
        <p:nvSpPr>
          <p:cNvPr id="79" name="Shape 77"/>
          <p:cNvSpPr/>
          <p:nvPr/>
        </p:nvSpPr>
        <p:spPr>
          <a:xfrm rot="2700000">
            <a:off x="8789213" y="694944"/>
            <a:ext cx="77724" cy="77724"/>
          </a:xfrm>
          <a:prstGeom prst="rect">
            <a:avLst/>
          </a:prstGeom>
          <a:solidFill>
            <a:srgbClr val="D4951A">
              <a:alpha val="48000"/>
            </a:srgbClr>
          </a:solidFill>
          <a:ln w="12700">
            <a:solidFill>
              <a:srgbClr val="D4951A"/>
            </a:solidFill>
            <a:prstDash val="solid"/>
          </a:ln>
        </p:spPr>
      </p:sp>
      <p:sp>
        <p:nvSpPr>
          <p:cNvPr id="80" name="Shape 78"/>
          <p:cNvSpPr/>
          <p:nvPr/>
        </p:nvSpPr>
        <p:spPr>
          <a:xfrm rot="2700000">
            <a:off x="8906256" y="694944"/>
            <a:ext cx="77724" cy="77724"/>
          </a:xfrm>
          <a:prstGeom prst="rect">
            <a:avLst/>
          </a:prstGeom>
          <a:solidFill>
            <a:srgbClr val="D4951A">
              <a:alpha val="48000"/>
            </a:srgbClr>
          </a:solidFill>
          <a:ln w="12700">
            <a:solidFill>
              <a:srgbClr val="D4951A"/>
            </a:solidFill>
            <a:prstDash val="solid"/>
          </a:ln>
        </p:spPr>
      </p:sp>
      <p:sp>
        <p:nvSpPr>
          <p:cNvPr id="81" name="Shape 79"/>
          <p:cNvSpPr/>
          <p:nvPr/>
        </p:nvSpPr>
        <p:spPr>
          <a:xfrm rot="2700000">
            <a:off x="9023299" y="694944"/>
            <a:ext cx="77724" cy="77724"/>
          </a:xfrm>
          <a:prstGeom prst="rect">
            <a:avLst/>
          </a:prstGeom>
          <a:solidFill>
            <a:srgbClr val="D4951A">
              <a:alpha val="48000"/>
            </a:srgbClr>
          </a:solidFill>
          <a:ln w="12700">
            <a:solidFill>
              <a:srgbClr val="D4951A"/>
            </a:solidFill>
            <a:prstDash val="solid"/>
          </a:ln>
        </p:spPr>
      </p:sp>
      <p:sp>
        <p:nvSpPr>
          <p:cNvPr id="82" name="Text 80"/>
          <p:cNvSpPr/>
          <p:nvPr/>
        </p:nvSpPr>
        <p:spPr>
          <a:xfrm>
            <a:off x="201168" y="0"/>
            <a:ext cx="8046720" cy="475488"/>
          </a:xfrm>
          <a:prstGeom prst="rect">
            <a:avLst/>
          </a:prstGeom>
          <a:noFill/>
          <a:ln/>
        </p:spPr>
        <p:txBody>
          <a:bodyPr wrap="square" rtlCol="0" anchor="b"/>
          <a:lstStyle/>
          <a:p>
            <a:pPr indent="0" marL="0">
              <a:buNone/>
            </a:pPr>
            <a:r>
              <a:rPr lang="en-US" sz="1900" b="1" spc="80" kern="0" dirty="0">
                <a:solidFill>
                  <a:srgbClr val="D4951A"/>
                </a:solidFill>
                <a:latin typeface="Georgia" pitchFamily="34" charset="0"/>
                <a:ea typeface="Georgia" pitchFamily="34" charset="-122"/>
                <a:cs typeface="Georgia" pitchFamily="34" charset="-120"/>
              </a:rPr>
              <a:t>IMPLEMENTATION ROADMAP</a:t>
            </a:r>
            <a:endParaRPr lang="en-US" sz="1900" dirty="0"/>
          </a:p>
        </p:txBody>
      </p:sp>
      <p:sp>
        <p:nvSpPr>
          <p:cNvPr id="83" name="Text 81"/>
          <p:cNvSpPr/>
          <p:nvPr/>
        </p:nvSpPr>
        <p:spPr>
          <a:xfrm>
            <a:off x="201168" y="475488"/>
            <a:ext cx="8046720" cy="301752"/>
          </a:xfrm>
          <a:prstGeom prst="rect">
            <a:avLst/>
          </a:prstGeom>
          <a:noFill/>
          <a:ln/>
        </p:spPr>
        <p:txBody>
          <a:bodyPr wrap="square" rtlCol="0" anchor="t"/>
          <a:lstStyle/>
          <a:p>
            <a:pPr indent="0" marL="0">
              <a:buNone/>
            </a:pPr>
            <a:r>
              <a:rPr lang="en-US" sz="1000" i="1" dirty="0">
                <a:solidFill>
                  <a:srgbClr val="6B7A8A"/>
                </a:solidFill>
                <a:latin typeface="Calibri" pitchFamily="34" charset="0"/>
                <a:ea typeface="Calibri" pitchFamily="34" charset="-122"/>
                <a:cs typeface="Calibri" pitchFamily="34" charset="-120"/>
              </a:rPr>
              <a:t>From decision to first steam — critical path milestones</a:t>
            </a:r>
            <a:endParaRPr lang="en-US" sz="1000" dirty="0"/>
          </a:p>
        </p:txBody>
      </p:sp>
      <p:sp>
        <p:nvSpPr>
          <p:cNvPr id="84" name="Shape 82"/>
          <p:cNvSpPr/>
          <p:nvPr/>
        </p:nvSpPr>
        <p:spPr>
          <a:xfrm rot="2700000">
            <a:off x="8631936" y="146304"/>
            <a:ext cx="82296" cy="82296"/>
          </a:xfrm>
          <a:prstGeom prst="rect">
            <a:avLst/>
          </a:prstGeom>
          <a:solidFill>
            <a:srgbClr val="D4951A"/>
          </a:solidFill>
          <a:ln w="12700">
            <a:solidFill>
              <a:srgbClr val="05050A"/>
            </a:solidFill>
            <a:prstDash val="solid"/>
          </a:ln>
        </p:spPr>
      </p:sp>
      <p:sp>
        <p:nvSpPr>
          <p:cNvPr id="85" name="Shape 83"/>
          <p:cNvSpPr/>
          <p:nvPr/>
        </p:nvSpPr>
        <p:spPr>
          <a:xfrm rot="2700000">
            <a:off x="8503920" y="146304"/>
            <a:ext cx="82296" cy="82296"/>
          </a:xfrm>
          <a:prstGeom prst="rect">
            <a:avLst/>
          </a:prstGeom>
          <a:solidFill>
            <a:srgbClr val="1B9A8A"/>
          </a:solidFill>
          <a:ln w="12700">
            <a:solidFill>
              <a:srgbClr val="05050A"/>
            </a:solidFill>
            <a:prstDash val="solid"/>
          </a:ln>
        </p:spPr>
      </p:sp>
      <p:sp>
        <p:nvSpPr>
          <p:cNvPr id="86" name="Shape 84"/>
          <p:cNvSpPr/>
          <p:nvPr/>
        </p:nvSpPr>
        <p:spPr>
          <a:xfrm rot="2700000">
            <a:off x="8375904" y="146304"/>
            <a:ext cx="82296" cy="82296"/>
          </a:xfrm>
          <a:prstGeom prst="rect">
            <a:avLst/>
          </a:prstGeom>
          <a:solidFill>
            <a:srgbClr val="D4951A"/>
          </a:solidFill>
          <a:ln w="12700">
            <a:solidFill>
              <a:srgbClr val="05050A"/>
            </a:solidFill>
            <a:prstDash val="solid"/>
          </a:ln>
        </p:spPr>
      </p:sp>
      <p:sp>
        <p:nvSpPr>
          <p:cNvPr id="87" name="Shape 85"/>
          <p:cNvSpPr/>
          <p:nvPr/>
        </p:nvSpPr>
        <p:spPr>
          <a:xfrm rot="2700000">
            <a:off x="8247888" y="146304"/>
            <a:ext cx="82296" cy="82296"/>
          </a:xfrm>
          <a:prstGeom prst="rect">
            <a:avLst/>
          </a:prstGeom>
          <a:solidFill>
            <a:srgbClr val="1B9A8A"/>
          </a:solidFill>
          <a:ln w="12700">
            <a:solidFill>
              <a:srgbClr val="05050A"/>
            </a:solidFill>
            <a:prstDash val="solid"/>
          </a:ln>
        </p:spPr>
      </p:sp>
      <p:sp>
        <p:nvSpPr>
          <p:cNvPr id="88" name="Shape 86"/>
          <p:cNvSpPr/>
          <p:nvPr/>
        </p:nvSpPr>
        <p:spPr>
          <a:xfrm>
            <a:off x="256032" y="932688"/>
            <a:ext cx="2834640" cy="1965960"/>
          </a:xfrm>
          <a:prstGeom prst="rect">
            <a:avLst/>
          </a:prstGeom>
          <a:solidFill>
            <a:srgbClr val="141418"/>
          </a:solidFill>
          <a:ln w="12700">
            <a:solidFill>
              <a:srgbClr val="C0622B"/>
            </a:solidFill>
            <a:prstDash val="solid"/>
          </a:ln>
          <a:effectLst>
            <a:outerShdw sx="100000" sy="100000" kx="0" ky="0" algn="bl" rotWithShape="0" blurRad="76200" dist="25400" dir="8100000">
              <a:srgbClr val="000000">
                <a:alpha val="30000"/>
              </a:srgbClr>
            </a:outerShdw>
          </a:effectLst>
        </p:spPr>
      </p:sp>
      <p:sp>
        <p:nvSpPr>
          <p:cNvPr id="89" name="Shape 87"/>
          <p:cNvSpPr/>
          <p:nvPr/>
        </p:nvSpPr>
        <p:spPr>
          <a:xfrm>
            <a:off x="256032" y="932688"/>
            <a:ext cx="530352" cy="1965960"/>
          </a:xfrm>
          <a:prstGeom prst="rect">
            <a:avLst/>
          </a:prstGeom>
          <a:solidFill>
            <a:srgbClr val="C0622B"/>
          </a:solidFill>
          <a:ln/>
        </p:spPr>
      </p:sp>
      <p:sp>
        <p:nvSpPr>
          <p:cNvPr id="90" name="Shape 88"/>
          <p:cNvSpPr/>
          <p:nvPr/>
        </p:nvSpPr>
        <p:spPr>
          <a:xfrm rot="2700000">
            <a:off x="457200" y="1847088"/>
            <a:ext cx="128016" cy="128016"/>
          </a:xfrm>
          <a:prstGeom prst="rect">
            <a:avLst/>
          </a:prstGeom>
          <a:solidFill>
            <a:srgbClr val="09090F"/>
          </a:solidFill>
          <a:ln w="12700">
            <a:solidFill>
              <a:srgbClr val="09090F"/>
            </a:solidFill>
            <a:prstDash val="solid"/>
          </a:ln>
        </p:spPr>
      </p:sp>
      <p:sp>
        <p:nvSpPr>
          <p:cNvPr id="91" name="Text 89"/>
          <p:cNvSpPr/>
          <p:nvPr/>
        </p:nvSpPr>
        <p:spPr>
          <a:xfrm>
            <a:off x="256032"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01</a:t>
            </a:r>
            <a:endParaRPr lang="en-US" sz="2200" dirty="0"/>
          </a:p>
        </p:txBody>
      </p:sp>
      <p:sp>
        <p:nvSpPr>
          <p:cNvPr id="92" name="Text 90"/>
          <p:cNvSpPr/>
          <p:nvPr/>
        </p:nvSpPr>
        <p:spPr>
          <a:xfrm>
            <a:off x="859536" y="987552"/>
            <a:ext cx="2176272" cy="438912"/>
          </a:xfrm>
          <a:prstGeom prst="rect">
            <a:avLst/>
          </a:prstGeom>
          <a:noFill/>
          <a:ln/>
        </p:spPr>
        <p:txBody>
          <a:bodyPr wrap="square" rtlCol="0" anchor="ctr"/>
          <a:lstStyle/>
          <a:p>
            <a:pPr indent="0" marL="0">
              <a:buNone/>
            </a:pPr>
            <a:r>
              <a:rPr lang="en-US" sz="1100" b="1" dirty="0">
                <a:solidFill>
                  <a:srgbClr val="C0622B"/>
                </a:solidFill>
                <a:latin typeface="Georgia" pitchFamily="34" charset="0"/>
                <a:ea typeface="Georgia" pitchFamily="34" charset="-122"/>
                <a:cs typeface="Georgia" pitchFamily="34" charset="-120"/>
              </a:rPr>
              <a:t>Validate Steam</a:t>
            </a:r>
            <a:endParaRPr lang="en-US" sz="1100" dirty="0"/>
          </a:p>
          <a:p>
            <a:pPr indent="0" marL="0">
              <a:buNone/>
            </a:pPr>
            <a:r>
              <a:rPr lang="en-US" sz="1100" b="1" dirty="0">
                <a:solidFill>
                  <a:srgbClr val="C0622B"/>
                </a:solidFill>
                <a:latin typeface="Georgia" pitchFamily="34" charset="0"/>
                <a:ea typeface="Georgia" pitchFamily="34" charset="-122"/>
                <a:cs typeface="Georgia" pitchFamily="34" charset="-120"/>
              </a:rPr>
              <a:t>Demand</a:t>
            </a:r>
            <a:endParaRPr lang="en-US" sz="1100" dirty="0"/>
          </a:p>
        </p:txBody>
      </p:sp>
      <p:sp>
        <p:nvSpPr>
          <p:cNvPr id="93" name="Text 91"/>
          <p:cNvSpPr/>
          <p:nvPr/>
        </p:nvSpPr>
        <p:spPr>
          <a:xfrm>
            <a:off x="859536"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NOW — 2 Weeks</a:t>
            </a:r>
            <a:endParaRPr lang="en-US" sz="750" dirty="0"/>
          </a:p>
        </p:txBody>
      </p:sp>
      <p:sp>
        <p:nvSpPr>
          <p:cNvPr id="94" name="Text 92"/>
          <p:cNvSpPr/>
          <p:nvPr/>
        </p:nvSpPr>
        <p:spPr>
          <a:xfrm>
            <a:off x="859536"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Obtain FAMSUN steam consumption table per process step</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Verify 2,123 Kg/H is confirmed total — not estimate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 FAMSUN conditioner inlet pressure requirement</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 steam demand for dryer, CIP, trace heating separately</a:t>
            </a:r>
            <a:endParaRPr lang="en-US" sz="800" dirty="0"/>
          </a:p>
        </p:txBody>
      </p:sp>
      <p:sp>
        <p:nvSpPr>
          <p:cNvPr id="95" name="Shape 93"/>
          <p:cNvSpPr/>
          <p:nvPr/>
        </p:nvSpPr>
        <p:spPr>
          <a:xfrm>
            <a:off x="3200400" y="932688"/>
            <a:ext cx="2834640" cy="1965960"/>
          </a:xfrm>
          <a:prstGeom prst="rect">
            <a:avLst/>
          </a:prstGeom>
          <a:solidFill>
            <a:srgbClr val="141418"/>
          </a:solidFill>
          <a:ln w="12700">
            <a:solidFill>
              <a:srgbClr val="E8A020"/>
            </a:solidFill>
            <a:prstDash val="solid"/>
          </a:ln>
          <a:effectLst>
            <a:outerShdw sx="100000" sy="100000" kx="0" ky="0" algn="bl" rotWithShape="0" blurRad="76200" dist="25400" dir="8100000">
              <a:srgbClr val="000000">
                <a:alpha val="30000"/>
              </a:srgbClr>
            </a:outerShdw>
          </a:effectLst>
        </p:spPr>
      </p:sp>
      <p:sp>
        <p:nvSpPr>
          <p:cNvPr id="96" name="Shape 94"/>
          <p:cNvSpPr/>
          <p:nvPr/>
        </p:nvSpPr>
        <p:spPr>
          <a:xfrm>
            <a:off x="3200400" y="932688"/>
            <a:ext cx="530352" cy="1965960"/>
          </a:xfrm>
          <a:prstGeom prst="rect">
            <a:avLst/>
          </a:prstGeom>
          <a:solidFill>
            <a:srgbClr val="E8A020"/>
          </a:solidFill>
          <a:ln/>
        </p:spPr>
      </p:sp>
      <p:sp>
        <p:nvSpPr>
          <p:cNvPr id="97" name="Shape 95"/>
          <p:cNvSpPr/>
          <p:nvPr/>
        </p:nvSpPr>
        <p:spPr>
          <a:xfrm rot="2700000">
            <a:off x="3401568" y="1847088"/>
            <a:ext cx="128016" cy="128016"/>
          </a:xfrm>
          <a:prstGeom prst="rect">
            <a:avLst/>
          </a:prstGeom>
          <a:solidFill>
            <a:srgbClr val="09090F"/>
          </a:solidFill>
          <a:ln w="12700">
            <a:solidFill>
              <a:srgbClr val="09090F"/>
            </a:solidFill>
            <a:prstDash val="solid"/>
          </a:ln>
        </p:spPr>
      </p:sp>
      <p:sp>
        <p:nvSpPr>
          <p:cNvPr id="98" name="Text 96"/>
          <p:cNvSpPr/>
          <p:nvPr/>
        </p:nvSpPr>
        <p:spPr>
          <a:xfrm>
            <a:off x="3200400"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02</a:t>
            </a:r>
            <a:endParaRPr lang="en-US" sz="2200" dirty="0"/>
          </a:p>
        </p:txBody>
      </p:sp>
      <p:sp>
        <p:nvSpPr>
          <p:cNvPr id="99" name="Text 97"/>
          <p:cNvSpPr/>
          <p:nvPr/>
        </p:nvSpPr>
        <p:spPr>
          <a:xfrm>
            <a:off x="3803904" y="987552"/>
            <a:ext cx="2176272" cy="438912"/>
          </a:xfrm>
          <a:prstGeom prst="rect">
            <a:avLst/>
          </a:prstGeom>
          <a:noFill/>
          <a:ln/>
        </p:spPr>
        <p:txBody>
          <a:bodyPr wrap="square" rtlCol="0" anchor="ctr"/>
          <a:lstStyle/>
          <a:p>
            <a:pPr indent="0" marL="0">
              <a:buNone/>
            </a:pPr>
            <a:r>
              <a:rPr lang="en-US" sz="1100" b="1" dirty="0">
                <a:solidFill>
                  <a:srgbClr val="E8A020"/>
                </a:solidFill>
                <a:latin typeface="Georgia" pitchFamily="34" charset="0"/>
                <a:ea typeface="Georgia" pitchFamily="34" charset="-122"/>
                <a:cs typeface="Georgia" pitchFamily="34" charset="-120"/>
              </a:rPr>
              <a:t>Confirm LPG</a:t>
            </a:r>
            <a:endParaRPr lang="en-US" sz="1100" dirty="0"/>
          </a:p>
          <a:p>
            <a:pPr indent="0" marL="0">
              <a:buNone/>
            </a:pPr>
            <a:r>
              <a:rPr lang="en-US" sz="1100" b="1" dirty="0">
                <a:solidFill>
                  <a:srgbClr val="E8A020"/>
                </a:solidFill>
                <a:latin typeface="Georgia" pitchFamily="34" charset="0"/>
                <a:ea typeface="Georgia" pitchFamily="34" charset="-122"/>
                <a:cs typeface="Georgia" pitchFamily="34" charset="-120"/>
              </a:rPr>
              <a:t>Infrastructure</a:t>
            </a:r>
            <a:endParaRPr lang="en-US" sz="1100" dirty="0"/>
          </a:p>
        </p:txBody>
      </p:sp>
      <p:sp>
        <p:nvSpPr>
          <p:cNvPr id="100" name="Text 98"/>
          <p:cNvSpPr/>
          <p:nvPr/>
        </p:nvSpPr>
        <p:spPr>
          <a:xfrm>
            <a:off x="3803904"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NOW — 2 Weeks</a:t>
            </a:r>
            <a:endParaRPr lang="en-US" sz="750" dirty="0"/>
          </a:p>
        </p:txBody>
      </p:sp>
      <p:sp>
        <p:nvSpPr>
          <p:cNvPr id="101" name="Text 99"/>
          <p:cNvSpPr/>
          <p:nvPr/>
        </p:nvSpPr>
        <p:spPr>
          <a:xfrm>
            <a:off x="3803904"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 LPG supplier and delivery logistics to site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Confirm site access for 15T bulk tank installation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Engage civil team for LPG bund and gas detection scope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Decision: dual-fuel burner now or LPG-only?</a:t>
            </a:r>
            <a:endParaRPr lang="en-US" sz="800" dirty="0"/>
          </a:p>
        </p:txBody>
      </p:sp>
      <p:sp>
        <p:nvSpPr>
          <p:cNvPr id="102" name="Shape 100"/>
          <p:cNvSpPr/>
          <p:nvPr/>
        </p:nvSpPr>
        <p:spPr>
          <a:xfrm>
            <a:off x="6144768" y="932688"/>
            <a:ext cx="2834640" cy="1965960"/>
          </a:xfrm>
          <a:prstGeom prst="rect">
            <a:avLst/>
          </a:prstGeom>
          <a:solidFill>
            <a:srgbClr val="141418"/>
          </a:solidFill>
          <a:ln w="12700">
            <a:solidFill>
              <a:srgbClr val="D4951A"/>
            </a:solidFill>
            <a:prstDash val="solid"/>
          </a:ln>
          <a:effectLst>
            <a:outerShdw sx="100000" sy="100000" kx="0" ky="0" algn="bl" rotWithShape="0" blurRad="76200" dist="25400" dir="8100000">
              <a:srgbClr val="000000">
                <a:alpha val="30000"/>
              </a:srgbClr>
            </a:outerShdw>
          </a:effectLst>
        </p:spPr>
      </p:sp>
      <p:sp>
        <p:nvSpPr>
          <p:cNvPr id="103" name="Shape 101"/>
          <p:cNvSpPr/>
          <p:nvPr/>
        </p:nvSpPr>
        <p:spPr>
          <a:xfrm>
            <a:off x="6144768" y="932688"/>
            <a:ext cx="530352" cy="1965960"/>
          </a:xfrm>
          <a:prstGeom prst="rect">
            <a:avLst/>
          </a:prstGeom>
          <a:solidFill>
            <a:srgbClr val="D4951A"/>
          </a:solidFill>
          <a:ln/>
        </p:spPr>
      </p:sp>
      <p:sp>
        <p:nvSpPr>
          <p:cNvPr id="104" name="Shape 102"/>
          <p:cNvSpPr/>
          <p:nvPr/>
        </p:nvSpPr>
        <p:spPr>
          <a:xfrm rot="2700000">
            <a:off x="6345936" y="1847088"/>
            <a:ext cx="128016" cy="128016"/>
          </a:xfrm>
          <a:prstGeom prst="rect">
            <a:avLst/>
          </a:prstGeom>
          <a:solidFill>
            <a:srgbClr val="09090F"/>
          </a:solidFill>
          <a:ln w="12700">
            <a:solidFill>
              <a:srgbClr val="09090F"/>
            </a:solidFill>
            <a:prstDash val="solid"/>
          </a:ln>
        </p:spPr>
      </p:sp>
      <p:sp>
        <p:nvSpPr>
          <p:cNvPr id="105" name="Text 103"/>
          <p:cNvSpPr/>
          <p:nvPr/>
        </p:nvSpPr>
        <p:spPr>
          <a:xfrm>
            <a:off x="6144768" y="932688"/>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03</a:t>
            </a:r>
            <a:endParaRPr lang="en-US" sz="2200" dirty="0"/>
          </a:p>
        </p:txBody>
      </p:sp>
      <p:sp>
        <p:nvSpPr>
          <p:cNvPr id="106" name="Text 104"/>
          <p:cNvSpPr/>
          <p:nvPr/>
        </p:nvSpPr>
        <p:spPr>
          <a:xfrm>
            <a:off x="6748272" y="987552"/>
            <a:ext cx="2176272" cy="438912"/>
          </a:xfrm>
          <a:prstGeom prst="rect">
            <a:avLst/>
          </a:prstGeom>
          <a:noFill/>
          <a:ln/>
        </p:spPr>
        <p:txBody>
          <a:bodyPr wrap="square" rtlCol="0" anchor="ctr"/>
          <a:lstStyle/>
          <a:p>
            <a:pPr indent="0" marL="0">
              <a:buNone/>
            </a:pPr>
            <a:r>
              <a:rPr lang="en-US" sz="1100" b="1" dirty="0">
                <a:solidFill>
                  <a:srgbClr val="D4951A"/>
                </a:solidFill>
                <a:latin typeface="Georgia" pitchFamily="34" charset="0"/>
                <a:ea typeface="Georgia" pitchFamily="34" charset="-122"/>
                <a:cs typeface="Georgia" pitchFamily="34" charset="-120"/>
              </a:rPr>
              <a:t>Issue Tender</a:t>
            </a:r>
            <a:endParaRPr lang="en-US" sz="1100" dirty="0"/>
          </a:p>
          <a:p>
            <a:pPr indent="0" marL="0">
              <a:buNone/>
            </a:pPr>
            <a:r>
              <a:rPr lang="en-US" sz="1100" b="1" dirty="0">
                <a:solidFill>
                  <a:srgbClr val="D4951A"/>
                </a:solidFill>
                <a:latin typeface="Georgia" pitchFamily="34" charset="0"/>
                <a:ea typeface="Georgia" pitchFamily="34" charset="-122"/>
                <a:cs typeface="Georgia" pitchFamily="34" charset="-120"/>
              </a:rPr>
              <a:t>&amp; Select</a:t>
            </a:r>
            <a:endParaRPr lang="en-US" sz="1100" dirty="0"/>
          </a:p>
        </p:txBody>
      </p:sp>
      <p:sp>
        <p:nvSpPr>
          <p:cNvPr id="107" name="Text 105"/>
          <p:cNvSpPr/>
          <p:nvPr/>
        </p:nvSpPr>
        <p:spPr>
          <a:xfrm>
            <a:off x="6748272" y="1408176"/>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Weeks 2–6</a:t>
            </a:r>
            <a:endParaRPr lang="en-US" sz="750" dirty="0"/>
          </a:p>
        </p:txBody>
      </p:sp>
      <p:sp>
        <p:nvSpPr>
          <p:cNvPr id="108" name="Text 106"/>
          <p:cNvSpPr/>
          <p:nvPr/>
        </p:nvSpPr>
        <p:spPr>
          <a:xfrm>
            <a:off x="6748272" y="1627632"/>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Issue RFQ to Miura (EU office), Clayton Industries, Cleaver-Brooks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Mandatory: CE marking, LPG rating, NSF H1 compatibility</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Request OTSG and fire-tube alternatives for comparison</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Evaluate on 5-year TCO, not purchase price alone</a:t>
            </a:r>
            <a:endParaRPr lang="en-US" sz="800" dirty="0"/>
          </a:p>
        </p:txBody>
      </p:sp>
      <p:sp>
        <p:nvSpPr>
          <p:cNvPr id="109" name="Shape 107"/>
          <p:cNvSpPr/>
          <p:nvPr/>
        </p:nvSpPr>
        <p:spPr>
          <a:xfrm>
            <a:off x="256032" y="2980944"/>
            <a:ext cx="2834640" cy="1965960"/>
          </a:xfrm>
          <a:prstGeom prst="rect">
            <a:avLst/>
          </a:prstGeom>
          <a:solidFill>
            <a:srgbClr val="141418"/>
          </a:solidFill>
          <a:ln w="12700">
            <a:solidFill>
              <a:srgbClr val="1B9A8A"/>
            </a:solidFill>
            <a:prstDash val="solid"/>
          </a:ln>
          <a:effectLst>
            <a:outerShdw sx="100000" sy="100000" kx="0" ky="0" algn="bl" rotWithShape="0" blurRad="76200" dist="25400" dir="8100000">
              <a:srgbClr val="000000">
                <a:alpha val="30000"/>
              </a:srgbClr>
            </a:outerShdw>
          </a:effectLst>
        </p:spPr>
      </p:sp>
      <p:sp>
        <p:nvSpPr>
          <p:cNvPr id="110" name="Shape 108"/>
          <p:cNvSpPr/>
          <p:nvPr/>
        </p:nvSpPr>
        <p:spPr>
          <a:xfrm>
            <a:off x="256032" y="2980944"/>
            <a:ext cx="530352" cy="1965960"/>
          </a:xfrm>
          <a:prstGeom prst="rect">
            <a:avLst/>
          </a:prstGeom>
          <a:solidFill>
            <a:srgbClr val="1B9A8A"/>
          </a:solidFill>
          <a:ln/>
        </p:spPr>
      </p:sp>
      <p:sp>
        <p:nvSpPr>
          <p:cNvPr id="111" name="Shape 109"/>
          <p:cNvSpPr/>
          <p:nvPr/>
        </p:nvSpPr>
        <p:spPr>
          <a:xfrm rot="2700000">
            <a:off x="457200" y="3895344"/>
            <a:ext cx="128016" cy="128016"/>
          </a:xfrm>
          <a:prstGeom prst="rect">
            <a:avLst/>
          </a:prstGeom>
          <a:solidFill>
            <a:srgbClr val="09090F"/>
          </a:solidFill>
          <a:ln w="12700">
            <a:solidFill>
              <a:srgbClr val="09090F"/>
            </a:solidFill>
            <a:prstDash val="solid"/>
          </a:ln>
        </p:spPr>
      </p:sp>
      <p:sp>
        <p:nvSpPr>
          <p:cNvPr id="112" name="Text 110"/>
          <p:cNvSpPr/>
          <p:nvPr/>
        </p:nvSpPr>
        <p:spPr>
          <a:xfrm>
            <a:off x="256032"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04</a:t>
            </a:r>
            <a:endParaRPr lang="en-US" sz="2200" dirty="0"/>
          </a:p>
        </p:txBody>
      </p:sp>
      <p:sp>
        <p:nvSpPr>
          <p:cNvPr id="113" name="Text 111"/>
          <p:cNvSpPr/>
          <p:nvPr/>
        </p:nvSpPr>
        <p:spPr>
          <a:xfrm>
            <a:off x="859536" y="3035808"/>
            <a:ext cx="2176272" cy="438912"/>
          </a:xfrm>
          <a:prstGeom prst="rect">
            <a:avLst/>
          </a:prstGeom>
          <a:noFill/>
          <a:ln/>
        </p:spPr>
        <p:txBody>
          <a:bodyPr wrap="square" rtlCol="0" anchor="ctr"/>
          <a:lstStyle/>
          <a:p>
            <a:pPr indent="0" marL="0">
              <a:buNone/>
            </a:pPr>
            <a:r>
              <a:rPr lang="en-US" sz="1100" b="1" dirty="0">
                <a:solidFill>
                  <a:srgbClr val="1B9A8A"/>
                </a:solidFill>
                <a:latin typeface="Georgia" pitchFamily="34" charset="0"/>
                <a:ea typeface="Georgia" pitchFamily="34" charset="-122"/>
                <a:cs typeface="Georgia" pitchFamily="34" charset="-120"/>
              </a:rPr>
              <a:t>Place Order</a:t>
            </a:r>
            <a:endParaRPr lang="en-US" sz="1100" dirty="0"/>
          </a:p>
          <a:p>
            <a:pPr indent="0" marL="0">
              <a:buNone/>
            </a:pPr>
            <a:r>
              <a:rPr lang="en-US" sz="1100" b="1" dirty="0">
                <a:solidFill>
                  <a:srgbClr val="1B9A8A"/>
                </a:solidFill>
                <a:latin typeface="Georgia" pitchFamily="34" charset="0"/>
                <a:ea typeface="Georgia" pitchFamily="34" charset="-122"/>
                <a:cs typeface="Georgia" pitchFamily="34" charset="-120"/>
              </a:rPr>
              <a:t>&amp; Track</a:t>
            </a:r>
            <a:endParaRPr lang="en-US" sz="1100" dirty="0"/>
          </a:p>
        </p:txBody>
      </p:sp>
      <p:sp>
        <p:nvSpPr>
          <p:cNvPr id="114" name="Text 112"/>
          <p:cNvSpPr/>
          <p:nvPr/>
        </p:nvSpPr>
        <p:spPr>
          <a:xfrm>
            <a:off x="859536"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Week 6–8</a:t>
            </a:r>
            <a:endParaRPr lang="en-US" sz="750" dirty="0"/>
          </a:p>
        </p:txBody>
      </p:sp>
      <p:sp>
        <p:nvSpPr>
          <p:cNvPr id="115" name="Text 113"/>
          <p:cNvSpPr/>
          <p:nvPr/>
        </p:nvSpPr>
        <p:spPr>
          <a:xfrm>
            <a:off x="859536"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Issue PO — boiler is on critical path to commissioning</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Request Factory Acceptance Test (FAT) date at manufacture</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Engage Moroccan pressure vessel inspection authority now</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Start water treatment package procurement in parallel</a:t>
            </a:r>
            <a:endParaRPr lang="en-US" sz="800" dirty="0"/>
          </a:p>
        </p:txBody>
      </p:sp>
      <p:sp>
        <p:nvSpPr>
          <p:cNvPr id="116" name="Shape 114"/>
          <p:cNvSpPr/>
          <p:nvPr/>
        </p:nvSpPr>
        <p:spPr>
          <a:xfrm>
            <a:off x="3200400" y="2980944"/>
            <a:ext cx="2834640" cy="1965960"/>
          </a:xfrm>
          <a:prstGeom prst="rect">
            <a:avLst/>
          </a:prstGeom>
          <a:solidFill>
            <a:srgbClr val="141418"/>
          </a:solidFill>
          <a:ln w="12700">
            <a:solidFill>
              <a:srgbClr val="1A5FA8"/>
            </a:solidFill>
            <a:prstDash val="solid"/>
          </a:ln>
          <a:effectLst>
            <a:outerShdw sx="100000" sy="100000" kx="0" ky="0" algn="bl" rotWithShape="0" blurRad="76200" dist="25400" dir="8100000">
              <a:srgbClr val="000000">
                <a:alpha val="30000"/>
              </a:srgbClr>
            </a:outerShdw>
          </a:effectLst>
        </p:spPr>
      </p:sp>
      <p:sp>
        <p:nvSpPr>
          <p:cNvPr id="117" name="Shape 115"/>
          <p:cNvSpPr/>
          <p:nvPr/>
        </p:nvSpPr>
        <p:spPr>
          <a:xfrm>
            <a:off x="3200400" y="2980944"/>
            <a:ext cx="530352" cy="1965960"/>
          </a:xfrm>
          <a:prstGeom prst="rect">
            <a:avLst/>
          </a:prstGeom>
          <a:solidFill>
            <a:srgbClr val="1A5FA8"/>
          </a:solidFill>
          <a:ln/>
        </p:spPr>
      </p:sp>
      <p:sp>
        <p:nvSpPr>
          <p:cNvPr id="118" name="Shape 116"/>
          <p:cNvSpPr/>
          <p:nvPr/>
        </p:nvSpPr>
        <p:spPr>
          <a:xfrm rot="2700000">
            <a:off x="3401568" y="3895344"/>
            <a:ext cx="128016" cy="128016"/>
          </a:xfrm>
          <a:prstGeom prst="rect">
            <a:avLst/>
          </a:prstGeom>
          <a:solidFill>
            <a:srgbClr val="09090F"/>
          </a:solidFill>
          <a:ln w="12700">
            <a:solidFill>
              <a:srgbClr val="09090F"/>
            </a:solidFill>
            <a:prstDash val="solid"/>
          </a:ln>
        </p:spPr>
      </p:sp>
      <p:sp>
        <p:nvSpPr>
          <p:cNvPr id="119" name="Text 117"/>
          <p:cNvSpPr/>
          <p:nvPr/>
        </p:nvSpPr>
        <p:spPr>
          <a:xfrm>
            <a:off x="3200400"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05</a:t>
            </a:r>
            <a:endParaRPr lang="en-US" sz="2200" dirty="0"/>
          </a:p>
        </p:txBody>
      </p:sp>
      <p:sp>
        <p:nvSpPr>
          <p:cNvPr id="120" name="Text 118"/>
          <p:cNvSpPr/>
          <p:nvPr/>
        </p:nvSpPr>
        <p:spPr>
          <a:xfrm>
            <a:off x="3803904" y="3035808"/>
            <a:ext cx="2176272" cy="438912"/>
          </a:xfrm>
          <a:prstGeom prst="rect">
            <a:avLst/>
          </a:prstGeom>
          <a:noFill/>
          <a:ln/>
        </p:spPr>
        <p:txBody>
          <a:bodyPr wrap="square" rtlCol="0" anchor="ctr"/>
          <a:lstStyle/>
          <a:p>
            <a:pPr indent="0" marL="0">
              <a:buNone/>
            </a:pPr>
            <a:r>
              <a:rPr lang="en-US" sz="1100" b="1" dirty="0">
                <a:solidFill>
                  <a:srgbClr val="1A5FA8"/>
                </a:solidFill>
                <a:latin typeface="Georgia" pitchFamily="34" charset="0"/>
                <a:ea typeface="Georgia" pitchFamily="34" charset="-122"/>
                <a:cs typeface="Georgia" pitchFamily="34" charset="-120"/>
              </a:rPr>
              <a:t>Install &amp;</a:t>
            </a:r>
            <a:endParaRPr lang="en-US" sz="1100" dirty="0"/>
          </a:p>
          <a:p>
            <a:pPr indent="0" marL="0">
              <a:buNone/>
            </a:pPr>
            <a:r>
              <a:rPr lang="en-US" sz="1100" b="1" dirty="0">
                <a:solidFill>
                  <a:srgbClr val="1A5FA8"/>
                </a:solidFill>
                <a:latin typeface="Georgia" pitchFamily="34" charset="0"/>
                <a:ea typeface="Georgia" pitchFamily="34" charset="-122"/>
                <a:cs typeface="Georgia" pitchFamily="34" charset="-120"/>
              </a:rPr>
              <a:t>Commission</a:t>
            </a:r>
            <a:endParaRPr lang="en-US" sz="1100" dirty="0"/>
          </a:p>
        </p:txBody>
      </p:sp>
      <p:sp>
        <p:nvSpPr>
          <p:cNvPr id="121" name="Text 119"/>
          <p:cNvSpPr/>
          <p:nvPr/>
        </p:nvSpPr>
        <p:spPr>
          <a:xfrm>
            <a:off x="3803904"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Per Gantt</a:t>
            </a:r>
            <a:endParaRPr lang="en-US" sz="750" dirty="0"/>
          </a:p>
        </p:txBody>
      </p:sp>
      <p:sp>
        <p:nvSpPr>
          <p:cNvPr id="122" name="Text 120"/>
          <p:cNvSpPr/>
          <p:nvPr/>
        </p:nvSpPr>
        <p:spPr>
          <a:xfrm>
            <a:off x="3803904"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Boiler room civil works complete before delivery</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Commissioning: utilities first — boiler before extruder trials</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LPG combustion analysis by certified engineer</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Safety valve test, low-water cutout test — documented</a:t>
            </a:r>
            <a:endParaRPr lang="en-US" sz="800" dirty="0"/>
          </a:p>
        </p:txBody>
      </p:sp>
      <p:sp>
        <p:nvSpPr>
          <p:cNvPr id="123" name="Shape 121"/>
          <p:cNvSpPr/>
          <p:nvPr/>
        </p:nvSpPr>
        <p:spPr>
          <a:xfrm>
            <a:off x="6144768" y="2980944"/>
            <a:ext cx="2834640" cy="1965960"/>
          </a:xfrm>
          <a:prstGeom prst="rect">
            <a:avLst/>
          </a:prstGeom>
          <a:solidFill>
            <a:srgbClr val="141418"/>
          </a:solidFill>
          <a:ln w="12700">
            <a:solidFill>
              <a:srgbClr val="3DAF7A"/>
            </a:solidFill>
            <a:prstDash val="solid"/>
          </a:ln>
          <a:effectLst>
            <a:outerShdw sx="100000" sy="100000" kx="0" ky="0" algn="bl" rotWithShape="0" blurRad="76200" dist="25400" dir="8100000">
              <a:srgbClr val="000000">
                <a:alpha val="30000"/>
              </a:srgbClr>
            </a:outerShdw>
          </a:effectLst>
        </p:spPr>
      </p:sp>
      <p:sp>
        <p:nvSpPr>
          <p:cNvPr id="124" name="Shape 122"/>
          <p:cNvSpPr/>
          <p:nvPr/>
        </p:nvSpPr>
        <p:spPr>
          <a:xfrm>
            <a:off x="6144768" y="2980944"/>
            <a:ext cx="530352" cy="1965960"/>
          </a:xfrm>
          <a:prstGeom prst="rect">
            <a:avLst/>
          </a:prstGeom>
          <a:solidFill>
            <a:srgbClr val="3DAF7A"/>
          </a:solidFill>
          <a:ln/>
        </p:spPr>
      </p:sp>
      <p:sp>
        <p:nvSpPr>
          <p:cNvPr id="125" name="Shape 123"/>
          <p:cNvSpPr/>
          <p:nvPr/>
        </p:nvSpPr>
        <p:spPr>
          <a:xfrm rot="2700000">
            <a:off x="6345936" y="3895344"/>
            <a:ext cx="128016" cy="128016"/>
          </a:xfrm>
          <a:prstGeom prst="rect">
            <a:avLst/>
          </a:prstGeom>
          <a:solidFill>
            <a:srgbClr val="09090F"/>
          </a:solidFill>
          <a:ln w="12700">
            <a:solidFill>
              <a:srgbClr val="09090F"/>
            </a:solidFill>
            <a:prstDash val="solid"/>
          </a:ln>
        </p:spPr>
      </p:sp>
      <p:sp>
        <p:nvSpPr>
          <p:cNvPr id="126" name="Text 124"/>
          <p:cNvSpPr/>
          <p:nvPr/>
        </p:nvSpPr>
        <p:spPr>
          <a:xfrm>
            <a:off x="6144768" y="2980944"/>
            <a:ext cx="530352" cy="1965960"/>
          </a:xfrm>
          <a:prstGeom prst="rect">
            <a:avLst/>
          </a:prstGeom>
          <a:noFill/>
          <a:ln/>
        </p:spPr>
        <p:txBody>
          <a:bodyPr wrap="square" rtlCol="0" anchor="ctr"/>
          <a:lstStyle/>
          <a:p>
            <a:pPr algn="ctr" indent="0" marL="0">
              <a:buNone/>
            </a:pPr>
            <a:r>
              <a:rPr lang="en-US" sz="2200" b="1" dirty="0">
                <a:solidFill>
                  <a:srgbClr val="09090F"/>
                </a:solidFill>
                <a:latin typeface="Georgia" pitchFamily="34" charset="0"/>
                <a:ea typeface="Georgia" pitchFamily="34" charset="-122"/>
                <a:cs typeface="Georgia" pitchFamily="34" charset="-120"/>
              </a:rPr>
              <a:t>06</a:t>
            </a:r>
            <a:endParaRPr lang="en-US" sz="2200" dirty="0"/>
          </a:p>
        </p:txBody>
      </p:sp>
      <p:sp>
        <p:nvSpPr>
          <p:cNvPr id="127" name="Text 125"/>
          <p:cNvSpPr/>
          <p:nvPr/>
        </p:nvSpPr>
        <p:spPr>
          <a:xfrm>
            <a:off x="6748272" y="3035808"/>
            <a:ext cx="2176272" cy="438912"/>
          </a:xfrm>
          <a:prstGeom prst="rect">
            <a:avLst/>
          </a:prstGeom>
          <a:noFill/>
          <a:ln/>
        </p:spPr>
        <p:txBody>
          <a:bodyPr wrap="square" rtlCol="0" anchor="ctr"/>
          <a:lstStyle/>
          <a:p>
            <a:pPr indent="0" marL="0">
              <a:buNone/>
            </a:pPr>
            <a:r>
              <a:rPr lang="en-US" sz="1100" b="1" dirty="0">
                <a:solidFill>
                  <a:srgbClr val="3DAF7A"/>
                </a:solidFill>
                <a:latin typeface="Georgia" pitchFamily="34" charset="0"/>
                <a:ea typeface="Georgia" pitchFamily="34" charset="-122"/>
                <a:cs typeface="Georgia" pitchFamily="34" charset="-120"/>
              </a:rPr>
              <a:t>Food Safety</a:t>
            </a:r>
            <a:endParaRPr lang="en-US" sz="1100" dirty="0"/>
          </a:p>
          <a:p>
            <a:pPr indent="0" marL="0">
              <a:buNone/>
            </a:pPr>
            <a:r>
              <a:rPr lang="en-US" sz="1100" b="1" dirty="0">
                <a:solidFill>
                  <a:srgbClr val="3DAF7A"/>
                </a:solidFill>
                <a:latin typeface="Georgia" pitchFamily="34" charset="0"/>
                <a:ea typeface="Georgia" pitchFamily="34" charset="-122"/>
                <a:cs typeface="Georgia" pitchFamily="34" charset="-120"/>
              </a:rPr>
              <a:t>Validation</a:t>
            </a:r>
            <a:endParaRPr lang="en-US" sz="1100" dirty="0"/>
          </a:p>
        </p:txBody>
      </p:sp>
      <p:sp>
        <p:nvSpPr>
          <p:cNvPr id="128" name="Text 126"/>
          <p:cNvSpPr/>
          <p:nvPr/>
        </p:nvSpPr>
        <p:spPr>
          <a:xfrm>
            <a:off x="6748272" y="3456432"/>
            <a:ext cx="2176272" cy="182880"/>
          </a:xfrm>
          <a:prstGeom prst="rect">
            <a:avLst/>
          </a:prstGeom>
          <a:noFill/>
          <a:ln/>
        </p:spPr>
        <p:txBody>
          <a:bodyPr wrap="square" rtlCol="0" anchor="ctr"/>
          <a:lstStyle/>
          <a:p>
            <a:pPr indent="0" marL="0">
              <a:buNone/>
            </a:pPr>
            <a:r>
              <a:rPr lang="en-US" sz="750" i="1" dirty="0">
                <a:solidFill>
                  <a:srgbClr val="6B7A8A"/>
                </a:solidFill>
                <a:latin typeface="Calibri" pitchFamily="34" charset="0"/>
                <a:ea typeface="Calibri" pitchFamily="34" charset="-122"/>
                <a:cs typeface="Calibri" pitchFamily="34" charset="-120"/>
              </a:rPr>
              <a:t>Post-Commission</a:t>
            </a:r>
            <a:endParaRPr lang="en-US" sz="750" dirty="0"/>
          </a:p>
        </p:txBody>
      </p:sp>
      <p:sp>
        <p:nvSpPr>
          <p:cNvPr id="129" name="Text 127"/>
          <p:cNvSpPr/>
          <p:nvPr/>
        </p:nvSpPr>
        <p:spPr>
          <a:xfrm>
            <a:off x="6748272" y="3675888"/>
            <a:ext cx="2176272" cy="1207008"/>
          </a:xfrm>
          <a:prstGeom prst="rect">
            <a:avLst/>
          </a:prstGeom>
          <a:noFill/>
          <a:ln/>
        </p:spPr>
        <p:txBody>
          <a:bodyPr wrap="square" rtlCol="0" anchor="t"/>
          <a:lstStyle/>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First steam quality sample to accredited laboratory</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HACCP plan: conditioner steam documented as CCP</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Daily boiler log system operational</a:t>
            </a:r>
            <a:endParaRPr lang="en-US" sz="800" dirty="0"/>
          </a:p>
          <a:p>
            <a:pPr indent="0" marL="0">
              <a:spcAft>
                <a:spcPts val="200"/>
              </a:spcAft>
              <a:buNone/>
            </a:pPr>
            <a:r>
              <a:rPr lang="en-US" sz="800" dirty="0">
                <a:solidFill>
                  <a:srgbClr val="EDE0C8"/>
                </a:solidFill>
                <a:latin typeface="Calibri" pitchFamily="34" charset="0"/>
                <a:ea typeface="Calibri" pitchFamily="34" charset="-122"/>
                <a:cs typeface="Calibri" pitchFamily="34" charset="-120"/>
              </a:rPr>
              <a:t>◆  Annual pressure vessel inspection scheduled and booked</a:t>
            </a:r>
            <a:endParaRPr lang="en-US" sz="800" dirty="0"/>
          </a:p>
        </p:txBody>
      </p:sp>
      <p:sp>
        <p:nvSpPr>
          <p:cNvPr id="130" name="Shape 128"/>
          <p:cNvSpPr/>
          <p:nvPr/>
        </p:nvSpPr>
        <p:spPr>
          <a:xfrm rot="2700000">
            <a:off x="10973" y="4846320"/>
            <a:ext cx="77724" cy="77724"/>
          </a:xfrm>
          <a:prstGeom prst="rect">
            <a:avLst/>
          </a:prstGeom>
          <a:solidFill>
            <a:srgbClr val="D4951A">
              <a:alpha val="11000"/>
            </a:srgbClr>
          </a:solidFill>
          <a:ln w="12700">
            <a:solidFill>
              <a:srgbClr val="D4951A"/>
            </a:solidFill>
            <a:prstDash val="solid"/>
          </a:ln>
        </p:spPr>
      </p:sp>
      <p:sp>
        <p:nvSpPr>
          <p:cNvPr id="131" name="Shape 129"/>
          <p:cNvSpPr/>
          <p:nvPr/>
        </p:nvSpPr>
        <p:spPr>
          <a:xfrm rot="2700000">
            <a:off x="128016" y="4846320"/>
            <a:ext cx="77724" cy="77724"/>
          </a:xfrm>
          <a:prstGeom prst="rect">
            <a:avLst/>
          </a:prstGeom>
          <a:solidFill>
            <a:srgbClr val="D4951A">
              <a:alpha val="11000"/>
            </a:srgbClr>
          </a:solidFill>
          <a:ln w="12700">
            <a:solidFill>
              <a:srgbClr val="D4951A"/>
            </a:solidFill>
            <a:prstDash val="solid"/>
          </a:ln>
        </p:spPr>
      </p:sp>
      <p:sp>
        <p:nvSpPr>
          <p:cNvPr id="132" name="Shape 130"/>
          <p:cNvSpPr/>
          <p:nvPr/>
        </p:nvSpPr>
        <p:spPr>
          <a:xfrm rot="2700000">
            <a:off x="245059" y="4846320"/>
            <a:ext cx="77724" cy="77724"/>
          </a:xfrm>
          <a:prstGeom prst="rect">
            <a:avLst/>
          </a:prstGeom>
          <a:solidFill>
            <a:srgbClr val="D4951A">
              <a:alpha val="11000"/>
            </a:srgbClr>
          </a:solidFill>
          <a:ln w="12700">
            <a:solidFill>
              <a:srgbClr val="D4951A"/>
            </a:solidFill>
            <a:prstDash val="solid"/>
          </a:ln>
        </p:spPr>
      </p:sp>
      <p:sp>
        <p:nvSpPr>
          <p:cNvPr id="133" name="Shape 131"/>
          <p:cNvSpPr/>
          <p:nvPr/>
        </p:nvSpPr>
        <p:spPr>
          <a:xfrm rot="2700000">
            <a:off x="362102" y="4846320"/>
            <a:ext cx="77724" cy="77724"/>
          </a:xfrm>
          <a:prstGeom prst="rect">
            <a:avLst/>
          </a:prstGeom>
          <a:solidFill>
            <a:srgbClr val="D4951A">
              <a:alpha val="11000"/>
            </a:srgbClr>
          </a:solidFill>
          <a:ln w="12700">
            <a:solidFill>
              <a:srgbClr val="D4951A"/>
            </a:solidFill>
            <a:prstDash val="solid"/>
          </a:ln>
        </p:spPr>
      </p:sp>
      <p:sp>
        <p:nvSpPr>
          <p:cNvPr id="134" name="Shape 132"/>
          <p:cNvSpPr/>
          <p:nvPr/>
        </p:nvSpPr>
        <p:spPr>
          <a:xfrm rot="2700000">
            <a:off x="479146" y="4846320"/>
            <a:ext cx="77724" cy="77724"/>
          </a:xfrm>
          <a:prstGeom prst="rect">
            <a:avLst/>
          </a:prstGeom>
          <a:solidFill>
            <a:srgbClr val="D4951A">
              <a:alpha val="11000"/>
            </a:srgbClr>
          </a:solidFill>
          <a:ln w="12700">
            <a:solidFill>
              <a:srgbClr val="D4951A"/>
            </a:solidFill>
            <a:prstDash val="solid"/>
          </a:ln>
        </p:spPr>
      </p:sp>
      <p:sp>
        <p:nvSpPr>
          <p:cNvPr id="135" name="Shape 133"/>
          <p:cNvSpPr/>
          <p:nvPr/>
        </p:nvSpPr>
        <p:spPr>
          <a:xfrm rot="2700000">
            <a:off x="596189" y="4846320"/>
            <a:ext cx="77724" cy="77724"/>
          </a:xfrm>
          <a:prstGeom prst="rect">
            <a:avLst/>
          </a:prstGeom>
          <a:solidFill>
            <a:srgbClr val="D4951A">
              <a:alpha val="11000"/>
            </a:srgbClr>
          </a:solidFill>
          <a:ln w="12700">
            <a:solidFill>
              <a:srgbClr val="D4951A"/>
            </a:solidFill>
            <a:prstDash val="solid"/>
          </a:ln>
        </p:spPr>
      </p:sp>
      <p:sp>
        <p:nvSpPr>
          <p:cNvPr id="136" name="Shape 134"/>
          <p:cNvSpPr/>
          <p:nvPr/>
        </p:nvSpPr>
        <p:spPr>
          <a:xfrm rot="2700000">
            <a:off x="713232" y="4846320"/>
            <a:ext cx="77724" cy="77724"/>
          </a:xfrm>
          <a:prstGeom prst="rect">
            <a:avLst/>
          </a:prstGeom>
          <a:solidFill>
            <a:srgbClr val="D4951A">
              <a:alpha val="11000"/>
            </a:srgbClr>
          </a:solidFill>
          <a:ln w="12700">
            <a:solidFill>
              <a:srgbClr val="D4951A"/>
            </a:solidFill>
            <a:prstDash val="solid"/>
          </a:ln>
        </p:spPr>
      </p:sp>
      <p:sp>
        <p:nvSpPr>
          <p:cNvPr id="137" name="Shape 135"/>
          <p:cNvSpPr/>
          <p:nvPr/>
        </p:nvSpPr>
        <p:spPr>
          <a:xfrm rot="2700000">
            <a:off x="830275" y="4846320"/>
            <a:ext cx="77724" cy="77724"/>
          </a:xfrm>
          <a:prstGeom prst="rect">
            <a:avLst/>
          </a:prstGeom>
          <a:solidFill>
            <a:srgbClr val="D4951A">
              <a:alpha val="11000"/>
            </a:srgbClr>
          </a:solidFill>
          <a:ln w="12700">
            <a:solidFill>
              <a:srgbClr val="D4951A"/>
            </a:solidFill>
            <a:prstDash val="solid"/>
          </a:ln>
        </p:spPr>
      </p:sp>
      <p:sp>
        <p:nvSpPr>
          <p:cNvPr id="138" name="Shape 136"/>
          <p:cNvSpPr/>
          <p:nvPr/>
        </p:nvSpPr>
        <p:spPr>
          <a:xfrm rot="2700000">
            <a:off x="947318" y="4846320"/>
            <a:ext cx="77724" cy="77724"/>
          </a:xfrm>
          <a:prstGeom prst="rect">
            <a:avLst/>
          </a:prstGeom>
          <a:solidFill>
            <a:srgbClr val="D4951A">
              <a:alpha val="11000"/>
            </a:srgbClr>
          </a:solidFill>
          <a:ln w="12700">
            <a:solidFill>
              <a:srgbClr val="D4951A"/>
            </a:solidFill>
            <a:prstDash val="solid"/>
          </a:ln>
        </p:spPr>
      </p:sp>
      <p:sp>
        <p:nvSpPr>
          <p:cNvPr id="139" name="Shape 137"/>
          <p:cNvSpPr/>
          <p:nvPr/>
        </p:nvSpPr>
        <p:spPr>
          <a:xfrm rot="2700000">
            <a:off x="1064362" y="4846320"/>
            <a:ext cx="77724" cy="77724"/>
          </a:xfrm>
          <a:prstGeom prst="rect">
            <a:avLst/>
          </a:prstGeom>
          <a:solidFill>
            <a:srgbClr val="D4951A">
              <a:alpha val="11000"/>
            </a:srgbClr>
          </a:solidFill>
          <a:ln w="12700">
            <a:solidFill>
              <a:srgbClr val="D4951A"/>
            </a:solidFill>
            <a:prstDash val="solid"/>
          </a:ln>
        </p:spPr>
      </p:sp>
      <p:sp>
        <p:nvSpPr>
          <p:cNvPr id="140" name="Shape 138"/>
          <p:cNvSpPr/>
          <p:nvPr/>
        </p:nvSpPr>
        <p:spPr>
          <a:xfrm rot="2700000">
            <a:off x="1181405" y="4846320"/>
            <a:ext cx="77724" cy="77724"/>
          </a:xfrm>
          <a:prstGeom prst="rect">
            <a:avLst/>
          </a:prstGeom>
          <a:solidFill>
            <a:srgbClr val="D4951A">
              <a:alpha val="11000"/>
            </a:srgbClr>
          </a:solidFill>
          <a:ln w="12700">
            <a:solidFill>
              <a:srgbClr val="D4951A"/>
            </a:solidFill>
            <a:prstDash val="solid"/>
          </a:ln>
        </p:spPr>
      </p:sp>
      <p:sp>
        <p:nvSpPr>
          <p:cNvPr id="141" name="Shape 139"/>
          <p:cNvSpPr/>
          <p:nvPr/>
        </p:nvSpPr>
        <p:spPr>
          <a:xfrm rot="2700000">
            <a:off x="1298448" y="4846320"/>
            <a:ext cx="77724" cy="77724"/>
          </a:xfrm>
          <a:prstGeom prst="rect">
            <a:avLst/>
          </a:prstGeom>
          <a:solidFill>
            <a:srgbClr val="D4951A">
              <a:alpha val="11000"/>
            </a:srgbClr>
          </a:solidFill>
          <a:ln w="12700">
            <a:solidFill>
              <a:srgbClr val="D4951A"/>
            </a:solidFill>
            <a:prstDash val="solid"/>
          </a:ln>
        </p:spPr>
      </p:sp>
      <p:sp>
        <p:nvSpPr>
          <p:cNvPr id="142" name="Shape 140"/>
          <p:cNvSpPr/>
          <p:nvPr/>
        </p:nvSpPr>
        <p:spPr>
          <a:xfrm rot="2700000">
            <a:off x="1415491" y="4846320"/>
            <a:ext cx="77724" cy="77724"/>
          </a:xfrm>
          <a:prstGeom prst="rect">
            <a:avLst/>
          </a:prstGeom>
          <a:solidFill>
            <a:srgbClr val="D4951A">
              <a:alpha val="11000"/>
            </a:srgbClr>
          </a:solidFill>
          <a:ln w="12700">
            <a:solidFill>
              <a:srgbClr val="D4951A"/>
            </a:solidFill>
            <a:prstDash val="solid"/>
          </a:ln>
        </p:spPr>
      </p:sp>
      <p:sp>
        <p:nvSpPr>
          <p:cNvPr id="143" name="Shape 141"/>
          <p:cNvSpPr/>
          <p:nvPr/>
        </p:nvSpPr>
        <p:spPr>
          <a:xfrm rot="2700000">
            <a:off x="1532534" y="4846320"/>
            <a:ext cx="77724" cy="77724"/>
          </a:xfrm>
          <a:prstGeom prst="rect">
            <a:avLst/>
          </a:prstGeom>
          <a:solidFill>
            <a:srgbClr val="D4951A">
              <a:alpha val="11000"/>
            </a:srgbClr>
          </a:solidFill>
          <a:ln w="12700">
            <a:solidFill>
              <a:srgbClr val="D4951A"/>
            </a:solidFill>
            <a:prstDash val="solid"/>
          </a:ln>
        </p:spPr>
      </p:sp>
      <p:sp>
        <p:nvSpPr>
          <p:cNvPr id="144" name="Shape 142"/>
          <p:cNvSpPr/>
          <p:nvPr/>
        </p:nvSpPr>
        <p:spPr>
          <a:xfrm rot="2700000">
            <a:off x="1649578" y="4846320"/>
            <a:ext cx="77724" cy="77724"/>
          </a:xfrm>
          <a:prstGeom prst="rect">
            <a:avLst/>
          </a:prstGeom>
          <a:solidFill>
            <a:srgbClr val="D4951A">
              <a:alpha val="11000"/>
            </a:srgbClr>
          </a:solidFill>
          <a:ln w="12700">
            <a:solidFill>
              <a:srgbClr val="D4951A"/>
            </a:solidFill>
            <a:prstDash val="solid"/>
          </a:ln>
        </p:spPr>
      </p:sp>
      <p:sp>
        <p:nvSpPr>
          <p:cNvPr id="145" name="Shape 143"/>
          <p:cNvSpPr/>
          <p:nvPr/>
        </p:nvSpPr>
        <p:spPr>
          <a:xfrm rot="2700000">
            <a:off x="1766621" y="4846320"/>
            <a:ext cx="77724" cy="77724"/>
          </a:xfrm>
          <a:prstGeom prst="rect">
            <a:avLst/>
          </a:prstGeom>
          <a:solidFill>
            <a:srgbClr val="D4951A">
              <a:alpha val="11000"/>
            </a:srgbClr>
          </a:solidFill>
          <a:ln w="12700">
            <a:solidFill>
              <a:srgbClr val="D4951A"/>
            </a:solidFill>
            <a:prstDash val="solid"/>
          </a:ln>
        </p:spPr>
      </p:sp>
      <p:sp>
        <p:nvSpPr>
          <p:cNvPr id="146" name="Shape 144"/>
          <p:cNvSpPr/>
          <p:nvPr/>
        </p:nvSpPr>
        <p:spPr>
          <a:xfrm rot="2700000">
            <a:off x="1883664" y="4846320"/>
            <a:ext cx="77724" cy="77724"/>
          </a:xfrm>
          <a:prstGeom prst="rect">
            <a:avLst/>
          </a:prstGeom>
          <a:solidFill>
            <a:srgbClr val="D4951A">
              <a:alpha val="11000"/>
            </a:srgbClr>
          </a:solidFill>
          <a:ln w="12700">
            <a:solidFill>
              <a:srgbClr val="D4951A"/>
            </a:solidFill>
            <a:prstDash val="solid"/>
          </a:ln>
        </p:spPr>
      </p:sp>
      <p:sp>
        <p:nvSpPr>
          <p:cNvPr id="147" name="Shape 145"/>
          <p:cNvSpPr/>
          <p:nvPr/>
        </p:nvSpPr>
        <p:spPr>
          <a:xfrm rot="2700000">
            <a:off x="2000707" y="4846320"/>
            <a:ext cx="77724" cy="77724"/>
          </a:xfrm>
          <a:prstGeom prst="rect">
            <a:avLst/>
          </a:prstGeom>
          <a:solidFill>
            <a:srgbClr val="D4951A">
              <a:alpha val="11000"/>
            </a:srgbClr>
          </a:solidFill>
          <a:ln w="12700">
            <a:solidFill>
              <a:srgbClr val="D4951A"/>
            </a:solidFill>
            <a:prstDash val="solid"/>
          </a:ln>
        </p:spPr>
      </p:sp>
      <p:sp>
        <p:nvSpPr>
          <p:cNvPr id="148" name="Shape 146"/>
          <p:cNvSpPr/>
          <p:nvPr/>
        </p:nvSpPr>
        <p:spPr>
          <a:xfrm rot="2700000">
            <a:off x="2117750" y="4846320"/>
            <a:ext cx="77724" cy="77724"/>
          </a:xfrm>
          <a:prstGeom prst="rect">
            <a:avLst/>
          </a:prstGeom>
          <a:solidFill>
            <a:srgbClr val="D4951A">
              <a:alpha val="11000"/>
            </a:srgbClr>
          </a:solidFill>
          <a:ln w="12700">
            <a:solidFill>
              <a:srgbClr val="D4951A"/>
            </a:solidFill>
            <a:prstDash val="solid"/>
          </a:ln>
        </p:spPr>
      </p:sp>
      <p:sp>
        <p:nvSpPr>
          <p:cNvPr id="149" name="Shape 147"/>
          <p:cNvSpPr/>
          <p:nvPr/>
        </p:nvSpPr>
        <p:spPr>
          <a:xfrm rot="2700000">
            <a:off x="2234794" y="4846320"/>
            <a:ext cx="77724" cy="77724"/>
          </a:xfrm>
          <a:prstGeom prst="rect">
            <a:avLst/>
          </a:prstGeom>
          <a:solidFill>
            <a:srgbClr val="D4951A">
              <a:alpha val="11000"/>
            </a:srgbClr>
          </a:solidFill>
          <a:ln w="12700">
            <a:solidFill>
              <a:srgbClr val="D4951A"/>
            </a:solidFill>
            <a:prstDash val="solid"/>
          </a:ln>
        </p:spPr>
      </p:sp>
      <p:sp>
        <p:nvSpPr>
          <p:cNvPr id="150" name="Shape 148"/>
          <p:cNvSpPr/>
          <p:nvPr/>
        </p:nvSpPr>
        <p:spPr>
          <a:xfrm rot="2700000">
            <a:off x="2351837" y="4846320"/>
            <a:ext cx="77724" cy="77724"/>
          </a:xfrm>
          <a:prstGeom prst="rect">
            <a:avLst/>
          </a:prstGeom>
          <a:solidFill>
            <a:srgbClr val="D4951A">
              <a:alpha val="11000"/>
            </a:srgbClr>
          </a:solidFill>
          <a:ln w="12700">
            <a:solidFill>
              <a:srgbClr val="D4951A"/>
            </a:solidFill>
            <a:prstDash val="solid"/>
          </a:ln>
        </p:spPr>
      </p:sp>
      <p:sp>
        <p:nvSpPr>
          <p:cNvPr id="151" name="Shape 149"/>
          <p:cNvSpPr/>
          <p:nvPr/>
        </p:nvSpPr>
        <p:spPr>
          <a:xfrm rot="2700000">
            <a:off x="2468880" y="4846320"/>
            <a:ext cx="77724" cy="77724"/>
          </a:xfrm>
          <a:prstGeom prst="rect">
            <a:avLst/>
          </a:prstGeom>
          <a:solidFill>
            <a:srgbClr val="D4951A">
              <a:alpha val="11000"/>
            </a:srgbClr>
          </a:solidFill>
          <a:ln w="12700">
            <a:solidFill>
              <a:srgbClr val="D4951A"/>
            </a:solidFill>
            <a:prstDash val="solid"/>
          </a:ln>
        </p:spPr>
      </p:sp>
      <p:sp>
        <p:nvSpPr>
          <p:cNvPr id="152" name="Shape 150"/>
          <p:cNvSpPr/>
          <p:nvPr/>
        </p:nvSpPr>
        <p:spPr>
          <a:xfrm rot="2700000">
            <a:off x="2585923" y="4846320"/>
            <a:ext cx="77724" cy="77724"/>
          </a:xfrm>
          <a:prstGeom prst="rect">
            <a:avLst/>
          </a:prstGeom>
          <a:solidFill>
            <a:srgbClr val="D4951A">
              <a:alpha val="11000"/>
            </a:srgbClr>
          </a:solidFill>
          <a:ln w="12700">
            <a:solidFill>
              <a:srgbClr val="D4951A"/>
            </a:solidFill>
            <a:prstDash val="solid"/>
          </a:ln>
        </p:spPr>
      </p:sp>
      <p:sp>
        <p:nvSpPr>
          <p:cNvPr id="153" name="Shape 151"/>
          <p:cNvSpPr/>
          <p:nvPr/>
        </p:nvSpPr>
        <p:spPr>
          <a:xfrm rot="2700000">
            <a:off x="2702966" y="4846320"/>
            <a:ext cx="77724" cy="77724"/>
          </a:xfrm>
          <a:prstGeom prst="rect">
            <a:avLst/>
          </a:prstGeom>
          <a:solidFill>
            <a:srgbClr val="D4951A">
              <a:alpha val="11000"/>
            </a:srgbClr>
          </a:solidFill>
          <a:ln w="12700">
            <a:solidFill>
              <a:srgbClr val="D4951A"/>
            </a:solidFill>
            <a:prstDash val="solid"/>
          </a:ln>
        </p:spPr>
      </p:sp>
      <p:sp>
        <p:nvSpPr>
          <p:cNvPr id="154" name="Shape 152"/>
          <p:cNvSpPr/>
          <p:nvPr/>
        </p:nvSpPr>
        <p:spPr>
          <a:xfrm rot="2700000">
            <a:off x="2820010" y="4846320"/>
            <a:ext cx="77724" cy="77724"/>
          </a:xfrm>
          <a:prstGeom prst="rect">
            <a:avLst/>
          </a:prstGeom>
          <a:solidFill>
            <a:srgbClr val="D4951A">
              <a:alpha val="11000"/>
            </a:srgbClr>
          </a:solidFill>
          <a:ln w="12700">
            <a:solidFill>
              <a:srgbClr val="D4951A"/>
            </a:solidFill>
            <a:prstDash val="solid"/>
          </a:ln>
        </p:spPr>
      </p:sp>
      <p:sp>
        <p:nvSpPr>
          <p:cNvPr id="155" name="Shape 153"/>
          <p:cNvSpPr/>
          <p:nvPr/>
        </p:nvSpPr>
        <p:spPr>
          <a:xfrm rot="2700000">
            <a:off x="2937053" y="4846320"/>
            <a:ext cx="77724" cy="77724"/>
          </a:xfrm>
          <a:prstGeom prst="rect">
            <a:avLst/>
          </a:prstGeom>
          <a:solidFill>
            <a:srgbClr val="D4951A">
              <a:alpha val="11000"/>
            </a:srgbClr>
          </a:solidFill>
          <a:ln w="12700">
            <a:solidFill>
              <a:srgbClr val="D4951A"/>
            </a:solidFill>
            <a:prstDash val="solid"/>
          </a:ln>
        </p:spPr>
      </p:sp>
      <p:sp>
        <p:nvSpPr>
          <p:cNvPr id="156" name="Shape 154"/>
          <p:cNvSpPr/>
          <p:nvPr/>
        </p:nvSpPr>
        <p:spPr>
          <a:xfrm rot="2700000">
            <a:off x="3054096" y="4846320"/>
            <a:ext cx="77724" cy="77724"/>
          </a:xfrm>
          <a:prstGeom prst="rect">
            <a:avLst/>
          </a:prstGeom>
          <a:solidFill>
            <a:srgbClr val="D4951A">
              <a:alpha val="11000"/>
            </a:srgbClr>
          </a:solidFill>
          <a:ln w="12700">
            <a:solidFill>
              <a:srgbClr val="D4951A"/>
            </a:solidFill>
            <a:prstDash val="solid"/>
          </a:ln>
        </p:spPr>
      </p:sp>
      <p:sp>
        <p:nvSpPr>
          <p:cNvPr id="157" name="Shape 155"/>
          <p:cNvSpPr/>
          <p:nvPr/>
        </p:nvSpPr>
        <p:spPr>
          <a:xfrm rot="2700000">
            <a:off x="3171139" y="4846320"/>
            <a:ext cx="77724" cy="77724"/>
          </a:xfrm>
          <a:prstGeom prst="rect">
            <a:avLst/>
          </a:prstGeom>
          <a:solidFill>
            <a:srgbClr val="D4951A">
              <a:alpha val="11000"/>
            </a:srgbClr>
          </a:solidFill>
          <a:ln w="12700">
            <a:solidFill>
              <a:srgbClr val="D4951A"/>
            </a:solidFill>
            <a:prstDash val="solid"/>
          </a:ln>
        </p:spPr>
      </p:sp>
      <p:sp>
        <p:nvSpPr>
          <p:cNvPr id="158" name="Shape 156"/>
          <p:cNvSpPr/>
          <p:nvPr/>
        </p:nvSpPr>
        <p:spPr>
          <a:xfrm rot="2700000">
            <a:off x="3288182" y="4846320"/>
            <a:ext cx="77724" cy="77724"/>
          </a:xfrm>
          <a:prstGeom prst="rect">
            <a:avLst/>
          </a:prstGeom>
          <a:solidFill>
            <a:srgbClr val="D4951A">
              <a:alpha val="11000"/>
            </a:srgbClr>
          </a:solidFill>
          <a:ln w="12700">
            <a:solidFill>
              <a:srgbClr val="D4951A"/>
            </a:solidFill>
            <a:prstDash val="solid"/>
          </a:ln>
        </p:spPr>
      </p:sp>
      <p:sp>
        <p:nvSpPr>
          <p:cNvPr id="159" name="Shape 157"/>
          <p:cNvSpPr/>
          <p:nvPr/>
        </p:nvSpPr>
        <p:spPr>
          <a:xfrm rot="2700000">
            <a:off x="3405226" y="4846320"/>
            <a:ext cx="77724" cy="77724"/>
          </a:xfrm>
          <a:prstGeom prst="rect">
            <a:avLst/>
          </a:prstGeom>
          <a:solidFill>
            <a:srgbClr val="D4951A">
              <a:alpha val="11000"/>
            </a:srgbClr>
          </a:solidFill>
          <a:ln w="12700">
            <a:solidFill>
              <a:srgbClr val="D4951A"/>
            </a:solidFill>
            <a:prstDash val="solid"/>
          </a:ln>
        </p:spPr>
      </p:sp>
      <p:sp>
        <p:nvSpPr>
          <p:cNvPr id="160" name="Shape 158"/>
          <p:cNvSpPr/>
          <p:nvPr/>
        </p:nvSpPr>
        <p:spPr>
          <a:xfrm rot="2700000">
            <a:off x="3522269" y="4846320"/>
            <a:ext cx="77724" cy="77724"/>
          </a:xfrm>
          <a:prstGeom prst="rect">
            <a:avLst/>
          </a:prstGeom>
          <a:solidFill>
            <a:srgbClr val="D4951A">
              <a:alpha val="11000"/>
            </a:srgbClr>
          </a:solidFill>
          <a:ln w="12700">
            <a:solidFill>
              <a:srgbClr val="D4951A"/>
            </a:solidFill>
            <a:prstDash val="solid"/>
          </a:ln>
        </p:spPr>
      </p:sp>
      <p:sp>
        <p:nvSpPr>
          <p:cNvPr id="161" name="Shape 159"/>
          <p:cNvSpPr/>
          <p:nvPr/>
        </p:nvSpPr>
        <p:spPr>
          <a:xfrm rot="2700000">
            <a:off x="3639312" y="4846320"/>
            <a:ext cx="77724" cy="77724"/>
          </a:xfrm>
          <a:prstGeom prst="rect">
            <a:avLst/>
          </a:prstGeom>
          <a:solidFill>
            <a:srgbClr val="D4951A">
              <a:alpha val="11000"/>
            </a:srgbClr>
          </a:solidFill>
          <a:ln w="12700">
            <a:solidFill>
              <a:srgbClr val="D4951A"/>
            </a:solidFill>
            <a:prstDash val="solid"/>
          </a:ln>
        </p:spPr>
      </p:sp>
      <p:sp>
        <p:nvSpPr>
          <p:cNvPr id="162" name="Shape 160"/>
          <p:cNvSpPr/>
          <p:nvPr/>
        </p:nvSpPr>
        <p:spPr>
          <a:xfrm rot="2700000">
            <a:off x="3756355" y="4846320"/>
            <a:ext cx="77724" cy="77724"/>
          </a:xfrm>
          <a:prstGeom prst="rect">
            <a:avLst/>
          </a:prstGeom>
          <a:solidFill>
            <a:srgbClr val="D4951A">
              <a:alpha val="11000"/>
            </a:srgbClr>
          </a:solidFill>
          <a:ln w="12700">
            <a:solidFill>
              <a:srgbClr val="D4951A"/>
            </a:solidFill>
            <a:prstDash val="solid"/>
          </a:ln>
        </p:spPr>
      </p:sp>
      <p:sp>
        <p:nvSpPr>
          <p:cNvPr id="163" name="Shape 161"/>
          <p:cNvSpPr/>
          <p:nvPr/>
        </p:nvSpPr>
        <p:spPr>
          <a:xfrm rot="2700000">
            <a:off x="3873398" y="4846320"/>
            <a:ext cx="77724" cy="77724"/>
          </a:xfrm>
          <a:prstGeom prst="rect">
            <a:avLst/>
          </a:prstGeom>
          <a:solidFill>
            <a:srgbClr val="D4951A">
              <a:alpha val="11000"/>
            </a:srgbClr>
          </a:solidFill>
          <a:ln w="12700">
            <a:solidFill>
              <a:srgbClr val="D4951A"/>
            </a:solidFill>
            <a:prstDash val="solid"/>
          </a:ln>
        </p:spPr>
      </p:sp>
      <p:sp>
        <p:nvSpPr>
          <p:cNvPr id="164" name="Shape 162"/>
          <p:cNvSpPr/>
          <p:nvPr/>
        </p:nvSpPr>
        <p:spPr>
          <a:xfrm rot="2700000">
            <a:off x="3990442" y="4846320"/>
            <a:ext cx="77724" cy="77724"/>
          </a:xfrm>
          <a:prstGeom prst="rect">
            <a:avLst/>
          </a:prstGeom>
          <a:solidFill>
            <a:srgbClr val="D4951A">
              <a:alpha val="11000"/>
            </a:srgbClr>
          </a:solidFill>
          <a:ln w="12700">
            <a:solidFill>
              <a:srgbClr val="D4951A"/>
            </a:solidFill>
            <a:prstDash val="solid"/>
          </a:ln>
        </p:spPr>
      </p:sp>
      <p:sp>
        <p:nvSpPr>
          <p:cNvPr id="165" name="Shape 163"/>
          <p:cNvSpPr/>
          <p:nvPr/>
        </p:nvSpPr>
        <p:spPr>
          <a:xfrm rot="2700000">
            <a:off x="4107485" y="4846320"/>
            <a:ext cx="77724" cy="77724"/>
          </a:xfrm>
          <a:prstGeom prst="rect">
            <a:avLst/>
          </a:prstGeom>
          <a:solidFill>
            <a:srgbClr val="D4951A">
              <a:alpha val="11000"/>
            </a:srgbClr>
          </a:solidFill>
          <a:ln w="12700">
            <a:solidFill>
              <a:srgbClr val="D4951A"/>
            </a:solidFill>
            <a:prstDash val="solid"/>
          </a:ln>
        </p:spPr>
      </p:sp>
      <p:sp>
        <p:nvSpPr>
          <p:cNvPr id="166" name="Shape 164"/>
          <p:cNvSpPr/>
          <p:nvPr/>
        </p:nvSpPr>
        <p:spPr>
          <a:xfrm rot="2700000">
            <a:off x="4224528" y="4846320"/>
            <a:ext cx="77724" cy="77724"/>
          </a:xfrm>
          <a:prstGeom prst="rect">
            <a:avLst/>
          </a:prstGeom>
          <a:solidFill>
            <a:srgbClr val="D4951A">
              <a:alpha val="11000"/>
            </a:srgbClr>
          </a:solidFill>
          <a:ln w="12700">
            <a:solidFill>
              <a:srgbClr val="D4951A"/>
            </a:solidFill>
            <a:prstDash val="solid"/>
          </a:ln>
        </p:spPr>
      </p:sp>
      <p:sp>
        <p:nvSpPr>
          <p:cNvPr id="167" name="Shape 165"/>
          <p:cNvSpPr/>
          <p:nvPr/>
        </p:nvSpPr>
        <p:spPr>
          <a:xfrm rot="2700000">
            <a:off x="4341571" y="4846320"/>
            <a:ext cx="77724" cy="77724"/>
          </a:xfrm>
          <a:prstGeom prst="rect">
            <a:avLst/>
          </a:prstGeom>
          <a:solidFill>
            <a:srgbClr val="D4951A">
              <a:alpha val="11000"/>
            </a:srgbClr>
          </a:solidFill>
          <a:ln w="12700">
            <a:solidFill>
              <a:srgbClr val="D4951A"/>
            </a:solidFill>
            <a:prstDash val="solid"/>
          </a:ln>
        </p:spPr>
      </p:sp>
      <p:sp>
        <p:nvSpPr>
          <p:cNvPr id="168" name="Shape 166"/>
          <p:cNvSpPr/>
          <p:nvPr/>
        </p:nvSpPr>
        <p:spPr>
          <a:xfrm rot="2700000">
            <a:off x="4458614" y="4846320"/>
            <a:ext cx="77724" cy="77724"/>
          </a:xfrm>
          <a:prstGeom prst="rect">
            <a:avLst/>
          </a:prstGeom>
          <a:solidFill>
            <a:srgbClr val="D4951A">
              <a:alpha val="11000"/>
            </a:srgbClr>
          </a:solidFill>
          <a:ln w="12700">
            <a:solidFill>
              <a:srgbClr val="D4951A"/>
            </a:solidFill>
            <a:prstDash val="solid"/>
          </a:ln>
        </p:spPr>
      </p:sp>
      <p:sp>
        <p:nvSpPr>
          <p:cNvPr id="169" name="Shape 167"/>
          <p:cNvSpPr/>
          <p:nvPr/>
        </p:nvSpPr>
        <p:spPr>
          <a:xfrm rot="2700000">
            <a:off x="4575658" y="4846320"/>
            <a:ext cx="77724" cy="77724"/>
          </a:xfrm>
          <a:prstGeom prst="rect">
            <a:avLst/>
          </a:prstGeom>
          <a:solidFill>
            <a:srgbClr val="D4951A">
              <a:alpha val="11000"/>
            </a:srgbClr>
          </a:solidFill>
          <a:ln w="12700">
            <a:solidFill>
              <a:srgbClr val="D4951A"/>
            </a:solidFill>
            <a:prstDash val="solid"/>
          </a:ln>
        </p:spPr>
      </p:sp>
      <p:sp>
        <p:nvSpPr>
          <p:cNvPr id="170" name="Shape 168"/>
          <p:cNvSpPr/>
          <p:nvPr/>
        </p:nvSpPr>
        <p:spPr>
          <a:xfrm rot="2700000">
            <a:off x="4692701" y="4846320"/>
            <a:ext cx="77724" cy="77724"/>
          </a:xfrm>
          <a:prstGeom prst="rect">
            <a:avLst/>
          </a:prstGeom>
          <a:solidFill>
            <a:srgbClr val="D4951A">
              <a:alpha val="11000"/>
            </a:srgbClr>
          </a:solidFill>
          <a:ln w="12700">
            <a:solidFill>
              <a:srgbClr val="D4951A"/>
            </a:solidFill>
            <a:prstDash val="solid"/>
          </a:ln>
        </p:spPr>
      </p:sp>
      <p:sp>
        <p:nvSpPr>
          <p:cNvPr id="171" name="Shape 169"/>
          <p:cNvSpPr/>
          <p:nvPr/>
        </p:nvSpPr>
        <p:spPr>
          <a:xfrm rot="2700000">
            <a:off x="4809744" y="4846320"/>
            <a:ext cx="77724" cy="77724"/>
          </a:xfrm>
          <a:prstGeom prst="rect">
            <a:avLst/>
          </a:prstGeom>
          <a:solidFill>
            <a:srgbClr val="D4951A">
              <a:alpha val="11000"/>
            </a:srgbClr>
          </a:solidFill>
          <a:ln w="12700">
            <a:solidFill>
              <a:srgbClr val="D4951A"/>
            </a:solidFill>
            <a:prstDash val="solid"/>
          </a:ln>
        </p:spPr>
      </p:sp>
      <p:sp>
        <p:nvSpPr>
          <p:cNvPr id="172" name="Shape 170"/>
          <p:cNvSpPr/>
          <p:nvPr/>
        </p:nvSpPr>
        <p:spPr>
          <a:xfrm rot="2700000">
            <a:off x="4926787" y="4846320"/>
            <a:ext cx="77724" cy="77724"/>
          </a:xfrm>
          <a:prstGeom prst="rect">
            <a:avLst/>
          </a:prstGeom>
          <a:solidFill>
            <a:srgbClr val="D4951A">
              <a:alpha val="11000"/>
            </a:srgbClr>
          </a:solidFill>
          <a:ln w="12700">
            <a:solidFill>
              <a:srgbClr val="D4951A"/>
            </a:solidFill>
            <a:prstDash val="solid"/>
          </a:ln>
        </p:spPr>
      </p:sp>
      <p:sp>
        <p:nvSpPr>
          <p:cNvPr id="173" name="Shape 171"/>
          <p:cNvSpPr/>
          <p:nvPr/>
        </p:nvSpPr>
        <p:spPr>
          <a:xfrm rot="2700000">
            <a:off x="5043830" y="4846320"/>
            <a:ext cx="77724" cy="77724"/>
          </a:xfrm>
          <a:prstGeom prst="rect">
            <a:avLst/>
          </a:prstGeom>
          <a:solidFill>
            <a:srgbClr val="D4951A">
              <a:alpha val="11000"/>
            </a:srgbClr>
          </a:solidFill>
          <a:ln w="12700">
            <a:solidFill>
              <a:srgbClr val="D4951A"/>
            </a:solidFill>
            <a:prstDash val="solid"/>
          </a:ln>
        </p:spPr>
      </p:sp>
      <p:sp>
        <p:nvSpPr>
          <p:cNvPr id="174" name="Shape 172"/>
          <p:cNvSpPr/>
          <p:nvPr/>
        </p:nvSpPr>
        <p:spPr>
          <a:xfrm rot="2700000">
            <a:off x="5160874" y="4846320"/>
            <a:ext cx="77724" cy="77724"/>
          </a:xfrm>
          <a:prstGeom prst="rect">
            <a:avLst/>
          </a:prstGeom>
          <a:solidFill>
            <a:srgbClr val="D4951A">
              <a:alpha val="11000"/>
            </a:srgbClr>
          </a:solidFill>
          <a:ln w="12700">
            <a:solidFill>
              <a:srgbClr val="D4951A"/>
            </a:solidFill>
            <a:prstDash val="solid"/>
          </a:ln>
        </p:spPr>
      </p:sp>
      <p:sp>
        <p:nvSpPr>
          <p:cNvPr id="175" name="Shape 173"/>
          <p:cNvSpPr/>
          <p:nvPr/>
        </p:nvSpPr>
        <p:spPr>
          <a:xfrm rot="2700000">
            <a:off x="5277917" y="4846320"/>
            <a:ext cx="77724" cy="77724"/>
          </a:xfrm>
          <a:prstGeom prst="rect">
            <a:avLst/>
          </a:prstGeom>
          <a:solidFill>
            <a:srgbClr val="D4951A">
              <a:alpha val="11000"/>
            </a:srgbClr>
          </a:solidFill>
          <a:ln w="12700">
            <a:solidFill>
              <a:srgbClr val="D4951A"/>
            </a:solidFill>
            <a:prstDash val="solid"/>
          </a:ln>
        </p:spPr>
      </p:sp>
      <p:sp>
        <p:nvSpPr>
          <p:cNvPr id="176" name="Shape 174"/>
          <p:cNvSpPr/>
          <p:nvPr/>
        </p:nvSpPr>
        <p:spPr>
          <a:xfrm rot="2700000">
            <a:off x="5394960" y="4846320"/>
            <a:ext cx="77724" cy="77724"/>
          </a:xfrm>
          <a:prstGeom prst="rect">
            <a:avLst/>
          </a:prstGeom>
          <a:solidFill>
            <a:srgbClr val="D4951A">
              <a:alpha val="11000"/>
            </a:srgbClr>
          </a:solidFill>
          <a:ln w="12700">
            <a:solidFill>
              <a:srgbClr val="D4951A"/>
            </a:solidFill>
            <a:prstDash val="solid"/>
          </a:ln>
        </p:spPr>
      </p:sp>
      <p:sp>
        <p:nvSpPr>
          <p:cNvPr id="177" name="Shape 175"/>
          <p:cNvSpPr/>
          <p:nvPr/>
        </p:nvSpPr>
        <p:spPr>
          <a:xfrm rot="2700000">
            <a:off x="5512003" y="4846320"/>
            <a:ext cx="77724" cy="77724"/>
          </a:xfrm>
          <a:prstGeom prst="rect">
            <a:avLst/>
          </a:prstGeom>
          <a:solidFill>
            <a:srgbClr val="D4951A">
              <a:alpha val="11000"/>
            </a:srgbClr>
          </a:solidFill>
          <a:ln w="12700">
            <a:solidFill>
              <a:srgbClr val="D4951A"/>
            </a:solidFill>
            <a:prstDash val="solid"/>
          </a:ln>
        </p:spPr>
      </p:sp>
      <p:sp>
        <p:nvSpPr>
          <p:cNvPr id="178" name="Shape 176"/>
          <p:cNvSpPr/>
          <p:nvPr/>
        </p:nvSpPr>
        <p:spPr>
          <a:xfrm rot="2700000">
            <a:off x="5629046" y="4846320"/>
            <a:ext cx="77724" cy="77724"/>
          </a:xfrm>
          <a:prstGeom prst="rect">
            <a:avLst/>
          </a:prstGeom>
          <a:solidFill>
            <a:srgbClr val="D4951A">
              <a:alpha val="11000"/>
            </a:srgbClr>
          </a:solidFill>
          <a:ln w="12700">
            <a:solidFill>
              <a:srgbClr val="D4951A"/>
            </a:solidFill>
            <a:prstDash val="solid"/>
          </a:ln>
        </p:spPr>
      </p:sp>
      <p:sp>
        <p:nvSpPr>
          <p:cNvPr id="179" name="Shape 177"/>
          <p:cNvSpPr/>
          <p:nvPr/>
        </p:nvSpPr>
        <p:spPr>
          <a:xfrm rot="2700000">
            <a:off x="5746090" y="4846320"/>
            <a:ext cx="77724" cy="77724"/>
          </a:xfrm>
          <a:prstGeom prst="rect">
            <a:avLst/>
          </a:prstGeom>
          <a:solidFill>
            <a:srgbClr val="D4951A">
              <a:alpha val="11000"/>
            </a:srgbClr>
          </a:solidFill>
          <a:ln w="12700">
            <a:solidFill>
              <a:srgbClr val="D4951A"/>
            </a:solidFill>
            <a:prstDash val="solid"/>
          </a:ln>
        </p:spPr>
      </p:sp>
      <p:sp>
        <p:nvSpPr>
          <p:cNvPr id="180" name="Shape 178"/>
          <p:cNvSpPr/>
          <p:nvPr/>
        </p:nvSpPr>
        <p:spPr>
          <a:xfrm rot="2700000">
            <a:off x="5863133" y="4846320"/>
            <a:ext cx="77724" cy="77724"/>
          </a:xfrm>
          <a:prstGeom prst="rect">
            <a:avLst/>
          </a:prstGeom>
          <a:solidFill>
            <a:srgbClr val="D4951A">
              <a:alpha val="11000"/>
            </a:srgbClr>
          </a:solidFill>
          <a:ln w="12700">
            <a:solidFill>
              <a:srgbClr val="D4951A"/>
            </a:solidFill>
            <a:prstDash val="solid"/>
          </a:ln>
        </p:spPr>
      </p:sp>
      <p:sp>
        <p:nvSpPr>
          <p:cNvPr id="181" name="Shape 179"/>
          <p:cNvSpPr/>
          <p:nvPr/>
        </p:nvSpPr>
        <p:spPr>
          <a:xfrm rot="2700000">
            <a:off x="5980176" y="4846320"/>
            <a:ext cx="77724" cy="77724"/>
          </a:xfrm>
          <a:prstGeom prst="rect">
            <a:avLst/>
          </a:prstGeom>
          <a:solidFill>
            <a:srgbClr val="D4951A">
              <a:alpha val="11000"/>
            </a:srgbClr>
          </a:solidFill>
          <a:ln w="12700">
            <a:solidFill>
              <a:srgbClr val="D4951A"/>
            </a:solidFill>
            <a:prstDash val="solid"/>
          </a:ln>
        </p:spPr>
      </p:sp>
      <p:sp>
        <p:nvSpPr>
          <p:cNvPr id="182" name="Shape 180"/>
          <p:cNvSpPr/>
          <p:nvPr/>
        </p:nvSpPr>
        <p:spPr>
          <a:xfrm rot="2700000">
            <a:off x="6097219" y="4846320"/>
            <a:ext cx="77724" cy="77724"/>
          </a:xfrm>
          <a:prstGeom prst="rect">
            <a:avLst/>
          </a:prstGeom>
          <a:solidFill>
            <a:srgbClr val="D4951A">
              <a:alpha val="11000"/>
            </a:srgbClr>
          </a:solidFill>
          <a:ln w="12700">
            <a:solidFill>
              <a:srgbClr val="D4951A"/>
            </a:solidFill>
            <a:prstDash val="solid"/>
          </a:ln>
        </p:spPr>
      </p:sp>
      <p:sp>
        <p:nvSpPr>
          <p:cNvPr id="183" name="Shape 181"/>
          <p:cNvSpPr/>
          <p:nvPr/>
        </p:nvSpPr>
        <p:spPr>
          <a:xfrm rot="2700000">
            <a:off x="6214262" y="4846320"/>
            <a:ext cx="77724" cy="77724"/>
          </a:xfrm>
          <a:prstGeom prst="rect">
            <a:avLst/>
          </a:prstGeom>
          <a:solidFill>
            <a:srgbClr val="D4951A">
              <a:alpha val="11000"/>
            </a:srgbClr>
          </a:solidFill>
          <a:ln w="12700">
            <a:solidFill>
              <a:srgbClr val="D4951A"/>
            </a:solidFill>
            <a:prstDash val="solid"/>
          </a:ln>
        </p:spPr>
      </p:sp>
      <p:sp>
        <p:nvSpPr>
          <p:cNvPr id="184" name="Shape 182"/>
          <p:cNvSpPr/>
          <p:nvPr/>
        </p:nvSpPr>
        <p:spPr>
          <a:xfrm rot="2700000">
            <a:off x="6331306" y="4846320"/>
            <a:ext cx="77724" cy="77724"/>
          </a:xfrm>
          <a:prstGeom prst="rect">
            <a:avLst/>
          </a:prstGeom>
          <a:solidFill>
            <a:srgbClr val="D4951A">
              <a:alpha val="11000"/>
            </a:srgbClr>
          </a:solidFill>
          <a:ln w="12700">
            <a:solidFill>
              <a:srgbClr val="D4951A"/>
            </a:solidFill>
            <a:prstDash val="solid"/>
          </a:ln>
        </p:spPr>
      </p:sp>
      <p:sp>
        <p:nvSpPr>
          <p:cNvPr id="185" name="Shape 183"/>
          <p:cNvSpPr/>
          <p:nvPr/>
        </p:nvSpPr>
        <p:spPr>
          <a:xfrm rot="2700000">
            <a:off x="6448349" y="4846320"/>
            <a:ext cx="77724" cy="77724"/>
          </a:xfrm>
          <a:prstGeom prst="rect">
            <a:avLst/>
          </a:prstGeom>
          <a:solidFill>
            <a:srgbClr val="D4951A">
              <a:alpha val="11000"/>
            </a:srgbClr>
          </a:solidFill>
          <a:ln w="12700">
            <a:solidFill>
              <a:srgbClr val="D4951A"/>
            </a:solidFill>
            <a:prstDash val="solid"/>
          </a:ln>
        </p:spPr>
      </p:sp>
      <p:sp>
        <p:nvSpPr>
          <p:cNvPr id="186" name="Shape 184"/>
          <p:cNvSpPr/>
          <p:nvPr/>
        </p:nvSpPr>
        <p:spPr>
          <a:xfrm rot="2700000">
            <a:off x="6565392" y="4846320"/>
            <a:ext cx="77724" cy="77724"/>
          </a:xfrm>
          <a:prstGeom prst="rect">
            <a:avLst/>
          </a:prstGeom>
          <a:solidFill>
            <a:srgbClr val="D4951A">
              <a:alpha val="11000"/>
            </a:srgbClr>
          </a:solidFill>
          <a:ln w="12700">
            <a:solidFill>
              <a:srgbClr val="D4951A"/>
            </a:solidFill>
            <a:prstDash val="solid"/>
          </a:ln>
        </p:spPr>
      </p:sp>
      <p:sp>
        <p:nvSpPr>
          <p:cNvPr id="187" name="Shape 185"/>
          <p:cNvSpPr/>
          <p:nvPr/>
        </p:nvSpPr>
        <p:spPr>
          <a:xfrm rot="2700000">
            <a:off x="6682435" y="4846320"/>
            <a:ext cx="77724" cy="77724"/>
          </a:xfrm>
          <a:prstGeom prst="rect">
            <a:avLst/>
          </a:prstGeom>
          <a:solidFill>
            <a:srgbClr val="D4951A">
              <a:alpha val="11000"/>
            </a:srgbClr>
          </a:solidFill>
          <a:ln w="12700">
            <a:solidFill>
              <a:srgbClr val="D4951A"/>
            </a:solidFill>
            <a:prstDash val="solid"/>
          </a:ln>
        </p:spPr>
      </p:sp>
      <p:sp>
        <p:nvSpPr>
          <p:cNvPr id="188" name="Shape 186"/>
          <p:cNvSpPr/>
          <p:nvPr/>
        </p:nvSpPr>
        <p:spPr>
          <a:xfrm rot="2700000">
            <a:off x="6799478" y="4846320"/>
            <a:ext cx="77724" cy="77724"/>
          </a:xfrm>
          <a:prstGeom prst="rect">
            <a:avLst/>
          </a:prstGeom>
          <a:solidFill>
            <a:srgbClr val="D4951A">
              <a:alpha val="11000"/>
            </a:srgbClr>
          </a:solidFill>
          <a:ln w="12700">
            <a:solidFill>
              <a:srgbClr val="D4951A"/>
            </a:solidFill>
            <a:prstDash val="solid"/>
          </a:ln>
        </p:spPr>
      </p:sp>
      <p:sp>
        <p:nvSpPr>
          <p:cNvPr id="189" name="Shape 187"/>
          <p:cNvSpPr/>
          <p:nvPr/>
        </p:nvSpPr>
        <p:spPr>
          <a:xfrm rot="2700000">
            <a:off x="6916522" y="4846320"/>
            <a:ext cx="77724" cy="77724"/>
          </a:xfrm>
          <a:prstGeom prst="rect">
            <a:avLst/>
          </a:prstGeom>
          <a:solidFill>
            <a:srgbClr val="D4951A">
              <a:alpha val="11000"/>
            </a:srgbClr>
          </a:solidFill>
          <a:ln w="12700">
            <a:solidFill>
              <a:srgbClr val="D4951A"/>
            </a:solidFill>
            <a:prstDash val="solid"/>
          </a:ln>
        </p:spPr>
      </p:sp>
      <p:sp>
        <p:nvSpPr>
          <p:cNvPr id="190" name="Shape 188"/>
          <p:cNvSpPr/>
          <p:nvPr/>
        </p:nvSpPr>
        <p:spPr>
          <a:xfrm rot="2700000">
            <a:off x="7033565" y="4846320"/>
            <a:ext cx="77724" cy="77724"/>
          </a:xfrm>
          <a:prstGeom prst="rect">
            <a:avLst/>
          </a:prstGeom>
          <a:solidFill>
            <a:srgbClr val="D4951A">
              <a:alpha val="11000"/>
            </a:srgbClr>
          </a:solidFill>
          <a:ln w="12700">
            <a:solidFill>
              <a:srgbClr val="D4951A"/>
            </a:solidFill>
            <a:prstDash val="solid"/>
          </a:ln>
        </p:spPr>
      </p:sp>
      <p:sp>
        <p:nvSpPr>
          <p:cNvPr id="191" name="Shape 189"/>
          <p:cNvSpPr/>
          <p:nvPr/>
        </p:nvSpPr>
        <p:spPr>
          <a:xfrm rot="2700000">
            <a:off x="7150608" y="4846320"/>
            <a:ext cx="77724" cy="77724"/>
          </a:xfrm>
          <a:prstGeom prst="rect">
            <a:avLst/>
          </a:prstGeom>
          <a:solidFill>
            <a:srgbClr val="D4951A">
              <a:alpha val="11000"/>
            </a:srgbClr>
          </a:solidFill>
          <a:ln w="12700">
            <a:solidFill>
              <a:srgbClr val="D4951A"/>
            </a:solidFill>
            <a:prstDash val="solid"/>
          </a:ln>
        </p:spPr>
      </p:sp>
      <p:sp>
        <p:nvSpPr>
          <p:cNvPr id="192" name="Shape 190"/>
          <p:cNvSpPr/>
          <p:nvPr/>
        </p:nvSpPr>
        <p:spPr>
          <a:xfrm rot="2700000">
            <a:off x="7267651" y="4846320"/>
            <a:ext cx="77724" cy="77724"/>
          </a:xfrm>
          <a:prstGeom prst="rect">
            <a:avLst/>
          </a:prstGeom>
          <a:solidFill>
            <a:srgbClr val="D4951A">
              <a:alpha val="11000"/>
            </a:srgbClr>
          </a:solidFill>
          <a:ln w="12700">
            <a:solidFill>
              <a:srgbClr val="D4951A"/>
            </a:solidFill>
            <a:prstDash val="solid"/>
          </a:ln>
        </p:spPr>
      </p:sp>
      <p:sp>
        <p:nvSpPr>
          <p:cNvPr id="193" name="Shape 191"/>
          <p:cNvSpPr/>
          <p:nvPr/>
        </p:nvSpPr>
        <p:spPr>
          <a:xfrm rot="2700000">
            <a:off x="7384694" y="4846320"/>
            <a:ext cx="77724" cy="77724"/>
          </a:xfrm>
          <a:prstGeom prst="rect">
            <a:avLst/>
          </a:prstGeom>
          <a:solidFill>
            <a:srgbClr val="D4951A">
              <a:alpha val="11000"/>
            </a:srgbClr>
          </a:solidFill>
          <a:ln w="12700">
            <a:solidFill>
              <a:srgbClr val="D4951A"/>
            </a:solidFill>
            <a:prstDash val="solid"/>
          </a:ln>
        </p:spPr>
      </p:sp>
      <p:sp>
        <p:nvSpPr>
          <p:cNvPr id="194" name="Shape 192"/>
          <p:cNvSpPr/>
          <p:nvPr/>
        </p:nvSpPr>
        <p:spPr>
          <a:xfrm rot="2700000">
            <a:off x="7501738" y="4846320"/>
            <a:ext cx="77724" cy="77724"/>
          </a:xfrm>
          <a:prstGeom prst="rect">
            <a:avLst/>
          </a:prstGeom>
          <a:solidFill>
            <a:srgbClr val="D4951A">
              <a:alpha val="11000"/>
            </a:srgbClr>
          </a:solidFill>
          <a:ln w="12700">
            <a:solidFill>
              <a:srgbClr val="D4951A"/>
            </a:solidFill>
            <a:prstDash val="solid"/>
          </a:ln>
        </p:spPr>
      </p:sp>
      <p:sp>
        <p:nvSpPr>
          <p:cNvPr id="195" name="Shape 193"/>
          <p:cNvSpPr/>
          <p:nvPr/>
        </p:nvSpPr>
        <p:spPr>
          <a:xfrm rot="2700000">
            <a:off x="7618781" y="4846320"/>
            <a:ext cx="77724" cy="77724"/>
          </a:xfrm>
          <a:prstGeom prst="rect">
            <a:avLst/>
          </a:prstGeom>
          <a:solidFill>
            <a:srgbClr val="D4951A">
              <a:alpha val="11000"/>
            </a:srgbClr>
          </a:solidFill>
          <a:ln w="12700">
            <a:solidFill>
              <a:srgbClr val="D4951A"/>
            </a:solidFill>
            <a:prstDash val="solid"/>
          </a:ln>
        </p:spPr>
      </p:sp>
      <p:sp>
        <p:nvSpPr>
          <p:cNvPr id="196" name="Shape 194"/>
          <p:cNvSpPr/>
          <p:nvPr/>
        </p:nvSpPr>
        <p:spPr>
          <a:xfrm rot="2700000">
            <a:off x="7735824" y="4846320"/>
            <a:ext cx="77724" cy="77724"/>
          </a:xfrm>
          <a:prstGeom prst="rect">
            <a:avLst/>
          </a:prstGeom>
          <a:solidFill>
            <a:srgbClr val="D4951A">
              <a:alpha val="11000"/>
            </a:srgbClr>
          </a:solidFill>
          <a:ln w="12700">
            <a:solidFill>
              <a:srgbClr val="D4951A"/>
            </a:solidFill>
            <a:prstDash val="solid"/>
          </a:ln>
        </p:spPr>
      </p:sp>
      <p:sp>
        <p:nvSpPr>
          <p:cNvPr id="197" name="Shape 195"/>
          <p:cNvSpPr/>
          <p:nvPr/>
        </p:nvSpPr>
        <p:spPr>
          <a:xfrm rot="2700000">
            <a:off x="7852867" y="4846320"/>
            <a:ext cx="77724" cy="77724"/>
          </a:xfrm>
          <a:prstGeom prst="rect">
            <a:avLst/>
          </a:prstGeom>
          <a:solidFill>
            <a:srgbClr val="D4951A">
              <a:alpha val="11000"/>
            </a:srgbClr>
          </a:solidFill>
          <a:ln w="12700">
            <a:solidFill>
              <a:srgbClr val="D4951A"/>
            </a:solidFill>
            <a:prstDash val="solid"/>
          </a:ln>
        </p:spPr>
      </p:sp>
      <p:sp>
        <p:nvSpPr>
          <p:cNvPr id="198" name="Shape 196"/>
          <p:cNvSpPr/>
          <p:nvPr/>
        </p:nvSpPr>
        <p:spPr>
          <a:xfrm rot="2700000">
            <a:off x="7969910" y="4846320"/>
            <a:ext cx="77724" cy="77724"/>
          </a:xfrm>
          <a:prstGeom prst="rect">
            <a:avLst/>
          </a:prstGeom>
          <a:solidFill>
            <a:srgbClr val="D4951A">
              <a:alpha val="11000"/>
            </a:srgbClr>
          </a:solidFill>
          <a:ln w="12700">
            <a:solidFill>
              <a:srgbClr val="D4951A"/>
            </a:solidFill>
            <a:prstDash val="solid"/>
          </a:ln>
        </p:spPr>
      </p:sp>
      <p:sp>
        <p:nvSpPr>
          <p:cNvPr id="199" name="Shape 197"/>
          <p:cNvSpPr/>
          <p:nvPr/>
        </p:nvSpPr>
        <p:spPr>
          <a:xfrm rot="2700000">
            <a:off x="8086954" y="4846320"/>
            <a:ext cx="77724" cy="77724"/>
          </a:xfrm>
          <a:prstGeom prst="rect">
            <a:avLst/>
          </a:prstGeom>
          <a:solidFill>
            <a:srgbClr val="D4951A">
              <a:alpha val="11000"/>
            </a:srgbClr>
          </a:solidFill>
          <a:ln w="12700">
            <a:solidFill>
              <a:srgbClr val="D4951A"/>
            </a:solidFill>
            <a:prstDash val="solid"/>
          </a:ln>
        </p:spPr>
      </p:sp>
      <p:sp>
        <p:nvSpPr>
          <p:cNvPr id="200" name="Shape 198"/>
          <p:cNvSpPr/>
          <p:nvPr/>
        </p:nvSpPr>
        <p:spPr>
          <a:xfrm rot="2700000">
            <a:off x="8203997" y="4846320"/>
            <a:ext cx="77724" cy="77724"/>
          </a:xfrm>
          <a:prstGeom prst="rect">
            <a:avLst/>
          </a:prstGeom>
          <a:solidFill>
            <a:srgbClr val="D4951A">
              <a:alpha val="11000"/>
            </a:srgbClr>
          </a:solidFill>
          <a:ln w="12700">
            <a:solidFill>
              <a:srgbClr val="D4951A"/>
            </a:solidFill>
            <a:prstDash val="solid"/>
          </a:ln>
        </p:spPr>
      </p:sp>
      <p:sp>
        <p:nvSpPr>
          <p:cNvPr id="201" name="Shape 199"/>
          <p:cNvSpPr/>
          <p:nvPr/>
        </p:nvSpPr>
        <p:spPr>
          <a:xfrm rot="2700000">
            <a:off x="8321040" y="4846320"/>
            <a:ext cx="77724" cy="77724"/>
          </a:xfrm>
          <a:prstGeom prst="rect">
            <a:avLst/>
          </a:prstGeom>
          <a:solidFill>
            <a:srgbClr val="D4951A">
              <a:alpha val="11000"/>
            </a:srgbClr>
          </a:solidFill>
          <a:ln w="12700">
            <a:solidFill>
              <a:srgbClr val="D4951A"/>
            </a:solidFill>
            <a:prstDash val="solid"/>
          </a:ln>
        </p:spPr>
      </p:sp>
      <p:sp>
        <p:nvSpPr>
          <p:cNvPr id="202" name="Shape 200"/>
          <p:cNvSpPr/>
          <p:nvPr/>
        </p:nvSpPr>
        <p:spPr>
          <a:xfrm rot="2700000">
            <a:off x="8438083" y="4846320"/>
            <a:ext cx="77724" cy="77724"/>
          </a:xfrm>
          <a:prstGeom prst="rect">
            <a:avLst/>
          </a:prstGeom>
          <a:solidFill>
            <a:srgbClr val="D4951A">
              <a:alpha val="11000"/>
            </a:srgbClr>
          </a:solidFill>
          <a:ln w="12700">
            <a:solidFill>
              <a:srgbClr val="D4951A"/>
            </a:solidFill>
            <a:prstDash val="solid"/>
          </a:ln>
        </p:spPr>
      </p:sp>
      <p:sp>
        <p:nvSpPr>
          <p:cNvPr id="203" name="Shape 201"/>
          <p:cNvSpPr/>
          <p:nvPr/>
        </p:nvSpPr>
        <p:spPr>
          <a:xfrm rot="2700000">
            <a:off x="8555126" y="4846320"/>
            <a:ext cx="77724" cy="77724"/>
          </a:xfrm>
          <a:prstGeom prst="rect">
            <a:avLst/>
          </a:prstGeom>
          <a:solidFill>
            <a:srgbClr val="D4951A">
              <a:alpha val="11000"/>
            </a:srgbClr>
          </a:solidFill>
          <a:ln w="12700">
            <a:solidFill>
              <a:srgbClr val="D4951A"/>
            </a:solidFill>
            <a:prstDash val="solid"/>
          </a:ln>
        </p:spPr>
      </p:sp>
      <p:sp>
        <p:nvSpPr>
          <p:cNvPr id="204" name="Shape 202"/>
          <p:cNvSpPr/>
          <p:nvPr/>
        </p:nvSpPr>
        <p:spPr>
          <a:xfrm rot="2700000">
            <a:off x="8672170" y="4846320"/>
            <a:ext cx="77724" cy="77724"/>
          </a:xfrm>
          <a:prstGeom prst="rect">
            <a:avLst/>
          </a:prstGeom>
          <a:solidFill>
            <a:srgbClr val="D4951A">
              <a:alpha val="11000"/>
            </a:srgbClr>
          </a:solidFill>
          <a:ln w="12700">
            <a:solidFill>
              <a:srgbClr val="D4951A"/>
            </a:solidFill>
            <a:prstDash val="solid"/>
          </a:ln>
        </p:spPr>
      </p:sp>
      <p:sp>
        <p:nvSpPr>
          <p:cNvPr id="205" name="Shape 203"/>
          <p:cNvSpPr/>
          <p:nvPr/>
        </p:nvSpPr>
        <p:spPr>
          <a:xfrm rot="2700000">
            <a:off x="8789213" y="4846320"/>
            <a:ext cx="77724" cy="77724"/>
          </a:xfrm>
          <a:prstGeom prst="rect">
            <a:avLst/>
          </a:prstGeom>
          <a:solidFill>
            <a:srgbClr val="D4951A">
              <a:alpha val="11000"/>
            </a:srgbClr>
          </a:solidFill>
          <a:ln w="12700">
            <a:solidFill>
              <a:srgbClr val="D4951A"/>
            </a:solidFill>
            <a:prstDash val="solid"/>
          </a:ln>
        </p:spPr>
      </p:sp>
      <p:sp>
        <p:nvSpPr>
          <p:cNvPr id="206" name="Shape 204"/>
          <p:cNvSpPr/>
          <p:nvPr/>
        </p:nvSpPr>
        <p:spPr>
          <a:xfrm rot="2700000">
            <a:off x="8906256" y="4846320"/>
            <a:ext cx="77724" cy="77724"/>
          </a:xfrm>
          <a:prstGeom prst="rect">
            <a:avLst/>
          </a:prstGeom>
          <a:solidFill>
            <a:srgbClr val="D4951A">
              <a:alpha val="11000"/>
            </a:srgbClr>
          </a:solidFill>
          <a:ln w="12700">
            <a:solidFill>
              <a:srgbClr val="D4951A"/>
            </a:solidFill>
            <a:prstDash val="solid"/>
          </a:ln>
        </p:spPr>
      </p:sp>
      <p:sp>
        <p:nvSpPr>
          <p:cNvPr id="207" name="Shape 205"/>
          <p:cNvSpPr/>
          <p:nvPr/>
        </p:nvSpPr>
        <p:spPr>
          <a:xfrm rot="2700000">
            <a:off x="9023299" y="4846320"/>
            <a:ext cx="77724" cy="77724"/>
          </a:xfrm>
          <a:prstGeom prst="rect">
            <a:avLst/>
          </a:prstGeom>
          <a:solidFill>
            <a:srgbClr val="D4951A">
              <a:alpha val="11000"/>
            </a:srgbClr>
          </a:solidFill>
          <a:ln w="12700">
            <a:solidFill>
              <a:srgbClr val="D4951A"/>
            </a:solidFill>
            <a:prstDash val="solid"/>
          </a:ln>
        </p:spPr>
      </p:sp>
      <p:sp>
        <p:nvSpPr>
          <p:cNvPr id="208" name="Text 206"/>
          <p:cNvSpPr/>
          <p:nvPr/>
        </p:nvSpPr>
        <p:spPr>
          <a:xfrm>
            <a:off x="274320" y="4901184"/>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A0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5050A"/>
          </a:solidFill>
          <a:ln/>
        </p:spPr>
      </p:sp>
      <p:sp>
        <p:nvSpPr>
          <p:cNvPr id="3" name="Shape 1"/>
          <p:cNvSpPr/>
          <p:nvPr/>
        </p:nvSpPr>
        <p:spPr>
          <a:xfrm>
            <a:off x="0" y="0"/>
            <a:ext cx="64008" cy="960120"/>
          </a:xfrm>
          <a:prstGeom prst="rect">
            <a:avLst/>
          </a:prstGeom>
          <a:solidFill>
            <a:srgbClr val="D4951A"/>
          </a:solidFill>
          <a:ln/>
        </p:spPr>
      </p:sp>
      <p:sp>
        <p:nvSpPr>
          <p:cNvPr id="4" name="Shape 2"/>
          <p:cNvSpPr/>
          <p:nvPr/>
        </p:nvSpPr>
        <p:spPr>
          <a:xfrm rot="2700000">
            <a:off x="10973" y="841248"/>
            <a:ext cx="77724" cy="77724"/>
          </a:xfrm>
          <a:prstGeom prst="rect">
            <a:avLst/>
          </a:prstGeom>
          <a:solidFill>
            <a:srgbClr val="D4951A">
              <a:alpha val="45000"/>
            </a:srgbClr>
          </a:solidFill>
          <a:ln w="12700">
            <a:solidFill>
              <a:srgbClr val="D4951A"/>
            </a:solidFill>
            <a:prstDash val="solid"/>
          </a:ln>
        </p:spPr>
      </p:sp>
      <p:sp>
        <p:nvSpPr>
          <p:cNvPr id="5" name="Shape 3"/>
          <p:cNvSpPr/>
          <p:nvPr/>
        </p:nvSpPr>
        <p:spPr>
          <a:xfrm rot="2700000">
            <a:off x="128016" y="841248"/>
            <a:ext cx="77724" cy="77724"/>
          </a:xfrm>
          <a:prstGeom prst="rect">
            <a:avLst/>
          </a:prstGeom>
          <a:solidFill>
            <a:srgbClr val="D4951A">
              <a:alpha val="45000"/>
            </a:srgbClr>
          </a:solidFill>
          <a:ln w="12700">
            <a:solidFill>
              <a:srgbClr val="D4951A"/>
            </a:solidFill>
            <a:prstDash val="solid"/>
          </a:ln>
        </p:spPr>
      </p:sp>
      <p:sp>
        <p:nvSpPr>
          <p:cNvPr id="6" name="Shape 4"/>
          <p:cNvSpPr/>
          <p:nvPr/>
        </p:nvSpPr>
        <p:spPr>
          <a:xfrm rot="2700000">
            <a:off x="245059" y="841248"/>
            <a:ext cx="77724" cy="77724"/>
          </a:xfrm>
          <a:prstGeom prst="rect">
            <a:avLst/>
          </a:prstGeom>
          <a:solidFill>
            <a:srgbClr val="D4951A">
              <a:alpha val="45000"/>
            </a:srgbClr>
          </a:solidFill>
          <a:ln w="12700">
            <a:solidFill>
              <a:srgbClr val="D4951A"/>
            </a:solidFill>
            <a:prstDash val="solid"/>
          </a:ln>
        </p:spPr>
      </p:sp>
      <p:sp>
        <p:nvSpPr>
          <p:cNvPr id="7" name="Shape 5"/>
          <p:cNvSpPr/>
          <p:nvPr/>
        </p:nvSpPr>
        <p:spPr>
          <a:xfrm rot="2700000">
            <a:off x="362102" y="841248"/>
            <a:ext cx="77724" cy="77724"/>
          </a:xfrm>
          <a:prstGeom prst="rect">
            <a:avLst/>
          </a:prstGeom>
          <a:solidFill>
            <a:srgbClr val="D4951A">
              <a:alpha val="45000"/>
            </a:srgbClr>
          </a:solidFill>
          <a:ln w="12700">
            <a:solidFill>
              <a:srgbClr val="D4951A"/>
            </a:solidFill>
            <a:prstDash val="solid"/>
          </a:ln>
        </p:spPr>
      </p:sp>
      <p:sp>
        <p:nvSpPr>
          <p:cNvPr id="8" name="Shape 6"/>
          <p:cNvSpPr/>
          <p:nvPr/>
        </p:nvSpPr>
        <p:spPr>
          <a:xfrm rot="2700000">
            <a:off x="479146" y="841248"/>
            <a:ext cx="77724" cy="77724"/>
          </a:xfrm>
          <a:prstGeom prst="rect">
            <a:avLst/>
          </a:prstGeom>
          <a:solidFill>
            <a:srgbClr val="D4951A">
              <a:alpha val="45000"/>
            </a:srgbClr>
          </a:solidFill>
          <a:ln w="12700">
            <a:solidFill>
              <a:srgbClr val="D4951A"/>
            </a:solidFill>
            <a:prstDash val="solid"/>
          </a:ln>
        </p:spPr>
      </p:sp>
      <p:sp>
        <p:nvSpPr>
          <p:cNvPr id="9" name="Shape 7"/>
          <p:cNvSpPr/>
          <p:nvPr/>
        </p:nvSpPr>
        <p:spPr>
          <a:xfrm rot="2700000">
            <a:off x="596189" y="841248"/>
            <a:ext cx="77724" cy="77724"/>
          </a:xfrm>
          <a:prstGeom prst="rect">
            <a:avLst/>
          </a:prstGeom>
          <a:solidFill>
            <a:srgbClr val="D4951A">
              <a:alpha val="45000"/>
            </a:srgbClr>
          </a:solidFill>
          <a:ln w="12700">
            <a:solidFill>
              <a:srgbClr val="D4951A"/>
            </a:solidFill>
            <a:prstDash val="solid"/>
          </a:ln>
        </p:spPr>
      </p:sp>
      <p:sp>
        <p:nvSpPr>
          <p:cNvPr id="10" name="Shape 8"/>
          <p:cNvSpPr/>
          <p:nvPr/>
        </p:nvSpPr>
        <p:spPr>
          <a:xfrm rot="2700000">
            <a:off x="713232" y="841248"/>
            <a:ext cx="77724" cy="77724"/>
          </a:xfrm>
          <a:prstGeom prst="rect">
            <a:avLst/>
          </a:prstGeom>
          <a:solidFill>
            <a:srgbClr val="D4951A">
              <a:alpha val="45000"/>
            </a:srgbClr>
          </a:solidFill>
          <a:ln w="12700">
            <a:solidFill>
              <a:srgbClr val="D4951A"/>
            </a:solidFill>
            <a:prstDash val="solid"/>
          </a:ln>
        </p:spPr>
      </p:sp>
      <p:sp>
        <p:nvSpPr>
          <p:cNvPr id="11" name="Shape 9"/>
          <p:cNvSpPr/>
          <p:nvPr/>
        </p:nvSpPr>
        <p:spPr>
          <a:xfrm rot="2700000">
            <a:off x="830275" y="841248"/>
            <a:ext cx="77724" cy="77724"/>
          </a:xfrm>
          <a:prstGeom prst="rect">
            <a:avLst/>
          </a:prstGeom>
          <a:solidFill>
            <a:srgbClr val="D4951A">
              <a:alpha val="45000"/>
            </a:srgbClr>
          </a:solidFill>
          <a:ln w="12700">
            <a:solidFill>
              <a:srgbClr val="D4951A"/>
            </a:solidFill>
            <a:prstDash val="solid"/>
          </a:ln>
        </p:spPr>
      </p:sp>
      <p:sp>
        <p:nvSpPr>
          <p:cNvPr id="12" name="Shape 10"/>
          <p:cNvSpPr/>
          <p:nvPr/>
        </p:nvSpPr>
        <p:spPr>
          <a:xfrm rot="2700000">
            <a:off x="947318" y="841248"/>
            <a:ext cx="77724" cy="77724"/>
          </a:xfrm>
          <a:prstGeom prst="rect">
            <a:avLst/>
          </a:prstGeom>
          <a:solidFill>
            <a:srgbClr val="D4951A">
              <a:alpha val="45000"/>
            </a:srgbClr>
          </a:solidFill>
          <a:ln w="12700">
            <a:solidFill>
              <a:srgbClr val="D4951A"/>
            </a:solidFill>
            <a:prstDash val="solid"/>
          </a:ln>
        </p:spPr>
      </p:sp>
      <p:sp>
        <p:nvSpPr>
          <p:cNvPr id="13" name="Shape 11"/>
          <p:cNvSpPr/>
          <p:nvPr/>
        </p:nvSpPr>
        <p:spPr>
          <a:xfrm rot="2700000">
            <a:off x="1064362" y="841248"/>
            <a:ext cx="77724" cy="77724"/>
          </a:xfrm>
          <a:prstGeom prst="rect">
            <a:avLst/>
          </a:prstGeom>
          <a:solidFill>
            <a:srgbClr val="D4951A">
              <a:alpha val="45000"/>
            </a:srgbClr>
          </a:solidFill>
          <a:ln w="12700">
            <a:solidFill>
              <a:srgbClr val="D4951A"/>
            </a:solidFill>
            <a:prstDash val="solid"/>
          </a:ln>
        </p:spPr>
      </p:sp>
      <p:sp>
        <p:nvSpPr>
          <p:cNvPr id="14" name="Shape 12"/>
          <p:cNvSpPr/>
          <p:nvPr/>
        </p:nvSpPr>
        <p:spPr>
          <a:xfrm rot="2700000">
            <a:off x="1181405" y="841248"/>
            <a:ext cx="77724" cy="77724"/>
          </a:xfrm>
          <a:prstGeom prst="rect">
            <a:avLst/>
          </a:prstGeom>
          <a:solidFill>
            <a:srgbClr val="D4951A">
              <a:alpha val="45000"/>
            </a:srgbClr>
          </a:solidFill>
          <a:ln w="12700">
            <a:solidFill>
              <a:srgbClr val="D4951A"/>
            </a:solidFill>
            <a:prstDash val="solid"/>
          </a:ln>
        </p:spPr>
      </p:sp>
      <p:sp>
        <p:nvSpPr>
          <p:cNvPr id="15" name="Shape 13"/>
          <p:cNvSpPr/>
          <p:nvPr/>
        </p:nvSpPr>
        <p:spPr>
          <a:xfrm rot="2700000">
            <a:off x="1298448" y="841248"/>
            <a:ext cx="77724" cy="77724"/>
          </a:xfrm>
          <a:prstGeom prst="rect">
            <a:avLst/>
          </a:prstGeom>
          <a:solidFill>
            <a:srgbClr val="D4951A">
              <a:alpha val="45000"/>
            </a:srgbClr>
          </a:solidFill>
          <a:ln w="12700">
            <a:solidFill>
              <a:srgbClr val="D4951A"/>
            </a:solidFill>
            <a:prstDash val="solid"/>
          </a:ln>
        </p:spPr>
      </p:sp>
      <p:sp>
        <p:nvSpPr>
          <p:cNvPr id="16" name="Shape 14"/>
          <p:cNvSpPr/>
          <p:nvPr/>
        </p:nvSpPr>
        <p:spPr>
          <a:xfrm rot="2700000">
            <a:off x="1415491" y="841248"/>
            <a:ext cx="77724" cy="77724"/>
          </a:xfrm>
          <a:prstGeom prst="rect">
            <a:avLst/>
          </a:prstGeom>
          <a:solidFill>
            <a:srgbClr val="D4951A">
              <a:alpha val="45000"/>
            </a:srgbClr>
          </a:solidFill>
          <a:ln w="12700">
            <a:solidFill>
              <a:srgbClr val="D4951A"/>
            </a:solidFill>
            <a:prstDash val="solid"/>
          </a:ln>
        </p:spPr>
      </p:sp>
      <p:sp>
        <p:nvSpPr>
          <p:cNvPr id="17" name="Shape 15"/>
          <p:cNvSpPr/>
          <p:nvPr/>
        </p:nvSpPr>
        <p:spPr>
          <a:xfrm rot="2700000">
            <a:off x="1532534" y="841248"/>
            <a:ext cx="77724" cy="77724"/>
          </a:xfrm>
          <a:prstGeom prst="rect">
            <a:avLst/>
          </a:prstGeom>
          <a:solidFill>
            <a:srgbClr val="D4951A">
              <a:alpha val="45000"/>
            </a:srgbClr>
          </a:solidFill>
          <a:ln w="12700">
            <a:solidFill>
              <a:srgbClr val="D4951A"/>
            </a:solidFill>
            <a:prstDash val="solid"/>
          </a:ln>
        </p:spPr>
      </p:sp>
      <p:sp>
        <p:nvSpPr>
          <p:cNvPr id="18" name="Shape 16"/>
          <p:cNvSpPr/>
          <p:nvPr/>
        </p:nvSpPr>
        <p:spPr>
          <a:xfrm rot="2700000">
            <a:off x="1649578" y="841248"/>
            <a:ext cx="77724" cy="77724"/>
          </a:xfrm>
          <a:prstGeom prst="rect">
            <a:avLst/>
          </a:prstGeom>
          <a:solidFill>
            <a:srgbClr val="D4951A">
              <a:alpha val="45000"/>
            </a:srgbClr>
          </a:solidFill>
          <a:ln w="12700">
            <a:solidFill>
              <a:srgbClr val="D4951A"/>
            </a:solidFill>
            <a:prstDash val="solid"/>
          </a:ln>
        </p:spPr>
      </p:sp>
      <p:sp>
        <p:nvSpPr>
          <p:cNvPr id="19" name="Shape 17"/>
          <p:cNvSpPr/>
          <p:nvPr/>
        </p:nvSpPr>
        <p:spPr>
          <a:xfrm rot="2700000">
            <a:off x="1766621" y="841248"/>
            <a:ext cx="77724" cy="77724"/>
          </a:xfrm>
          <a:prstGeom prst="rect">
            <a:avLst/>
          </a:prstGeom>
          <a:solidFill>
            <a:srgbClr val="D4951A">
              <a:alpha val="45000"/>
            </a:srgbClr>
          </a:solidFill>
          <a:ln w="12700">
            <a:solidFill>
              <a:srgbClr val="D4951A"/>
            </a:solidFill>
            <a:prstDash val="solid"/>
          </a:ln>
        </p:spPr>
      </p:sp>
      <p:sp>
        <p:nvSpPr>
          <p:cNvPr id="20" name="Shape 18"/>
          <p:cNvSpPr/>
          <p:nvPr/>
        </p:nvSpPr>
        <p:spPr>
          <a:xfrm rot="2700000">
            <a:off x="1883664" y="841248"/>
            <a:ext cx="77724" cy="77724"/>
          </a:xfrm>
          <a:prstGeom prst="rect">
            <a:avLst/>
          </a:prstGeom>
          <a:solidFill>
            <a:srgbClr val="D4951A">
              <a:alpha val="45000"/>
            </a:srgbClr>
          </a:solidFill>
          <a:ln w="12700">
            <a:solidFill>
              <a:srgbClr val="D4951A"/>
            </a:solidFill>
            <a:prstDash val="solid"/>
          </a:ln>
        </p:spPr>
      </p:sp>
      <p:sp>
        <p:nvSpPr>
          <p:cNvPr id="21" name="Shape 19"/>
          <p:cNvSpPr/>
          <p:nvPr/>
        </p:nvSpPr>
        <p:spPr>
          <a:xfrm rot="2700000">
            <a:off x="2000707" y="841248"/>
            <a:ext cx="77724" cy="77724"/>
          </a:xfrm>
          <a:prstGeom prst="rect">
            <a:avLst/>
          </a:prstGeom>
          <a:solidFill>
            <a:srgbClr val="D4951A">
              <a:alpha val="45000"/>
            </a:srgbClr>
          </a:solidFill>
          <a:ln w="12700">
            <a:solidFill>
              <a:srgbClr val="D4951A"/>
            </a:solidFill>
            <a:prstDash val="solid"/>
          </a:ln>
        </p:spPr>
      </p:sp>
      <p:sp>
        <p:nvSpPr>
          <p:cNvPr id="22" name="Shape 20"/>
          <p:cNvSpPr/>
          <p:nvPr/>
        </p:nvSpPr>
        <p:spPr>
          <a:xfrm rot="2700000">
            <a:off x="2117750" y="841248"/>
            <a:ext cx="77724" cy="77724"/>
          </a:xfrm>
          <a:prstGeom prst="rect">
            <a:avLst/>
          </a:prstGeom>
          <a:solidFill>
            <a:srgbClr val="D4951A">
              <a:alpha val="45000"/>
            </a:srgbClr>
          </a:solidFill>
          <a:ln w="12700">
            <a:solidFill>
              <a:srgbClr val="D4951A"/>
            </a:solidFill>
            <a:prstDash val="solid"/>
          </a:ln>
        </p:spPr>
      </p:sp>
      <p:sp>
        <p:nvSpPr>
          <p:cNvPr id="23" name="Shape 21"/>
          <p:cNvSpPr/>
          <p:nvPr/>
        </p:nvSpPr>
        <p:spPr>
          <a:xfrm rot="2700000">
            <a:off x="2234794" y="841248"/>
            <a:ext cx="77724" cy="77724"/>
          </a:xfrm>
          <a:prstGeom prst="rect">
            <a:avLst/>
          </a:prstGeom>
          <a:solidFill>
            <a:srgbClr val="D4951A">
              <a:alpha val="45000"/>
            </a:srgbClr>
          </a:solidFill>
          <a:ln w="12700">
            <a:solidFill>
              <a:srgbClr val="D4951A"/>
            </a:solidFill>
            <a:prstDash val="solid"/>
          </a:ln>
        </p:spPr>
      </p:sp>
      <p:sp>
        <p:nvSpPr>
          <p:cNvPr id="24" name="Shape 22"/>
          <p:cNvSpPr/>
          <p:nvPr/>
        </p:nvSpPr>
        <p:spPr>
          <a:xfrm rot="2700000">
            <a:off x="2351837" y="841248"/>
            <a:ext cx="77724" cy="77724"/>
          </a:xfrm>
          <a:prstGeom prst="rect">
            <a:avLst/>
          </a:prstGeom>
          <a:solidFill>
            <a:srgbClr val="D4951A">
              <a:alpha val="45000"/>
            </a:srgbClr>
          </a:solidFill>
          <a:ln w="12700">
            <a:solidFill>
              <a:srgbClr val="D4951A"/>
            </a:solidFill>
            <a:prstDash val="solid"/>
          </a:ln>
        </p:spPr>
      </p:sp>
      <p:sp>
        <p:nvSpPr>
          <p:cNvPr id="25" name="Shape 23"/>
          <p:cNvSpPr/>
          <p:nvPr/>
        </p:nvSpPr>
        <p:spPr>
          <a:xfrm rot="2700000">
            <a:off x="2468880" y="841248"/>
            <a:ext cx="77724" cy="77724"/>
          </a:xfrm>
          <a:prstGeom prst="rect">
            <a:avLst/>
          </a:prstGeom>
          <a:solidFill>
            <a:srgbClr val="D4951A">
              <a:alpha val="45000"/>
            </a:srgbClr>
          </a:solidFill>
          <a:ln w="12700">
            <a:solidFill>
              <a:srgbClr val="D4951A"/>
            </a:solidFill>
            <a:prstDash val="solid"/>
          </a:ln>
        </p:spPr>
      </p:sp>
      <p:sp>
        <p:nvSpPr>
          <p:cNvPr id="26" name="Shape 24"/>
          <p:cNvSpPr/>
          <p:nvPr/>
        </p:nvSpPr>
        <p:spPr>
          <a:xfrm rot="2700000">
            <a:off x="2585923" y="841248"/>
            <a:ext cx="77724" cy="77724"/>
          </a:xfrm>
          <a:prstGeom prst="rect">
            <a:avLst/>
          </a:prstGeom>
          <a:solidFill>
            <a:srgbClr val="D4951A">
              <a:alpha val="45000"/>
            </a:srgbClr>
          </a:solidFill>
          <a:ln w="12700">
            <a:solidFill>
              <a:srgbClr val="D4951A"/>
            </a:solidFill>
            <a:prstDash val="solid"/>
          </a:ln>
        </p:spPr>
      </p:sp>
      <p:sp>
        <p:nvSpPr>
          <p:cNvPr id="27" name="Shape 25"/>
          <p:cNvSpPr/>
          <p:nvPr/>
        </p:nvSpPr>
        <p:spPr>
          <a:xfrm rot="2700000">
            <a:off x="2702966" y="841248"/>
            <a:ext cx="77724" cy="77724"/>
          </a:xfrm>
          <a:prstGeom prst="rect">
            <a:avLst/>
          </a:prstGeom>
          <a:solidFill>
            <a:srgbClr val="D4951A">
              <a:alpha val="45000"/>
            </a:srgbClr>
          </a:solidFill>
          <a:ln w="12700">
            <a:solidFill>
              <a:srgbClr val="D4951A"/>
            </a:solidFill>
            <a:prstDash val="solid"/>
          </a:ln>
        </p:spPr>
      </p:sp>
      <p:sp>
        <p:nvSpPr>
          <p:cNvPr id="28" name="Shape 26"/>
          <p:cNvSpPr/>
          <p:nvPr/>
        </p:nvSpPr>
        <p:spPr>
          <a:xfrm rot="2700000">
            <a:off x="2820010" y="841248"/>
            <a:ext cx="77724" cy="77724"/>
          </a:xfrm>
          <a:prstGeom prst="rect">
            <a:avLst/>
          </a:prstGeom>
          <a:solidFill>
            <a:srgbClr val="D4951A">
              <a:alpha val="45000"/>
            </a:srgbClr>
          </a:solidFill>
          <a:ln w="12700">
            <a:solidFill>
              <a:srgbClr val="D4951A"/>
            </a:solidFill>
            <a:prstDash val="solid"/>
          </a:ln>
        </p:spPr>
      </p:sp>
      <p:sp>
        <p:nvSpPr>
          <p:cNvPr id="29" name="Shape 27"/>
          <p:cNvSpPr/>
          <p:nvPr/>
        </p:nvSpPr>
        <p:spPr>
          <a:xfrm rot="2700000">
            <a:off x="2937053" y="841248"/>
            <a:ext cx="77724" cy="77724"/>
          </a:xfrm>
          <a:prstGeom prst="rect">
            <a:avLst/>
          </a:prstGeom>
          <a:solidFill>
            <a:srgbClr val="D4951A">
              <a:alpha val="45000"/>
            </a:srgbClr>
          </a:solidFill>
          <a:ln w="12700">
            <a:solidFill>
              <a:srgbClr val="D4951A"/>
            </a:solidFill>
            <a:prstDash val="solid"/>
          </a:ln>
        </p:spPr>
      </p:sp>
      <p:sp>
        <p:nvSpPr>
          <p:cNvPr id="30" name="Shape 28"/>
          <p:cNvSpPr/>
          <p:nvPr/>
        </p:nvSpPr>
        <p:spPr>
          <a:xfrm rot="2700000">
            <a:off x="3054096" y="841248"/>
            <a:ext cx="77724" cy="77724"/>
          </a:xfrm>
          <a:prstGeom prst="rect">
            <a:avLst/>
          </a:prstGeom>
          <a:solidFill>
            <a:srgbClr val="D4951A">
              <a:alpha val="45000"/>
            </a:srgbClr>
          </a:solidFill>
          <a:ln w="12700">
            <a:solidFill>
              <a:srgbClr val="D4951A"/>
            </a:solidFill>
            <a:prstDash val="solid"/>
          </a:ln>
        </p:spPr>
      </p:sp>
      <p:sp>
        <p:nvSpPr>
          <p:cNvPr id="31" name="Shape 29"/>
          <p:cNvSpPr/>
          <p:nvPr/>
        </p:nvSpPr>
        <p:spPr>
          <a:xfrm rot="2700000">
            <a:off x="3171139" y="841248"/>
            <a:ext cx="77724" cy="77724"/>
          </a:xfrm>
          <a:prstGeom prst="rect">
            <a:avLst/>
          </a:prstGeom>
          <a:solidFill>
            <a:srgbClr val="D4951A">
              <a:alpha val="45000"/>
            </a:srgbClr>
          </a:solidFill>
          <a:ln w="12700">
            <a:solidFill>
              <a:srgbClr val="D4951A"/>
            </a:solidFill>
            <a:prstDash val="solid"/>
          </a:ln>
        </p:spPr>
      </p:sp>
      <p:sp>
        <p:nvSpPr>
          <p:cNvPr id="32" name="Shape 30"/>
          <p:cNvSpPr/>
          <p:nvPr/>
        </p:nvSpPr>
        <p:spPr>
          <a:xfrm rot="2700000">
            <a:off x="3288182" y="841248"/>
            <a:ext cx="77724" cy="77724"/>
          </a:xfrm>
          <a:prstGeom prst="rect">
            <a:avLst/>
          </a:prstGeom>
          <a:solidFill>
            <a:srgbClr val="D4951A">
              <a:alpha val="45000"/>
            </a:srgbClr>
          </a:solidFill>
          <a:ln w="12700">
            <a:solidFill>
              <a:srgbClr val="D4951A"/>
            </a:solidFill>
            <a:prstDash val="solid"/>
          </a:ln>
        </p:spPr>
      </p:sp>
      <p:sp>
        <p:nvSpPr>
          <p:cNvPr id="33" name="Shape 31"/>
          <p:cNvSpPr/>
          <p:nvPr/>
        </p:nvSpPr>
        <p:spPr>
          <a:xfrm rot="2700000">
            <a:off x="3405226" y="841248"/>
            <a:ext cx="77724" cy="77724"/>
          </a:xfrm>
          <a:prstGeom prst="rect">
            <a:avLst/>
          </a:prstGeom>
          <a:solidFill>
            <a:srgbClr val="D4951A">
              <a:alpha val="45000"/>
            </a:srgbClr>
          </a:solidFill>
          <a:ln w="12700">
            <a:solidFill>
              <a:srgbClr val="D4951A"/>
            </a:solidFill>
            <a:prstDash val="solid"/>
          </a:ln>
        </p:spPr>
      </p:sp>
      <p:sp>
        <p:nvSpPr>
          <p:cNvPr id="34" name="Shape 32"/>
          <p:cNvSpPr/>
          <p:nvPr/>
        </p:nvSpPr>
        <p:spPr>
          <a:xfrm rot="2700000">
            <a:off x="3522269" y="841248"/>
            <a:ext cx="77724" cy="77724"/>
          </a:xfrm>
          <a:prstGeom prst="rect">
            <a:avLst/>
          </a:prstGeom>
          <a:solidFill>
            <a:srgbClr val="D4951A">
              <a:alpha val="45000"/>
            </a:srgbClr>
          </a:solidFill>
          <a:ln w="12700">
            <a:solidFill>
              <a:srgbClr val="D4951A"/>
            </a:solidFill>
            <a:prstDash val="solid"/>
          </a:ln>
        </p:spPr>
      </p:sp>
      <p:sp>
        <p:nvSpPr>
          <p:cNvPr id="35" name="Shape 33"/>
          <p:cNvSpPr/>
          <p:nvPr/>
        </p:nvSpPr>
        <p:spPr>
          <a:xfrm rot="2700000">
            <a:off x="3639312" y="841248"/>
            <a:ext cx="77724" cy="77724"/>
          </a:xfrm>
          <a:prstGeom prst="rect">
            <a:avLst/>
          </a:prstGeom>
          <a:solidFill>
            <a:srgbClr val="D4951A">
              <a:alpha val="45000"/>
            </a:srgbClr>
          </a:solidFill>
          <a:ln w="12700">
            <a:solidFill>
              <a:srgbClr val="D4951A"/>
            </a:solidFill>
            <a:prstDash val="solid"/>
          </a:ln>
        </p:spPr>
      </p:sp>
      <p:sp>
        <p:nvSpPr>
          <p:cNvPr id="36" name="Shape 34"/>
          <p:cNvSpPr/>
          <p:nvPr/>
        </p:nvSpPr>
        <p:spPr>
          <a:xfrm rot="2700000">
            <a:off x="3756355" y="841248"/>
            <a:ext cx="77724" cy="77724"/>
          </a:xfrm>
          <a:prstGeom prst="rect">
            <a:avLst/>
          </a:prstGeom>
          <a:solidFill>
            <a:srgbClr val="D4951A">
              <a:alpha val="45000"/>
            </a:srgbClr>
          </a:solidFill>
          <a:ln w="12700">
            <a:solidFill>
              <a:srgbClr val="D4951A"/>
            </a:solidFill>
            <a:prstDash val="solid"/>
          </a:ln>
        </p:spPr>
      </p:sp>
      <p:sp>
        <p:nvSpPr>
          <p:cNvPr id="37" name="Shape 35"/>
          <p:cNvSpPr/>
          <p:nvPr/>
        </p:nvSpPr>
        <p:spPr>
          <a:xfrm rot="2700000">
            <a:off x="3873398" y="841248"/>
            <a:ext cx="77724" cy="77724"/>
          </a:xfrm>
          <a:prstGeom prst="rect">
            <a:avLst/>
          </a:prstGeom>
          <a:solidFill>
            <a:srgbClr val="D4951A">
              <a:alpha val="45000"/>
            </a:srgbClr>
          </a:solidFill>
          <a:ln w="12700">
            <a:solidFill>
              <a:srgbClr val="D4951A"/>
            </a:solidFill>
            <a:prstDash val="solid"/>
          </a:ln>
        </p:spPr>
      </p:sp>
      <p:sp>
        <p:nvSpPr>
          <p:cNvPr id="38" name="Shape 36"/>
          <p:cNvSpPr/>
          <p:nvPr/>
        </p:nvSpPr>
        <p:spPr>
          <a:xfrm rot="2700000">
            <a:off x="3990442" y="841248"/>
            <a:ext cx="77724" cy="77724"/>
          </a:xfrm>
          <a:prstGeom prst="rect">
            <a:avLst/>
          </a:prstGeom>
          <a:solidFill>
            <a:srgbClr val="D4951A">
              <a:alpha val="45000"/>
            </a:srgbClr>
          </a:solidFill>
          <a:ln w="12700">
            <a:solidFill>
              <a:srgbClr val="D4951A"/>
            </a:solidFill>
            <a:prstDash val="solid"/>
          </a:ln>
        </p:spPr>
      </p:sp>
      <p:sp>
        <p:nvSpPr>
          <p:cNvPr id="39" name="Shape 37"/>
          <p:cNvSpPr/>
          <p:nvPr/>
        </p:nvSpPr>
        <p:spPr>
          <a:xfrm rot="2700000">
            <a:off x="4107485" y="841248"/>
            <a:ext cx="77724" cy="77724"/>
          </a:xfrm>
          <a:prstGeom prst="rect">
            <a:avLst/>
          </a:prstGeom>
          <a:solidFill>
            <a:srgbClr val="D4951A">
              <a:alpha val="45000"/>
            </a:srgbClr>
          </a:solidFill>
          <a:ln w="12700">
            <a:solidFill>
              <a:srgbClr val="D4951A"/>
            </a:solidFill>
            <a:prstDash val="solid"/>
          </a:ln>
        </p:spPr>
      </p:sp>
      <p:sp>
        <p:nvSpPr>
          <p:cNvPr id="40" name="Shape 38"/>
          <p:cNvSpPr/>
          <p:nvPr/>
        </p:nvSpPr>
        <p:spPr>
          <a:xfrm rot="2700000">
            <a:off x="4224528" y="841248"/>
            <a:ext cx="77724" cy="77724"/>
          </a:xfrm>
          <a:prstGeom prst="rect">
            <a:avLst/>
          </a:prstGeom>
          <a:solidFill>
            <a:srgbClr val="D4951A">
              <a:alpha val="45000"/>
            </a:srgbClr>
          </a:solidFill>
          <a:ln w="12700">
            <a:solidFill>
              <a:srgbClr val="D4951A"/>
            </a:solidFill>
            <a:prstDash val="solid"/>
          </a:ln>
        </p:spPr>
      </p:sp>
      <p:sp>
        <p:nvSpPr>
          <p:cNvPr id="41" name="Shape 39"/>
          <p:cNvSpPr/>
          <p:nvPr/>
        </p:nvSpPr>
        <p:spPr>
          <a:xfrm rot="2700000">
            <a:off x="4341571" y="841248"/>
            <a:ext cx="77724" cy="77724"/>
          </a:xfrm>
          <a:prstGeom prst="rect">
            <a:avLst/>
          </a:prstGeom>
          <a:solidFill>
            <a:srgbClr val="D4951A">
              <a:alpha val="45000"/>
            </a:srgbClr>
          </a:solidFill>
          <a:ln w="12700">
            <a:solidFill>
              <a:srgbClr val="D4951A"/>
            </a:solidFill>
            <a:prstDash val="solid"/>
          </a:ln>
        </p:spPr>
      </p:sp>
      <p:sp>
        <p:nvSpPr>
          <p:cNvPr id="42" name="Shape 40"/>
          <p:cNvSpPr/>
          <p:nvPr/>
        </p:nvSpPr>
        <p:spPr>
          <a:xfrm rot="2700000">
            <a:off x="4458614" y="841248"/>
            <a:ext cx="77724" cy="77724"/>
          </a:xfrm>
          <a:prstGeom prst="rect">
            <a:avLst/>
          </a:prstGeom>
          <a:solidFill>
            <a:srgbClr val="D4951A">
              <a:alpha val="45000"/>
            </a:srgbClr>
          </a:solidFill>
          <a:ln w="12700">
            <a:solidFill>
              <a:srgbClr val="D4951A"/>
            </a:solidFill>
            <a:prstDash val="solid"/>
          </a:ln>
        </p:spPr>
      </p:sp>
      <p:sp>
        <p:nvSpPr>
          <p:cNvPr id="43" name="Shape 41"/>
          <p:cNvSpPr/>
          <p:nvPr/>
        </p:nvSpPr>
        <p:spPr>
          <a:xfrm rot="2700000">
            <a:off x="4575658" y="841248"/>
            <a:ext cx="77724" cy="77724"/>
          </a:xfrm>
          <a:prstGeom prst="rect">
            <a:avLst/>
          </a:prstGeom>
          <a:solidFill>
            <a:srgbClr val="D4951A">
              <a:alpha val="45000"/>
            </a:srgbClr>
          </a:solidFill>
          <a:ln w="12700">
            <a:solidFill>
              <a:srgbClr val="D4951A"/>
            </a:solidFill>
            <a:prstDash val="solid"/>
          </a:ln>
        </p:spPr>
      </p:sp>
      <p:sp>
        <p:nvSpPr>
          <p:cNvPr id="44" name="Shape 42"/>
          <p:cNvSpPr/>
          <p:nvPr/>
        </p:nvSpPr>
        <p:spPr>
          <a:xfrm rot="2700000">
            <a:off x="4692701" y="841248"/>
            <a:ext cx="77724" cy="77724"/>
          </a:xfrm>
          <a:prstGeom prst="rect">
            <a:avLst/>
          </a:prstGeom>
          <a:solidFill>
            <a:srgbClr val="D4951A">
              <a:alpha val="45000"/>
            </a:srgbClr>
          </a:solidFill>
          <a:ln w="12700">
            <a:solidFill>
              <a:srgbClr val="D4951A"/>
            </a:solidFill>
            <a:prstDash val="solid"/>
          </a:ln>
        </p:spPr>
      </p:sp>
      <p:sp>
        <p:nvSpPr>
          <p:cNvPr id="45" name="Shape 43"/>
          <p:cNvSpPr/>
          <p:nvPr/>
        </p:nvSpPr>
        <p:spPr>
          <a:xfrm rot="2700000">
            <a:off x="4809744" y="841248"/>
            <a:ext cx="77724" cy="77724"/>
          </a:xfrm>
          <a:prstGeom prst="rect">
            <a:avLst/>
          </a:prstGeom>
          <a:solidFill>
            <a:srgbClr val="D4951A">
              <a:alpha val="45000"/>
            </a:srgbClr>
          </a:solidFill>
          <a:ln w="12700">
            <a:solidFill>
              <a:srgbClr val="D4951A"/>
            </a:solidFill>
            <a:prstDash val="solid"/>
          </a:ln>
        </p:spPr>
      </p:sp>
      <p:sp>
        <p:nvSpPr>
          <p:cNvPr id="46" name="Shape 44"/>
          <p:cNvSpPr/>
          <p:nvPr/>
        </p:nvSpPr>
        <p:spPr>
          <a:xfrm rot="2700000">
            <a:off x="4926787" y="841248"/>
            <a:ext cx="77724" cy="77724"/>
          </a:xfrm>
          <a:prstGeom prst="rect">
            <a:avLst/>
          </a:prstGeom>
          <a:solidFill>
            <a:srgbClr val="D4951A">
              <a:alpha val="45000"/>
            </a:srgbClr>
          </a:solidFill>
          <a:ln w="12700">
            <a:solidFill>
              <a:srgbClr val="D4951A"/>
            </a:solidFill>
            <a:prstDash val="solid"/>
          </a:ln>
        </p:spPr>
      </p:sp>
      <p:sp>
        <p:nvSpPr>
          <p:cNvPr id="47" name="Shape 45"/>
          <p:cNvSpPr/>
          <p:nvPr/>
        </p:nvSpPr>
        <p:spPr>
          <a:xfrm rot="2700000">
            <a:off x="5043830" y="841248"/>
            <a:ext cx="77724" cy="77724"/>
          </a:xfrm>
          <a:prstGeom prst="rect">
            <a:avLst/>
          </a:prstGeom>
          <a:solidFill>
            <a:srgbClr val="D4951A">
              <a:alpha val="45000"/>
            </a:srgbClr>
          </a:solidFill>
          <a:ln w="12700">
            <a:solidFill>
              <a:srgbClr val="D4951A"/>
            </a:solidFill>
            <a:prstDash val="solid"/>
          </a:ln>
        </p:spPr>
      </p:sp>
      <p:sp>
        <p:nvSpPr>
          <p:cNvPr id="48" name="Shape 46"/>
          <p:cNvSpPr/>
          <p:nvPr/>
        </p:nvSpPr>
        <p:spPr>
          <a:xfrm rot="2700000">
            <a:off x="5160874" y="841248"/>
            <a:ext cx="77724" cy="77724"/>
          </a:xfrm>
          <a:prstGeom prst="rect">
            <a:avLst/>
          </a:prstGeom>
          <a:solidFill>
            <a:srgbClr val="D4951A">
              <a:alpha val="45000"/>
            </a:srgbClr>
          </a:solidFill>
          <a:ln w="12700">
            <a:solidFill>
              <a:srgbClr val="D4951A"/>
            </a:solidFill>
            <a:prstDash val="solid"/>
          </a:ln>
        </p:spPr>
      </p:sp>
      <p:sp>
        <p:nvSpPr>
          <p:cNvPr id="49" name="Shape 47"/>
          <p:cNvSpPr/>
          <p:nvPr/>
        </p:nvSpPr>
        <p:spPr>
          <a:xfrm rot="2700000">
            <a:off x="5277917" y="841248"/>
            <a:ext cx="77724" cy="77724"/>
          </a:xfrm>
          <a:prstGeom prst="rect">
            <a:avLst/>
          </a:prstGeom>
          <a:solidFill>
            <a:srgbClr val="D4951A">
              <a:alpha val="45000"/>
            </a:srgbClr>
          </a:solidFill>
          <a:ln w="12700">
            <a:solidFill>
              <a:srgbClr val="D4951A"/>
            </a:solidFill>
            <a:prstDash val="solid"/>
          </a:ln>
        </p:spPr>
      </p:sp>
      <p:sp>
        <p:nvSpPr>
          <p:cNvPr id="50" name="Shape 48"/>
          <p:cNvSpPr/>
          <p:nvPr/>
        </p:nvSpPr>
        <p:spPr>
          <a:xfrm rot="2700000">
            <a:off x="5394960" y="841248"/>
            <a:ext cx="77724" cy="77724"/>
          </a:xfrm>
          <a:prstGeom prst="rect">
            <a:avLst/>
          </a:prstGeom>
          <a:solidFill>
            <a:srgbClr val="D4951A">
              <a:alpha val="45000"/>
            </a:srgbClr>
          </a:solidFill>
          <a:ln w="12700">
            <a:solidFill>
              <a:srgbClr val="D4951A"/>
            </a:solidFill>
            <a:prstDash val="solid"/>
          </a:ln>
        </p:spPr>
      </p:sp>
      <p:sp>
        <p:nvSpPr>
          <p:cNvPr id="51" name="Shape 49"/>
          <p:cNvSpPr/>
          <p:nvPr/>
        </p:nvSpPr>
        <p:spPr>
          <a:xfrm rot="2700000">
            <a:off x="5512003" y="841248"/>
            <a:ext cx="77724" cy="77724"/>
          </a:xfrm>
          <a:prstGeom prst="rect">
            <a:avLst/>
          </a:prstGeom>
          <a:solidFill>
            <a:srgbClr val="D4951A">
              <a:alpha val="45000"/>
            </a:srgbClr>
          </a:solidFill>
          <a:ln w="12700">
            <a:solidFill>
              <a:srgbClr val="D4951A"/>
            </a:solidFill>
            <a:prstDash val="solid"/>
          </a:ln>
        </p:spPr>
      </p:sp>
      <p:sp>
        <p:nvSpPr>
          <p:cNvPr id="52" name="Shape 50"/>
          <p:cNvSpPr/>
          <p:nvPr/>
        </p:nvSpPr>
        <p:spPr>
          <a:xfrm rot="2700000">
            <a:off x="5629046" y="841248"/>
            <a:ext cx="77724" cy="77724"/>
          </a:xfrm>
          <a:prstGeom prst="rect">
            <a:avLst/>
          </a:prstGeom>
          <a:solidFill>
            <a:srgbClr val="D4951A">
              <a:alpha val="45000"/>
            </a:srgbClr>
          </a:solidFill>
          <a:ln w="12700">
            <a:solidFill>
              <a:srgbClr val="D4951A"/>
            </a:solidFill>
            <a:prstDash val="solid"/>
          </a:ln>
        </p:spPr>
      </p:sp>
      <p:sp>
        <p:nvSpPr>
          <p:cNvPr id="53" name="Shape 51"/>
          <p:cNvSpPr/>
          <p:nvPr/>
        </p:nvSpPr>
        <p:spPr>
          <a:xfrm rot="2700000">
            <a:off x="5746090" y="841248"/>
            <a:ext cx="77724" cy="77724"/>
          </a:xfrm>
          <a:prstGeom prst="rect">
            <a:avLst/>
          </a:prstGeom>
          <a:solidFill>
            <a:srgbClr val="D4951A">
              <a:alpha val="45000"/>
            </a:srgbClr>
          </a:solidFill>
          <a:ln w="12700">
            <a:solidFill>
              <a:srgbClr val="D4951A"/>
            </a:solidFill>
            <a:prstDash val="solid"/>
          </a:ln>
        </p:spPr>
      </p:sp>
      <p:sp>
        <p:nvSpPr>
          <p:cNvPr id="54" name="Shape 52"/>
          <p:cNvSpPr/>
          <p:nvPr/>
        </p:nvSpPr>
        <p:spPr>
          <a:xfrm rot="2700000">
            <a:off x="5863133" y="841248"/>
            <a:ext cx="77724" cy="77724"/>
          </a:xfrm>
          <a:prstGeom prst="rect">
            <a:avLst/>
          </a:prstGeom>
          <a:solidFill>
            <a:srgbClr val="D4951A">
              <a:alpha val="45000"/>
            </a:srgbClr>
          </a:solidFill>
          <a:ln w="12700">
            <a:solidFill>
              <a:srgbClr val="D4951A"/>
            </a:solidFill>
            <a:prstDash val="solid"/>
          </a:ln>
        </p:spPr>
      </p:sp>
      <p:sp>
        <p:nvSpPr>
          <p:cNvPr id="55" name="Shape 53"/>
          <p:cNvSpPr/>
          <p:nvPr/>
        </p:nvSpPr>
        <p:spPr>
          <a:xfrm rot="2700000">
            <a:off x="5980176" y="841248"/>
            <a:ext cx="77724" cy="77724"/>
          </a:xfrm>
          <a:prstGeom prst="rect">
            <a:avLst/>
          </a:prstGeom>
          <a:solidFill>
            <a:srgbClr val="D4951A">
              <a:alpha val="45000"/>
            </a:srgbClr>
          </a:solidFill>
          <a:ln w="12700">
            <a:solidFill>
              <a:srgbClr val="D4951A"/>
            </a:solidFill>
            <a:prstDash val="solid"/>
          </a:ln>
        </p:spPr>
      </p:sp>
      <p:sp>
        <p:nvSpPr>
          <p:cNvPr id="56" name="Shape 54"/>
          <p:cNvSpPr/>
          <p:nvPr/>
        </p:nvSpPr>
        <p:spPr>
          <a:xfrm rot="2700000">
            <a:off x="6097219" y="841248"/>
            <a:ext cx="77724" cy="77724"/>
          </a:xfrm>
          <a:prstGeom prst="rect">
            <a:avLst/>
          </a:prstGeom>
          <a:solidFill>
            <a:srgbClr val="D4951A">
              <a:alpha val="45000"/>
            </a:srgbClr>
          </a:solidFill>
          <a:ln w="12700">
            <a:solidFill>
              <a:srgbClr val="D4951A"/>
            </a:solidFill>
            <a:prstDash val="solid"/>
          </a:ln>
        </p:spPr>
      </p:sp>
      <p:sp>
        <p:nvSpPr>
          <p:cNvPr id="57" name="Shape 55"/>
          <p:cNvSpPr/>
          <p:nvPr/>
        </p:nvSpPr>
        <p:spPr>
          <a:xfrm rot="2700000">
            <a:off x="6214262" y="841248"/>
            <a:ext cx="77724" cy="77724"/>
          </a:xfrm>
          <a:prstGeom prst="rect">
            <a:avLst/>
          </a:prstGeom>
          <a:solidFill>
            <a:srgbClr val="D4951A">
              <a:alpha val="45000"/>
            </a:srgbClr>
          </a:solidFill>
          <a:ln w="12700">
            <a:solidFill>
              <a:srgbClr val="D4951A"/>
            </a:solidFill>
            <a:prstDash val="solid"/>
          </a:ln>
        </p:spPr>
      </p:sp>
      <p:sp>
        <p:nvSpPr>
          <p:cNvPr id="58" name="Shape 56"/>
          <p:cNvSpPr/>
          <p:nvPr/>
        </p:nvSpPr>
        <p:spPr>
          <a:xfrm rot="2700000">
            <a:off x="6331306" y="841248"/>
            <a:ext cx="77724" cy="77724"/>
          </a:xfrm>
          <a:prstGeom prst="rect">
            <a:avLst/>
          </a:prstGeom>
          <a:solidFill>
            <a:srgbClr val="D4951A">
              <a:alpha val="45000"/>
            </a:srgbClr>
          </a:solidFill>
          <a:ln w="12700">
            <a:solidFill>
              <a:srgbClr val="D4951A"/>
            </a:solidFill>
            <a:prstDash val="solid"/>
          </a:ln>
        </p:spPr>
      </p:sp>
      <p:sp>
        <p:nvSpPr>
          <p:cNvPr id="59" name="Shape 57"/>
          <p:cNvSpPr/>
          <p:nvPr/>
        </p:nvSpPr>
        <p:spPr>
          <a:xfrm rot="2700000">
            <a:off x="6448349" y="841248"/>
            <a:ext cx="77724" cy="77724"/>
          </a:xfrm>
          <a:prstGeom prst="rect">
            <a:avLst/>
          </a:prstGeom>
          <a:solidFill>
            <a:srgbClr val="D4951A">
              <a:alpha val="45000"/>
            </a:srgbClr>
          </a:solidFill>
          <a:ln w="12700">
            <a:solidFill>
              <a:srgbClr val="D4951A"/>
            </a:solidFill>
            <a:prstDash val="solid"/>
          </a:ln>
        </p:spPr>
      </p:sp>
      <p:sp>
        <p:nvSpPr>
          <p:cNvPr id="60" name="Shape 58"/>
          <p:cNvSpPr/>
          <p:nvPr/>
        </p:nvSpPr>
        <p:spPr>
          <a:xfrm rot="2700000">
            <a:off x="6565392" y="841248"/>
            <a:ext cx="77724" cy="77724"/>
          </a:xfrm>
          <a:prstGeom prst="rect">
            <a:avLst/>
          </a:prstGeom>
          <a:solidFill>
            <a:srgbClr val="D4951A">
              <a:alpha val="45000"/>
            </a:srgbClr>
          </a:solidFill>
          <a:ln w="12700">
            <a:solidFill>
              <a:srgbClr val="D4951A"/>
            </a:solidFill>
            <a:prstDash val="solid"/>
          </a:ln>
        </p:spPr>
      </p:sp>
      <p:sp>
        <p:nvSpPr>
          <p:cNvPr id="61" name="Shape 59"/>
          <p:cNvSpPr/>
          <p:nvPr/>
        </p:nvSpPr>
        <p:spPr>
          <a:xfrm rot="2700000">
            <a:off x="6682435" y="841248"/>
            <a:ext cx="77724" cy="77724"/>
          </a:xfrm>
          <a:prstGeom prst="rect">
            <a:avLst/>
          </a:prstGeom>
          <a:solidFill>
            <a:srgbClr val="D4951A">
              <a:alpha val="45000"/>
            </a:srgbClr>
          </a:solidFill>
          <a:ln w="12700">
            <a:solidFill>
              <a:srgbClr val="D4951A"/>
            </a:solidFill>
            <a:prstDash val="solid"/>
          </a:ln>
        </p:spPr>
      </p:sp>
      <p:sp>
        <p:nvSpPr>
          <p:cNvPr id="62" name="Shape 60"/>
          <p:cNvSpPr/>
          <p:nvPr/>
        </p:nvSpPr>
        <p:spPr>
          <a:xfrm rot="2700000">
            <a:off x="6799478" y="841248"/>
            <a:ext cx="77724" cy="77724"/>
          </a:xfrm>
          <a:prstGeom prst="rect">
            <a:avLst/>
          </a:prstGeom>
          <a:solidFill>
            <a:srgbClr val="D4951A">
              <a:alpha val="45000"/>
            </a:srgbClr>
          </a:solidFill>
          <a:ln w="12700">
            <a:solidFill>
              <a:srgbClr val="D4951A"/>
            </a:solidFill>
            <a:prstDash val="solid"/>
          </a:ln>
        </p:spPr>
      </p:sp>
      <p:sp>
        <p:nvSpPr>
          <p:cNvPr id="63" name="Shape 61"/>
          <p:cNvSpPr/>
          <p:nvPr/>
        </p:nvSpPr>
        <p:spPr>
          <a:xfrm rot="2700000">
            <a:off x="6916522" y="841248"/>
            <a:ext cx="77724" cy="77724"/>
          </a:xfrm>
          <a:prstGeom prst="rect">
            <a:avLst/>
          </a:prstGeom>
          <a:solidFill>
            <a:srgbClr val="D4951A">
              <a:alpha val="45000"/>
            </a:srgbClr>
          </a:solidFill>
          <a:ln w="12700">
            <a:solidFill>
              <a:srgbClr val="D4951A"/>
            </a:solidFill>
            <a:prstDash val="solid"/>
          </a:ln>
        </p:spPr>
      </p:sp>
      <p:sp>
        <p:nvSpPr>
          <p:cNvPr id="64" name="Shape 62"/>
          <p:cNvSpPr/>
          <p:nvPr/>
        </p:nvSpPr>
        <p:spPr>
          <a:xfrm rot="2700000">
            <a:off x="7033565" y="841248"/>
            <a:ext cx="77724" cy="77724"/>
          </a:xfrm>
          <a:prstGeom prst="rect">
            <a:avLst/>
          </a:prstGeom>
          <a:solidFill>
            <a:srgbClr val="D4951A">
              <a:alpha val="45000"/>
            </a:srgbClr>
          </a:solidFill>
          <a:ln w="12700">
            <a:solidFill>
              <a:srgbClr val="D4951A"/>
            </a:solidFill>
            <a:prstDash val="solid"/>
          </a:ln>
        </p:spPr>
      </p:sp>
      <p:sp>
        <p:nvSpPr>
          <p:cNvPr id="65" name="Shape 63"/>
          <p:cNvSpPr/>
          <p:nvPr/>
        </p:nvSpPr>
        <p:spPr>
          <a:xfrm rot="2700000">
            <a:off x="7150608" y="841248"/>
            <a:ext cx="77724" cy="77724"/>
          </a:xfrm>
          <a:prstGeom prst="rect">
            <a:avLst/>
          </a:prstGeom>
          <a:solidFill>
            <a:srgbClr val="D4951A">
              <a:alpha val="45000"/>
            </a:srgbClr>
          </a:solidFill>
          <a:ln w="12700">
            <a:solidFill>
              <a:srgbClr val="D4951A"/>
            </a:solidFill>
            <a:prstDash val="solid"/>
          </a:ln>
        </p:spPr>
      </p:sp>
      <p:sp>
        <p:nvSpPr>
          <p:cNvPr id="66" name="Shape 64"/>
          <p:cNvSpPr/>
          <p:nvPr/>
        </p:nvSpPr>
        <p:spPr>
          <a:xfrm rot="2700000">
            <a:off x="7267651" y="841248"/>
            <a:ext cx="77724" cy="77724"/>
          </a:xfrm>
          <a:prstGeom prst="rect">
            <a:avLst/>
          </a:prstGeom>
          <a:solidFill>
            <a:srgbClr val="D4951A">
              <a:alpha val="45000"/>
            </a:srgbClr>
          </a:solidFill>
          <a:ln w="12700">
            <a:solidFill>
              <a:srgbClr val="D4951A"/>
            </a:solidFill>
            <a:prstDash val="solid"/>
          </a:ln>
        </p:spPr>
      </p:sp>
      <p:sp>
        <p:nvSpPr>
          <p:cNvPr id="67" name="Shape 65"/>
          <p:cNvSpPr/>
          <p:nvPr/>
        </p:nvSpPr>
        <p:spPr>
          <a:xfrm rot="2700000">
            <a:off x="7384694" y="841248"/>
            <a:ext cx="77724" cy="77724"/>
          </a:xfrm>
          <a:prstGeom prst="rect">
            <a:avLst/>
          </a:prstGeom>
          <a:solidFill>
            <a:srgbClr val="D4951A">
              <a:alpha val="45000"/>
            </a:srgbClr>
          </a:solidFill>
          <a:ln w="12700">
            <a:solidFill>
              <a:srgbClr val="D4951A"/>
            </a:solidFill>
            <a:prstDash val="solid"/>
          </a:ln>
        </p:spPr>
      </p:sp>
      <p:sp>
        <p:nvSpPr>
          <p:cNvPr id="68" name="Shape 66"/>
          <p:cNvSpPr/>
          <p:nvPr/>
        </p:nvSpPr>
        <p:spPr>
          <a:xfrm rot="2700000">
            <a:off x="7501738" y="841248"/>
            <a:ext cx="77724" cy="77724"/>
          </a:xfrm>
          <a:prstGeom prst="rect">
            <a:avLst/>
          </a:prstGeom>
          <a:solidFill>
            <a:srgbClr val="D4951A">
              <a:alpha val="45000"/>
            </a:srgbClr>
          </a:solidFill>
          <a:ln w="12700">
            <a:solidFill>
              <a:srgbClr val="D4951A"/>
            </a:solidFill>
            <a:prstDash val="solid"/>
          </a:ln>
        </p:spPr>
      </p:sp>
      <p:sp>
        <p:nvSpPr>
          <p:cNvPr id="69" name="Shape 67"/>
          <p:cNvSpPr/>
          <p:nvPr/>
        </p:nvSpPr>
        <p:spPr>
          <a:xfrm rot="2700000">
            <a:off x="7618781" y="841248"/>
            <a:ext cx="77724" cy="77724"/>
          </a:xfrm>
          <a:prstGeom prst="rect">
            <a:avLst/>
          </a:prstGeom>
          <a:solidFill>
            <a:srgbClr val="D4951A">
              <a:alpha val="45000"/>
            </a:srgbClr>
          </a:solidFill>
          <a:ln w="12700">
            <a:solidFill>
              <a:srgbClr val="D4951A"/>
            </a:solidFill>
            <a:prstDash val="solid"/>
          </a:ln>
        </p:spPr>
      </p:sp>
      <p:sp>
        <p:nvSpPr>
          <p:cNvPr id="70" name="Shape 68"/>
          <p:cNvSpPr/>
          <p:nvPr/>
        </p:nvSpPr>
        <p:spPr>
          <a:xfrm rot="2700000">
            <a:off x="7735824" y="841248"/>
            <a:ext cx="77724" cy="77724"/>
          </a:xfrm>
          <a:prstGeom prst="rect">
            <a:avLst/>
          </a:prstGeom>
          <a:solidFill>
            <a:srgbClr val="D4951A">
              <a:alpha val="45000"/>
            </a:srgbClr>
          </a:solidFill>
          <a:ln w="12700">
            <a:solidFill>
              <a:srgbClr val="D4951A"/>
            </a:solidFill>
            <a:prstDash val="solid"/>
          </a:ln>
        </p:spPr>
      </p:sp>
      <p:sp>
        <p:nvSpPr>
          <p:cNvPr id="71" name="Shape 69"/>
          <p:cNvSpPr/>
          <p:nvPr/>
        </p:nvSpPr>
        <p:spPr>
          <a:xfrm rot="2700000">
            <a:off x="7852867" y="841248"/>
            <a:ext cx="77724" cy="77724"/>
          </a:xfrm>
          <a:prstGeom prst="rect">
            <a:avLst/>
          </a:prstGeom>
          <a:solidFill>
            <a:srgbClr val="D4951A">
              <a:alpha val="45000"/>
            </a:srgbClr>
          </a:solidFill>
          <a:ln w="12700">
            <a:solidFill>
              <a:srgbClr val="D4951A"/>
            </a:solidFill>
            <a:prstDash val="solid"/>
          </a:ln>
        </p:spPr>
      </p:sp>
      <p:sp>
        <p:nvSpPr>
          <p:cNvPr id="72" name="Shape 70"/>
          <p:cNvSpPr/>
          <p:nvPr/>
        </p:nvSpPr>
        <p:spPr>
          <a:xfrm rot="2700000">
            <a:off x="7969910" y="841248"/>
            <a:ext cx="77724" cy="77724"/>
          </a:xfrm>
          <a:prstGeom prst="rect">
            <a:avLst/>
          </a:prstGeom>
          <a:solidFill>
            <a:srgbClr val="D4951A">
              <a:alpha val="45000"/>
            </a:srgbClr>
          </a:solidFill>
          <a:ln w="12700">
            <a:solidFill>
              <a:srgbClr val="D4951A"/>
            </a:solidFill>
            <a:prstDash val="solid"/>
          </a:ln>
        </p:spPr>
      </p:sp>
      <p:sp>
        <p:nvSpPr>
          <p:cNvPr id="73" name="Shape 71"/>
          <p:cNvSpPr/>
          <p:nvPr/>
        </p:nvSpPr>
        <p:spPr>
          <a:xfrm rot="2700000">
            <a:off x="8086954" y="841248"/>
            <a:ext cx="77724" cy="77724"/>
          </a:xfrm>
          <a:prstGeom prst="rect">
            <a:avLst/>
          </a:prstGeom>
          <a:solidFill>
            <a:srgbClr val="D4951A">
              <a:alpha val="45000"/>
            </a:srgbClr>
          </a:solidFill>
          <a:ln w="12700">
            <a:solidFill>
              <a:srgbClr val="D4951A"/>
            </a:solidFill>
            <a:prstDash val="solid"/>
          </a:ln>
        </p:spPr>
      </p:sp>
      <p:sp>
        <p:nvSpPr>
          <p:cNvPr id="74" name="Shape 72"/>
          <p:cNvSpPr/>
          <p:nvPr/>
        </p:nvSpPr>
        <p:spPr>
          <a:xfrm rot="2700000">
            <a:off x="8203997" y="841248"/>
            <a:ext cx="77724" cy="77724"/>
          </a:xfrm>
          <a:prstGeom prst="rect">
            <a:avLst/>
          </a:prstGeom>
          <a:solidFill>
            <a:srgbClr val="D4951A">
              <a:alpha val="45000"/>
            </a:srgbClr>
          </a:solidFill>
          <a:ln w="12700">
            <a:solidFill>
              <a:srgbClr val="D4951A"/>
            </a:solidFill>
            <a:prstDash val="solid"/>
          </a:ln>
        </p:spPr>
      </p:sp>
      <p:sp>
        <p:nvSpPr>
          <p:cNvPr id="75" name="Shape 73"/>
          <p:cNvSpPr/>
          <p:nvPr/>
        </p:nvSpPr>
        <p:spPr>
          <a:xfrm rot="2700000">
            <a:off x="8321040" y="841248"/>
            <a:ext cx="77724" cy="77724"/>
          </a:xfrm>
          <a:prstGeom prst="rect">
            <a:avLst/>
          </a:prstGeom>
          <a:solidFill>
            <a:srgbClr val="D4951A">
              <a:alpha val="45000"/>
            </a:srgbClr>
          </a:solidFill>
          <a:ln w="12700">
            <a:solidFill>
              <a:srgbClr val="D4951A"/>
            </a:solidFill>
            <a:prstDash val="solid"/>
          </a:ln>
        </p:spPr>
      </p:sp>
      <p:sp>
        <p:nvSpPr>
          <p:cNvPr id="76" name="Shape 74"/>
          <p:cNvSpPr/>
          <p:nvPr/>
        </p:nvSpPr>
        <p:spPr>
          <a:xfrm rot="2700000">
            <a:off x="8438083" y="841248"/>
            <a:ext cx="77724" cy="77724"/>
          </a:xfrm>
          <a:prstGeom prst="rect">
            <a:avLst/>
          </a:prstGeom>
          <a:solidFill>
            <a:srgbClr val="D4951A">
              <a:alpha val="45000"/>
            </a:srgbClr>
          </a:solidFill>
          <a:ln w="12700">
            <a:solidFill>
              <a:srgbClr val="D4951A"/>
            </a:solidFill>
            <a:prstDash val="solid"/>
          </a:ln>
        </p:spPr>
      </p:sp>
      <p:sp>
        <p:nvSpPr>
          <p:cNvPr id="77" name="Shape 75"/>
          <p:cNvSpPr/>
          <p:nvPr/>
        </p:nvSpPr>
        <p:spPr>
          <a:xfrm rot="2700000">
            <a:off x="8555126" y="841248"/>
            <a:ext cx="77724" cy="77724"/>
          </a:xfrm>
          <a:prstGeom prst="rect">
            <a:avLst/>
          </a:prstGeom>
          <a:solidFill>
            <a:srgbClr val="D4951A">
              <a:alpha val="45000"/>
            </a:srgbClr>
          </a:solidFill>
          <a:ln w="12700">
            <a:solidFill>
              <a:srgbClr val="D4951A"/>
            </a:solidFill>
            <a:prstDash val="solid"/>
          </a:ln>
        </p:spPr>
      </p:sp>
      <p:sp>
        <p:nvSpPr>
          <p:cNvPr id="78" name="Shape 76"/>
          <p:cNvSpPr/>
          <p:nvPr/>
        </p:nvSpPr>
        <p:spPr>
          <a:xfrm rot="2700000">
            <a:off x="8672170" y="841248"/>
            <a:ext cx="77724" cy="77724"/>
          </a:xfrm>
          <a:prstGeom prst="rect">
            <a:avLst/>
          </a:prstGeom>
          <a:solidFill>
            <a:srgbClr val="D4951A">
              <a:alpha val="45000"/>
            </a:srgbClr>
          </a:solidFill>
          <a:ln w="12700">
            <a:solidFill>
              <a:srgbClr val="D4951A"/>
            </a:solidFill>
            <a:prstDash val="solid"/>
          </a:ln>
        </p:spPr>
      </p:sp>
      <p:sp>
        <p:nvSpPr>
          <p:cNvPr id="79" name="Shape 77"/>
          <p:cNvSpPr/>
          <p:nvPr/>
        </p:nvSpPr>
        <p:spPr>
          <a:xfrm rot="2700000">
            <a:off x="8789213" y="841248"/>
            <a:ext cx="77724" cy="77724"/>
          </a:xfrm>
          <a:prstGeom prst="rect">
            <a:avLst/>
          </a:prstGeom>
          <a:solidFill>
            <a:srgbClr val="D4951A">
              <a:alpha val="45000"/>
            </a:srgbClr>
          </a:solidFill>
          <a:ln w="12700">
            <a:solidFill>
              <a:srgbClr val="D4951A"/>
            </a:solidFill>
            <a:prstDash val="solid"/>
          </a:ln>
        </p:spPr>
      </p:sp>
      <p:sp>
        <p:nvSpPr>
          <p:cNvPr id="80" name="Shape 78"/>
          <p:cNvSpPr/>
          <p:nvPr/>
        </p:nvSpPr>
        <p:spPr>
          <a:xfrm rot="2700000">
            <a:off x="8906256" y="841248"/>
            <a:ext cx="77724" cy="77724"/>
          </a:xfrm>
          <a:prstGeom prst="rect">
            <a:avLst/>
          </a:prstGeom>
          <a:solidFill>
            <a:srgbClr val="D4951A">
              <a:alpha val="45000"/>
            </a:srgbClr>
          </a:solidFill>
          <a:ln w="12700">
            <a:solidFill>
              <a:srgbClr val="D4951A"/>
            </a:solidFill>
            <a:prstDash val="solid"/>
          </a:ln>
        </p:spPr>
      </p:sp>
      <p:sp>
        <p:nvSpPr>
          <p:cNvPr id="81" name="Shape 79"/>
          <p:cNvSpPr/>
          <p:nvPr/>
        </p:nvSpPr>
        <p:spPr>
          <a:xfrm rot="2700000">
            <a:off x="9023299" y="841248"/>
            <a:ext cx="77724" cy="77724"/>
          </a:xfrm>
          <a:prstGeom prst="rect">
            <a:avLst/>
          </a:prstGeom>
          <a:solidFill>
            <a:srgbClr val="D4951A">
              <a:alpha val="45000"/>
            </a:srgbClr>
          </a:solidFill>
          <a:ln w="12700">
            <a:solidFill>
              <a:srgbClr val="D4951A"/>
            </a:solidFill>
            <a:prstDash val="solid"/>
          </a:ln>
        </p:spPr>
      </p:sp>
      <p:sp>
        <p:nvSpPr>
          <p:cNvPr id="82" name="Text 80"/>
          <p:cNvSpPr/>
          <p:nvPr/>
        </p:nvSpPr>
        <p:spPr>
          <a:xfrm>
            <a:off x="201168" y="0"/>
            <a:ext cx="8595360" cy="960120"/>
          </a:xfrm>
          <a:prstGeom prst="rect">
            <a:avLst/>
          </a:prstGeom>
          <a:noFill/>
          <a:ln/>
        </p:spPr>
        <p:txBody>
          <a:bodyPr wrap="square" rtlCol="0" anchor="ctr"/>
          <a:lstStyle/>
          <a:p>
            <a:pPr indent="0" marL="0">
              <a:buNone/>
            </a:pPr>
            <a:r>
              <a:rPr lang="en-US" sz="1900" b="1" spc="80" kern="0" dirty="0">
                <a:solidFill>
                  <a:srgbClr val="D4951A"/>
                </a:solidFill>
                <a:latin typeface="Georgia" pitchFamily="34" charset="0"/>
                <a:ea typeface="Georgia" pitchFamily="34" charset="-122"/>
                <a:cs typeface="Georgia" pitchFamily="34" charset="-120"/>
              </a:rPr>
              <a:t>KEY DECISIONS REQUIRED FROM EXECUTIVE TEAM</a:t>
            </a:r>
            <a:endParaRPr lang="en-US" sz="1900" dirty="0"/>
          </a:p>
        </p:txBody>
      </p:sp>
      <p:sp>
        <p:nvSpPr>
          <p:cNvPr id="83" name="Shape 81"/>
          <p:cNvSpPr/>
          <p:nvPr/>
        </p:nvSpPr>
        <p:spPr>
          <a:xfrm rot="2700000">
            <a:off x="8613648" y="182880"/>
            <a:ext cx="82296" cy="82296"/>
          </a:xfrm>
          <a:prstGeom prst="rect">
            <a:avLst/>
          </a:prstGeom>
          <a:solidFill>
            <a:srgbClr val="D4951A"/>
          </a:solidFill>
          <a:ln w="12700">
            <a:solidFill>
              <a:srgbClr val="05050A"/>
            </a:solidFill>
            <a:prstDash val="solid"/>
          </a:ln>
        </p:spPr>
      </p:sp>
      <p:sp>
        <p:nvSpPr>
          <p:cNvPr id="84" name="Shape 82"/>
          <p:cNvSpPr/>
          <p:nvPr/>
        </p:nvSpPr>
        <p:spPr>
          <a:xfrm rot="2700000">
            <a:off x="8485632" y="182880"/>
            <a:ext cx="82296" cy="82296"/>
          </a:xfrm>
          <a:prstGeom prst="rect">
            <a:avLst/>
          </a:prstGeom>
          <a:solidFill>
            <a:srgbClr val="1B9A8A"/>
          </a:solidFill>
          <a:ln w="12700">
            <a:solidFill>
              <a:srgbClr val="05050A"/>
            </a:solidFill>
            <a:prstDash val="solid"/>
          </a:ln>
        </p:spPr>
      </p:sp>
      <p:sp>
        <p:nvSpPr>
          <p:cNvPr id="85" name="Shape 83"/>
          <p:cNvSpPr/>
          <p:nvPr/>
        </p:nvSpPr>
        <p:spPr>
          <a:xfrm rot="2700000">
            <a:off x="8357616" y="182880"/>
            <a:ext cx="82296" cy="82296"/>
          </a:xfrm>
          <a:prstGeom prst="rect">
            <a:avLst/>
          </a:prstGeom>
          <a:solidFill>
            <a:srgbClr val="D4951A"/>
          </a:solidFill>
          <a:ln w="12700">
            <a:solidFill>
              <a:srgbClr val="05050A"/>
            </a:solidFill>
            <a:prstDash val="solid"/>
          </a:ln>
        </p:spPr>
      </p:sp>
      <p:sp>
        <p:nvSpPr>
          <p:cNvPr id="86" name="Shape 84"/>
          <p:cNvSpPr/>
          <p:nvPr/>
        </p:nvSpPr>
        <p:spPr>
          <a:xfrm rot="2700000">
            <a:off x="8229600" y="182880"/>
            <a:ext cx="82296" cy="82296"/>
          </a:xfrm>
          <a:prstGeom prst="rect">
            <a:avLst/>
          </a:prstGeom>
          <a:solidFill>
            <a:srgbClr val="1B9A8A"/>
          </a:solidFill>
          <a:ln w="12700">
            <a:solidFill>
              <a:srgbClr val="05050A"/>
            </a:solidFill>
            <a:prstDash val="solid"/>
          </a:ln>
        </p:spPr>
      </p:sp>
      <p:sp>
        <p:nvSpPr>
          <p:cNvPr id="87" name="Shape 85"/>
          <p:cNvSpPr/>
          <p:nvPr/>
        </p:nvSpPr>
        <p:spPr>
          <a:xfrm rot="2700000">
            <a:off x="8101584" y="182880"/>
            <a:ext cx="82296" cy="82296"/>
          </a:xfrm>
          <a:prstGeom prst="rect">
            <a:avLst/>
          </a:prstGeom>
          <a:solidFill>
            <a:srgbClr val="D4951A"/>
          </a:solidFill>
          <a:ln w="12700">
            <a:solidFill>
              <a:srgbClr val="05050A"/>
            </a:solidFill>
            <a:prstDash val="solid"/>
          </a:ln>
        </p:spPr>
      </p:sp>
      <p:sp>
        <p:nvSpPr>
          <p:cNvPr id="88" name="Shape 86"/>
          <p:cNvSpPr/>
          <p:nvPr/>
        </p:nvSpPr>
        <p:spPr>
          <a:xfrm>
            <a:off x="256032" y="1042416"/>
            <a:ext cx="8631936" cy="512064"/>
          </a:xfrm>
          <a:prstGeom prst="rect">
            <a:avLst/>
          </a:prstGeom>
          <a:solidFill>
            <a:srgbClr val="130F08"/>
          </a:solidFill>
          <a:ln w="12700">
            <a:solidFill>
              <a:srgbClr val="1E1E26"/>
            </a:solidFill>
            <a:prstDash val="solid"/>
          </a:ln>
        </p:spPr>
      </p:sp>
      <p:sp>
        <p:nvSpPr>
          <p:cNvPr id="89" name="Shape 87"/>
          <p:cNvSpPr/>
          <p:nvPr/>
        </p:nvSpPr>
        <p:spPr>
          <a:xfrm>
            <a:off x="256032" y="1042416"/>
            <a:ext cx="960120" cy="512064"/>
          </a:xfrm>
          <a:prstGeom prst="rect">
            <a:avLst/>
          </a:prstGeom>
          <a:solidFill>
            <a:srgbClr val="D94040"/>
          </a:solidFill>
          <a:ln/>
        </p:spPr>
      </p:sp>
      <p:sp>
        <p:nvSpPr>
          <p:cNvPr id="90" name="Text 88"/>
          <p:cNvSpPr/>
          <p:nvPr/>
        </p:nvSpPr>
        <p:spPr>
          <a:xfrm>
            <a:off x="256032" y="1042416"/>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DECIDE NOW</a:t>
            </a:r>
            <a:endParaRPr lang="en-US" sz="750" dirty="0"/>
          </a:p>
        </p:txBody>
      </p:sp>
      <p:sp>
        <p:nvSpPr>
          <p:cNvPr id="91" name="Text 89"/>
          <p:cNvSpPr/>
          <p:nvPr/>
        </p:nvSpPr>
        <p:spPr>
          <a:xfrm>
            <a:off x="1298448" y="1042416"/>
            <a:ext cx="1371600" cy="512064"/>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Engineering + Procurement</a:t>
            </a:r>
            <a:endParaRPr lang="en-US" sz="850" dirty="0"/>
          </a:p>
        </p:txBody>
      </p:sp>
      <p:sp>
        <p:nvSpPr>
          <p:cNvPr id="92" name="Text 90"/>
          <p:cNvSpPr/>
          <p:nvPr/>
        </p:nvSpPr>
        <p:spPr>
          <a:xfrm>
            <a:off x="2743200" y="1069848"/>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Confirm LPG as fuel and initiate bulk LPG tank design + supplier contract</a:t>
            </a:r>
            <a:endParaRPr lang="en-US" sz="950" dirty="0"/>
          </a:p>
        </p:txBody>
      </p:sp>
      <p:sp>
        <p:nvSpPr>
          <p:cNvPr id="93" name="Text 91"/>
          <p:cNvSpPr/>
          <p:nvPr/>
        </p:nvSpPr>
        <p:spPr>
          <a:xfrm>
            <a:off x="2743200" y="1316736"/>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Boiler tender cannot be issued without fuel specification confirmed. LPG tank is 8–14 week lead time.</a:t>
            </a:r>
            <a:endParaRPr lang="en-US" sz="850" dirty="0"/>
          </a:p>
        </p:txBody>
      </p:sp>
      <p:sp>
        <p:nvSpPr>
          <p:cNvPr id="94" name="Shape 92"/>
          <p:cNvSpPr/>
          <p:nvPr/>
        </p:nvSpPr>
        <p:spPr>
          <a:xfrm>
            <a:off x="256032" y="1609344"/>
            <a:ext cx="8631936" cy="512064"/>
          </a:xfrm>
          <a:prstGeom prst="rect">
            <a:avLst/>
          </a:prstGeom>
          <a:solidFill>
            <a:srgbClr val="111115"/>
          </a:solidFill>
          <a:ln w="12700">
            <a:solidFill>
              <a:srgbClr val="1E1E26"/>
            </a:solidFill>
            <a:prstDash val="solid"/>
          </a:ln>
        </p:spPr>
      </p:sp>
      <p:sp>
        <p:nvSpPr>
          <p:cNvPr id="95" name="Shape 93"/>
          <p:cNvSpPr/>
          <p:nvPr/>
        </p:nvSpPr>
        <p:spPr>
          <a:xfrm>
            <a:off x="256032" y="1609344"/>
            <a:ext cx="960120" cy="512064"/>
          </a:xfrm>
          <a:prstGeom prst="rect">
            <a:avLst/>
          </a:prstGeom>
          <a:solidFill>
            <a:srgbClr val="D94040"/>
          </a:solidFill>
          <a:ln/>
        </p:spPr>
      </p:sp>
      <p:sp>
        <p:nvSpPr>
          <p:cNvPr id="96" name="Text 94"/>
          <p:cNvSpPr/>
          <p:nvPr/>
        </p:nvSpPr>
        <p:spPr>
          <a:xfrm>
            <a:off x="256032" y="1609344"/>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DECIDE NOW</a:t>
            </a:r>
            <a:endParaRPr lang="en-US" sz="750" dirty="0"/>
          </a:p>
        </p:txBody>
      </p:sp>
      <p:sp>
        <p:nvSpPr>
          <p:cNvPr id="97" name="Text 95"/>
          <p:cNvSpPr/>
          <p:nvPr/>
        </p:nvSpPr>
        <p:spPr>
          <a:xfrm>
            <a:off x="1298448" y="1609344"/>
            <a:ext cx="1371600" cy="512064"/>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Engineering</a:t>
            </a:r>
            <a:endParaRPr lang="en-US" sz="850" dirty="0"/>
          </a:p>
        </p:txBody>
      </p:sp>
      <p:sp>
        <p:nvSpPr>
          <p:cNvPr id="98" name="Text 96"/>
          <p:cNvSpPr/>
          <p:nvPr/>
        </p:nvSpPr>
        <p:spPr>
          <a:xfrm>
            <a:off x="2743200" y="1636776"/>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Obtain FAMSUN steam consumption table — validate 2,123 Kg/H before ordering</a:t>
            </a:r>
            <a:endParaRPr lang="en-US" sz="950" dirty="0"/>
          </a:p>
        </p:txBody>
      </p:sp>
      <p:sp>
        <p:nvSpPr>
          <p:cNvPr id="99" name="Text 97"/>
          <p:cNvSpPr/>
          <p:nvPr/>
        </p:nvSpPr>
        <p:spPr>
          <a:xfrm>
            <a:off x="2743200" y="1883664"/>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If the actual demand differs from the contract figure, you risk ordering the wrong size boiler.</a:t>
            </a:r>
            <a:endParaRPr lang="en-US" sz="850" dirty="0"/>
          </a:p>
        </p:txBody>
      </p:sp>
      <p:sp>
        <p:nvSpPr>
          <p:cNvPr id="100" name="Shape 98"/>
          <p:cNvSpPr/>
          <p:nvPr/>
        </p:nvSpPr>
        <p:spPr>
          <a:xfrm>
            <a:off x="256032" y="2176272"/>
            <a:ext cx="8631936" cy="512064"/>
          </a:xfrm>
          <a:prstGeom prst="rect">
            <a:avLst/>
          </a:prstGeom>
          <a:solidFill>
            <a:srgbClr val="130F08"/>
          </a:solidFill>
          <a:ln w="12700">
            <a:solidFill>
              <a:srgbClr val="1E1E26"/>
            </a:solidFill>
            <a:prstDash val="solid"/>
          </a:ln>
        </p:spPr>
      </p:sp>
      <p:sp>
        <p:nvSpPr>
          <p:cNvPr id="101" name="Shape 99"/>
          <p:cNvSpPr/>
          <p:nvPr/>
        </p:nvSpPr>
        <p:spPr>
          <a:xfrm>
            <a:off x="256032" y="2176272"/>
            <a:ext cx="960120" cy="512064"/>
          </a:xfrm>
          <a:prstGeom prst="rect">
            <a:avLst/>
          </a:prstGeom>
          <a:solidFill>
            <a:srgbClr val="D94040"/>
          </a:solidFill>
          <a:ln/>
        </p:spPr>
      </p:sp>
      <p:sp>
        <p:nvSpPr>
          <p:cNvPr id="102" name="Text 100"/>
          <p:cNvSpPr/>
          <p:nvPr/>
        </p:nvSpPr>
        <p:spPr>
          <a:xfrm>
            <a:off x="256032" y="2176272"/>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DECIDE NOW</a:t>
            </a:r>
            <a:endParaRPr lang="en-US" sz="750" dirty="0"/>
          </a:p>
        </p:txBody>
      </p:sp>
      <p:sp>
        <p:nvSpPr>
          <p:cNvPr id="103" name="Text 101"/>
          <p:cNvSpPr/>
          <p:nvPr/>
        </p:nvSpPr>
        <p:spPr>
          <a:xfrm>
            <a:off x="1298448" y="2176272"/>
            <a:ext cx="1371600" cy="512064"/>
          </a:xfrm>
          <a:prstGeom prst="rect">
            <a:avLst/>
          </a:prstGeom>
          <a:noFill/>
          <a:ln/>
        </p:spPr>
        <p:txBody>
          <a:bodyPr wrap="square" rtlCol="0" anchor="ctr"/>
          <a:lstStyle/>
          <a:p>
            <a:pPr indent="0" marL="0">
              <a:buNone/>
            </a:pPr>
            <a:r>
              <a:rPr lang="en-US" sz="850" b="1" dirty="0">
                <a:solidFill>
                  <a:srgbClr val="D94040"/>
                </a:solidFill>
                <a:latin typeface="Calibri" pitchFamily="34" charset="0"/>
                <a:ea typeface="Calibri" pitchFamily="34" charset="-122"/>
                <a:cs typeface="Calibri" pitchFamily="34" charset="-120"/>
              </a:rPr>
              <a:t>Executive Team</a:t>
            </a:r>
            <a:endParaRPr lang="en-US" sz="850" dirty="0"/>
          </a:p>
        </p:txBody>
      </p:sp>
      <p:sp>
        <p:nvSpPr>
          <p:cNvPr id="104" name="Text 102"/>
          <p:cNvSpPr/>
          <p:nvPr/>
        </p:nvSpPr>
        <p:spPr>
          <a:xfrm>
            <a:off x="2743200" y="2203704"/>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Approve two-boiler strategy (one per line) vs single shared unit</a:t>
            </a:r>
            <a:endParaRPr lang="en-US" sz="950" dirty="0"/>
          </a:p>
        </p:txBody>
      </p:sp>
      <p:sp>
        <p:nvSpPr>
          <p:cNvPr id="105" name="Text 103"/>
          <p:cNvSpPr/>
          <p:nvPr/>
        </p:nvSpPr>
        <p:spPr>
          <a:xfrm>
            <a:off x="2743200" y="2450592"/>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This is a CAPEX decision. Two units costs more upfront but is strongly recommended for operational resilience and Line 2 independence.</a:t>
            </a:r>
            <a:endParaRPr lang="en-US" sz="850" dirty="0"/>
          </a:p>
        </p:txBody>
      </p:sp>
      <p:sp>
        <p:nvSpPr>
          <p:cNvPr id="106" name="Shape 104"/>
          <p:cNvSpPr/>
          <p:nvPr/>
        </p:nvSpPr>
        <p:spPr>
          <a:xfrm>
            <a:off x="256032" y="2743200"/>
            <a:ext cx="8631936" cy="512064"/>
          </a:xfrm>
          <a:prstGeom prst="rect">
            <a:avLst/>
          </a:prstGeom>
          <a:solidFill>
            <a:srgbClr val="111115"/>
          </a:solidFill>
          <a:ln w="12700">
            <a:solidFill>
              <a:srgbClr val="1E1E26"/>
            </a:solidFill>
            <a:prstDash val="solid"/>
          </a:ln>
        </p:spPr>
      </p:sp>
      <p:sp>
        <p:nvSpPr>
          <p:cNvPr id="107" name="Shape 105"/>
          <p:cNvSpPr/>
          <p:nvPr/>
        </p:nvSpPr>
        <p:spPr>
          <a:xfrm>
            <a:off x="256032" y="2743200"/>
            <a:ext cx="960120" cy="512064"/>
          </a:xfrm>
          <a:prstGeom prst="rect">
            <a:avLst/>
          </a:prstGeom>
          <a:solidFill>
            <a:srgbClr val="C0622B"/>
          </a:solidFill>
          <a:ln/>
        </p:spPr>
      </p:sp>
      <p:sp>
        <p:nvSpPr>
          <p:cNvPr id="108" name="Text 106"/>
          <p:cNvSpPr/>
          <p:nvPr/>
        </p:nvSpPr>
        <p:spPr>
          <a:xfrm>
            <a:off x="256032" y="2743200"/>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WEEK 1–2</a:t>
            </a:r>
            <a:endParaRPr lang="en-US" sz="750" dirty="0"/>
          </a:p>
        </p:txBody>
      </p:sp>
      <p:sp>
        <p:nvSpPr>
          <p:cNvPr id="109" name="Text 107"/>
          <p:cNvSpPr/>
          <p:nvPr/>
        </p:nvSpPr>
        <p:spPr>
          <a:xfrm>
            <a:off x="1298448" y="2743200"/>
            <a:ext cx="1371600" cy="512064"/>
          </a:xfrm>
          <a:prstGeom prst="rect">
            <a:avLst/>
          </a:prstGeom>
          <a:noFill/>
          <a:ln/>
        </p:spPr>
        <p:txBody>
          <a:bodyPr wrap="square" rtlCol="0" anchor="ctr"/>
          <a:lstStyle/>
          <a:p>
            <a:pPr indent="0" marL="0">
              <a:buNone/>
            </a:pPr>
            <a:r>
              <a:rPr lang="en-US" sz="850" b="1" dirty="0">
                <a:solidFill>
                  <a:srgbClr val="C0622B"/>
                </a:solidFill>
                <a:latin typeface="Calibri" pitchFamily="34" charset="0"/>
                <a:ea typeface="Calibri" pitchFamily="34" charset="-122"/>
                <a:cs typeface="Calibri" pitchFamily="34" charset="-120"/>
              </a:rPr>
              <a:t>Procurement</a:t>
            </a:r>
            <a:endParaRPr lang="en-US" sz="850" dirty="0"/>
          </a:p>
        </p:txBody>
      </p:sp>
      <p:sp>
        <p:nvSpPr>
          <p:cNvPr id="110" name="Text 108"/>
          <p:cNvSpPr/>
          <p:nvPr/>
        </p:nvSpPr>
        <p:spPr>
          <a:xfrm>
            <a:off x="2743200" y="2770632"/>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Approve OTSG technology direction and issue RFQ to Miura, Clayton, Cleaver-Brooks</a:t>
            </a:r>
            <a:endParaRPr lang="en-US" sz="950" dirty="0"/>
          </a:p>
        </p:txBody>
      </p:sp>
      <p:sp>
        <p:nvSpPr>
          <p:cNvPr id="111" name="Text 109"/>
          <p:cNvSpPr/>
          <p:nvPr/>
        </p:nvSpPr>
        <p:spPr>
          <a:xfrm>
            <a:off x="2743200" y="3017520"/>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Minimum three vendors needed for competitive tender. Boiler is on the commissioning critical path — delay here delays first production.</a:t>
            </a:r>
            <a:endParaRPr lang="en-US" sz="850" dirty="0"/>
          </a:p>
        </p:txBody>
      </p:sp>
      <p:sp>
        <p:nvSpPr>
          <p:cNvPr id="112" name="Shape 110"/>
          <p:cNvSpPr/>
          <p:nvPr/>
        </p:nvSpPr>
        <p:spPr>
          <a:xfrm>
            <a:off x="256032" y="3310128"/>
            <a:ext cx="8631936" cy="512064"/>
          </a:xfrm>
          <a:prstGeom prst="rect">
            <a:avLst/>
          </a:prstGeom>
          <a:solidFill>
            <a:srgbClr val="130F08"/>
          </a:solidFill>
          <a:ln w="12700">
            <a:solidFill>
              <a:srgbClr val="1E1E26"/>
            </a:solidFill>
            <a:prstDash val="solid"/>
          </a:ln>
        </p:spPr>
      </p:sp>
      <p:sp>
        <p:nvSpPr>
          <p:cNvPr id="113" name="Shape 111"/>
          <p:cNvSpPr/>
          <p:nvPr/>
        </p:nvSpPr>
        <p:spPr>
          <a:xfrm>
            <a:off x="256032" y="3310128"/>
            <a:ext cx="960120" cy="512064"/>
          </a:xfrm>
          <a:prstGeom prst="rect">
            <a:avLst/>
          </a:prstGeom>
          <a:solidFill>
            <a:srgbClr val="C0622B"/>
          </a:solidFill>
          <a:ln/>
        </p:spPr>
      </p:sp>
      <p:sp>
        <p:nvSpPr>
          <p:cNvPr id="114" name="Text 112"/>
          <p:cNvSpPr/>
          <p:nvPr/>
        </p:nvSpPr>
        <p:spPr>
          <a:xfrm>
            <a:off x="256032" y="3310128"/>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WEEK 1–2</a:t>
            </a:r>
            <a:endParaRPr lang="en-US" sz="750" dirty="0"/>
          </a:p>
        </p:txBody>
      </p:sp>
      <p:sp>
        <p:nvSpPr>
          <p:cNvPr id="115" name="Text 113"/>
          <p:cNvSpPr/>
          <p:nvPr/>
        </p:nvSpPr>
        <p:spPr>
          <a:xfrm>
            <a:off x="1298448" y="3310128"/>
            <a:ext cx="1371600" cy="512064"/>
          </a:xfrm>
          <a:prstGeom prst="rect">
            <a:avLst/>
          </a:prstGeom>
          <a:noFill/>
          <a:ln/>
        </p:spPr>
        <p:txBody>
          <a:bodyPr wrap="square" rtlCol="0" anchor="ctr"/>
          <a:lstStyle/>
          <a:p>
            <a:pPr indent="0" marL="0">
              <a:buNone/>
            </a:pPr>
            <a:r>
              <a:rPr lang="en-US" sz="850" b="1" dirty="0">
                <a:solidFill>
                  <a:srgbClr val="C0622B"/>
                </a:solidFill>
                <a:latin typeface="Calibri" pitchFamily="34" charset="0"/>
                <a:ea typeface="Calibri" pitchFamily="34" charset="-122"/>
                <a:cs typeface="Calibri" pitchFamily="34" charset="-120"/>
              </a:rPr>
              <a:t>Engineering</a:t>
            </a:r>
            <a:endParaRPr lang="en-US" sz="850" dirty="0"/>
          </a:p>
        </p:txBody>
      </p:sp>
      <p:sp>
        <p:nvSpPr>
          <p:cNvPr id="116" name="Text 114"/>
          <p:cNvSpPr/>
          <p:nvPr/>
        </p:nvSpPr>
        <p:spPr>
          <a:xfrm>
            <a:off x="2743200" y="3337560"/>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Specify dual-fuel burner (LPG + Natural Gas) as preferred option in tender</a:t>
            </a:r>
            <a:endParaRPr lang="en-US" sz="950" dirty="0"/>
          </a:p>
        </p:txBody>
      </p:sp>
      <p:sp>
        <p:nvSpPr>
          <p:cNvPr id="117" name="Text 115"/>
          <p:cNvSpPr/>
          <p:nvPr/>
        </p:nvSpPr>
        <p:spPr>
          <a:xfrm>
            <a:off x="2743200" y="3584448"/>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Future gas grid connection to site is possible in 3–5 years. Dual-fuel option at purchase avoids a complete burner replacement later.</a:t>
            </a:r>
            <a:endParaRPr lang="en-US" sz="850" dirty="0"/>
          </a:p>
        </p:txBody>
      </p:sp>
      <p:sp>
        <p:nvSpPr>
          <p:cNvPr id="118" name="Shape 116"/>
          <p:cNvSpPr/>
          <p:nvPr/>
        </p:nvSpPr>
        <p:spPr>
          <a:xfrm>
            <a:off x="256032" y="3877056"/>
            <a:ext cx="8631936" cy="512064"/>
          </a:xfrm>
          <a:prstGeom prst="rect">
            <a:avLst/>
          </a:prstGeom>
          <a:solidFill>
            <a:srgbClr val="111115"/>
          </a:solidFill>
          <a:ln w="12700">
            <a:solidFill>
              <a:srgbClr val="1E1E26"/>
            </a:solidFill>
            <a:prstDash val="solid"/>
          </a:ln>
        </p:spPr>
      </p:sp>
      <p:sp>
        <p:nvSpPr>
          <p:cNvPr id="119" name="Shape 117"/>
          <p:cNvSpPr/>
          <p:nvPr/>
        </p:nvSpPr>
        <p:spPr>
          <a:xfrm>
            <a:off x="256032" y="3877056"/>
            <a:ext cx="960120" cy="512064"/>
          </a:xfrm>
          <a:prstGeom prst="rect">
            <a:avLst/>
          </a:prstGeom>
          <a:solidFill>
            <a:srgbClr val="D4951A"/>
          </a:solidFill>
          <a:ln/>
        </p:spPr>
      </p:sp>
      <p:sp>
        <p:nvSpPr>
          <p:cNvPr id="120" name="Text 118"/>
          <p:cNvSpPr/>
          <p:nvPr/>
        </p:nvSpPr>
        <p:spPr>
          <a:xfrm>
            <a:off x="256032" y="3877056"/>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WEEK 2–4</a:t>
            </a:r>
            <a:endParaRPr lang="en-US" sz="750" dirty="0"/>
          </a:p>
        </p:txBody>
      </p:sp>
      <p:sp>
        <p:nvSpPr>
          <p:cNvPr id="121" name="Text 119"/>
          <p:cNvSpPr/>
          <p:nvPr/>
        </p:nvSpPr>
        <p:spPr>
          <a:xfrm>
            <a:off x="1298448" y="3877056"/>
            <a:ext cx="1371600" cy="512064"/>
          </a:xfrm>
          <a:prstGeom prst="rect">
            <a:avLst/>
          </a:prstGeom>
          <a:noFill/>
          <a:ln/>
        </p:spPr>
        <p:txBody>
          <a:bodyPr wrap="square" rtlCol="0" anchor="ctr"/>
          <a:lstStyle/>
          <a:p>
            <a:pPr indent="0" marL="0">
              <a:buNone/>
            </a:pPr>
            <a:r>
              <a:rPr lang="en-US" sz="850" b="1" dirty="0">
                <a:solidFill>
                  <a:srgbClr val="D4951A"/>
                </a:solidFill>
                <a:latin typeface="Calibri" pitchFamily="34" charset="0"/>
                <a:ea typeface="Calibri" pitchFamily="34" charset="-122"/>
                <a:cs typeface="Calibri" pitchFamily="34" charset="-120"/>
              </a:rPr>
              <a:t>Engineering + Quality</a:t>
            </a:r>
            <a:endParaRPr lang="en-US" sz="850" dirty="0"/>
          </a:p>
        </p:txBody>
      </p:sp>
      <p:sp>
        <p:nvSpPr>
          <p:cNvPr id="122" name="Text 120"/>
          <p:cNvSpPr/>
          <p:nvPr/>
        </p:nvSpPr>
        <p:spPr>
          <a:xfrm>
            <a:off x="2743200" y="3904488"/>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Engage NSF H1 certified boiler water treatment chemical supplier</a:t>
            </a:r>
            <a:endParaRPr lang="en-US" sz="950" dirty="0"/>
          </a:p>
        </p:txBody>
      </p:sp>
      <p:sp>
        <p:nvSpPr>
          <p:cNvPr id="123" name="Text 121"/>
          <p:cNvSpPr/>
          <p:nvPr/>
        </p:nvSpPr>
        <p:spPr>
          <a:xfrm>
            <a:off x="2743200" y="4151376"/>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Food-grade water treatment is mandatory for EU and USA export. Standard industrial chemicals are not acceptable — replace before commissioning.</a:t>
            </a:r>
            <a:endParaRPr lang="en-US" sz="850" dirty="0"/>
          </a:p>
        </p:txBody>
      </p:sp>
      <p:sp>
        <p:nvSpPr>
          <p:cNvPr id="124" name="Shape 122"/>
          <p:cNvSpPr/>
          <p:nvPr/>
        </p:nvSpPr>
        <p:spPr>
          <a:xfrm>
            <a:off x="256032" y="4443984"/>
            <a:ext cx="8631936" cy="512064"/>
          </a:xfrm>
          <a:prstGeom prst="rect">
            <a:avLst/>
          </a:prstGeom>
          <a:solidFill>
            <a:srgbClr val="130F08"/>
          </a:solidFill>
          <a:ln w="12700">
            <a:solidFill>
              <a:srgbClr val="1E1E26"/>
            </a:solidFill>
            <a:prstDash val="solid"/>
          </a:ln>
        </p:spPr>
      </p:sp>
      <p:sp>
        <p:nvSpPr>
          <p:cNvPr id="125" name="Shape 123"/>
          <p:cNvSpPr/>
          <p:nvPr/>
        </p:nvSpPr>
        <p:spPr>
          <a:xfrm>
            <a:off x="256032" y="4443984"/>
            <a:ext cx="960120" cy="512064"/>
          </a:xfrm>
          <a:prstGeom prst="rect">
            <a:avLst/>
          </a:prstGeom>
          <a:solidFill>
            <a:srgbClr val="D4951A"/>
          </a:solidFill>
          <a:ln/>
        </p:spPr>
      </p:sp>
      <p:sp>
        <p:nvSpPr>
          <p:cNvPr id="126" name="Text 124"/>
          <p:cNvSpPr/>
          <p:nvPr/>
        </p:nvSpPr>
        <p:spPr>
          <a:xfrm>
            <a:off x="256032" y="4443984"/>
            <a:ext cx="960120" cy="512064"/>
          </a:xfrm>
          <a:prstGeom prst="rect">
            <a:avLst/>
          </a:prstGeom>
          <a:noFill/>
          <a:ln/>
        </p:spPr>
        <p:txBody>
          <a:bodyPr wrap="square" rtlCol="0" anchor="ctr"/>
          <a:lstStyle/>
          <a:p>
            <a:pPr algn="ctr" indent="0" marL="0">
              <a:buNone/>
            </a:pPr>
            <a:r>
              <a:rPr lang="en-US" sz="750" b="1" dirty="0">
                <a:solidFill>
                  <a:srgbClr val="09090F"/>
                </a:solidFill>
                <a:latin typeface="Calibri" pitchFamily="34" charset="0"/>
                <a:ea typeface="Calibri" pitchFamily="34" charset="-122"/>
                <a:cs typeface="Calibri" pitchFamily="34" charset="-120"/>
              </a:rPr>
              <a:t>WEEK 2–4</a:t>
            </a:r>
            <a:endParaRPr lang="en-US" sz="750" dirty="0"/>
          </a:p>
        </p:txBody>
      </p:sp>
      <p:sp>
        <p:nvSpPr>
          <p:cNvPr id="127" name="Text 125"/>
          <p:cNvSpPr/>
          <p:nvPr/>
        </p:nvSpPr>
        <p:spPr>
          <a:xfrm>
            <a:off x="1298448" y="4443984"/>
            <a:ext cx="1371600" cy="512064"/>
          </a:xfrm>
          <a:prstGeom prst="rect">
            <a:avLst/>
          </a:prstGeom>
          <a:noFill/>
          <a:ln/>
        </p:spPr>
        <p:txBody>
          <a:bodyPr wrap="square" rtlCol="0" anchor="ctr"/>
          <a:lstStyle/>
          <a:p>
            <a:pPr indent="0" marL="0">
              <a:buNone/>
            </a:pPr>
            <a:r>
              <a:rPr lang="en-US" sz="850" b="1" dirty="0">
                <a:solidFill>
                  <a:srgbClr val="D4951A"/>
                </a:solidFill>
                <a:latin typeface="Calibri" pitchFamily="34" charset="0"/>
                <a:ea typeface="Calibri" pitchFamily="34" charset="-122"/>
                <a:cs typeface="Calibri" pitchFamily="34" charset="-120"/>
              </a:rPr>
              <a:t>Regulatory / Engineering</a:t>
            </a:r>
            <a:endParaRPr lang="en-US" sz="850" dirty="0"/>
          </a:p>
        </p:txBody>
      </p:sp>
      <p:sp>
        <p:nvSpPr>
          <p:cNvPr id="128" name="Text 126"/>
          <p:cNvSpPr/>
          <p:nvPr/>
        </p:nvSpPr>
        <p:spPr>
          <a:xfrm>
            <a:off x="2743200" y="4471416"/>
            <a:ext cx="6035040" cy="237744"/>
          </a:xfrm>
          <a:prstGeom prst="rect">
            <a:avLst/>
          </a:prstGeom>
          <a:noFill/>
          <a:ln/>
        </p:spPr>
        <p:txBody>
          <a:bodyPr wrap="square" rtlCol="0" anchor="ctr"/>
          <a:lstStyle/>
          <a:p>
            <a:pPr indent="0" marL="0">
              <a:buNone/>
            </a:pPr>
            <a:r>
              <a:rPr lang="en-US" sz="950" b="1" dirty="0">
                <a:solidFill>
                  <a:srgbClr val="EDE0C8"/>
                </a:solidFill>
                <a:latin typeface="Calibri" pitchFamily="34" charset="0"/>
                <a:ea typeface="Calibri" pitchFamily="34" charset="-122"/>
                <a:cs typeface="Calibri" pitchFamily="34" charset="-120"/>
              </a:rPr>
              <a:t>Identify and engage Moroccan certified pressure vessel inspection authority</a:t>
            </a:r>
            <a:endParaRPr lang="en-US" sz="950" dirty="0"/>
          </a:p>
        </p:txBody>
      </p:sp>
      <p:sp>
        <p:nvSpPr>
          <p:cNvPr id="129" name="Text 127"/>
          <p:cNvSpPr/>
          <p:nvPr/>
        </p:nvSpPr>
        <p:spPr>
          <a:xfrm>
            <a:off x="2743200" y="4718304"/>
            <a:ext cx="6035040" cy="219456"/>
          </a:xfrm>
          <a:prstGeom prst="rect">
            <a:avLst/>
          </a:prstGeom>
          <a:noFill/>
          <a:ln/>
        </p:spPr>
        <p:txBody>
          <a:bodyPr wrap="square" rtlCol="0" anchor="ctr"/>
          <a:lstStyle/>
          <a:p>
            <a:pPr indent="0" marL="0">
              <a:buNone/>
            </a:pPr>
            <a:r>
              <a:rPr lang="en-US" sz="850" i="1" dirty="0">
                <a:solidFill>
                  <a:srgbClr val="6B7A8A"/>
                </a:solidFill>
                <a:latin typeface="Calibri" pitchFamily="34" charset="0"/>
                <a:ea typeface="Calibri" pitchFamily="34" charset="-122"/>
                <a:cs typeface="Calibri" pitchFamily="34" charset="-120"/>
              </a:rPr>
              <a:t>Why: Annual inspection certificate is a legal operating requirement. Cannot commission the boiler without this in place.</a:t>
            </a:r>
            <a:endParaRPr lang="en-US" sz="850" dirty="0"/>
          </a:p>
        </p:txBody>
      </p:sp>
      <p:sp>
        <p:nvSpPr>
          <p:cNvPr id="130" name="Shape 128"/>
          <p:cNvSpPr/>
          <p:nvPr/>
        </p:nvSpPr>
        <p:spPr>
          <a:xfrm rot="2700000">
            <a:off x="10973" y="4809744"/>
            <a:ext cx="77724" cy="77724"/>
          </a:xfrm>
          <a:prstGeom prst="rect">
            <a:avLst/>
          </a:prstGeom>
          <a:solidFill>
            <a:srgbClr val="D4951A">
              <a:alpha val="20000"/>
            </a:srgbClr>
          </a:solidFill>
          <a:ln w="12700">
            <a:solidFill>
              <a:srgbClr val="D4951A"/>
            </a:solidFill>
            <a:prstDash val="solid"/>
          </a:ln>
        </p:spPr>
      </p:sp>
      <p:sp>
        <p:nvSpPr>
          <p:cNvPr id="131" name="Shape 129"/>
          <p:cNvSpPr/>
          <p:nvPr/>
        </p:nvSpPr>
        <p:spPr>
          <a:xfrm rot="2700000">
            <a:off x="128016" y="4809744"/>
            <a:ext cx="77724" cy="77724"/>
          </a:xfrm>
          <a:prstGeom prst="rect">
            <a:avLst/>
          </a:prstGeom>
          <a:solidFill>
            <a:srgbClr val="D4951A">
              <a:alpha val="20000"/>
            </a:srgbClr>
          </a:solidFill>
          <a:ln w="12700">
            <a:solidFill>
              <a:srgbClr val="D4951A"/>
            </a:solidFill>
            <a:prstDash val="solid"/>
          </a:ln>
        </p:spPr>
      </p:sp>
      <p:sp>
        <p:nvSpPr>
          <p:cNvPr id="132" name="Shape 130"/>
          <p:cNvSpPr/>
          <p:nvPr/>
        </p:nvSpPr>
        <p:spPr>
          <a:xfrm rot="2700000">
            <a:off x="245059" y="4809744"/>
            <a:ext cx="77724" cy="77724"/>
          </a:xfrm>
          <a:prstGeom prst="rect">
            <a:avLst/>
          </a:prstGeom>
          <a:solidFill>
            <a:srgbClr val="D4951A">
              <a:alpha val="20000"/>
            </a:srgbClr>
          </a:solidFill>
          <a:ln w="12700">
            <a:solidFill>
              <a:srgbClr val="D4951A"/>
            </a:solidFill>
            <a:prstDash val="solid"/>
          </a:ln>
        </p:spPr>
      </p:sp>
      <p:sp>
        <p:nvSpPr>
          <p:cNvPr id="133" name="Shape 131"/>
          <p:cNvSpPr/>
          <p:nvPr/>
        </p:nvSpPr>
        <p:spPr>
          <a:xfrm rot="2700000">
            <a:off x="362102" y="4809744"/>
            <a:ext cx="77724" cy="77724"/>
          </a:xfrm>
          <a:prstGeom prst="rect">
            <a:avLst/>
          </a:prstGeom>
          <a:solidFill>
            <a:srgbClr val="D4951A">
              <a:alpha val="20000"/>
            </a:srgbClr>
          </a:solidFill>
          <a:ln w="12700">
            <a:solidFill>
              <a:srgbClr val="D4951A"/>
            </a:solidFill>
            <a:prstDash val="solid"/>
          </a:ln>
        </p:spPr>
      </p:sp>
      <p:sp>
        <p:nvSpPr>
          <p:cNvPr id="134" name="Shape 132"/>
          <p:cNvSpPr/>
          <p:nvPr/>
        </p:nvSpPr>
        <p:spPr>
          <a:xfrm rot="2700000">
            <a:off x="479146" y="4809744"/>
            <a:ext cx="77724" cy="77724"/>
          </a:xfrm>
          <a:prstGeom prst="rect">
            <a:avLst/>
          </a:prstGeom>
          <a:solidFill>
            <a:srgbClr val="D4951A">
              <a:alpha val="20000"/>
            </a:srgbClr>
          </a:solidFill>
          <a:ln w="12700">
            <a:solidFill>
              <a:srgbClr val="D4951A"/>
            </a:solidFill>
            <a:prstDash val="solid"/>
          </a:ln>
        </p:spPr>
      </p:sp>
      <p:sp>
        <p:nvSpPr>
          <p:cNvPr id="135" name="Shape 133"/>
          <p:cNvSpPr/>
          <p:nvPr/>
        </p:nvSpPr>
        <p:spPr>
          <a:xfrm rot="2700000">
            <a:off x="596189" y="4809744"/>
            <a:ext cx="77724" cy="77724"/>
          </a:xfrm>
          <a:prstGeom prst="rect">
            <a:avLst/>
          </a:prstGeom>
          <a:solidFill>
            <a:srgbClr val="D4951A">
              <a:alpha val="20000"/>
            </a:srgbClr>
          </a:solidFill>
          <a:ln w="12700">
            <a:solidFill>
              <a:srgbClr val="D4951A"/>
            </a:solidFill>
            <a:prstDash val="solid"/>
          </a:ln>
        </p:spPr>
      </p:sp>
      <p:sp>
        <p:nvSpPr>
          <p:cNvPr id="136" name="Shape 134"/>
          <p:cNvSpPr/>
          <p:nvPr/>
        </p:nvSpPr>
        <p:spPr>
          <a:xfrm rot="2700000">
            <a:off x="713232" y="4809744"/>
            <a:ext cx="77724" cy="77724"/>
          </a:xfrm>
          <a:prstGeom prst="rect">
            <a:avLst/>
          </a:prstGeom>
          <a:solidFill>
            <a:srgbClr val="D4951A">
              <a:alpha val="20000"/>
            </a:srgbClr>
          </a:solidFill>
          <a:ln w="12700">
            <a:solidFill>
              <a:srgbClr val="D4951A"/>
            </a:solidFill>
            <a:prstDash val="solid"/>
          </a:ln>
        </p:spPr>
      </p:sp>
      <p:sp>
        <p:nvSpPr>
          <p:cNvPr id="137" name="Shape 135"/>
          <p:cNvSpPr/>
          <p:nvPr/>
        </p:nvSpPr>
        <p:spPr>
          <a:xfrm rot="2700000">
            <a:off x="830275" y="4809744"/>
            <a:ext cx="77724" cy="77724"/>
          </a:xfrm>
          <a:prstGeom prst="rect">
            <a:avLst/>
          </a:prstGeom>
          <a:solidFill>
            <a:srgbClr val="D4951A">
              <a:alpha val="20000"/>
            </a:srgbClr>
          </a:solidFill>
          <a:ln w="12700">
            <a:solidFill>
              <a:srgbClr val="D4951A"/>
            </a:solidFill>
            <a:prstDash val="solid"/>
          </a:ln>
        </p:spPr>
      </p:sp>
      <p:sp>
        <p:nvSpPr>
          <p:cNvPr id="138" name="Shape 136"/>
          <p:cNvSpPr/>
          <p:nvPr/>
        </p:nvSpPr>
        <p:spPr>
          <a:xfrm rot="2700000">
            <a:off x="947318" y="4809744"/>
            <a:ext cx="77724" cy="77724"/>
          </a:xfrm>
          <a:prstGeom prst="rect">
            <a:avLst/>
          </a:prstGeom>
          <a:solidFill>
            <a:srgbClr val="D4951A">
              <a:alpha val="20000"/>
            </a:srgbClr>
          </a:solidFill>
          <a:ln w="12700">
            <a:solidFill>
              <a:srgbClr val="D4951A"/>
            </a:solidFill>
            <a:prstDash val="solid"/>
          </a:ln>
        </p:spPr>
      </p:sp>
      <p:sp>
        <p:nvSpPr>
          <p:cNvPr id="139" name="Shape 137"/>
          <p:cNvSpPr/>
          <p:nvPr/>
        </p:nvSpPr>
        <p:spPr>
          <a:xfrm rot="2700000">
            <a:off x="1064362" y="4809744"/>
            <a:ext cx="77724" cy="77724"/>
          </a:xfrm>
          <a:prstGeom prst="rect">
            <a:avLst/>
          </a:prstGeom>
          <a:solidFill>
            <a:srgbClr val="D4951A">
              <a:alpha val="20000"/>
            </a:srgbClr>
          </a:solidFill>
          <a:ln w="12700">
            <a:solidFill>
              <a:srgbClr val="D4951A"/>
            </a:solidFill>
            <a:prstDash val="solid"/>
          </a:ln>
        </p:spPr>
      </p:sp>
      <p:sp>
        <p:nvSpPr>
          <p:cNvPr id="140" name="Shape 138"/>
          <p:cNvSpPr/>
          <p:nvPr/>
        </p:nvSpPr>
        <p:spPr>
          <a:xfrm rot="2700000">
            <a:off x="1181405" y="4809744"/>
            <a:ext cx="77724" cy="77724"/>
          </a:xfrm>
          <a:prstGeom prst="rect">
            <a:avLst/>
          </a:prstGeom>
          <a:solidFill>
            <a:srgbClr val="D4951A">
              <a:alpha val="20000"/>
            </a:srgbClr>
          </a:solidFill>
          <a:ln w="12700">
            <a:solidFill>
              <a:srgbClr val="D4951A"/>
            </a:solidFill>
            <a:prstDash val="solid"/>
          </a:ln>
        </p:spPr>
      </p:sp>
      <p:sp>
        <p:nvSpPr>
          <p:cNvPr id="141" name="Shape 139"/>
          <p:cNvSpPr/>
          <p:nvPr/>
        </p:nvSpPr>
        <p:spPr>
          <a:xfrm rot="2700000">
            <a:off x="1298448" y="4809744"/>
            <a:ext cx="77724" cy="77724"/>
          </a:xfrm>
          <a:prstGeom prst="rect">
            <a:avLst/>
          </a:prstGeom>
          <a:solidFill>
            <a:srgbClr val="D4951A">
              <a:alpha val="20000"/>
            </a:srgbClr>
          </a:solidFill>
          <a:ln w="12700">
            <a:solidFill>
              <a:srgbClr val="D4951A"/>
            </a:solidFill>
            <a:prstDash val="solid"/>
          </a:ln>
        </p:spPr>
      </p:sp>
      <p:sp>
        <p:nvSpPr>
          <p:cNvPr id="142" name="Shape 140"/>
          <p:cNvSpPr/>
          <p:nvPr/>
        </p:nvSpPr>
        <p:spPr>
          <a:xfrm rot="2700000">
            <a:off x="1415491" y="4809744"/>
            <a:ext cx="77724" cy="77724"/>
          </a:xfrm>
          <a:prstGeom prst="rect">
            <a:avLst/>
          </a:prstGeom>
          <a:solidFill>
            <a:srgbClr val="D4951A">
              <a:alpha val="20000"/>
            </a:srgbClr>
          </a:solidFill>
          <a:ln w="12700">
            <a:solidFill>
              <a:srgbClr val="D4951A"/>
            </a:solidFill>
            <a:prstDash val="solid"/>
          </a:ln>
        </p:spPr>
      </p:sp>
      <p:sp>
        <p:nvSpPr>
          <p:cNvPr id="143" name="Shape 141"/>
          <p:cNvSpPr/>
          <p:nvPr/>
        </p:nvSpPr>
        <p:spPr>
          <a:xfrm rot="2700000">
            <a:off x="1532534" y="4809744"/>
            <a:ext cx="77724" cy="77724"/>
          </a:xfrm>
          <a:prstGeom prst="rect">
            <a:avLst/>
          </a:prstGeom>
          <a:solidFill>
            <a:srgbClr val="D4951A">
              <a:alpha val="20000"/>
            </a:srgbClr>
          </a:solidFill>
          <a:ln w="12700">
            <a:solidFill>
              <a:srgbClr val="D4951A"/>
            </a:solidFill>
            <a:prstDash val="solid"/>
          </a:ln>
        </p:spPr>
      </p:sp>
      <p:sp>
        <p:nvSpPr>
          <p:cNvPr id="144" name="Shape 142"/>
          <p:cNvSpPr/>
          <p:nvPr/>
        </p:nvSpPr>
        <p:spPr>
          <a:xfrm rot="2700000">
            <a:off x="1649578" y="4809744"/>
            <a:ext cx="77724" cy="77724"/>
          </a:xfrm>
          <a:prstGeom prst="rect">
            <a:avLst/>
          </a:prstGeom>
          <a:solidFill>
            <a:srgbClr val="D4951A">
              <a:alpha val="20000"/>
            </a:srgbClr>
          </a:solidFill>
          <a:ln w="12700">
            <a:solidFill>
              <a:srgbClr val="D4951A"/>
            </a:solidFill>
            <a:prstDash val="solid"/>
          </a:ln>
        </p:spPr>
      </p:sp>
      <p:sp>
        <p:nvSpPr>
          <p:cNvPr id="145" name="Shape 143"/>
          <p:cNvSpPr/>
          <p:nvPr/>
        </p:nvSpPr>
        <p:spPr>
          <a:xfrm rot="2700000">
            <a:off x="1766621" y="4809744"/>
            <a:ext cx="77724" cy="77724"/>
          </a:xfrm>
          <a:prstGeom prst="rect">
            <a:avLst/>
          </a:prstGeom>
          <a:solidFill>
            <a:srgbClr val="D4951A">
              <a:alpha val="20000"/>
            </a:srgbClr>
          </a:solidFill>
          <a:ln w="12700">
            <a:solidFill>
              <a:srgbClr val="D4951A"/>
            </a:solidFill>
            <a:prstDash val="solid"/>
          </a:ln>
        </p:spPr>
      </p:sp>
      <p:sp>
        <p:nvSpPr>
          <p:cNvPr id="146" name="Shape 144"/>
          <p:cNvSpPr/>
          <p:nvPr/>
        </p:nvSpPr>
        <p:spPr>
          <a:xfrm rot="2700000">
            <a:off x="1883664" y="4809744"/>
            <a:ext cx="77724" cy="77724"/>
          </a:xfrm>
          <a:prstGeom prst="rect">
            <a:avLst/>
          </a:prstGeom>
          <a:solidFill>
            <a:srgbClr val="D4951A">
              <a:alpha val="20000"/>
            </a:srgbClr>
          </a:solidFill>
          <a:ln w="12700">
            <a:solidFill>
              <a:srgbClr val="D4951A"/>
            </a:solidFill>
            <a:prstDash val="solid"/>
          </a:ln>
        </p:spPr>
      </p:sp>
      <p:sp>
        <p:nvSpPr>
          <p:cNvPr id="147" name="Shape 145"/>
          <p:cNvSpPr/>
          <p:nvPr/>
        </p:nvSpPr>
        <p:spPr>
          <a:xfrm rot="2700000">
            <a:off x="2000707" y="4809744"/>
            <a:ext cx="77724" cy="77724"/>
          </a:xfrm>
          <a:prstGeom prst="rect">
            <a:avLst/>
          </a:prstGeom>
          <a:solidFill>
            <a:srgbClr val="D4951A">
              <a:alpha val="20000"/>
            </a:srgbClr>
          </a:solidFill>
          <a:ln w="12700">
            <a:solidFill>
              <a:srgbClr val="D4951A"/>
            </a:solidFill>
            <a:prstDash val="solid"/>
          </a:ln>
        </p:spPr>
      </p:sp>
      <p:sp>
        <p:nvSpPr>
          <p:cNvPr id="148" name="Shape 146"/>
          <p:cNvSpPr/>
          <p:nvPr/>
        </p:nvSpPr>
        <p:spPr>
          <a:xfrm rot="2700000">
            <a:off x="2117750" y="4809744"/>
            <a:ext cx="77724" cy="77724"/>
          </a:xfrm>
          <a:prstGeom prst="rect">
            <a:avLst/>
          </a:prstGeom>
          <a:solidFill>
            <a:srgbClr val="D4951A">
              <a:alpha val="20000"/>
            </a:srgbClr>
          </a:solidFill>
          <a:ln w="12700">
            <a:solidFill>
              <a:srgbClr val="D4951A"/>
            </a:solidFill>
            <a:prstDash val="solid"/>
          </a:ln>
        </p:spPr>
      </p:sp>
      <p:sp>
        <p:nvSpPr>
          <p:cNvPr id="149" name="Shape 147"/>
          <p:cNvSpPr/>
          <p:nvPr/>
        </p:nvSpPr>
        <p:spPr>
          <a:xfrm rot="2700000">
            <a:off x="2234794" y="4809744"/>
            <a:ext cx="77724" cy="77724"/>
          </a:xfrm>
          <a:prstGeom prst="rect">
            <a:avLst/>
          </a:prstGeom>
          <a:solidFill>
            <a:srgbClr val="D4951A">
              <a:alpha val="20000"/>
            </a:srgbClr>
          </a:solidFill>
          <a:ln w="12700">
            <a:solidFill>
              <a:srgbClr val="D4951A"/>
            </a:solidFill>
            <a:prstDash val="solid"/>
          </a:ln>
        </p:spPr>
      </p:sp>
      <p:sp>
        <p:nvSpPr>
          <p:cNvPr id="150" name="Shape 148"/>
          <p:cNvSpPr/>
          <p:nvPr/>
        </p:nvSpPr>
        <p:spPr>
          <a:xfrm rot="2700000">
            <a:off x="2351837" y="4809744"/>
            <a:ext cx="77724" cy="77724"/>
          </a:xfrm>
          <a:prstGeom prst="rect">
            <a:avLst/>
          </a:prstGeom>
          <a:solidFill>
            <a:srgbClr val="D4951A">
              <a:alpha val="20000"/>
            </a:srgbClr>
          </a:solidFill>
          <a:ln w="12700">
            <a:solidFill>
              <a:srgbClr val="D4951A"/>
            </a:solidFill>
            <a:prstDash val="solid"/>
          </a:ln>
        </p:spPr>
      </p:sp>
      <p:sp>
        <p:nvSpPr>
          <p:cNvPr id="151" name="Shape 149"/>
          <p:cNvSpPr/>
          <p:nvPr/>
        </p:nvSpPr>
        <p:spPr>
          <a:xfrm rot="2700000">
            <a:off x="2468880" y="4809744"/>
            <a:ext cx="77724" cy="77724"/>
          </a:xfrm>
          <a:prstGeom prst="rect">
            <a:avLst/>
          </a:prstGeom>
          <a:solidFill>
            <a:srgbClr val="D4951A">
              <a:alpha val="20000"/>
            </a:srgbClr>
          </a:solidFill>
          <a:ln w="12700">
            <a:solidFill>
              <a:srgbClr val="D4951A"/>
            </a:solidFill>
            <a:prstDash val="solid"/>
          </a:ln>
        </p:spPr>
      </p:sp>
      <p:sp>
        <p:nvSpPr>
          <p:cNvPr id="152" name="Shape 150"/>
          <p:cNvSpPr/>
          <p:nvPr/>
        </p:nvSpPr>
        <p:spPr>
          <a:xfrm rot="2700000">
            <a:off x="2585923" y="4809744"/>
            <a:ext cx="77724" cy="77724"/>
          </a:xfrm>
          <a:prstGeom prst="rect">
            <a:avLst/>
          </a:prstGeom>
          <a:solidFill>
            <a:srgbClr val="D4951A">
              <a:alpha val="20000"/>
            </a:srgbClr>
          </a:solidFill>
          <a:ln w="12700">
            <a:solidFill>
              <a:srgbClr val="D4951A"/>
            </a:solidFill>
            <a:prstDash val="solid"/>
          </a:ln>
        </p:spPr>
      </p:sp>
      <p:sp>
        <p:nvSpPr>
          <p:cNvPr id="153" name="Shape 151"/>
          <p:cNvSpPr/>
          <p:nvPr/>
        </p:nvSpPr>
        <p:spPr>
          <a:xfrm rot="2700000">
            <a:off x="2702966" y="4809744"/>
            <a:ext cx="77724" cy="77724"/>
          </a:xfrm>
          <a:prstGeom prst="rect">
            <a:avLst/>
          </a:prstGeom>
          <a:solidFill>
            <a:srgbClr val="D4951A">
              <a:alpha val="20000"/>
            </a:srgbClr>
          </a:solidFill>
          <a:ln w="12700">
            <a:solidFill>
              <a:srgbClr val="D4951A"/>
            </a:solidFill>
            <a:prstDash val="solid"/>
          </a:ln>
        </p:spPr>
      </p:sp>
      <p:sp>
        <p:nvSpPr>
          <p:cNvPr id="154" name="Shape 152"/>
          <p:cNvSpPr/>
          <p:nvPr/>
        </p:nvSpPr>
        <p:spPr>
          <a:xfrm rot="2700000">
            <a:off x="2820010" y="4809744"/>
            <a:ext cx="77724" cy="77724"/>
          </a:xfrm>
          <a:prstGeom prst="rect">
            <a:avLst/>
          </a:prstGeom>
          <a:solidFill>
            <a:srgbClr val="D4951A">
              <a:alpha val="20000"/>
            </a:srgbClr>
          </a:solidFill>
          <a:ln w="12700">
            <a:solidFill>
              <a:srgbClr val="D4951A"/>
            </a:solidFill>
            <a:prstDash val="solid"/>
          </a:ln>
        </p:spPr>
      </p:sp>
      <p:sp>
        <p:nvSpPr>
          <p:cNvPr id="155" name="Shape 153"/>
          <p:cNvSpPr/>
          <p:nvPr/>
        </p:nvSpPr>
        <p:spPr>
          <a:xfrm rot="2700000">
            <a:off x="2937053" y="4809744"/>
            <a:ext cx="77724" cy="77724"/>
          </a:xfrm>
          <a:prstGeom prst="rect">
            <a:avLst/>
          </a:prstGeom>
          <a:solidFill>
            <a:srgbClr val="D4951A">
              <a:alpha val="20000"/>
            </a:srgbClr>
          </a:solidFill>
          <a:ln w="12700">
            <a:solidFill>
              <a:srgbClr val="D4951A"/>
            </a:solidFill>
            <a:prstDash val="solid"/>
          </a:ln>
        </p:spPr>
      </p:sp>
      <p:sp>
        <p:nvSpPr>
          <p:cNvPr id="156" name="Shape 154"/>
          <p:cNvSpPr/>
          <p:nvPr/>
        </p:nvSpPr>
        <p:spPr>
          <a:xfrm rot="2700000">
            <a:off x="3054096" y="4809744"/>
            <a:ext cx="77724" cy="77724"/>
          </a:xfrm>
          <a:prstGeom prst="rect">
            <a:avLst/>
          </a:prstGeom>
          <a:solidFill>
            <a:srgbClr val="D4951A">
              <a:alpha val="20000"/>
            </a:srgbClr>
          </a:solidFill>
          <a:ln w="12700">
            <a:solidFill>
              <a:srgbClr val="D4951A"/>
            </a:solidFill>
            <a:prstDash val="solid"/>
          </a:ln>
        </p:spPr>
      </p:sp>
      <p:sp>
        <p:nvSpPr>
          <p:cNvPr id="157" name="Shape 155"/>
          <p:cNvSpPr/>
          <p:nvPr/>
        </p:nvSpPr>
        <p:spPr>
          <a:xfrm rot="2700000">
            <a:off x="3171139" y="4809744"/>
            <a:ext cx="77724" cy="77724"/>
          </a:xfrm>
          <a:prstGeom prst="rect">
            <a:avLst/>
          </a:prstGeom>
          <a:solidFill>
            <a:srgbClr val="D4951A">
              <a:alpha val="20000"/>
            </a:srgbClr>
          </a:solidFill>
          <a:ln w="12700">
            <a:solidFill>
              <a:srgbClr val="D4951A"/>
            </a:solidFill>
            <a:prstDash val="solid"/>
          </a:ln>
        </p:spPr>
      </p:sp>
      <p:sp>
        <p:nvSpPr>
          <p:cNvPr id="158" name="Shape 156"/>
          <p:cNvSpPr/>
          <p:nvPr/>
        </p:nvSpPr>
        <p:spPr>
          <a:xfrm rot="2700000">
            <a:off x="3288182" y="4809744"/>
            <a:ext cx="77724" cy="77724"/>
          </a:xfrm>
          <a:prstGeom prst="rect">
            <a:avLst/>
          </a:prstGeom>
          <a:solidFill>
            <a:srgbClr val="D4951A">
              <a:alpha val="20000"/>
            </a:srgbClr>
          </a:solidFill>
          <a:ln w="12700">
            <a:solidFill>
              <a:srgbClr val="D4951A"/>
            </a:solidFill>
            <a:prstDash val="solid"/>
          </a:ln>
        </p:spPr>
      </p:sp>
      <p:sp>
        <p:nvSpPr>
          <p:cNvPr id="159" name="Shape 157"/>
          <p:cNvSpPr/>
          <p:nvPr/>
        </p:nvSpPr>
        <p:spPr>
          <a:xfrm rot="2700000">
            <a:off x="3405226" y="4809744"/>
            <a:ext cx="77724" cy="77724"/>
          </a:xfrm>
          <a:prstGeom prst="rect">
            <a:avLst/>
          </a:prstGeom>
          <a:solidFill>
            <a:srgbClr val="D4951A">
              <a:alpha val="20000"/>
            </a:srgbClr>
          </a:solidFill>
          <a:ln w="12700">
            <a:solidFill>
              <a:srgbClr val="D4951A"/>
            </a:solidFill>
            <a:prstDash val="solid"/>
          </a:ln>
        </p:spPr>
      </p:sp>
      <p:sp>
        <p:nvSpPr>
          <p:cNvPr id="160" name="Shape 158"/>
          <p:cNvSpPr/>
          <p:nvPr/>
        </p:nvSpPr>
        <p:spPr>
          <a:xfrm rot="2700000">
            <a:off x="3522269" y="4809744"/>
            <a:ext cx="77724" cy="77724"/>
          </a:xfrm>
          <a:prstGeom prst="rect">
            <a:avLst/>
          </a:prstGeom>
          <a:solidFill>
            <a:srgbClr val="D4951A">
              <a:alpha val="20000"/>
            </a:srgbClr>
          </a:solidFill>
          <a:ln w="12700">
            <a:solidFill>
              <a:srgbClr val="D4951A"/>
            </a:solidFill>
            <a:prstDash val="solid"/>
          </a:ln>
        </p:spPr>
      </p:sp>
      <p:sp>
        <p:nvSpPr>
          <p:cNvPr id="161" name="Shape 159"/>
          <p:cNvSpPr/>
          <p:nvPr/>
        </p:nvSpPr>
        <p:spPr>
          <a:xfrm rot="2700000">
            <a:off x="3639312" y="4809744"/>
            <a:ext cx="77724" cy="77724"/>
          </a:xfrm>
          <a:prstGeom prst="rect">
            <a:avLst/>
          </a:prstGeom>
          <a:solidFill>
            <a:srgbClr val="D4951A">
              <a:alpha val="20000"/>
            </a:srgbClr>
          </a:solidFill>
          <a:ln w="12700">
            <a:solidFill>
              <a:srgbClr val="D4951A"/>
            </a:solidFill>
            <a:prstDash val="solid"/>
          </a:ln>
        </p:spPr>
      </p:sp>
      <p:sp>
        <p:nvSpPr>
          <p:cNvPr id="162" name="Shape 160"/>
          <p:cNvSpPr/>
          <p:nvPr/>
        </p:nvSpPr>
        <p:spPr>
          <a:xfrm rot="2700000">
            <a:off x="3756355" y="4809744"/>
            <a:ext cx="77724" cy="77724"/>
          </a:xfrm>
          <a:prstGeom prst="rect">
            <a:avLst/>
          </a:prstGeom>
          <a:solidFill>
            <a:srgbClr val="D4951A">
              <a:alpha val="20000"/>
            </a:srgbClr>
          </a:solidFill>
          <a:ln w="12700">
            <a:solidFill>
              <a:srgbClr val="D4951A"/>
            </a:solidFill>
            <a:prstDash val="solid"/>
          </a:ln>
        </p:spPr>
      </p:sp>
      <p:sp>
        <p:nvSpPr>
          <p:cNvPr id="163" name="Shape 161"/>
          <p:cNvSpPr/>
          <p:nvPr/>
        </p:nvSpPr>
        <p:spPr>
          <a:xfrm rot="2700000">
            <a:off x="3873398" y="4809744"/>
            <a:ext cx="77724" cy="77724"/>
          </a:xfrm>
          <a:prstGeom prst="rect">
            <a:avLst/>
          </a:prstGeom>
          <a:solidFill>
            <a:srgbClr val="D4951A">
              <a:alpha val="20000"/>
            </a:srgbClr>
          </a:solidFill>
          <a:ln w="12700">
            <a:solidFill>
              <a:srgbClr val="D4951A"/>
            </a:solidFill>
            <a:prstDash val="solid"/>
          </a:ln>
        </p:spPr>
      </p:sp>
      <p:sp>
        <p:nvSpPr>
          <p:cNvPr id="164" name="Shape 162"/>
          <p:cNvSpPr/>
          <p:nvPr/>
        </p:nvSpPr>
        <p:spPr>
          <a:xfrm rot="2700000">
            <a:off x="3990442" y="4809744"/>
            <a:ext cx="77724" cy="77724"/>
          </a:xfrm>
          <a:prstGeom prst="rect">
            <a:avLst/>
          </a:prstGeom>
          <a:solidFill>
            <a:srgbClr val="D4951A">
              <a:alpha val="20000"/>
            </a:srgbClr>
          </a:solidFill>
          <a:ln w="12700">
            <a:solidFill>
              <a:srgbClr val="D4951A"/>
            </a:solidFill>
            <a:prstDash val="solid"/>
          </a:ln>
        </p:spPr>
      </p:sp>
      <p:sp>
        <p:nvSpPr>
          <p:cNvPr id="165" name="Shape 163"/>
          <p:cNvSpPr/>
          <p:nvPr/>
        </p:nvSpPr>
        <p:spPr>
          <a:xfrm rot="2700000">
            <a:off x="4107485" y="4809744"/>
            <a:ext cx="77724" cy="77724"/>
          </a:xfrm>
          <a:prstGeom prst="rect">
            <a:avLst/>
          </a:prstGeom>
          <a:solidFill>
            <a:srgbClr val="D4951A">
              <a:alpha val="20000"/>
            </a:srgbClr>
          </a:solidFill>
          <a:ln w="12700">
            <a:solidFill>
              <a:srgbClr val="D4951A"/>
            </a:solidFill>
            <a:prstDash val="solid"/>
          </a:ln>
        </p:spPr>
      </p:sp>
      <p:sp>
        <p:nvSpPr>
          <p:cNvPr id="166" name="Shape 164"/>
          <p:cNvSpPr/>
          <p:nvPr/>
        </p:nvSpPr>
        <p:spPr>
          <a:xfrm rot="2700000">
            <a:off x="4224528" y="4809744"/>
            <a:ext cx="77724" cy="77724"/>
          </a:xfrm>
          <a:prstGeom prst="rect">
            <a:avLst/>
          </a:prstGeom>
          <a:solidFill>
            <a:srgbClr val="D4951A">
              <a:alpha val="20000"/>
            </a:srgbClr>
          </a:solidFill>
          <a:ln w="12700">
            <a:solidFill>
              <a:srgbClr val="D4951A"/>
            </a:solidFill>
            <a:prstDash val="solid"/>
          </a:ln>
        </p:spPr>
      </p:sp>
      <p:sp>
        <p:nvSpPr>
          <p:cNvPr id="167" name="Shape 165"/>
          <p:cNvSpPr/>
          <p:nvPr/>
        </p:nvSpPr>
        <p:spPr>
          <a:xfrm rot="2700000">
            <a:off x="4341571" y="4809744"/>
            <a:ext cx="77724" cy="77724"/>
          </a:xfrm>
          <a:prstGeom prst="rect">
            <a:avLst/>
          </a:prstGeom>
          <a:solidFill>
            <a:srgbClr val="D4951A">
              <a:alpha val="20000"/>
            </a:srgbClr>
          </a:solidFill>
          <a:ln w="12700">
            <a:solidFill>
              <a:srgbClr val="D4951A"/>
            </a:solidFill>
            <a:prstDash val="solid"/>
          </a:ln>
        </p:spPr>
      </p:sp>
      <p:sp>
        <p:nvSpPr>
          <p:cNvPr id="168" name="Shape 166"/>
          <p:cNvSpPr/>
          <p:nvPr/>
        </p:nvSpPr>
        <p:spPr>
          <a:xfrm rot="2700000">
            <a:off x="4458614" y="4809744"/>
            <a:ext cx="77724" cy="77724"/>
          </a:xfrm>
          <a:prstGeom prst="rect">
            <a:avLst/>
          </a:prstGeom>
          <a:solidFill>
            <a:srgbClr val="D4951A">
              <a:alpha val="20000"/>
            </a:srgbClr>
          </a:solidFill>
          <a:ln w="12700">
            <a:solidFill>
              <a:srgbClr val="D4951A"/>
            </a:solidFill>
            <a:prstDash val="solid"/>
          </a:ln>
        </p:spPr>
      </p:sp>
      <p:sp>
        <p:nvSpPr>
          <p:cNvPr id="169" name="Shape 167"/>
          <p:cNvSpPr/>
          <p:nvPr/>
        </p:nvSpPr>
        <p:spPr>
          <a:xfrm rot="2700000">
            <a:off x="4575658" y="4809744"/>
            <a:ext cx="77724" cy="77724"/>
          </a:xfrm>
          <a:prstGeom prst="rect">
            <a:avLst/>
          </a:prstGeom>
          <a:solidFill>
            <a:srgbClr val="D4951A">
              <a:alpha val="20000"/>
            </a:srgbClr>
          </a:solidFill>
          <a:ln w="12700">
            <a:solidFill>
              <a:srgbClr val="D4951A"/>
            </a:solidFill>
            <a:prstDash val="solid"/>
          </a:ln>
        </p:spPr>
      </p:sp>
      <p:sp>
        <p:nvSpPr>
          <p:cNvPr id="170" name="Shape 168"/>
          <p:cNvSpPr/>
          <p:nvPr/>
        </p:nvSpPr>
        <p:spPr>
          <a:xfrm rot="2700000">
            <a:off x="4692701" y="4809744"/>
            <a:ext cx="77724" cy="77724"/>
          </a:xfrm>
          <a:prstGeom prst="rect">
            <a:avLst/>
          </a:prstGeom>
          <a:solidFill>
            <a:srgbClr val="D4951A">
              <a:alpha val="20000"/>
            </a:srgbClr>
          </a:solidFill>
          <a:ln w="12700">
            <a:solidFill>
              <a:srgbClr val="D4951A"/>
            </a:solidFill>
            <a:prstDash val="solid"/>
          </a:ln>
        </p:spPr>
      </p:sp>
      <p:sp>
        <p:nvSpPr>
          <p:cNvPr id="171" name="Shape 169"/>
          <p:cNvSpPr/>
          <p:nvPr/>
        </p:nvSpPr>
        <p:spPr>
          <a:xfrm rot="2700000">
            <a:off x="4809744" y="4809744"/>
            <a:ext cx="77724" cy="77724"/>
          </a:xfrm>
          <a:prstGeom prst="rect">
            <a:avLst/>
          </a:prstGeom>
          <a:solidFill>
            <a:srgbClr val="D4951A">
              <a:alpha val="20000"/>
            </a:srgbClr>
          </a:solidFill>
          <a:ln w="12700">
            <a:solidFill>
              <a:srgbClr val="D4951A"/>
            </a:solidFill>
            <a:prstDash val="solid"/>
          </a:ln>
        </p:spPr>
      </p:sp>
      <p:sp>
        <p:nvSpPr>
          <p:cNvPr id="172" name="Shape 170"/>
          <p:cNvSpPr/>
          <p:nvPr/>
        </p:nvSpPr>
        <p:spPr>
          <a:xfrm rot="2700000">
            <a:off x="4926787" y="4809744"/>
            <a:ext cx="77724" cy="77724"/>
          </a:xfrm>
          <a:prstGeom prst="rect">
            <a:avLst/>
          </a:prstGeom>
          <a:solidFill>
            <a:srgbClr val="D4951A">
              <a:alpha val="20000"/>
            </a:srgbClr>
          </a:solidFill>
          <a:ln w="12700">
            <a:solidFill>
              <a:srgbClr val="D4951A"/>
            </a:solidFill>
            <a:prstDash val="solid"/>
          </a:ln>
        </p:spPr>
      </p:sp>
      <p:sp>
        <p:nvSpPr>
          <p:cNvPr id="173" name="Shape 171"/>
          <p:cNvSpPr/>
          <p:nvPr/>
        </p:nvSpPr>
        <p:spPr>
          <a:xfrm rot="2700000">
            <a:off x="5043830" y="4809744"/>
            <a:ext cx="77724" cy="77724"/>
          </a:xfrm>
          <a:prstGeom prst="rect">
            <a:avLst/>
          </a:prstGeom>
          <a:solidFill>
            <a:srgbClr val="D4951A">
              <a:alpha val="20000"/>
            </a:srgbClr>
          </a:solidFill>
          <a:ln w="12700">
            <a:solidFill>
              <a:srgbClr val="D4951A"/>
            </a:solidFill>
            <a:prstDash val="solid"/>
          </a:ln>
        </p:spPr>
      </p:sp>
      <p:sp>
        <p:nvSpPr>
          <p:cNvPr id="174" name="Shape 172"/>
          <p:cNvSpPr/>
          <p:nvPr/>
        </p:nvSpPr>
        <p:spPr>
          <a:xfrm rot="2700000">
            <a:off x="5160874" y="4809744"/>
            <a:ext cx="77724" cy="77724"/>
          </a:xfrm>
          <a:prstGeom prst="rect">
            <a:avLst/>
          </a:prstGeom>
          <a:solidFill>
            <a:srgbClr val="D4951A">
              <a:alpha val="20000"/>
            </a:srgbClr>
          </a:solidFill>
          <a:ln w="12700">
            <a:solidFill>
              <a:srgbClr val="D4951A"/>
            </a:solidFill>
            <a:prstDash val="solid"/>
          </a:ln>
        </p:spPr>
      </p:sp>
      <p:sp>
        <p:nvSpPr>
          <p:cNvPr id="175" name="Shape 173"/>
          <p:cNvSpPr/>
          <p:nvPr/>
        </p:nvSpPr>
        <p:spPr>
          <a:xfrm rot="2700000">
            <a:off x="5277917" y="4809744"/>
            <a:ext cx="77724" cy="77724"/>
          </a:xfrm>
          <a:prstGeom prst="rect">
            <a:avLst/>
          </a:prstGeom>
          <a:solidFill>
            <a:srgbClr val="D4951A">
              <a:alpha val="20000"/>
            </a:srgbClr>
          </a:solidFill>
          <a:ln w="12700">
            <a:solidFill>
              <a:srgbClr val="D4951A"/>
            </a:solidFill>
            <a:prstDash val="solid"/>
          </a:ln>
        </p:spPr>
      </p:sp>
      <p:sp>
        <p:nvSpPr>
          <p:cNvPr id="176" name="Shape 174"/>
          <p:cNvSpPr/>
          <p:nvPr/>
        </p:nvSpPr>
        <p:spPr>
          <a:xfrm rot="2700000">
            <a:off x="5394960" y="4809744"/>
            <a:ext cx="77724" cy="77724"/>
          </a:xfrm>
          <a:prstGeom prst="rect">
            <a:avLst/>
          </a:prstGeom>
          <a:solidFill>
            <a:srgbClr val="D4951A">
              <a:alpha val="20000"/>
            </a:srgbClr>
          </a:solidFill>
          <a:ln w="12700">
            <a:solidFill>
              <a:srgbClr val="D4951A"/>
            </a:solidFill>
            <a:prstDash val="solid"/>
          </a:ln>
        </p:spPr>
      </p:sp>
      <p:sp>
        <p:nvSpPr>
          <p:cNvPr id="177" name="Shape 175"/>
          <p:cNvSpPr/>
          <p:nvPr/>
        </p:nvSpPr>
        <p:spPr>
          <a:xfrm rot="2700000">
            <a:off x="5512003" y="4809744"/>
            <a:ext cx="77724" cy="77724"/>
          </a:xfrm>
          <a:prstGeom prst="rect">
            <a:avLst/>
          </a:prstGeom>
          <a:solidFill>
            <a:srgbClr val="D4951A">
              <a:alpha val="20000"/>
            </a:srgbClr>
          </a:solidFill>
          <a:ln w="12700">
            <a:solidFill>
              <a:srgbClr val="D4951A"/>
            </a:solidFill>
            <a:prstDash val="solid"/>
          </a:ln>
        </p:spPr>
      </p:sp>
      <p:sp>
        <p:nvSpPr>
          <p:cNvPr id="178" name="Shape 176"/>
          <p:cNvSpPr/>
          <p:nvPr/>
        </p:nvSpPr>
        <p:spPr>
          <a:xfrm rot="2700000">
            <a:off x="5629046" y="4809744"/>
            <a:ext cx="77724" cy="77724"/>
          </a:xfrm>
          <a:prstGeom prst="rect">
            <a:avLst/>
          </a:prstGeom>
          <a:solidFill>
            <a:srgbClr val="D4951A">
              <a:alpha val="20000"/>
            </a:srgbClr>
          </a:solidFill>
          <a:ln w="12700">
            <a:solidFill>
              <a:srgbClr val="D4951A"/>
            </a:solidFill>
            <a:prstDash val="solid"/>
          </a:ln>
        </p:spPr>
      </p:sp>
      <p:sp>
        <p:nvSpPr>
          <p:cNvPr id="179" name="Shape 177"/>
          <p:cNvSpPr/>
          <p:nvPr/>
        </p:nvSpPr>
        <p:spPr>
          <a:xfrm rot="2700000">
            <a:off x="5746090" y="4809744"/>
            <a:ext cx="77724" cy="77724"/>
          </a:xfrm>
          <a:prstGeom prst="rect">
            <a:avLst/>
          </a:prstGeom>
          <a:solidFill>
            <a:srgbClr val="D4951A">
              <a:alpha val="20000"/>
            </a:srgbClr>
          </a:solidFill>
          <a:ln w="12700">
            <a:solidFill>
              <a:srgbClr val="D4951A"/>
            </a:solidFill>
            <a:prstDash val="solid"/>
          </a:ln>
        </p:spPr>
      </p:sp>
      <p:sp>
        <p:nvSpPr>
          <p:cNvPr id="180" name="Shape 178"/>
          <p:cNvSpPr/>
          <p:nvPr/>
        </p:nvSpPr>
        <p:spPr>
          <a:xfrm rot="2700000">
            <a:off x="5863133" y="4809744"/>
            <a:ext cx="77724" cy="77724"/>
          </a:xfrm>
          <a:prstGeom prst="rect">
            <a:avLst/>
          </a:prstGeom>
          <a:solidFill>
            <a:srgbClr val="D4951A">
              <a:alpha val="20000"/>
            </a:srgbClr>
          </a:solidFill>
          <a:ln w="12700">
            <a:solidFill>
              <a:srgbClr val="D4951A"/>
            </a:solidFill>
            <a:prstDash val="solid"/>
          </a:ln>
        </p:spPr>
      </p:sp>
      <p:sp>
        <p:nvSpPr>
          <p:cNvPr id="181" name="Shape 179"/>
          <p:cNvSpPr/>
          <p:nvPr/>
        </p:nvSpPr>
        <p:spPr>
          <a:xfrm rot="2700000">
            <a:off x="5980176" y="4809744"/>
            <a:ext cx="77724" cy="77724"/>
          </a:xfrm>
          <a:prstGeom prst="rect">
            <a:avLst/>
          </a:prstGeom>
          <a:solidFill>
            <a:srgbClr val="D4951A">
              <a:alpha val="20000"/>
            </a:srgbClr>
          </a:solidFill>
          <a:ln w="12700">
            <a:solidFill>
              <a:srgbClr val="D4951A"/>
            </a:solidFill>
            <a:prstDash val="solid"/>
          </a:ln>
        </p:spPr>
      </p:sp>
      <p:sp>
        <p:nvSpPr>
          <p:cNvPr id="182" name="Shape 180"/>
          <p:cNvSpPr/>
          <p:nvPr/>
        </p:nvSpPr>
        <p:spPr>
          <a:xfrm rot="2700000">
            <a:off x="6097219" y="4809744"/>
            <a:ext cx="77724" cy="77724"/>
          </a:xfrm>
          <a:prstGeom prst="rect">
            <a:avLst/>
          </a:prstGeom>
          <a:solidFill>
            <a:srgbClr val="D4951A">
              <a:alpha val="20000"/>
            </a:srgbClr>
          </a:solidFill>
          <a:ln w="12700">
            <a:solidFill>
              <a:srgbClr val="D4951A"/>
            </a:solidFill>
            <a:prstDash val="solid"/>
          </a:ln>
        </p:spPr>
      </p:sp>
      <p:sp>
        <p:nvSpPr>
          <p:cNvPr id="183" name="Shape 181"/>
          <p:cNvSpPr/>
          <p:nvPr/>
        </p:nvSpPr>
        <p:spPr>
          <a:xfrm rot="2700000">
            <a:off x="6214262" y="4809744"/>
            <a:ext cx="77724" cy="77724"/>
          </a:xfrm>
          <a:prstGeom prst="rect">
            <a:avLst/>
          </a:prstGeom>
          <a:solidFill>
            <a:srgbClr val="D4951A">
              <a:alpha val="20000"/>
            </a:srgbClr>
          </a:solidFill>
          <a:ln w="12700">
            <a:solidFill>
              <a:srgbClr val="D4951A"/>
            </a:solidFill>
            <a:prstDash val="solid"/>
          </a:ln>
        </p:spPr>
      </p:sp>
      <p:sp>
        <p:nvSpPr>
          <p:cNvPr id="184" name="Shape 182"/>
          <p:cNvSpPr/>
          <p:nvPr/>
        </p:nvSpPr>
        <p:spPr>
          <a:xfrm rot="2700000">
            <a:off x="6331306" y="4809744"/>
            <a:ext cx="77724" cy="77724"/>
          </a:xfrm>
          <a:prstGeom prst="rect">
            <a:avLst/>
          </a:prstGeom>
          <a:solidFill>
            <a:srgbClr val="D4951A">
              <a:alpha val="20000"/>
            </a:srgbClr>
          </a:solidFill>
          <a:ln w="12700">
            <a:solidFill>
              <a:srgbClr val="D4951A"/>
            </a:solidFill>
            <a:prstDash val="solid"/>
          </a:ln>
        </p:spPr>
      </p:sp>
      <p:sp>
        <p:nvSpPr>
          <p:cNvPr id="185" name="Shape 183"/>
          <p:cNvSpPr/>
          <p:nvPr/>
        </p:nvSpPr>
        <p:spPr>
          <a:xfrm rot="2700000">
            <a:off x="6448349" y="4809744"/>
            <a:ext cx="77724" cy="77724"/>
          </a:xfrm>
          <a:prstGeom prst="rect">
            <a:avLst/>
          </a:prstGeom>
          <a:solidFill>
            <a:srgbClr val="D4951A">
              <a:alpha val="20000"/>
            </a:srgbClr>
          </a:solidFill>
          <a:ln w="12700">
            <a:solidFill>
              <a:srgbClr val="D4951A"/>
            </a:solidFill>
            <a:prstDash val="solid"/>
          </a:ln>
        </p:spPr>
      </p:sp>
      <p:sp>
        <p:nvSpPr>
          <p:cNvPr id="186" name="Shape 184"/>
          <p:cNvSpPr/>
          <p:nvPr/>
        </p:nvSpPr>
        <p:spPr>
          <a:xfrm rot="2700000">
            <a:off x="6565392" y="4809744"/>
            <a:ext cx="77724" cy="77724"/>
          </a:xfrm>
          <a:prstGeom prst="rect">
            <a:avLst/>
          </a:prstGeom>
          <a:solidFill>
            <a:srgbClr val="D4951A">
              <a:alpha val="20000"/>
            </a:srgbClr>
          </a:solidFill>
          <a:ln w="12700">
            <a:solidFill>
              <a:srgbClr val="D4951A"/>
            </a:solidFill>
            <a:prstDash val="solid"/>
          </a:ln>
        </p:spPr>
      </p:sp>
      <p:sp>
        <p:nvSpPr>
          <p:cNvPr id="187" name="Shape 185"/>
          <p:cNvSpPr/>
          <p:nvPr/>
        </p:nvSpPr>
        <p:spPr>
          <a:xfrm rot="2700000">
            <a:off x="6682435" y="4809744"/>
            <a:ext cx="77724" cy="77724"/>
          </a:xfrm>
          <a:prstGeom prst="rect">
            <a:avLst/>
          </a:prstGeom>
          <a:solidFill>
            <a:srgbClr val="D4951A">
              <a:alpha val="20000"/>
            </a:srgbClr>
          </a:solidFill>
          <a:ln w="12700">
            <a:solidFill>
              <a:srgbClr val="D4951A"/>
            </a:solidFill>
            <a:prstDash val="solid"/>
          </a:ln>
        </p:spPr>
      </p:sp>
      <p:sp>
        <p:nvSpPr>
          <p:cNvPr id="188" name="Shape 186"/>
          <p:cNvSpPr/>
          <p:nvPr/>
        </p:nvSpPr>
        <p:spPr>
          <a:xfrm rot="2700000">
            <a:off x="6799478" y="4809744"/>
            <a:ext cx="77724" cy="77724"/>
          </a:xfrm>
          <a:prstGeom prst="rect">
            <a:avLst/>
          </a:prstGeom>
          <a:solidFill>
            <a:srgbClr val="D4951A">
              <a:alpha val="20000"/>
            </a:srgbClr>
          </a:solidFill>
          <a:ln w="12700">
            <a:solidFill>
              <a:srgbClr val="D4951A"/>
            </a:solidFill>
            <a:prstDash val="solid"/>
          </a:ln>
        </p:spPr>
      </p:sp>
      <p:sp>
        <p:nvSpPr>
          <p:cNvPr id="189" name="Shape 187"/>
          <p:cNvSpPr/>
          <p:nvPr/>
        </p:nvSpPr>
        <p:spPr>
          <a:xfrm rot="2700000">
            <a:off x="6916522" y="4809744"/>
            <a:ext cx="77724" cy="77724"/>
          </a:xfrm>
          <a:prstGeom prst="rect">
            <a:avLst/>
          </a:prstGeom>
          <a:solidFill>
            <a:srgbClr val="D4951A">
              <a:alpha val="20000"/>
            </a:srgbClr>
          </a:solidFill>
          <a:ln w="12700">
            <a:solidFill>
              <a:srgbClr val="D4951A"/>
            </a:solidFill>
            <a:prstDash val="solid"/>
          </a:ln>
        </p:spPr>
      </p:sp>
      <p:sp>
        <p:nvSpPr>
          <p:cNvPr id="190" name="Shape 188"/>
          <p:cNvSpPr/>
          <p:nvPr/>
        </p:nvSpPr>
        <p:spPr>
          <a:xfrm rot="2700000">
            <a:off x="7033565" y="4809744"/>
            <a:ext cx="77724" cy="77724"/>
          </a:xfrm>
          <a:prstGeom prst="rect">
            <a:avLst/>
          </a:prstGeom>
          <a:solidFill>
            <a:srgbClr val="D4951A">
              <a:alpha val="20000"/>
            </a:srgbClr>
          </a:solidFill>
          <a:ln w="12700">
            <a:solidFill>
              <a:srgbClr val="D4951A"/>
            </a:solidFill>
            <a:prstDash val="solid"/>
          </a:ln>
        </p:spPr>
      </p:sp>
      <p:sp>
        <p:nvSpPr>
          <p:cNvPr id="191" name="Shape 189"/>
          <p:cNvSpPr/>
          <p:nvPr/>
        </p:nvSpPr>
        <p:spPr>
          <a:xfrm rot="2700000">
            <a:off x="7150608" y="4809744"/>
            <a:ext cx="77724" cy="77724"/>
          </a:xfrm>
          <a:prstGeom prst="rect">
            <a:avLst/>
          </a:prstGeom>
          <a:solidFill>
            <a:srgbClr val="D4951A">
              <a:alpha val="20000"/>
            </a:srgbClr>
          </a:solidFill>
          <a:ln w="12700">
            <a:solidFill>
              <a:srgbClr val="D4951A"/>
            </a:solidFill>
            <a:prstDash val="solid"/>
          </a:ln>
        </p:spPr>
      </p:sp>
      <p:sp>
        <p:nvSpPr>
          <p:cNvPr id="192" name="Shape 190"/>
          <p:cNvSpPr/>
          <p:nvPr/>
        </p:nvSpPr>
        <p:spPr>
          <a:xfrm rot="2700000">
            <a:off x="7267651" y="4809744"/>
            <a:ext cx="77724" cy="77724"/>
          </a:xfrm>
          <a:prstGeom prst="rect">
            <a:avLst/>
          </a:prstGeom>
          <a:solidFill>
            <a:srgbClr val="D4951A">
              <a:alpha val="20000"/>
            </a:srgbClr>
          </a:solidFill>
          <a:ln w="12700">
            <a:solidFill>
              <a:srgbClr val="D4951A"/>
            </a:solidFill>
            <a:prstDash val="solid"/>
          </a:ln>
        </p:spPr>
      </p:sp>
      <p:sp>
        <p:nvSpPr>
          <p:cNvPr id="193" name="Shape 191"/>
          <p:cNvSpPr/>
          <p:nvPr/>
        </p:nvSpPr>
        <p:spPr>
          <a:xfrm rot="2700000">
            <a:off x="7384694" y="4809744"/>
            <a:ext cx="77724" cy="77724"/>
          </a:xfrm>
          <a:prstGeom prst="rect">
            <a:avLst/>
          </a:prstGeom>
          <a:solidFill>
            <a:srgbClr val="D4951A">
              <a:alpha val="20000"/>
            </a:srgbClr>
          </a:solidFill>
          <a:ln w="12700">
            <a:solidFill>
              <a:srgbClr val="D4951A"/>
            </a:solidFill>
            <a:prstDash val="solid"/>
          </a:ln>
        </p:spPr>
      </p:sp>
      <p:sp>
        <p:nvSpPr>
          <p:cNvPr id="194" name="Shape 192"/>
          <p:cNvSpPr/>
          <p:nvPr/>
        </p:nvSpPr>
        <p:spPr>
          <a:xfrm rot="2700000">
            <a:off x="7501738" y="4809744"/>
            <a:ext cx="77724" cy="77724"/>
          </a:xfrm>
          <a:prstGeom prst="rect">
            <a:avLst/>
          </a:prstGeom>
          <a:solidFill>
            <a:srgbClr val="D4951A">
              <a:alpha val="20000"/>
            </a:srgbClr>
          </a:solidFill>
          <a:ln w="12700">
            <a:solidFill>
              <a:srgbClr val="D4951A"/>
            </a:solidFill>
            <a:prstDash val="solid"/>
          </a:ln>
        </p:spPr>
      </p:sp>
      <p:sp>
        <p:nvSpPr>
          <p:cNvPr id="195" name="Shape 193"/>
          <p:cNvSpPr/>
          <p:nvPr/>
        </p:nvSpPr>
        <p:spPr>
          <a:xfrm rot="2700000">
            <a:off x="7618781" y="4809744"/>
            <a:ext cx="77724" cy="77724"/>
          </a:xfrm>
          <a:prstGeom prst="rect">
            <a:avLst/>
          </a:prstGeom>
          <a:solidFill>
            <a:srgbClr val="D4951A">
              <a:alpha val="20000"/>
            </a:srgbClr>
          </a:solidFill>
          <a:ln w="12700">
            <a:solidFill>
              <a:srgbClr val="D4951A"/>
            </a:solidFill>
            <a:prstDash val="solid"/>
          </a:ln>
        </p:spPr>
      </p:sp>
      <p:sp>
        <p:nvSpPr>
          <p:cNvPr id="196" name="Shape 194"/>
          <p:cNvSpPr/>
          <p:nvPr/>
        </p:nvSpPr>
        <p:spPr>
          <a:xfrm rot="2700000">
            <a:off x="7735824" y="4809744"/>
            <a:ext cx="77724" cy="77724"/>
          </a:xfrm>
          <a:prstGeom prst="rect">
            <a:avLst/>
          </a:prstGeom>
          <a:solidFill>
            <a:srgbClr val="D4951A">
              <a:alpha val="20000"/>
            </a:srgbClr>
          </a:solidFill>
          <a:ln w="12700">
            <a:solidFill>
              <a:srgbClr val="D4951A"/>
            </a:solidFill>
            <a:prstDash val="solid"/>
          </a:ln>
        </p:spPr>
      </p:sp>
      <p:sp>
        <p:nvSpPr>
          <p:cNvPr id="197" name="Shape 195"/>
          <p:cNvSpPr/>
          <p:nvPr/>
        </p:nvSpPr>
        <p:spPr>
          <a:xfrm rot="2700000">
            <a:off x="7852867" y="4809744"/>
            <a:ext cx="77724" cy="77724"/>
          </a:xfrm>
          <a:prstGeom prst="rect">
            <a:avLst/>
          </a:prstGeom>
          <a:solidFill>
            <a:srgbClr val="D4951A">
              <a:alpha val="20000"/>
            </a:srgbClr>
          </a:solidFill>
          <a:ln w="12700">
            <a:solidFill>
              <a:srgbClr val="D4951A"/>
            </a:solidFill>
            <a:prstDash val="solid"/>
          </a:ln>
        </p:spPr>
      </p:sp>
      <p:sp>
        <p:nvSpPr>
          <p:cNvPr id="198" name="Shape 196"/>
          <p:cNvSpPr/>
          <p:nvPr/>
        </p:nvSpPr>
        <p:spPr>
          <a:xfrm rot="2700000">
            <a:off x="7969910" y="4809744"/>
            <a:ext cx="77724" cy="77724"/>
          </a:xfrm>
          <a:prstGeom prst="rect">
            <a:avLst/>
          </a:prstGeom>
          <a:solidFill>
            <a:srgbClr val="D4951A">
              <a:alpha val="20000"/>
            </a:srgbClr>
          </a:solidFill>
          <a:ln w="12700">
            <a:solidFill>
              <a:srgbClr val="D4951A"/>
            </a:solidFill>
            <a:prstDash val="solid"/>
          </a:ln>
        </p:spPr>
      </p:sp>
      <p:sp>
        <p:nvSpPr>
          <p:cNvPr id="199" name="Shape 197"/>
          <p:cNvSpPr/>
          <p:nvPr/>
        </p:nvSpPr>
        <p:spPr>
          <a:xfrm rot="2700000">
            <a:off x="8086954" y="4809744"/>
            <a:ext cx="77724" cy="77724"/>
          </a:xfrm>
          <a:prstGeom prst="rect">
            <a:avLst/>
          </a:prstGeom>
          <a:solidFill>
            <a:srgbClr val="D4951A">
              <a:alpha val="20000"/>
            </a:srgbClr>
          </a:solidFill>
          <a:ln w="12700">
            <a:solidFill>
              <a:srgbClr val="D4951A"/>
            </a:solidFill>
            <a:prstDash val="solid"/>
          </a:ln>
        </p:spPr>
      </p:sp>
      <p:sp>
        <p:nvSpPr>
          <p:cNvPr id="200" name="Shape 198"/>
          <p:cNvSpPr/>
          <p:nvPr/>
        </p:nvSpPr>
        <p:spPr>
          <a:xfrm rot="2700000">
            <a:off x="8203997" y="4809744"/>
            <a:ext cx="77724" cy="77724"/>
          </a:xfrm>
          <a:prstGeom prst="rect">
            <a:avLst/>
          </a:prstGeom>
          <a:solidFill>
            <a:srgbClr val="D4951A">
              <a:alpha val="20000"/>
            </a:srgbClr>
          </a:solidFill>
          <a:ln w="12700">
            <a:solidFill>
              <a:srgbClr val="D4951A"/>
            </a:solidFill>
            <a:prstDash val="solid"/>
          </a:ln>
        </p:spPr>
      </p:sp>
      <p:sp>
        <p:nvSpPr>
          <p:cNvPr id="201" name="Shape 199"/>
          <p:cNvSpPr/>
          <p:nvPr/>
        </p:nvSpPr>
        <p:spPr>
          <a:xfrm rot="2700000">
            <a:off x="8321040" y="4809744"/>
            <a:ext cx="77724" cy="77724"/>
          </a:xfrm>
          <a:prstGeom prst="rect">
            <a:avLst/>
          </a:prstGeom>
          <a:solidFill>
            <a:srgbClr val="D4951A">
              <a:alpha val="20000"/>
            </a:srgbClr>
          </a:solidFill>
          <a:ln w="12700">
            <a:solidFill>
              <a:srgbClr val="D4951A"/>
            </a:solidFill>
            <a:prstDash val="solid"/>
          </a:ln>
        </p:spPr>
      </p:sp>
      <p:sp>
        <p:nvSpPr>
          <p:cNvPr id="202" name="Shape 200"/>
          <p:cNvSpPr/>
          <p:nvPr/>
        </p:nvSpPr>
        <p:spPr>
          <a:xfrm rot="2700000">
            <a:off x="8438083" y="4809744"/>
            <a:ext cx="77724" cy="77724"/>
          </a:xfrm>
          <a:prstGeom prst="rect">
            <a:avLst/>
          </a:prstGeom>
          <a:solidFill>
            <a:srgbClr val="D4951A">
              <a:alpha val="20000"/>
            </a:srgbClr>
          </a:solidFill>
          <a:ln w="12700">
            <a:solidFill>
              <a:srgbClr val="D4951A"/>
            </a:solidFill>
            <a:prstDash val="solid"/>
          </a:ln>
        </p:spPr>
      </p:sp>
      <p:sp>
        <p:nvSpPr>
          <p:cNvPr id="203" name="Shape 201"/>
          <p:cNvSpPr/>
          <p:nvPr/>
        </p:nvSpPr>
        <p:spPr>
          <a:xfrm rot="2700000">
            <a:off x="8555126" y="4809744"/>
            <a:ext cx="77724" cy="77724"/>
          </a:xfrm>
          <a:prstGeom prst="rect">
            <a:avLst/>
          </a:prstGeom>
          <a:solidFill>
            <a:srgbClr val="D4951A">
              <a:alpha val="20000"/>
            </a:srgbClr>
          </a:solidFill>
          <a:ln w="12700">
            <a:solidFill>
              <a:srgbClr val="D4951A"/>
            </a:solidFill>
            <a:prstDash val="solid"/>
          </a:ln>
        </p:spPr>
      </p:sp>
      <p:sp>
        <p:nvSpPr>
          <p:cNvPr id="204" name="Shape 202"/>
          <p:cNvSpPr/>
          <p:nvPr/>
        </p:nvSpPr>
        <p:spPr>
          <a:xfrm rot="2700000">
            <a:off x="8672170" y="4809744"/>
            <a:ext cx="77724" cy="77724"/>
          </a:xfrm>
          <a:prstGeom prst="rect">
            <a:avLst/>
          </a:prstGeom>
          <a:solidFill>
            <a:srgbClr val="D4951A">
              <a:alpha val="20000"/>
            </a:srgbClr>
          </a:solidFill>
          <a:ln w="12700">
            <a:solidFill>
              <a:srgbClr val="D4951A"/>
            </a:solidFill>
            <a:prstDash val="solid"/>
          </a:ln>
        </p:spPr>
      </p:sp>
      <p:sp>
        <p:nvSpPr>
          <p:cNvPr id="205" name="Shape 203"/>
          <p:cNvSpPr/>
          <p:nvPr/>
        </p:nvSpPr>
        <p:spPr>
          <a:xfrm rot="2700000">
            <a:off x="8789213" y="4809744"/>
            <a:ext cx="77724" cy="77724"/>
          </a:xfrm>
          <a:prstGeom prst="rect">
            <a:avLst/>
          </a:prstGeom>
          <a:solidFill>
            <a:srgbClr val="D4951A">
              <a:alpha val="20000"/>
            </a:srgbClr>
          </a:solidFill>
          <a:ln w="12700">
            <a:solidFill>
              <a:srgbClr val="D4951A"/>
            </a:solidFill>
            <a:prstDash val="solid"/>
          </a:ln>
        </p:spPr>
      </p:sp>
      <p:sp>
        <p:nvSpPr>
          <p:cNvPr id="206" name="Shape 204"/>
          <p:cNvSpPr/>
          <p:nvPr/>
        </p:nvSpPr>
        <p:spPr>
          <a:xfrm rot="2700000">
            <a:off x="8906256" y="4809744"/>
            <a:ext cx="77724" cy="77724"/>
          </a:xfrm>
          <a:prstGeom prst="rect">
            <a:avLst/>
          </a:prstGeom>
          <a:solidFill>
            <a:srgbClr val="D4951A">
              <a:alpha val="20000"/>
            </a:srgbClr>
          </a:solidFill>
          <a:ln w="12700">
            <a:solidFill>
              <a:srgbClr val="D4951A"/>
            </a:solidFill>
            <a:prstDash val="solid"/>
          </a:ln>
        </p:spPr>
      </p:sp>
      <p:sp>
        <p:nvSpPr>
          <p:cNvPr id="207" name="Shape 205"/>
          <p:cNvSpPr/>
          <p:nvPr/>
        </p:nvSpPr>
        <p:spPr>
          <a:xfrm rot="2700000">
            <a:off x="9023299" y="4809744"/>
            <a:ext cx="77724" cy="77724"/>
          </a:xfrm>
          <a:prstGeom prst="rect">
            <a:avLst/>
          </a:prstGeom>
          <a:solidFill>
            <a:srgbClr val="D4951A">
              <a:alpha val="20000"/>
            </a:srgbClr>
          </a:solidFill>
          <a:ln w="12700">
            <a:solidFill>
              <a:srgbClr val="D4951A"/>
            </a:solidFill>
            <a:prstDash val="solid"/>
          </a:ln>
        </p:spPr>
      </p:sp>
      <p:sp>
        <p:nvSpPr>
          <p:cNvPr id="208" name="Text 206"/>
          <p:cNvSpPr/>
          <p:nvPr/>
        </p:nvSpPr>
        <p:spPr>
          <a:xfrm>
            <a:off x="274320" y="4864608"/>
            <a:ext cx="8595360" cy="219456"/>
          </a:xfrm>
          <a:prstGeom prst="rect">
            <a:avLst/>
          </a:prstGeom>
          <a:noFill/>
          <a:ln/>
        </p:spPr>
        <p:txBody>
          <a:bodyPr wrap="square" rtlCol="0" anchor="ctr"/>
          <a:lstStyle/>
          <a:p>
            <a:pPr algn="r" indent="0" marL="0">
              <a:buNone/>
            </a:pPr>
            <a:r>
              <a:rPr lang="en-US" sz="750" spc="120" kern="0" dirty="0">
                <a:solidFill>
                  <a:srgbClr val="6B7A8A"/>
                </a:solidFill>
                <a:latin typeface="Calibri" pitchFamily="34" charset="0"/>
                <a:ea typeface="Calibri" pitchFamily="34" charset="-122"/>
                <a:cs typeface="Calibri" pitchFamily="34" charset="-120"/>
              </a:rPr>
              <a:t>PET FACTORY MAROC  ·  BOILER SELECTION — EXECUTIVE BRIEFING  ·  CONFIDENTIAL</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Boiler Selection — Pet Factory Maroc Executive Briefing</dc:title>
  <dc:subject>PptxGenJS Presentation</dc:subject>
  <dc:creator>PptxGenJS</dc:creator>
  <cp:lastModifiedBy>PptxGenJS</cp:lastModifiedBy>
  <cp:revision>1</cp:revision>
  <dcterms:created xsi:type="dcterms:W3CDTF">2026-05-05T17:22:59Z</dcterms:created>
  <dcterms:modified xsi:type="dcterms:W3CDTF">2026-05-05T17:22:59Z</dcterms:modified>
</cp:coreProperties>
</file>