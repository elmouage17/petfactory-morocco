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Comparatif Bosch (Réf. T100554010-51) vs EGFI (Devis N°336/26 V1) pour chaudière vapeur 4 t/h PET Factory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91440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COMPARATIF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CHAUDIÈRE VAPEUR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34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  vs  EGFI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4 000 kg/h — GPL / Propane — 12 bars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4572000"/>
            <a:ext cx="1828800" cy="4572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4937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5F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3 400 918 MAD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4937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4937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2 902 500 MAD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349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(HT, hors options)                                              (HT, hors dégazeur)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Factory Maroc — Septembre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SOMMAIRE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4572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17320"/>
            <a:ext cx="411480" cy="384048"/>
          </a:xfrm>
          <a:prstGeom prst="roundRect">
            <a:avLst>
              <a:gd name="adj" fmla="val 11905"/>
            </a:avLst>
          </a:prstGeom>
          <a:solidFill>
            <a:srgbClr val="2B5F9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41732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4173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 des Fournisseurs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938528"/>
            <a:ext cx="411480" cy="384048"/>
          </a:xfrm>
          <a:prstGeom prst="roundRect">
            <a:avLst>
              <a:gd name="adj" fmla="val 11905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93852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9385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Spécifications Techniques Chaudière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459736"/>
            <a:ext cx="411480" cy="384048"/>
          </a:xfrm>
          <a:prstGeom prst="roundRect">
            <a:avLst>
              <a:gd name="adj" fmla="val 11905"/>
            </a:avLst>
          </a:prstGeom>
          <a:solidFill>
            <a:srgbClr val="2B5F9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45973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4597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Équipements Auxiliaires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2980944"/>
            <a:ext cx="411480" cy="384048"/>
          </a:xfrm>
          <a:prstGeom prst="roundRect">
            <a:avLst>
              <a:gd name="adj" fmla="val 11905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298094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298094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Traitement d'Eau &amp; Bâche Alimentaire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3502152"/>
            <a:ext cx="411480" cy="384048"/>
          </a:xfrm>
          <a:prstGeom prst="roundRect">
            <a:avLst>
              <a:gd name="adj" fmla="val 11905"/>
            </a:avLst>
          </a:prstGeom>
          <a:solidFill>
            <a:srgbClr val="2B5F9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350215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5021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Contrôle, Supervision &amp; Brûleur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4023360"/>
            <a:ext cx="411480" cy="384048"/>
          </a:xfrm>
          <a:prstGeom prst="roundRect">
            <a:avLst>
              <a:gd name="adj" fmla="val 11905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402336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0233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Comparatif Financier Détaillé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1520" y="4544568"/>
            <a:ext cx="411480" cy="384048"/>
          </a:xfrm>
          <a:prstGeom prst="roundRect">
            <a:avLst>
              <a:gd name="adj" fmla="val 11905"/>
            </a:avLst>
          </a:prstGeom>
          <a:solidFill>
            <a:srgbClr val="2B5F9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1520" y="454456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45445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Périmètre Comparable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31520" y="5065776"/>
            <a:ext cx="411480" cy="384048"/>
          </a:xfrm>
          <a:prstGeom prst="roundRect">
            <a:avLst>
              <a:gd name="adj" fmla="val 11905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1520" y="506577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506577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d'Attention &amp; Écarts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1520" y="5586984"/>
            <a:ext cx="411480" cy="384048"/>
          </a:xfrm>
          <a:prstGeom prst="roundRect">
            <a:avLst>
              <a:gd name="adj" fmla="val 11905"/>
            </a:avLst>
          </a:prstGeom>
          <a:solidFill>
            <a:srgbClr val="2B5F9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31520" y="558698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371600" y="558698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Synthèse &amp; Recommandation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FACTORY MAROC  ·  COMPARATIF BOSCH vs EGFI  ·  CONFIDENTIEL</a:t>
            </a:r>
            <a:endParaRPr lang="en-US" sz="700" dirty="0"/>
          </a:p>
        </p:txBody>
      </p:sp>
      <p:sp>
        <p:nvSpPr>
          <p:cNvPr id="32" name="Text 30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2/11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 DES FOURNISSEURS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solidFill>
            <a:srgbClr val="2B5F9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188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 — Robert Bosch Morocco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5F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Offre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18288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Réf. T100554010-51 / Projet 257092/1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24942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5F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286000" y="224942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18/09/2026 (MAJ_1)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6700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5F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26700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CSB 4300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0906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5F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Capacité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286000" y="30906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4 000 kg/h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51129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5F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286000" y="351129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Allemagne (Bosch Industrial)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9319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5F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Présence Maroc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2286000" y="39319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Robert Bosch Morocco, Casablanca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3525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5F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286000" y="435254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— EN 12953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7731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5F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2286000" y="47731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Équipe locale Casablanca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1937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5F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2286000" y="51937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Tubes de fumée — 3 parcours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6144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5F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Prix HT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2286000" y="561441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3 400 918 MAD (sans options)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118872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7920" y="1188720"/>
            <a:ext cx="530352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0" y="1188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EGFI — Entreprise Générale de Fumisterie Ind.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0" y="18288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Offre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046720" y="18288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Devis N°336/26 V1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0" y="224942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046720" y="224942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29/07/2026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0" y="26700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8046720" y="26700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EGFI 4000 — Wet Back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0" y="30906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Capacité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8046720" y="30906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4 000 kg/h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0" y="351129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Origine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046720" y="351129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Fabrication locale (Casablanca)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0" y="39319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Présence Maroc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046720" y="39319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Siège + ateliers Aïn Sebaâ, Casa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6400800" y="43525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8046720" y="435254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NFE 32.101-107 (APAVE / BV)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6400800" y="47731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8046720" y="47731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Constructeur local — accès direct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6400800" y="51937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8046720" y="51937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Tubes de fumée — WET BACK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6400800" y="56144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Prix HT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8046720" y="561441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2 902 500 MAD (hors dégazeur)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FACTORY MAROC  ·  COMPARATIF BOSCH vs EGFI  ·  CONFIDENTIEL</a:t>
            </a:r>
            <a:endParaRPr lang="en-US" sz="700" dirty="0"/>
          </a:p>
        </p:txBody>
      </p:sp>
      <p:sp>
        <p:nvSpPr>
          <p:cNvPr id="51" name="Text 49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3/11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SPÉCIFICATIONS TECHNIQUES — CHAUDIÈRE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2103120" cy="356616"/>
          </a:xfrm>
          <a:prstGeom prst="rect">
            <a:avLst/>
          </a:prstGeom>
          <a:solidFill>
            <a:srgbClr val="1B2A4A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30352" y="1143000"/>
            <a:ext cx="19568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Paramètre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0" y="1143000"/>
            <a:ext cx="2560320" cy="356616"/>
          </a:xfrm>
          <a:prstGeom prst="rect">
            <a:avLst/>
          </a:prstGeom>
          <a:solidFill>
            <a:srgbClr val="1B2A4A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33472" y="1143000"/>
            <a:ext cx="2414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120640" y="1143000"/>
            <a:ext cx="2560320" cy="356616"/>
          </a:xfrm>
          <a:prstGeom prst="rect">
            <a:avLst/>
          </a:prstGeom>
          <a:solidFill>
            <a:srgbClr val="1B2A4A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93792" y="1143000"/>
            <a:ext cx="2414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EGFI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680960" y="1143000"/>
            <a:ext cx="2926080" cy="356616"/>
          </a:xfrm>
          <a:prstGeom prst="rect">
            <a:avLst/>
          </a:prstGeom>
          <a:solidFill>
            <a:srgbClr val="1B2A4A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54112" y="1143000"/>
            <a:ext cx="27797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499616"/>
            <a:ext cx="210312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0352" y="1499616"/>
            <a:ext cx="19568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560320" y="1499616"/>
            <a:ext cx="256032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33472" y="1499616"/>
            <a:ext cx="2414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CSB 4300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120640" y="1499616"/>
            <a:ext cx="256032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93792" y="1499616"/>
            <a:ext cx="2414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EGFI 4000 Wet Back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680960" y="1499616"/>
            <a:ext cx="292608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54112" y="1499616"/>
            <a:ext cx="27797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Intl. vs local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1856232"/>
            <a:ext cx="2103120" cy="356616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0352" y="1856232"/>
            <a:ext cx="19568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Capacité vapeur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560320" y="1856232"/>
            <a:ext cx="2560320" cy="356616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633472" y="1856232"/>
            <a:ext cx="2414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4 000 kg/h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120640" y="1856232"/>
            <a:ext cx="2560320" cy="356616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93792" y="1856232"/>
            <a:ext cx="2414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4 000 kg/h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680960" y="1856232"/>
            <a:ext cx="2926080" cy="356616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54112" y="1856232"/>
            <a:ext cx="27797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Identique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2212848"/>
            <a:ext cx="210312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30352" y="2212848"/>
            <a:ext cx="19568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Pression service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560320" y="2212848"/>
            <a:ext cx="256032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633472" y="2212848"/>
            <a:ext cx="2414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bars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120640" y="2212848"/>
            <a:ext cx="256032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193792" y="2212848"/>
            <a:ext cx="2414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10,8 bars (timbre -10%)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680960" y="2212848"/>
            <a:ext cx="292608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54112" y="2212848"/>
            <a:ext cx="27797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EGFI légèrement +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2569464"/>
            <a:ext cx="2103120" cy="356616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30352" y="2569464"/>
            <a:ext cx="19568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Timbre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60320" y="2569464"/>
            <a:ext cx="2560320" cy="356616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633472" y="2569464"/>
            <a:ext cx="2414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bars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120640" y="2569464"/>
            <a:ext cx="2560320" cy="356616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193792" y="2569464"/>
            <a:ext cx="2414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bars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680960" y="2569464"/>
            <a:ext cx="2926080" cy="356616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754112" y="2569464"/>
            <a:ext cx="27797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 +1 bar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7200" y="2926080"/>
            <a:ext cx="210312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30352" y="2926080"/>
            <a:ext cx="19568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Pression épreuve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560320" y="2926080"/>
            <a:ext cx="256032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633472" y="2926080"/>
            <a:ext cx="2414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24,1 bars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120640" y="2926080"/>
            <a:ext cx="256032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193792" y="2926080"/>
            <a:ext cx="2414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bars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680960" y="2926080"/>
            <a:ext cx="292608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754112" y="2926080"/>
            <a:ext cx="27797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 +6 bars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57200" y="3282696"/>
            <a:ext cx="2103120" cy="356616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30352" y="3282696"/>
            <a:ext cx="19568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Puissance thermique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560320" y="3282696"/>
            <a:ext cx="2560320" cy="356616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2633472" y="3282696"/>
            <a:ext cx="2414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2 608 kW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120640" y="3282696"/>
            <a:ext cx="2560320" cy="356616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193792" y="3282696"/>
            <a:ext cx="2414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2 791 kW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7680960" y="3282696"/>
            <a:ext cx="2926080" cy="356616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754112" y="3282696"/>
            <a:ext cx="27797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EGFI +7%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57200" y="3639312"/>
            <a:ext cx="210312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30352" y="3639312"/>
            <a:ext cx="19568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Puissance brûleur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2560320" y="3639312"/>
            <a:ext cx="256032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2633472" y="3639312"/>
            <a:ext cx="2414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2 746 kW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5120640" y="3639312"/>
            <a:ext cx="256032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5193792" y="3639312"/>
            <a:ext cx="2414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875 – 3 900 kW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7680960" y="3639312"/>
            <a:ext cx="292608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7754112" y="3639312"/>
            <a:ext cx="27797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EGFI plage plus large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57200" y="3995928"/>
            <a:ext cx="2103120" cy="356616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530352" y="3995928"/>
            <a:ext cx="19568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(PCI)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2560320" y="3995928"/>
            <a:ext cx="2560320" cy="356616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2633472" y="3995928"/>
            <a:ext cx="2414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(EN 12953)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5120640" y="3995928"/>
            <a:ext cx="2560320" cy="356616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5193792" y="3995928"/>
            <a:ext cx="2414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 +0,5%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7680960" y="3995928"/>
            <a:ext cx="2926080" cy="356616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7754112" y="3995928"/>
            <a:ext cx="27797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 +6 pts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457200" y="4352544"/>
            <a:ext cx="210312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530352" y="4352544"/>
            <a:ext cx="19568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Combustible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2560320" y="4352544"/>
            <a:ext cx="256032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2633472" y="4352544"/>
            <a:ext cx="2414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GPL / Propane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5120640" y="4352544"/>
            <a:ext cx="256032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5193792" y="4352544"/>
            <a:ext cx="2414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Propane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7680960" y="4352544"/>
            <a:ext cx="292608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7754112" y="4352544"/>
            <a:ext cx="27797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Identique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457200" y="4709160"/>
            <a:ext cx="2103120" cy="356616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530352" y="4709160"/>
            <a:ext cx="19568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Consommation gaz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2560320" y="4709160"/>
            <a:ext cx="2560320" cy="356616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2633472" y="4709160"/>
            <a:ext cx="2414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 m³/h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5120640" y="4709160"/>
            <a:ext cx="2560320" cy="356616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5193792" y="4709160"/>
            <a:ext cx="2414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précisé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7680960" y="4709160"/>
            <a:ext cx="2926080" cy="356616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7754112" y="4709160"/>
            <a:ext cx="27797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EGFI à confirmer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457200" y="5065776"/>
            <a:ext cx="210312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530352" y="5065776"/>
            <a:ext cx="19568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de chauffe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2560320" y="5065776"/>
            <a:ext cx="256032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2633472" y="5065776"/>
            <a:ext cx="2414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précisé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5120640" y="5065776"/>
            <a:ext cx="256032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5193792" y="5065776"/>
            <a:ext cx="2414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100 m²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7680960" y="5065776"/>
            <a:ext cx="292608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7754112" y="5065776"/>
            <a:ext cx="27797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EGFI documenté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457200" y="5422392"/>
            <a:ext cx="2103120" cy="356616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530352" y="5422392"/>
            <a:ext cx="19568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Poids en service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2560320" y="5422392"/>
            <a:ext cx="2560320" cy="356616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2633472" y="5422392"/>
            <a:ext cx="2414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12 139 kg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5120640" y="5422392"/>
            <a:ext cx="2560320" cy="356616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5193792" y="5422392"/>
            <a:ext cx="2414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21 600 kg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7680960" y="5422392"/>
            <a:ext cx="2926080" cy="356616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7754112" y="5422392"/>
            <a:ext cx="27797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EGFI +78% (plus lourd)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457200" y="5779008"/>
            <a:ext cx="210312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530352" y="5779008"/>
            <a:ext cx="19568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Capacité eau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2560320" y="5779008"/>
            <a:ext cx="256032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2633472" y="5779008"/>
            <a:ext cx="2414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précisé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5120640" y="5779008"/>
            <a:ext cx="256032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5193792" y="5779008"/>
            <a:ext cx="2414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8,1 m³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7680960" y="5779008"/>
            <a:ext cx="292608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7754112" y="5779008"/>
            <a:ext cx="27797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EGFI : inertie thermique</a:t>
            </a:r>
            <a:endParaRPr lang="en-US" sz="800" dirty="0"/>
          </a:p>
        </p:txBody>
      </p:sp>
      <p:sp>
        <p:nvSpPr>
          <p:cNvPr id="116" name="Text 114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FACTORY MAROC  ·  COMPARATIF BOSCH vs EGFI  ·  CONFIDENTIEL</a:t>
            </a:r>
            <a:endParaRPr lang="en-US" sz="700" dirty="0"/>
          </a:p>
        </p:txBody>
      </p:sp>
      <p:sp>
        <p:nvSpPr>
          <p:cNvPr id="117" name="Text 115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4/11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ÉQUIPEMENTS AUXILIAIRES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0"/>
            <a:ext cx="1828800" cy="365760"/>
          </a:xfrm>
          <a:prstGeom prst="rect">
            <a:avLst/>
          </a:prstGeom>
          <a:solidFill>
            <a:srgbClr val="1B2A4A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20624" y="109728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Équipement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194560" y="1097280"/>
            <a:ext cx="2743200" cy="365760"/>
          </a:xfrm>
          <a:prstGeom prst="rect">
            <a:avLst/>
          </a:prstGeom>
          <a:solidFill>
            <a:srgbClr val="1B2A4A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49424" y="1097280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937760" y="1097280"/>
            <a:ext cx="2926080" cy="365760"/>
          </a:xfrm>
          <a:prstGeom prst="rect">
            <a:avLst/>
          </a:prstGeom>
          <a:solidFill>
            <a:srgbClr val="1B2A4A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92624" y="1097280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EGFI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863840" y="1097280"/>
            <a:ext cx="2743200" cy="365760"/>
          </a:xfrm>
          <a:prstGeom prst="rect">
            <a:avLst/>
          </a:prstGeom>
          <a:solidFill>
            <a:srgbClr val="1B2A4A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18704" y="1097280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Écart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463040"/>
            <a:ext cx="1828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0624" y="146304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Économiseur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194560" y="146304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249424" y="146304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ECO1, 166 kW, ~5%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Bypass eau + fumées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937760" y="1463040"/>
            <a:ext cx="2926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92624" y="146304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Tubes ailettés, gain 4-5%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Bypass + soupape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7863840" y="146304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18704" y="146304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 : puissance chiffrée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EGFI : 295 000 vs 191 079 MAD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65760" y="1965960"/>
            <a:ext cx="182880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0624" y="196596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Pompe alimentaire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194560" y="1965960"/>
            <a:ext cx="274320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249424" y="196596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pompe variateur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2ème en option : 81 244 MAD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937760" y="1965960"/>
            <a:ext cx="292608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992624" y="196596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pompe variateur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2ème secours : 47 800 MAD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Modulation eau : 43 500 MAD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863840" y="1965960"/>
            <a:ext cx="274320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918704" y="196596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EGFI moins cher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la redondance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65760" y="2468880"/>
            <a:ext cx="1828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20624" y="246888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Débitmètre vapeur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194560" y="246888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249424" y="246888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option : 54 242 MAD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937760" y="2468880"/>
            <a:ext cx="2926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992624" y="246888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Inclus : 71 000 MAD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Endress Hauser / Spirax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7863840" y="246888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918704" y="246888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EGFI inclus de base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plus cher unitaire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65760" y="2971800"/>
            <a:ext cx="182880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20624" y="297180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Analyseur O2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194560" y="2971800"/>
            <a:ext cx="274320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249424" y="297180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proposé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937760" y="2971800"/>
            <a:ext cx="292608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992624" y="297180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LAMTEC : 75 600 MAD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Régulation excès d'air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7863840" y="2971800"/>
            <a:ext cx="274320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918704" y="297180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EGFI seul le propose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65760" y="3474720"/>
            <a:ext cx="1828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20624" y="347472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Clapet anti-retour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194560" y="347472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249424" y="347472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mentionné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937760" y="3474720"/>
            <a:ext cx="2926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992624" y="347472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5 500 MAD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(si 2 chaudières)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7863840" y="347472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918704" y="347472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EGFI le chiffre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65760" y="3977640"/>
            <a:ext cx="182880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20624" y="397764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Cheminée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194560" y="3977640"/>
            <a:ext cx="274320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2249424" y="397764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incluse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937760" y="3977640"/>
            <a:ext cx="292608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992624" y="397764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 : 51 900 MAD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7863840" y="3977640"/>
            <a:ext cx="274320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918704" y="397764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EGFI seul le chiffre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65760" y="4480560"/>
            <a:ext cx="1828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420624" y="448056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Éclateur de purges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2194560" y="448056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2249424" y="448056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inclus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4937760" y="4480560"/>
            <a:ext cx="2926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4992624" y="448056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120 000 MAD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7863840" y="448056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7918704" y="448056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EGFI seul le propose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365760" y="4983480"/>
            <a:ext cx="182880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420624" y="498348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Purge de fond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2194560" y="4983480"/>
            <a:ext cx="274320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2249424" y="498348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détaillée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4937760" y="4983480"/>
            <a:ext cx="292608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4992624" y="498348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25 000 MAD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automatique pneumatique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7863840" y="4983480"/>
            <a:ext cx="274320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7918704" y="498348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EGFI inclus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365760" y="5486400"/>
            <a:ext cx="1828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420624" y="548640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Purge de surface TDS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2194560" y="548640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2249424" y="548640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détaillée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4937760" y="5486400"/>
            <a:ext cx="2926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4992624" y="548640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115 000 MAD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Spiax Sarco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7863840" y="548640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7918704" y="548640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EGFI inclus</a:t>
            </a:r>
            <a:endParaRPr lang="en-US" sz="750" dirty="0"/>
          </a:p>
        </p:txBody>
      </p:sp>
      <p:sp>
        <p:nvSpPr>
          <p:cNvPr id="84" name="Text 82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FACTORY MAROC  ·  COMPARATIF BOSCH vs EGFI  ·  CONFIDENTIEL</a:t>
            </a:r>
            <a:endParaRPr lang="en-US" sz="700" dirty="0"/>
          </a:p>
        </p:txBody>
      </p:sp>
      <p:sp>
        <p:nvSpPr>
          <p:cNvPr id="85" name="Text 83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5/11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TRAITEMENT D'EAU &amp; BÂCHE ALIMENTAIRE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5303520" cy="4846320"/>
          </a:xfrm>
          <a:prstGeom prst="roundRect">
            <a:avLst>
              <a:gd name="adj" fmla="val 1509"/>
            </a:avLst>
          </a:prstGeom>
          <a:solidFill>
            <a:srgbClr val="EBF0F7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5303520" cy="411480"/>
          </a:xfrm>
          <a:prstGeom prst="rect">
            <a:avLst/>
          </a:prstGeom>
          <a:solidFill>
            <a:srgbClr val="2B5F9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1887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 — 778 050 MAD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373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5F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Adoucisseur WTM-DQ — 309 074 MAD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0299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Double agrégat — échange ionique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24028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Capacité : 6 m³/h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45059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Dureté eau brute : 10°d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66090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Régénération automatique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03580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5F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Bâche alimentaire WSM-V 5.0 — 468 976 MAD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32841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Volume : 3 000 litres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53872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Dégazeur à pulvérisation — 103°C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7490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Puissance dégazage : 5 548 kg/h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95935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Dimensionnée pour 6 000 kg/h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16966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Isolation ALU Stucco 100 mm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5445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5F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Osmose inverse — NON INCLUSE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83717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Bosch exige fonctionnement low-salt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04748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RO à installer en aval de l'adoucisseur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25780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À chiffrer et sourcer séparément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217920" y="1188720"/>
            <a:ext cx="5303520" cy="4846320"/>
          </a:xfrm>
          <a:prstGeom prst="roundRect">
            <a:avLst>
              <a:gd name="adj" fmla="val 1509"/>
            </a:avLst>
          </a:prstGeom>
          <a:solidFill>
            <a:srgbClr val="E6F3F7"/>
          </a:solidFill>
          <a:ln/>
        </p:spPr>
      </p:sp>
      <p:sp>
        <p:nvSpPr>
          <p:cNvPr id="23" name="Shape 21"/>
          <p:cNvSpPr/>
          <p:nvPr/>
        </p:nvSpPr>
        <p:spPr>
          <a:xfrm>
            <a:off x="6217920" y="1188720"/>
            <a:ext cx="530352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0" y="11887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EGFI — 477 400 MAD + dégazeur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17373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d'adoucisseur — Osmose inverse directe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20299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Unité RO Osmotec 6 m³/h : 358 400 MAD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6583680" y="224028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Dé-chloration charbon actif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6583680" y="245059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Dosage séquestrant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6583680" y="266090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Filtration multicartouche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6583680" y="287121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Membranes LG BW 400 R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6583680" y="308152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CIP intégré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6400800" y="34015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Bâche alimentaire — 98 000 MAD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583680" y="369417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Volume : 8 000 litres (+167% vs Bosch)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6583680" y="390448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Cylindrique horizontale, acier noir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6583680" y="411480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Isolation laine de roche 50 mm / alu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6400800" y="44348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Dégazeur thermique — À COMMUNIQUER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583680" y="472744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Prix non encore chiffré par EGFI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6583680" y="49377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Dépend du taux retour condensats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6583680" y="514807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Bâche dégazeur : 10 000 litres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6400800" y="546811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Traitement complémentaire — 21 000 MAD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6583680" y="57607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Dispersant + réducteur O2 + alcalinisant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6583680" y="597103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Pompe doseuse ETATRON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286000" y="5989320"/>
            <a:ext cx="7315200" cy="365760"/>
          </a:xfrm>
          <a:prstGeom prst="roundRect">
            <a:avLst>
              <a:gd name="adj" fmla="val 15000"/>
            </a:avLst>
          </a:prstGeom>
          <a:solidFill>
            <a:srgbClr val="E8913A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228600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Approche différente : Bosch = adoucisseur + RO externe  |  EGFI = RO incluse + traitement chimique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FACTORY MAROC  ·  COMPARATIF BOSCH vs EGFI  ·  CONFIDENTIEL</a:t>
            </a:r>
            <a:endParaRPr lang="en-US" sz="700" dirty="0"/>
          </a:p>
        </p:txBody>
      </p:sp>
      <p:sp>
        <p:nvSpPr>
          <p:cNvPr id="46" name="Text 4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6/11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CONTRÔLE, SUPERVISION &amp; BRÛLEUR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2286000" cy="384048"/>
          </a:xfrm>
          <a:prstGeom prst="rect">
            <a:avLst/>
          </a:prstGeom>
          <a:solidFill>
            <a:srgbClr val="1B2A4A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30352" y="1097280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Paramètre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0" y="1097280"/>
            <a:ext cx="4114800" cy="384048"/>
          </a:xfrm>
          <a:prstGeom prst="rect">
            <a:avLst/>
          </a:prstGeom>
          <a:solidFill>
            <a:srgbClr val="1B2A4A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16352" y="1097280"/>
            <a:ext cx="3968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0" y="1097280"/>
            <a:ext cx="4114800" cy="384048"/>
          </a:xfrm>
          <a:prstGeom prst="rect">
            <a:avLst/>
          </a:prstGeom>
          <a:solidFill>
            <a:srgbClr val="1B2A4A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31152" y="1097280"/>
            <a:ext cx="3968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EGFI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481328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0352" y="1481328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Brûleur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0" y="1481328"/>
            <a:ext cx="4114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16352" y="1481328"/>
            <a:ext cx="3968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 intégré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858000" y="1481328"/>
            <a:ext cx="4114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31152" y="1481328"/>
            <a:ext cx="3968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ECOFLAM BLU 4000.1 PR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1865376"/>
            <a:ext cx="2286000" cy="384048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0352" y="1865376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Puissance brûleur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0" y="1865376"/>
            <a:ext cx="4114800" cy="384048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816352" y="1865376"/>
            <a:ext cx="3968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2 746 kW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58000" y="1865376"/>
            <a:ext cx="4114800" cy="384048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31152" y="1865376"/>
            <a:ext cx="3968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875 – 3 900 kW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2249424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30352" y="2249424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Régulation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0" y="2249424"/>
            <a:ext cx="4114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816352" y="2249424"/>
            <a:ext cx="3968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Modulante (BCO)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858000" y="2249424"/>
            <a:ext cx="4114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31152" y="2249424"/>
            <a:ext cx="3968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Modulante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" y="2633472"/>
            <a:ext cx="2286000" cy="384048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30352" y="263347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0" y="2633472"/>
            <a:ext cx="4114800" cy="384048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816352" y="2633472"/>
            <a:ext cx="3968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Siemens PLC 1500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858000" y="2633472"/>
            <a:ext cx="4114800" cy="384048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931152" y="2633472"/>
            <a:ext cx="3968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PLC industriel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" y="3017520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30352" y="3017520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Écran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0" y="3017520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816352" y="3017520"/>
            <a:ext cx="3968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Tactile 9"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858000" y="3017520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931152" y="3017520"/>
            <a:ext cx="3968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de supervision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57200" y="3566160"/>
            <a:ext cx="2286000" cy="548640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30352" y="3566160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Supervision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743200" y="3566160"/>
            <a:ext cx="4114800" cy="548640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816352" y="3566160"/>
            <a:ext cx="3968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 Monitoring Basic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Ethernet S7 TCP/IP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858000" y="3566160"/>
            <a:ext cx="4114800" cy="548640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931152" y="3566160"/>
            <a:ext cx="3968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+ logiciel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Programmation sur mesure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57200" y="4114800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30352" y="4114800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Purge auto fond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743200" y="4114800"/>
            <a:ext cx="4114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2816352" y="4114800"/>
            <a:ext cx="3968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détaillée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858000" y="4114800"/>
            <a:ext cx="4114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931152" y="4114800"/>
            <a:ext cx="3968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Pneumatique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minuterie programmable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57200" y="4498848"/>
            <a:ext cx="2286000" cy="384048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30352" y="4498848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Purge surface TDS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743200" y="4498848"/>
            <a:ext cx="4114800" cy="384048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2816352" y="4498848"/>
            <a:ext cx="3968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détaillée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858000" y="4498848"/>
            <a:ext cx="4114800" cy="384048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931152" y="4498848"/>
            <a:ext cx="3968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Spirax Sarco auto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conductivité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57200" y="4882896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30352" y="4882896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Armoire commande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743200" y="4882896"/>
            <a:ext cx="4114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2816352" y="4882896"/>
            <a:ext cx="3968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92 350 MAD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858000" y="4882896"/>
            <a:ext cx="4114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6931152" y="4882896"/>
            <a:ext cx="3968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Incluse dans chaudière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57200" y="5266944"/>
            <a:ext cx="2286000" cy="384048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530352" y="5266944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Supervision prix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2743200" y="5266944"/>
            <a:ext cx="4114800" cy="384048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2816352" y="5266944"/>
            <a:ext cx="3968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Inclus dans armoire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858000" y="5266944"/>
            <a:ext cx="4114800" cy="384048"/>
          </a:xfrm>
          <a:prstGeom prst="rect">
            <a:avLst/>
          </a:prstGeom>
          <a:solidFill>
            <a:srgbClr val="F4F6F8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6931152" y="5266944"/>
            <a:ext cx="3968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75 000 MAD</a:t>
            </a:r>
            <a:endParaRPr lang="en-US" sz="850" dirty="0"/>
          </a:p>
        </p:txBody>
      </p:sp>
      <p:sp>
        <p:nvSpPr>
          <p:cNvPr id="70" name="Text 68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FACTORY MAROC  ·  COMPARATIF BOSCH vs EGFI  ·  CONFIDENTIEL</a:t>
            </a:r>
            <a:endParaRPr lang="en-US" sz="700" dirty="0"/>
          </a:p>
        </p:txBody>
      </p:sp>
      <p:sp>
        <p:nvSpPr>
          <p:cNvPr id="71" name="Text 69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7/11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COMPARATIF FINANCIER DÉTAILLÉ (MAD HT)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731520"/>
            <a:ext cx="1371600" cy="36576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68680"/>
            <a:ext cx="2926080" cy="219456"/>
          </a:xfrm>
          <a:prstGeom prst="rect">
            <a:avLst/>
          </a:prstGeom>
          <a:solidFill>
            <a:srgbClr val="1B2A4A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86868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474720" y="868680"/>
            <a:ext cx="2286000" cy="219456"/>
          </a:xfrm>
          <a:prstGeom prst="rect">
            <a:avLst/>
          </a:prstGeom>
          <a:solidFill>
            <a:srgbClr val="1B2A4A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8686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760720" y="868680"/>
            <a:ext cx="2286000" cy="219456"/>
          </a:xfrm>
          <a:prstGeom prst="rect">
            <a:avLst/>
          </a:prstGeom>
          <a:solidFill>
            <a:srgbClr val="1B2A4A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06440" y="8686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EGFI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046720" y="868680"/>
            <a:ext cx="1828800" cy="219456"/>
          </a:xfrm>
          <a:prstGeom prst="rect">
            <a:avLst/>
          </a:prstGeom>
          <a:solidFill>
            <a:srgbClr val="1B2A4A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92440" y="86868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Écart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48640" y="1088136"/>
            <a:ext cx="292608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108813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Chaudière + équipements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474720" y="1088136"/>
            <a:ext cx="228600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20440" y="108813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905 443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760720" y="1088136"/>
            <a:ext cx="228600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06440" y="108813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1 100 000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8046720" y="1088136"/>
            <a:ext cx="182880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92440" y="10881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+194 557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48640" y="1307592"/>
            <a:ext cx="2926080" cy="219456"/>
          </a:xfrm>
          <a:prstGeom prst="rect">
            <a:avLst/>
          </a:prstGeom>
          <a:solidFill>
            <a:srgbClr val="F4F6F8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13075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Armoire commande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474720" y="1307592"/>
            <a:ext cx="2286000" cy="219456"/>
          </a:xfrm>
          <a:prstGeom prst="rect">
            <a:avLst/>
          </a:prstGeom>
          <a:solidFill>
            <a:srgbClr val="F4F6F8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20440" y="130759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92 350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760720" y="1307592"/>
            <a:ext cx="2286000" cy="219456"/>
          </a:xfrm>
          <a:prstGeom prst="rect">
            <a:avLst/>
          </a:prstGeom>
          <a:solidFill>
            <a:srgbClr val="F4F6F8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806440" y="130759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Inclus chaudière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8046720" y="1307592"/>
            <a:ext cx="1828800" cy="219456"/>
          </a:xfrm>
          <a:prstGeom prst="rect">
            <a:avLst/>
          </a:prstGeom>
          <a:solidFill>
            <a:srgbClr val="F4F6F8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92440" y="130759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48640" y="1527048"/>
            <a:ext cx="292608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152704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Brûleur gaz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474720" y="1527048"/>
            <a:ext cx="228600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520440" y="15270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269 323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760720" y="1527048"/>
            <a:ext cx="228600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806440" y="15270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Inclus chaudière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8046720" y="1527048"/>
            <a:ext cx="182880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092440" y="152704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548640" y="1746504"/>
            <a:ext cx="2926080" cy="219456"/>
          </a:xfrm>
          <a:prstGeom prst="rect">
            <a:avLst/>
          </a:prstGeom>
          <a:solidFill>
            <a:srgbClr val="F4F6F8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94360" y="17465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Économiseur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474720" y="1746504"/>
            <a:ext cx="2286000" cy="219456"/>
          </a:xfrm>
          <a:prstGeom prst="rect">
            <a:avLst/>
          </a:prstGeom>
          <a:solidFill>
            <a:srgbClr val="F4F6F8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520440" y="174650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191 079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5760720" y="1746504"/>
            <a:ext cx="2286000" cy="219456"/>
          </a:xfrm>
          <a:prstGeom prst="rect">
            <a:avLst/>
          </a:prstGeom>
          <a:solidFill>
            <a:srgbClr val="F4F6F8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806440" y="174650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295 000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8046720" y="1746504"/>
            <a:ext cx="1828800" cy="219456"/>
          </a:xfrm>
          <a:prstGeom prst="rect">
            <a:avLst/>
          </a:prstGeom>
          <a:solidFill>
            <a:srgbClr val="F4F6F8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092440" y="174650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+103 921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548640" y="1965960"/>
            <a:ext cx="292608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94360" y="19659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Pompe alimentaire (1 pompe)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3474720" y="1965960"/>
            <a:ext cx="228600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520440" y="19659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75 185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5760720" y="1965960"/>
            <a:ext cx="228600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806440" y="19659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Inclus chaudière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8046720" y="1965960"/>
            <a:ext cx="182880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092440" y="196596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548640" y="2185416"/>
            <a:ext cx="2926080" cy="219456"/>
          </a:xfrm>
          <a:prstGeom prst="rect">
            <a:avLst/>
          </a:prstGeom>
          <a:solidFill>
            <a:srgbClr val="F4F6F8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94360" y="218541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2ème pompe (secours)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3474720" y="2185416"/>
            <a:ext cx="2286000" cy="219456"/>
          </a:xfrm>
          <a:prstGeom prst="rect">
            <a:avLst/>
          </a:prstGeom>
          <a:solidFill>
            <a:srgbClr val="F4F6F8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3520440" y="218541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81 244 (opt.)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5760720" y="2185416"/>
            <a:ext cx="2286000" cy="219456"/>
          </a:xfrm>
          <a:prstGeom prst="rect">
            <a:avLst/>
          </a:prstGeom>
          <a:solidFill>
            <a:srgbClr val="F4F6F8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806440" y="218541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47 800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8046720" y="2185416"/>
            <a:ext cx="1828800" cy="219456"/>
          </a:xfrm>
          <a:prstGeom prst="rect">
            <a:avLst/>
          </a:prstGeom>
          <a:solidFill>
            <a:srgbClr val="F4F6F8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8092440" y="21854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-33 444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548640" y="2404872"/>
            <a:ext cx="292608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94360" y="240487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Modulation d'eau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3474720" y="2404872"/>
            <a:ext cx="228600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3520440" y="240487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Inclus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5760720" y="2404872"/>
            <a:ext cx="228600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5806440" y="240487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43 500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8046720" y="2404872"/>
            <a:ext cx="182880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8092440" y="240487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+43 500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548640" y="2624328"/>
            <a:ext cx="2926080" cy="219456"/>
          </a:xfrm>
          <a:prstGeom prst="rect">
            <a:avLst/>
          </a:prstGeom>
          <a:solidFill>
            <a:srgbClr val="F4F6F8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594360" y="262432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Purge de fond auto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3474720" y="2624328"/>
            <a:ext cx="2286000" cy="219456"/>
          </a:xfrm>
          <a:prstGeom prst="rect">
            <a:avLst/>
          </a:prstGeom>
          <a:solidFill>
            <a:srgbClr val="F4F6F8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3520440" y="26243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chiffré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5760720" y="2624328"/>
            <a:ext cx="2286000" cy="219456"/>
          </a:xfrm>
          <a:prstGeom prst="rect">
            <a:avLst/>
          </a:prstGeom>
          <a:solidFill>
            <a:srgbClr val="F4F6F8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5806440" y="26243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25 000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8046720" y="2624328"/>
            <a:ext cx="1828800" cy="219456"/>
          </a:xfrm>
          <a:prstGeom prst="rect">
            <a:avLst/>
          </a:prstGeom>
          <a:solidFill>
            <a:srgbClr val="F4F6F8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8092440" y="262432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+25 000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548640" y="2843784"/>
            <a:ext cx="292608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594360" y="284378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Purge surface TDS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3474720" y="2843784"/>
            <a:ext cx="228600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3520440" y="284378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chiffré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5760720" y="2843784"/>
            <a:ext cx="228600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5806440" y="284378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115 000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8046720" y="2843784"/>
            <a:ext cx="182880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8092440" y="284378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+115 000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548640" y="3063240"/>
            <a:ext cx="2926080" cy="219456"/>
          </a:xfrm>
          <a:prstGeom prst="rect">
            <a:avLst/>
          </a:prstGeom>
          <a:solidFill>
            <a:srgbClr val="F4F6F8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594360" y="30632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Supervision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3474720" y="3063240"/>
            <a:ext cx="2286000" cy="219456"/>
          </a:xfrm>
          <a:prstGeom prst="rect">
            <a:avLst/>
          </a:prstGeom>
          <a:solidFill>
            <a:srgbClr val="F4F6F8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3520440" y="306324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Inclus armoire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5760720" y="3063240"/>
            <a:ext cx="2286000" cy="219456"/>
          </a:xfrm>
          <a:prstGeom prst="rect">
            <a:avLst/>
          </a:prstGeom>
          <a:solidFill>
            <a:srgbClr val="F4F6F8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5806440" y="306324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75 000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8046720" y="3063240"/>
            <a:ext cx="1828800" cy="219456"/>
          </a:xfrm>
          <a:prstGeom prst="rect">
            <a:avLst/>
          </a:prstGeom>
          <a:solidFill>
            <a:srgbClr val="F4F6F8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8092440" y="306324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+75 000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548640" y="3282696"/>
            <a:ext cx="292608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594360" y="32826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Débitmètre vapeur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3474720" y="3282696"/>
            <a:ext cx="228600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3520440" y="328269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54 242 (opt.)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5760720" y="3282696"/>
            <a:ext cx="228600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5806440" y="328269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71 000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8046720" y="3282696"/>
            <a:ext cx="182880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8092440" y="328269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+16 758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548640" y="3502152"/>
            <a:ext cx="2926080" cy="219456"/>
          </a:xfrm>
          <a:prstGeom prst="rect">
            <a:avLst/>
          </a:prstGeom>
          <a:solidFill>
            <a:srgbClr val="F4F6F8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594360" y="350215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Analyseur O2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3474720" y="3502152"/>
            <a:ext cx="2286000" cy="219456"/>
          </a:xfrm>
          <a:prstGeom prst="rect">
            <a:avLst/>
          </a:prstGeom>
          <a:solidFill>
            <a:srgbClr val="F4F6F8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3520440" y="350215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proposé</a:t>
            </a:r>
            <a:endParaRPr lang="en-US" sz="700" dirty="0"/>
          </a:p>
        </p:txBody>
      </p:sp>
      <p:sp>
        <p:nvSpPr>
          <p:cNvPr id="104" name="Shape 102"/>
          <p:cNvSpPr/>
          <p:nvPr/>
        </p:nvSpPr>
        <p:spPr>
          <a:xfrm>
            <a:off x="5760720" y="3502152"/>
            <a:ext cx="2286000" cy="219456"/>
          </a:xfrm>
          <a:prstGeom prst="rect">
            <a:avLst/>
          </a:prstGeom>
          <a:solidFill>
            <a:srgbClr val="F4F6F8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5806440" y="350215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75 600</a:t>
            </a:r>
            <a:endParaRPr lang="en-US" sz="700" dirty="0"/>
          </a:p>
        </p:txBody>
      </p:sp>
      <p:sp>
        <p:nvSpPr>
          <p:cNvPr id="106" name="Shape 104"/>
          <p:cNvSpPr/>
          <p:nvPr/>
        </p:nvSpPr>
        <p:spPr>
          <a:xfrm>
            <a:off x="8046720" y="3502152"/>
            <a:ext cx="1828800" cy="219456"/>
          </a:xfrm>
          <a:prstGeom prst="rect">
            <a:avLst/>
          </a:prstGeom>
          <a:solidFill>
            <a:srgbClr val="F4F6F8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8092440" y="350215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+75 600</a:t>
            </a:r>
            <a:endParaRPr lang="en-US" sz="700" dirty="0"/>
          </a:p>
        </p:txBody>
      </p:sp>
      <p:sp>
        <p:nvSpPr>
          <p:cNvPr id="108" name="Shape 106"/>
          <p:cNvSpPr/>
          <p:nvPr/>
        </p:nvSpPr>
        <p:spPr>
          <a:xfrm>
            <a:off x="548640" y="3721608"/>
            <a:ext cx="292608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594360" y="37216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Bâche alimentaire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3474720" y="3721608"/>
            <a:ext cx="228600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3520440" y="372160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468 976</a:t>
            </a:r>
            <a:endParaRPr lang="en-US" sz="700" dirty="0"/>
          </a:p>
        </p:txBody>
      </p:sp>
      <p:sp>
        <p:nvSpPr>
          <p:cNvPr id="112" name="Shape 110"/>
          <p:cNvSpPr/>
          <p:nvPr/>
        </p:nvSpPr>
        <p:spPr>
          <a:xfrm>
            <a:off x="5760720" y="3721608"/>
            <a:ext cx="228600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5806440" y="372160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98 000</a:t>
            </a:r>
            <a:endParaRPr lang="en-US" sz="700" dirty="0"/>
          </a:p>
        </p:txBody>
      </p:sp>
      <p:sp>
        <p:nvSpPr>
          <p:cNvPr id="114" name="Shape 112"/>
          <p:cNvSpPr/>
          <p:nvPr/>
        </p:nvSpPr>
        <p:spPr>
          <a:xfrm>
            <a:off x="8046720" y="3721608"/>
            <a:ext cx="182880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8092440" y="372160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-370 976</a:t>
            </a:r>
            <a:endParaRPr lang="en-US" sz="700" dirty="0"/>
          </a:p>
        </p:txBody>
      </p:sp>
      <p:sp>
        <p:nvSpPr>
          <p:cNvPr id="116" name="Shape 114"/>
          <p:cNvSpPr/>
          <p:nvPr/>
        </p:nvSpPr>
        <p:spPr>
          <a:xfrm>
            <a:off x="548640" y="3941064"/>
            <a:ext cx="2926080" cy="219456"/>
          </a:xfrm>
          <a:prstGeom prst="rect">
            <a:avLst/>
          </a:prstGeom>
          <a:solidFill>
            <a:srgbClr val="F4F6F8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594360" y="394106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Adoucisseur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3474720" y="3941064"/>
            <a:ext cx="2286000" cy="219456"/>
          </a:xfrm>
          <a:prstGeom prst="rect">
            <a:avLst/>
          </a:prstGeom>
          <a:solidFill>
            <a:srgbClr val="F4F6F8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3520440" y="394106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309 074</a:t>
            </a:r>
            <a:endParaRPr lang="en-US" sz="700" dirty="0"/>
          </a:p>
        </p:txBody>
      </p:sp>
      <p:sp>
        <p:nvSpPr>
          <p:cNvPr id="120" name="Shape 118"/>
          <p:cNvSpPr/>
          <p:nvPr/>
        </p:nvSpPr>
        <p:spPr>
          <a:xfrm>
            <a:off x="5760720" y="3941064"/>
            <a:ext cx="2286000" cy="219456"/>
          </a:xfrm>
          <a:prstGeom prst="rect">
            <a:avLst/>
          </a:prstGeom>
          <a:solidFill>
            <a:srgbClr val="F4F6F8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5806440" y="394106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 (RO directe)</a:t>
            </a:r>
            <a:endParaRPr lang="en-US" sz="700" dirty="0"/>
          </a:p>
        </p:txBody>
      </p:sp>
      <p:sp>
        <p:nvSpPr>
          <p:cNvPr id="122" name="Shape 120"/>
          <p:cNvSpPr/>
          <p:nvPr/>
        </p:nvSpPr>
        <p:spPr>
          <a:xfrm>
            <a:off x="8046720" y="3941064"/>
            <a:ext cx="1828800" cy="219456"/>
          </a:xfrm>
          <a:prstGeom prst="rect">
            <a:avLst/>
          </a:prstGeom>
          <a:solidFill>
            <a:srgbClr val="F4F6F8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23" name="Text 121"/>
          <p:cNvSpPr txBox="1"/>
          <p:nvPr/>
        </p:nvSpPr>
        <p:spPr>
          <a:xfrm>
            <a:off x="8092440" y="394106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548640" y="4160520"/>
            <a:ext cx="292608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>
            <a:off x="594360" y="41605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Osmose inverse</a:t>
            </a:r>
            <a:endParaRPr lang="en-US" sz="700" dirty="0"/>
          </a:p>
        </p:txBody>
      </p:sp>
      <p:sp>
        <p:nvSpPr>
          <p:cNvPr id="126" name="Shape 124"/>
          <p:cNvSpPr/>
          <p:nvPr/>
        </p:nvSpPr>
        <p:spPr>
          <a:xfrm>
            <a:off x="3474720" y="4160520"/>
            <a:ext cx="228600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27" name="Text 125"/>
          <p:cNvSpPr txBox="1"/>
          <p:nvPr/>
        </p:nvSpPr>
        <p:spPr>
          <a:xfrm>
            <a:off x="3520440" y="41605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incluse</a:t>
            </a:r>
            <a:endParaRPr lang="en-US" sz="700" dirty="0"/>
          </a:p>
        </p:txBody>
      </p:sp>
      <p:sp>
        <p:nvSpPr>
          <p:cNvPr id="128" name="Shape 126"/>
          <p:cNvSpPr/>
          <p:nvPr/>
        </p:nvSpPr>
        <p:spPr>
          <a:xfrm>
            <a:off x="5760720" y="4160520"/>
            <a:ext cx="228600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29" name="Text 127"/>
          <p:cNvSpPr txBox="1"/>
          <p:nvPr/>
        </p:nvSpPr>
        <p:spPr>
          <a:xfrm>
            <a:off x="5806440" y="41605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358 400</a:t>
            </a:r>
            <a:endParaRPr lang="en-US" sz="700" dirty="0"/>
          </a:p>
        </p:txBody>
      </p:sp>
      <p:sp>
        <p:nvSpPr>
          <p:cNvPr id="130" name="Shape 128"/>
          <p:cNvSpPr/>
          <p:nvPr/>
        </p:nvSpPr>
        <p:spPr>
          <a:xfrm>
            <a:off x="8046720" y="4160520"/>
            <a:ext cx="182880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31" name="Text 129"/>
          <p:cNvSpPr txBox="1"/>
          <p:nvPr/>
        </p:nvSpPr>
        <p:spPr>
          <a:xfrm>
            <a:off x="8092440" y="416052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+358 400</a:t>
            </a:r>
            <a:endParaRPr lang="en-US" sz="700" dirty="0"/>
          </a:p>
        </p:txBody>
      </p:sp>
      <p:sp>
        <p:nvSpPr>
          <p:cNvPr id="132" name="Shape 130"/>
          <p:cNvSpPr/>
          <p:nvPr/>
        </p:nvSpPr>
        <p:spPr>
          <a:xfrm>
            <a:off x="548640" y="4379976"/>
            <a:ext cx="2926080" cy="219456"/>
          </a:xfrm>
          <a:prstGeom prst="rect">
            <a:avLst/>
          </a:prstGeom>
          <a:solidFill>
            <a:srgbClr val="F4F6F8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33" name="Text 131"/>
          <p:cNvSpPr txBox="1"/>
          <p:nvPr/>
        </p:nvSpPr>
        <p:spPr>
          <a:xfrm>
            <a:off x="594360" y="43799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Traitement chimique</a:t>
            </a:r>
            <a:endParaRPr lang="en-US" sz="700" dirty="0"/>
          </a:p>
        </p:txBody>
      </p:sp>
      <p:sp>
        <p:nvSpPr>
          <p:cNvPr id="134" name="Shape 132"/>
          <p:cNvSpPr/>
          <p:nvPr/>
        </p:nvSpPr>
        <p:spPr>
          <a:xfrm>
            <a:off x="3474720" y="4379976"/>
            <a:ext cx="2286000" cy="219456"/>
          </a:xfrm>
          <a:prstGeom prst="rect">
            <a:avLst/>
          </a:prstGeom>
          <a:solidFill>
            <a:srgbClr val="F4F6F8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35" name="Text 133"/>
          <p:cNvSpPr txBox="1"/>
          <p:nvPr/>
        </p:nvSpPr>
        <p:spPr>
          <a:xfrm>
            <a:off x="3520440" y="437997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inclus</a:t>
            </a:r>
            <a:endParaRPr lang="en-US" sz="700" dirty="0"/>
          </a:p>
        </p:txBody>
      </p:sp>
      <p:sp>
        <p:nvSpPr>
          <p:cNvPr id="136" name="Shape 134"/>
          <p:cNvSpPr/>
          <p:nvPr/>
        </p:nvSpPr>
        <p:spPr>
          <a:xfrm>
            <a:off x="5760720" y="4379976"/>
            <a:ext cx="2286000" cy="219456"/>
          </a:xfrm>
          <a:prstGeom prst="rect">
            <a:avLst/>
          </a:prstGeom>
          <a:solidFill>
            <a:srgbClr val="F4F6F8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37" name="Text 135"/>
          <p:cNvSpPr txBox="1"/>
          <p:nvPr/>
        </p:nvSpPr>
        <p:spPr>
          <a:xfrm>
            <a:off x="5806440" y="437997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21 000</a:t>
            </a:r>
            <a:endParaRPr lang="en-US" sz="700" dirty="0"/>
          </a:p>
        </p:txBody>
      </p:sp>
      <p:sp>
        <p:nvSpPr>
          <p:cNvPr id="138" name="Shape 136"/>
          <p:cNvSpPr/>
          <p:nvPr/>
        </p:nvSpPr>
        <p:spPr>
          <a:xfrm>
            <a:off x="8046720" y="4379976"/>
            <a:ext cx="1828800" cy="219456"/>
          </a:xfrm>
          <a:prstGeom prst="rect">
            <a:avLst/>
          </a:prstGeom>
          <a:solidFill>
            <a:srgbClr val="F4F6F8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39" name="Text 137"/>
          <p:cNvSpPr txBox="1"/>
          <p:nvPr/>
        </p:nvSpPr>
        <p:spPr>
          <a:xfrm>
            <a:off x="8092440" y="437997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+21 000</a:t>
            </a:r>
            <a:endParaRPr lang="en-US" sz="700" dirty="0"/>
          </a:p>
        </p:txBody>
      </p:sp>
      <p:sp>
        <p:nvSpPr>
          <p:cNvPr id="140" name="Shape 138"/>
          <p:cNvSpPr/>
          <p:nvPr/>
        </p:nvSpPr>
        <p:spPr>
          <a:xfrm>
            <a:off x="548640" y="4599432"/>
            <a:ext cx="292608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41" name="Text 139"/>
          <p:cNvSpPr txBox="1"/>
          <p:nvPr/>
        </p:nvSpPr>
        <p:spPr>
          <a:xfrm>
            <a:off x="594360" y="45994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Cheminée</a:t>
            </a:r>
            <a:endParaRPr lang="en-US" sz="700" dirty="0"/>
          </a:p>
        </p:txBody>
      </p:sp>
      <p:sp>
        <p:nvSpPr>
          <p:cNvPr id="142" name="Shape 140"/>
          <p:cNvSpPr/>
          <p:nvPr/>
        </p:nvSpPr>
        <p:spPr>
          <a:xfrm>
            <a:off x="3474720" y="4599432"/>
            <a:ext cx="228600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43" name="Text 141"/>
          <p:cNvSpPr txBox="1"/>
          <p:nvPr/>
        </p:nvSpPr>
        <p:spPr>
          <a:xfrm>
            <a:off x="3520440" y="459943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incluse</a:t>
            </a:r>
            <a:endParaRPr lang="en-US" sz="700" dirty="0"/>
          </a:p>
        </p:txBody>
      </p:sp>
      <p:sp>
        <p:nvSpPr>
          <p:cNvPr id="144" name="Shape 142"/>
          <p:cNvSpPr/>
          <p:nvPr/>
        </p:nvSpPr>
        <p:spPr>
          <a:xfrm>
            <a:off x="5760720" y="4599432"/>
            <a:ext cx="228600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45" name="Text 143"/>
          <p:cNvSpPr txBox="1"/>
          <p:nvPr/>
        </p:nvSpPr>
        <p:spPr>
          <a:xfrm>
            <a:off x="5806440" y="459943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51 900</a:t>
            </a:r>
            <a:endParaRPr lang="en-US" sz="700" dirty="0"/>
          </a:p>
        </p:txBody>
      </p:sp>
      <p:sp>
        <p:nvSpPr>
          <p:cNvPr id="146" name="Shape 144"/>
          <p:cNvSpPr/>
          <p:nvPr/>
        </p:nvSpPr>
        <p:spPr>
          <a:xfrm>
            <a:off x="8046720" y="4599432"/>
            <a:ext cx="182880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47" name="Text 145"/>
          <p:cNvSpPr txBox="1"/>
          <p:nvPr/>
        </p:nvSpPr>
        <p:spPr>
          <a:xfrm>
            <a:off x="8092440" y="459943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+51 900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548640" y="4818888"/>
            <a:ext cx="2926080" cy="219456"/>
          </a:xfrm>
          <a:prstGeom prst="rect">
            <a:avLst/>
          </a:prstGeom>
          <a:solidFill>
            <a:srgbClr val="F4F6F8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49" name="Text 147"/>
          <p:cNvSpPr txBox="1"/>
          <p:nvPr/>
        </p:nvSpPr>
        <p:spPr>
          <a:xfrm>
            <a:off x="594360" y="481888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Éclateur de purges</a:t>
            </a:r>
            <a:endParaRPr lang="en-US" sz="700" dirty="0"/>
          </a:p>
        </p:txBody>
      </p:sp>
      <p:sp>
        <p:nvSpPr>
          <p:cNvPr id="150" name="Shape 148"/>
          <p:cNvSpPr/>
          <p:nvPr/>
        </p:nvSpPr>
        <p:spPr>
          <a:xfrm>
            <a:off x="3474720" y="4818888"/>
            <a:ext cx="2286000" cy="219456"/>
          </a:xfrm>
          <a:prstGeom prst="rect">
            <a:avLst/>
          </a:prstGeom>
          <a:solidFill>
            <a:srgbClr val="F4F6F8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51" name="Text 149"/>
          <p:cNvSpPr txBox="1"/>
          <p:nvPr/>
        </p:nvSpPr>
        <p:spPr>
          <a:xfrm>
            <a:off x="3520440" y="48188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inclus</a:t>
            </a:r>
            <a:endParaRPr lang="en-US" sz="700" dirty="0"/>
          </a:p>
        </p:txBody>
      </p:sp>
      <p:sp>
        <p:nvSpPr>
          <p:cNvPr id="152" name="Shape 150"/>
          <p:cNvSpPr/>
          <p:nvPr/>
        </p:nvSpPr>
        <p:spPr>
          <a:xfrm>
            <a:off x="5760720" y="4818888"/>
            <a:ext cx="2286000" cy="219456"/>
          </a:xfrm>
          <a:prstGeom prst="rect">
            <a:avLst/>
          </a:prstGeom>
          <a:solidFill>
            <a:srgbClr val="F4F6F8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53" name="Text 151"/>
          <p:cNvSpPr txBox="1"/>
          <p:nvPr/>
        </p:nvSpPr>
        <p:spPr>
          <a:xfrm>
            <a:off x="5806440" y="48188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120 000</a:t>
            </a:r>
            <a:endParaRPr lang="en-US" sz="700" dirty="0"/>
          </a:p>
        </p:txBody>
      </p:sp>
      <p:sp>
        <p:nvSpPr>
          <p:cNvPr id="154" name="Shape 152"/>
          <p:cNvSpPr/>
          <p:nvPr/>
        </p:nvSpPr>
        <p:spPr>
          <a:xfrm>
            <a:off x="8046720" y="4818888"/>
            <a:ext cx="1828800" cy="219456"/>
          </a:xfrm>
          <a:prstGeom prst="rect">
            <a:avLst/>
          </a:prstGeom>
          <a:solidFill>
            <a:srgbClr val="F4F6F8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55" name="Text 153"/>
          <p:cNvSpPr txBox="1"/>
          <p:nvPr/>
        </p:nvSpPr>
        <p:spPr>
          <a:xfrm>
            <a:off x="8092440" y="481888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+120 000</a:t>
            </a:r>
            <a:endParaRPr lang="en-US" sz="700" dirty="0"/>
          </a:p>
        </p:txBody>
      </p:sp>
      <p:sp>
        <p:nvSpPr>
          <p:cNvPr id="156" name="Shape 154"/>
          <p:cNvSpPr/>
          <p:nvPr/>
        </p:nvSpPr>
        <p:spPr>
          <a:xfrm>
            <a:off x="548640" y="5038344"/>
            <a:ext cx="292608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57" name="Text 155"/>
          <p:cNvSpPr txBox="1"/>
          <p:nvPr/>
        </p:nvSpPr>
        <p:spPr>
          <a:xfrm>
            <a:off x="594360" y="503834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Collecteur vapeur</a:t>
            </a:r>
            <a:endParaRPr lang="en-US" sz="700" dirty="0"/>
          </a:p>
        </p:txBody>
      </p:sp>
      <p:sp>
        <p:nvSpPr>
          <p:cNvPr id="158" name="Shape 156"/>
          <p:cNvSpPr/>
          <p:nvPr/>
        </p:nvSpPr>
        <p:spPr>
          <a:xfrm>
            <a:off x="3474720" y="5038344"/>
            <a:ext cx="228600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59" name="Text 157"/>
          <p:cNvSpPr txBox="1"/>
          <p:nvPr/>
        </p:nvSpPr>
        <p:spPr>
          <a:xfrm>
            <a:off x="3520440" y="503834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138 570</a:t>
            </a:r>
            <a:endParaRPr lang="en-US" sz="700" dirty="0"/>
          </a:p>
        </p:txBody>
      </p:sp>
      <p:sp>
        <p:nvSpPr>
          <p:cNvPr id="160" name="Shape 158"/>
          <p:cNvSpPr/>
          <p:nvPr/>
        </p:nvSpPr>
        <p:spPr>
          <a:xfrm>
            <a:off x="5760720" y="5038344"/>
            <a:ext cx="228600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61" name="Text 159"/>
          <p:cNvSpPr txBox="1"/>
          <p:nvPr/>
        </p:nvSpPr>
        <p:spPr>
          <a:xfrm>
            <a:off x="5806440" y="503834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66 800</a:t>
            </a:r>
            <a:endParaRPr lang="en-US" sz="700" dirty="0"/>
          </a:p>
        </p:txBody>
      </p:sp>
      <p:sp>
        <p:nvSpPr>
          <p:cNvPr id="162" name="Shape 160"/>
          <p:cNvSpPr/>
          <p:nvPr/>
        </p:nvSpPr>
        <p:spPr>
          <a:xfrm>
            <a:off x="8046720" y="5038344"/>
            <a:ext cx="182880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63" name="Text 161"/>
          <p:cNvSpPr txBox="1"/>
          <p:nvPr/>
        </p:nvSpPr>
        <p:spPr>
          <a:xfrm>
            <a:off x="8092440" y="503834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-71 770</a:t>
            </a:r>
            <a:endParaRPr lang="en-US" sz="700" dirty="0"/>
          </a:p>
        </p:txBody>
      </p:sp>
      <p:sp>
        <p:nvSpPr>
          <p:cNvPr id="164" name="Shape 162"/>
          <p:cNvSpPr/>
          <p:nvPr/>
        </p:nvSpPr>
        <p:spPr>
          <a:xfrm>
            <a:off x="548640" y="5257800"/>
            <a:ext cx="2926080" cy="219456"/>
          </a:xfrm>
          <a:prstGeom prst="rect">
            <a:avLst/>
          </a:prstGeom>
          <a:solidFill>
            <a:srgbClr val="F4F6F8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65" name="Text 163"/>
          <p:cNvSpPr txBox="1"/>
          <p:nvPr/>
        </p:nvSpPr>
        <p:spPr>
          <a:xfrm>
            <a:off x="594360" y="52578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Prépa combustible</a:t>
            </a:r>
            <a:endParaRPr lang="en-US" sz="700" dirty="0"/>
          </a:p>
        </p:txBody>
      </p:sp>
      <p:sp>
        <p:nvSpPr>
          <p:cNvPr id="166" name="Shape 164"/>
          <p:cNvSpPr/>
          <p:nvPr/>
        </p:nvSpPr>
        <p:spPr>
          <a:xfrm>
            <a:off x="3474720" y="5257800"/>
            <a:ext cx="2286000" cy="219456"/>
          </a:xfrm>
          <a:prstGeom prst="rect">
            <a:avLst/>
          </a:prstGeom>
          <a:solidFill>
            <a:srgbClr val="F4F6F8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67" name="Text 165"/>
          <p:cNvSpPr txBox="1"/>
          <p:nvPr/>
        </p:nvSpPr>
        <p:spPr>
          <a:xfrm>
            <a:off x="3520440" y="52578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inclus</a:t>
            </a:r>
            <a:endParaRPr lang="en-US" sz="700" dirty="0"/>
          </a:p>
        </p:txBody>
      </p:sp>
      <p:sp>
        <p:nvSpPr>
          <p:cNvPr id="168" name="Shape 166"/>
          <p:cNvSpPr/>
          <p:nvPr/>
        </p:nvSpPr>
        <p:spPr>
          <a:xfrm>
            <a:off x="5760720" y="5257800"/>
            <a:ext cx="2286000" cy="219456"/>
          </a:xfrm>
          <a:prstGeom prst="rect">
            <a:avLst/>
          </a:prstGeom>
          <a:solidFill>
            <a:srgbClr val="F4F6F8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69" name="Text 167"/>
          <p:cNvSpPr txBox="1"/>
          <p:nvPr/>
        </p:nvSpPr>
        <p:spPr>
          <a:xfrm>
            <a:off x="5806440" y="52578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21 500</a:t>
            </a:r>
            <a:endParaRPr lang="en-US" sz="700" dirty="0"/>
          </a:p>
        </p:txBody>
      </p:sp>
      <p:sp>
        <p:nvSpPr>
          <p:cNvPr id="170" name="Shape 168"/>
          <p:cNvSpPr/>
          <p:nvPr/>
        </p:nvSpPr>
        <p:spPr>
          <a:xfrm>
            <a:off x="8046720" y="5257800"/>
            <a:ext cx="1828800" cy="219456"/>
          </a:xfrm>
          <a:prstGeom prst="rect">
            <a:avLst/>
          </a:prstGeom>
          <a:solidFill>
            <a:srgbClr val="F4F6F8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71" name="Text 169"/>
          <p:cNvSpPr txBox="1"/>
          <p:nvPr/>
        </p:nvSpPr>
        <p:spPr>
          <a:xfrm>
            <a:off x="8092440" y="525780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+21 500</a:t>
            </a:r>
            <a:endParaRPr lang="en-US" sz="700" dirty="0"/>
          </a:p>
        </p:txBody>
      </p:sp>
      <p:sp>
        <p:nvSpPr>
          <p:cNvPr id="172" name="Shape 170"/>
          <p:cNvSpPr/>
          <p:nvPr/>
        </p:nvSpPr>
        <p:spPr>
          <a:xfrm>
            <a:off x="548640" y="5477256"/>
            <a:ext cx="292608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73" name="Text 171"/>
          <p:cNvSpPr txBox="1"/>
          <p:nvPr/>
        </p:nvSpPr>
        <p:spPr>
          <a:xfrm>
            <a:off x="594360" y="547725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PDR 1 an</a:t>
            </a:r>
            <a:endParaRPr lang="en-US" sz="700" dirty="0"/>
          </a:p>
        </p:txBody>
      </p:sp>
      <p:sp>
        <p:nvSpPr>
          <p:cNvPr id="174" name="Shape 172"/>
          <p:cNvSpPr/>
          <p:nvPr/>
        </p:nvSpPr>
        <p:spPr>
          <a:xfrm>
            <a:off x="3474720" y="5477256"/>
            <a:ext cx="228600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75" name="Text 173"/>
          <p:cNvSpPr txBox="1"/>
          <p:nvPr/>
        </p:nvSpPr>
        <p:spPr>
          <a:xfrm>
            <a:off x="3520440" y="547725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inclus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>
            <a:off x="5760720" y="5477256"/>
            <a:ext cx="228600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77" name="Text 175"/>
          <p:cNvSpPr txBox="1"/>
          <p:nvPr/>
        </p:nvSpPr>
        <p:spPr>
          <a:xfrm>
            <a:off x="5806440" y="547725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136 500</a:t>
            </a:r>
            <a:endParaRPr lang="en-US" sz="700" dirty="0"/>
          </a:p>
        </p:txBody>
      </p:sp>
      <p:sp>
        <p:nvSpPr>
          <p:cNvPr id="178" name="Shape 176"/>
          <p:cNvSpPr/>
          <p:nvPr/>
        </p:nvSpPr>
        <p:spPr>
          <a:xfrm>
            <a:off x="8046720" y="5477256"/>
            <a:ext cx="182880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79" name="Text 177"/>
          <p:cNvSpPr txBox="1"/>
          <p:nvPr/>
        </p:nvSpPr>
        <p:spPr>
          <a:xfrm>
            <a:off x="8092440" y="547725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+136 500</a:t>
            </a:r>
            <a:endParaRPr lang="en-US" sz="700" dirty="0"/>
          </a:p>
        </p:txBody>
      </p:sp>
      <p:sp>
        <p:nvSpPr>
          <p:cNvPr id="180" name="Shape 178"/>
          <p:cNvSpPr/>
          <p:nvPr/>
        </p:nvSpPr>
        <p:spPr>
          <a:xfrm>
            <a:off x="548640" y="5696712"/>
            <a:ext cx="2926080" cy="219456"/>
          </a:xfrm>
          <a:prstGeom prst="rect">
            <a:avLst/>
          </a:prstGeom>
          <a:solidFill>
            <a:srgbClr val="F4F6F8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81" name="Text 179"/>
          <p:cNvSpPr txBox="1"/>
          <p:nvPr/>
        </p:nvSpPr>
        <p:spPr>
          <a:xfrm>
            <a:off x="594360" y="569671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</a:t>
            </a:r>
            <a:endParaRPr lang="en-US" sz="700" dirty="0"/>
          </a:p>
        </p:txBody>
      </p:sp>
      <p:sp>
        <p:nvSpPr>
          <p:cNvPr id="182" name="Shape 180"/>
          <p:cNvSpPr/>
          <p:nvPr/>
        </p:nvSpPr>
        <p:spPr>
          <a:xfrm>
            <a:off x="3474720" y="5696712"/>
            <a:ext cx="2286000" cy="219456"/>
          </a:xfrm>
          <a:prstGeom prst="rect">
            <a:avLst/>
          </a:prstGeom>
          <a:solidFill>
            <a:srgbClr val="F4F6F8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83" name="Text 181"/>
          <p:cNvSpPr txBox="1"/>
          <p:nvPr/>
        </p:nvSpPr>
        <p:spPr>
          <a:xfrm>
            <a:off x="3520440" y="56967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250 000</a:t>
            </a:r>
            <a:endParaRPr lang="en-US" sz="700" dirty="0"/>
          </a:p>
        </p:txBody>
      </p:sp>
      <p:sp>
        <p:nvSpPr>
          <p:cNvPr id="184" name="Shape 182"/>
          <p:cNvSpPr/>
          <p:nvPr/>
        </p:nvSpPr>
        <p:spPr>
          <a:xfrm>
            <a:off x="5760720" y="5696712"/>
            <a:ext cx="2286000" cy="219456"/>
          </a:xfrm>
          <a:prstGeom prst="rect">
            <a:avLst/>
          </a:prstGeom>
          <a:solidFill>
            <a:srgbClr val="F4F6F8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85" name="Text 183"/>
          <p:cNvSpPr txBox="1"/>
          <p:nvPr/>
        </p:nvSpPr>
        <p:spPr>
          <a:xfrm>
            <a:off x="5806440" y="56967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Inclus montage</a:t>
            </a:r>
            <a:endParaRPr lang="en-US" sz="700" dirty="0"/>
          </a:p>
        </p:txBody>
      </p:sp>
      <p:sp>
        <p:nvSpPr>
          <p:cNvPr id="186" name="Shape 184"/>
          <p:cNvSpPr/>
          <p:nvPr/>
        </p:nvSpPr>
        <p:spPr>
          <a:xfrm>
            <a:off x="8046720" y="5696712"/>
            <a:ext cx="1828800" cy="219456"/>
          </a:xfrm>
          <a:prstGeom prst="rect">
            <a:avLst/>
          </a:prstGeom>
          <a:solidFill>
            <a:srgbClr val="F4F6F8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87" name="Text 185"/>
          <p:cNvSpPr txBox="1"/>
          <p:nvPr/>
        </p:nvSpPr>
        <p:spPr>
          <a:xfrm>
            <a:off x="8092440" y="569671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00" dirty="0"/>
          </a:p>
        </p:txBody>
      </p:sp>
      <p:sp>
        <p:nvSpPr>
          <p:cNvPr id="188" name="Shape 186"/>
          <p:cNvSpPr/>
          <p:nvPr/>
        </p:nvSpPr>
        <p:spPr>
          <a:xfrm>
            <a:off x="548640" y="5916168"/>
            <a:ext cx="292608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89" name="Text 187"/>
          <p:cNvSpPr txBox="1"/>
          <p:nvPr/>
        </p:nvSpPr>
        <p:spPr>
          <a:xfrm>
            <a:off x="594360" y="591616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 / mise en service</a:t>
            </a:r>
            <a:endParaRPr lang="en-US" sz="700" dirty="0"/>
          </a:p>
        </p:txBody>
      </p:sp>
      <p:sp>
        <p:nvSpPr>
          <p:cNvPr id="190" name="Shape 188"/>
          <p:cNvSpPr/>
          <p:nvPr/>
        </p:nvSpPr>
        <p:spPr>
          <a:xfrm>
            <a:off x="3474720" y="5916168"/>
            <a:ext cx="228600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91" name="Text 189"/>
          <p:cNvSpPr txBox="1"/>
          <p:nvPr/>
        </p:nvSpPr>
        <p:spPr>
          <a:xfrm>
            <a:off x="3520440" y="591616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70 918</a:t>
            </a:r>
            <a:endParaRPr lang="en-US" sz="700" dirty="0"/>
          </a:p>
        </p:txBody>
      </p:sp>
      <p:sp>
        <p:nvSpPr>
          <p:cNvPr id="192" name="Shape 190"/>
          <p:cNvSpPr/>
          <p:nvPr/>
        </p:nvSpPr>
        <p:spPr>
          <a:xfrm>
            <a:off x="5760720" y="5916168"/>
            <a:ext cx="228600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93" name="Text 191"/>
          <p:cNvSpPr txBox="1"/>
          <p:nvPr/>
        </p:nvSpPr>
        <p:spPr>
          <a:xfrm>
            <a:off x="5806440" y="591616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Inclus montage</a:t>
            </a:r>
            <a:endParaRPr lang="en-US" sz="700" dirty="0"/>
          </a:p>
        </p:txBody>
      </p:sp>
      <p:sp>
        <p:nvSpPr>
          <p:cNvPr id="194" name="Shape 192"/>
          <p:cNvSpPr/>
          <p:nvPr/>
        </p:nvSpPr>
        <p:spPr>
          <a:xfrm>
            <a:off x="8046720" y="5916168"/>
            <a:ext cx="182880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95" name="Text 193"/>
          <p:cNvSpPr txBox="1"/>
          <p:nvPr/>
        </p:nvSpPr>
        <p:spPr>
          <a:xfrm>
            <a:off x="8092440" y="591616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00" dirty="0"/>
          </a:p>
        </p:txBody>
      </p:sp>
      <p:sp>
        <p:nvSpPr>
          <p:cNvPr id="196" name="Shape 194"/>
          <p:cNvSpPr/>
          <p:nvPr/>
        </p:nvSpPr>
        <p:spPr>
          <a:xfrm>
            <a:off x="548640" y="6135624"/>
            <a:ext cx="2926080" cy="219456"/>
          </a:xfrm>
          <a:prstGeom prst="rect">
            <a:avLst/>
          </a:prstGeom>
          <a:solidFill>
            <a:srgbClr val="F4F6F8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97" name="Text 195"/>
          <p:cNvSpPr txBox="1"/>
          <p:nvPr/>
        </p:nvSpPr>
        <p:spPr>
          <a:xfrm>
            <a:off x="594360" y="613562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</a:t>
            </a:r>
            <a:endParaRPr lang="en-US" sz="700" dirty="0"/>
          </a:p>
        </p:txBody>
      </p:sp>
      <p:sp>
        <p:nvSpPr>
          <p:cNvPr id="198" name="Shape 196"/>
          <p:cNvSpPr/>
          <p:nvPr/>
        </p:nvSpPr>
        <p:spPr>
          <a:xfrm>
            <a:off x="3474720" y="6135624"/>
            <a:ext cx="2286000" cy="219456"/>
          </a:xfrm>
          <a:prstGeom prst="rect">
            <a:avLst/>
          </a:prstGeom>
          <a:solidFill>
            <a:srgbClr val="F4F6F8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99" name="Text 197"/>
          <p:cNvSpPr txBox="1"/>
          <p:nvPr/>
        </p:nvSpPr>
        <p:spPr>
          <a:xfrm>
            <a:off x="3520440" y="613562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630 000</a:t>
            </a:r>
            <a:endParaRPr lang="en-US" sz="700" dirty="0"/>
          </a:p>
        </p:txBody>
      </p:sp>
      <p:sp>
        <p:nvSpPr>
          <p:cNvPr id="200" name="Shape 198"/>
          <p:cNvSpPr/>
          <p:nvPr/>
        </p:nvSpPr>
        <p:spPr>
          <a:xfrm>
            <a:off x="5760720" y="6135624"/>
            <a:ext cx="2286000" cy="219456"/>
          </a:xfrm>
          <a:prstGeom prst="rect">
            <a:avLst/>
          </a:prstGeom>
          <a:solidFill>
            <a:srgbClr val="F4F6F8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201" name="Text 199"/>
          <p:cNvSpPr txBox="1"/>
          <p:nvPr/>
        </p:nvSpPr>
        <p:spPr>
          <a:xfrm>
            <a:off x="5806440" y="613562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175 000</a:t>
            </a:r>
            <a:endParaRPr lang="en-US" sz="700" dirty="0"/>
          </a:p>
        </p:txBody>
      </p:sp>
      <p:sp>
        <p:nvSpPr>
          <p:cNvPr id="202" name="Shape 200"/>
          <p:cNvSpPr/>
          <p:nvPr/>
        </p:nvSpPr>
        <p:spPr>
          <a:xfrm>
            <a:off x="8046720" y="6135624"/>
            <a:ext cx="1828800" cy="219456"/>
          </a:xfrm>
          <a:prstGeom prst="rect">
            <a:avLst/>
          </a:prstGeom>
          <a:solidFill>
            <a:srgbClr val="F4F6F8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203" name="Text 201"/>
          <p:cNvSpPr txBox="1"/>
          <p:nvPr/>
        </p:nvSpPr>
        <p:spPr>
          <a:xfrm>
            <a:off x="8092440" y="613562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-455 000</a:t>
            </a:r>
            <a:endParaRPr lang="en-US" sz="700" dirty="0"/>
          </a:p>
        </p:txBody>
      </p:sp>
      <p:sp>
        <p:nvSpPr>
          <p:cNvPr id="204" name="Shape 202"/>
          <p:cNvSpPr/>
          <p:nvPr/>
        </p:nvSpPr>
        <p:spPr>
          <a:xfrm>
            <a:off x="548640" y="6428232"/>
            <a:ext cx="2926080" cy="320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5" name="Text 203"/>
          <p:cNvSpPr txBox="1"/>
          <p:nvPr/>
        </p:nvSpPr>
        <p:spPr>
          <a:xfrm>
            <a:off x="594360" y="64282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HT (base)</a:t>
            </a:r>
            <a:endParaRPr lang="en-US" sz="900" dirty="0"/>
          </a:p>
        </p:txBody>
      </p:sp>
      <p:sp>
        <p:nvSpPr>
          <p:cNvPr id="206" name="Shape 204"/>
          <p:cNvSpPr/>
          <p:nvPr/>
        </p:nvSpPr>
        <p:spPr>
          <a:xfrm>
            <a:off x="3474720" y="6428232"/>
            <a:ext cx="2286000" cy="320040"/>
          </a:xfrm>
          <a:prstGeom prst="rect">
            <a:avLst/>
          </a:prstGeom>
          <a:solidFill>
            <a:srgbClr val="2B5F9E"/>
          </a:solidFill>
          <a:ln/>
        </p:spPr>
      </p:sp>
      <p:sp>
        <p:nvSpPr>
          <p:cNvPr id="207" name="Text 205"/>
          <p:cNvSpPr txBox="1"/>
          <p:nvPr/>
        </p:nvSpPr>
        <p:spPr>
          <a:xfrm>
            <a:off x="3520440" y="64282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3 400 918</a:t>
            </a:r>
            <a:endParaRPr lang="en-US" sz="1000" dirty="0"/>
          </a:p>
        </p:txBody>
      </p:sp>
      <p:sp>
        <p:nvSpPr>
          <p:cNvPr id="208" name="Shape 206"/>
          <p:cNvSpPr/>
          <p:nvPr/>
        </p:nvSpPr>
        <p:spPr>
          <a:xfrm>
            <a:off x="5760720" y="6428232"/>
            <a:ext cx="22860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9" name="Text 207"/>
          <p:cNvSpPr txBox="1"/>
          <p:nvPr/>
        </p:nvSpPr>
        <p:spPr>
          <a:xfrm>
            <a:off x="5806440" y="64282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2 902 500</a:t>
            </a:r>
            <a:endParaRPr lang="en-US" sz="1000" dirty="0"/>
          </a:p>
        </p:txBody>
      </p:sp>
      <p:sp>
        <p:nvSpPr>
          <p:cNvPr id="210" name="Shape 208"/>
          <p:cNvSpPr/>
          <p:nvPr/>
        </p:nvSpPr>
        <p:spPr>
          <a:xfrm>
            <a:off x="8046720" y="6428232"/>
            <a:ext cx="1828800" cy="32004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211" name="Text 209"/>
          <p:cNvSpPr txBox="1"/>
          <p:nvPr/>
        </p:nvSpPr>
        <p:spPr>
          <a:xfrm>
            <a:off x="8092440" y="64282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-498 418</a:t>
            </a:r>
            <a:endParaRPr lang="en-US" sz="900" dirty="0"/>
          </a:p>
        </p:txBody>
      </p:sp>
      <p:sp>
        <p:nvSpPr>
          <p:cNvPr id="212" name="Text 210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FACTORY MAROC  ·  COMPARATIF BOSCH vs EGFI  ·  CONFIDENTIEL</a:t>
            </a:r>
            <a:endParaRPr lang="en-US" sz="700" dirty="0"/>
          </a:p>
        </p:txBody>
      </p:sp>
      <p:sp>
        <p:nvSpPr>
          <p:cNvPr id="213" name="Text 211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8/11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À PÉRIMÈTRE COMPARABLE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deux offres n'ont pas le même périmètre. Pour une comparaison juste, il faut ajuster :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45920"/>
            <a:ext cx="5303520" cy="411480"/>
          </a:xfrm>
          <a:prstGeom prst="rect">
            <a:avLst/>
          </a:prstGeom>
          <a:solidFill>
            <a:srgbClr val="2B5F9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6459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 — Coûts à ajouter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945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sans options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21945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3 400 918 MAD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5146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Osmose inverse (à sourcer)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5146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~350 000 MAD (est.)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8346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+ 2ème pompe (secours)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834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81 244 MAD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1546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Débitmètre vapeur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31546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54 242 MAD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4747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Compteur gaz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34747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51 552 MAD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7947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Régulation gaz GRM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0" y="37947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17 469 MAD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1148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Cheminée (à sourcer)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3657600" y="41148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~50 000 MAD (est.)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4348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Éclateur de purges (à sourcer)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44348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~100 000 MAD (est.)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7548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PDR 1 an (à sourcer)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3657600" y="47548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~130 000 MAD (est.)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3949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5F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ESTIMATION COMPARABLE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3657600" y="53949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B5F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~4 235 000 MAD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164592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1645920"/>
            <a:ext cx="530352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00800" y="16459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EGFI — Coûts à compléter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0" y="21945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hors dégazeur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9418320" y="21945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2 902 500 MAD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0" y="25146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Dégazeur thermique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9418320" y="25146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communiquer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0" y="28346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(Estimation basée sur marché)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9418320" y="2834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~150 000 – 250 000 MAD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0" y="53949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ESTIMATION COMPARABLE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9418320" y="53949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~3 100 000 – 3 150 000 MAD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5943600"/>
            <a:ext cx="11155680" cy="411480"/>
          </a:xfrm>
          <a:prstGeom prst="roundRect">
            <a:avLst>
              <a:gd name="adj" fmla="val 13333"/>
            </a:avLst>
          </a:prstGeom>
          <a:solidFill>
            <a:srgbClr val="E8913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57200" y="59436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Écart estimé à périmètre comparable :  EGFI ~25 à 30% moins cher que Bosch  (~1 M MAD d'économie)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FACTORY MAROC  ·  COMPARATIF BOSCH vs EGFI  ·  CONFIDENTIEL</a:t>
            </a:r>
            <a:endParaRPr lang="en-US" sz="700" dirty="0"/>
          </a:p>
        </p:txBody>
      </p:sp>
      <p:sp>
        <p:nvSpPr>
          <p:cNvPr id="42" name="Text 40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9/11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D'ATTENTION &amp; ÉCARTS CLÉS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1371600" cy="36576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11155680" cy="777240"/>
          </a:xfrm>
          <a:prstGeom prst="roundRect">
            <a:avLst>
              <a:gd name="adj" fmla="val 7059"/>
            </a:avLst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64008" cy="7772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0241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0241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: 95% vs 89%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2984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 garantit 95% (EN 12953) vs 89% pour EGFI. Sur 8 000 h/an en GPL, l'écart de 6 pts se traduit par ~15% de surconsommation chez EGFI. À 6,5 MAD/kg de propane, cela représente ~200 000 MAD/an de surcoût combustible. Le TCO sur 5 ans peut inverser l'avantage prix initial d'EGFI.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11155680" cy="777240"/>
          </a:xfrm>
          <a:prstGeom prst="roundRect">
            <a:avLst>
              <a:gd name="adj" fmla="val 7059"/>
            </a:avLst>
          </a:prstGeom>
          <a:solidFill>
            <a:srgbClr val="F4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874520"/>
            <a:ext cx="64008" cy="77724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189280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18928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Bâche alimentaire : dégazage intégré vs basique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16712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 WSM-V : dégazeur à pulvérisation intégré (103°C, O2 &lt; 0,02 mg/l) mais 3 000 L. EGFI : 8 000 L (plus de réserve) mais dégazeur thermique séparé non chiffré. L'approche Bosch est industriellement supérieure pour la protection anti-corrosion.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11155680" cy="777240"/>
          </a:xfrm>
          <a:prstGeom prst="roundRect">
            <a:avLst>
              <a:gd name="adj" fmla="val 7059"/>
            </a:avLst>
          </a:prstGeom>
          <a:solidFill>
            <a:srgbClr val="F4F6F8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743200"/>
            <a:ext cx="64008" cy="77724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276148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761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 : CE vs NFE locale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03580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 : certification CE européenne (EN 12953). EGFI : normes NFE 32.101-107 marocaines avec contrôle APAVE/BV. La CE est plus exigeante et peut être requise pour les certifications FSSC 22000 / FDA de PET Factory.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3611880"/>
            <a:ext cx="11155680" cy="777240"/>
          </a:xfrm>
          <a:prstGeom prst="roundRect">
            <a:avLst>
              <a:gd name="adj" fmla="val 7059"/>
            </a:avLst>
          </a:prstGeom>
          <a:solidFill>
            <a:srgbClr val="F4F6F8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611880"/>
            <a:ext cx="64008" cy="77724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363016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6301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Périmètre EGFI plus complet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390448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EGFI inclut de base : osmose inverse, cheminée, éclateur de purges, purges auto, PDR 1 an, analyseur O2, traitement chimique. Bosch ne les propose pas ou les met en option. Le prix Bosch « nu » est trompeur sans ces ajouts.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4480560"/>
            <a:ext cx="11155680" cy="777240"/>
          </a:xfrm>
          <a:prstGeom prst="roundRect">
            <a:avLst>
              <a:gd name="adj" fmla="val 7059"/>
            </a:avLst>
          </a:prstGeom>
          <a:solidFill>
            <a:srgbClr val="F4F6F8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4480560"/>
            <a:ext cx="64008" cy="77724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449884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4988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 : 630 000 vs 175 000 MAD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097280" y="47731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Écart de 455 000 MAD sur l'installation. Bosch inclut supervision + MES (70 918 MAD séparé) et transport (250 000 MAD). EGFI inclut transport dans le montage. Attention : EGFI exclut la grue de déchargement.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5349240"/>
            <a:ext cx="11155680" cy="777240"/>
          </a:xfrm>
          <a:prstGeom prst="roundRect">
            <a:avLst>
              <a:gd name="adj" fmla="val 7059"/>
            </a:avLst>
          </a:prstGeom>
          <a:solidFill>
            <a:srgbClr val="F4F6F8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5349240"/>
            <a:ext cx="64008" cy="77724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0080" y="53675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97280" y="53675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Garanties et délais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097280" y="56418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 : 17 semaines ex-works, garanties standard. EGFI : 3 mois fabrication + 3-4 sem. montage, garantie 3 ans corps pression / 1 an accessoires. Paiement EGFI : 40% commande / 50% départ atelier / solde fin travaux.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FACTORY MAROC  ·  COMPARATIF BOSCH vs EGFI  ·  CONFIDENTIEL</a:t>
            </a:r>
            <a:endParaRPr lang="en-US" sz="700" dirty="0"/>
          </a:p>
        </p:txBody>
      </p:sp>
      <p:sp>
        <p:nvSpPr>
          <p:cNvPr id="35" name="Text 33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10/11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SYNTHÈSE &amp; RECOMMANDATION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731520"/>
            <a:ext cx="1371600" cy="36576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5303520" cy="2560320"/>
          </a:xfrm>
          <a:prstGeom prst="roundRect">
            <a:avLst>
              <a:gd name="adj" fmla="val 2857"/>
            </a:avLst>
          </a:prstGeom>
          <a:solidFill>
            <a:srgbClr val="24355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005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5F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 — ~4 235 000 MAD (est. comparable)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41732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Rendement 95% garanti (EN 12953)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664208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Brûleur intégré — interlocuteur unique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911096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Siemens PLC 1500 + Condition Monitoring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157984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Certification CE européenne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40487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Dégazeur intégré à la bâche (103°C)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65176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Présence locale Casablanca (SAV)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2898648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  Périmètre incomplet (RO, cheminée, purges...)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145536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  Prix installation élevé (630 000 MAD)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914400"/>
            <a:ext cx="5303520" cy="2560320"/>
          </a:xfrm>
          <a:prstGeom prst="roundRect">
            <a:avLst>
              <a:gd name="adj" fmla="val 2857"/>
            </a:avLst>
          </a:prstGeom>
          <a:solidFill>
            <a:srgbClr val="24355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0" y="1005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EGFI — ~3 100 000 MAD (est. + dégazeur)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141732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Périmètre complet (RO, purges, PDR, cheminée)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1664208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~1 M MAD moins cher à périmètre comparable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1911096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Fabricant local — SAV direct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2157984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Bâche 8 000 L (+167% vs Bosch)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240487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Garantie 3 ans corps sous pression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265176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  Rendement 89% (-6 pts vs Bosch)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2898648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  Pas de certification CE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3145536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  Dégazeur non chiffré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657600"/>
            <a:ext cx="11155680" cy="2606040"/>
          </a:xfrm>
          <a:prstGeom prst="roundRect">
            <a:avLst>
              <a:gd name="adj" fmla="val 3509"/>
            </a:avLst>
          </a:prstGeom>
          <a:solidFill>
            <a:srgbClr val="1E3350"/>
          </a:solidFill>
          <a:ln w="19050">
            <a:solidFill>
              <a:srgbClr val="E8913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3749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RECOMMANDATION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4069080"/>
            <a:ext cx="10698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L'EGFI est ~25-30% moins cher à périmètre comparable et propose un périmètre clé-en-main plus complet. Cependant, le rendement inférieur de 6 points (89% vs 95%) représente un surcoût combustible d'environ 200 000 MAD/an en GPL, ce qui réduit l'avantage prix sur le TCO à 5 ans.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recommandées avant décision finale 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Obtenir le prix du dégazeur EGFI pour finaliser le total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Demander à EGFI une garantie de rendement écrite (référence norme + méthode de calcul)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Vérifier si la certification CE est exigée par FSSC 22000 / FDA pour l'export UE + USA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Calculer le TCO sur 5 et 10 ans intégrant la différence de consommation GPL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Demander à Bosch un prix séparé pour l'osmose inverse (ou sourcer indépendamment)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Comparer les conditions de garantie : Bosch standard vs EGFI 3 ans corps / 1 an accessoires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 Négocier les conditions de paiement (EGFI : 40/50/10 vs conditions Bosch)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FACTORY MAROC  ·  COMPARATIF BOSCH vs EGFI  ·  CONFIDENTIEL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Comparatif Bosch vs EGFI — Chaudière 4 t/h</dc:title>
  <dc:subject>PptxGenJS Presentation</dc:subject>
  <dc:creator>PET Factory Maroc</dc:creator>
  <cp:lastModifiedBy>PET Factory Maroc</cp:lastModifiedBy>
  <cp:revision>1</cp:revision>
  <dcterms:created xsi:type="dcterms:W3CDTF">2026-09-30T18:01:25Z</dcterms:created>
  <dcterms:modified xsi:type="dcterms:W3CDTF">2026-09-30T18:01:25Z</dcterms:modified>
</cp:coreProperties>
</file>