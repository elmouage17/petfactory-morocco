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titre - Comparatif Bosch vs EGFI pour la chaudière vapeur 4 t/h de PET Factory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COMPARATIF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CHAUDIÈRE VAPEUR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 vs  EGFI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4 000 kg/h — GPL / Propane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828800" cy="457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5212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— Septembre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SOMMAIRE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371600" cy="457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2B5F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des Fournisseurs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011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Spécifications Techniques Chaudière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2B5F9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60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Équipements Auxiliaires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Traitement d'Eau &amp; Bâche Alimentaire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2B5F9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Contrôle, Supervision &amp; Brûleur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20624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Comparatif Financier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1520" y="475488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2B5F9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d'Attention &amp; Écarts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5303520"/>
            <a:ext cx="411480" cy="41148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303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 &amp; Recommandation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DES FOURNISSEURS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280160"/>
            <a:ext cx="50292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solidFill>
            <a:srgbClr val="2B5F9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280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— Robert Bosch Morocco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Réf. T100554010-51 / Projet 257092/1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591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359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18/09/2026 (MAJ_1)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7980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7980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CSB 4300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2369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2369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4 000 kg/h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Allemagne (Bosch Industrial)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Présence Maroc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114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 Bosch Morocco, Casablanca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553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5537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— EN 12953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9926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4992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 locale Casablanca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4315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54315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Tubes de fumée — 3 parcours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1280160"/>
            <a:ext cx="50292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1280160"/>
            <a:ext cx="502920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0" y="1280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— Fournisseur Local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4 t/h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N°336/26 du 29/07/2026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23591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6 t/h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359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N°315/26 (configuration alternative)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27980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27980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Chaudière vapeur tubes de fumée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32369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32369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4 000 kg/h (offre 336/26)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Brûleur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04672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ECOFLAM BLU 4000.1 PR (Propane)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Timbre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114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bars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4553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046720" y="45537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confirmer (normes locales)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0" y="49926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4992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Fournisseur local — à vérifier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54315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046720" y="54315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communiqué dans les documents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47" name="Text 4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SPÉCIFICATIONS TECHNIQUES — CHAUDIÈRE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2286000" cy="384048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18872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Paramètre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17520" y="1188720"/>
            <a:ext cx="2560320" cy="384048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90672" y="118872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77840" y="1188720"/>
            <a:ext cx="2560320" cy="384048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50992" y="118872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138160" y="1188720"/>
            <a:ext cx="2926080" cy="384048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18872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1572768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157276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chaudière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017520" y="157276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90672" y="157276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CSB 4300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577840" y="157276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50992" y="157276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Tubes de fumée (marque N/C)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38160" y="1572768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11312" y="1572768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: marque premium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1956816"/>
            <a:ext cx="228600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195681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Capacité vapeur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017520" y="1956816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90672" y="1956816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4 000 kg/h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577840" y="1956816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50992" y="1956816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4 000 kg/h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0" y="1956816"/>
            <a:ext cx="292608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11312" y="1956816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Identique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1520" y="2340864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" y="2340864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Pression service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017520" y="2340864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090672" y="234086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77840" y="2340864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50992" y="234086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précisé (≤12 bars)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138160" y="2340864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11312" y="234086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plus explicite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1520" y="2724912"/>
            <a:ext cx="228600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2724912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Timbre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017520" y="2724912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090672" y="272491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bars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577840" y="2724912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50992" y="272491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38160" y="2724912"/>
            <a:ext cx="292608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211312" y="2724912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+1 bar de marge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31520" y="3108960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310896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Puissance thermique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017520" y="3108960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90672" y="310896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2 608 kW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77840" y="3108960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650992" y="310896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communiqué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138160" y="3108960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211312" y="310896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 manquante EGFI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31520" y="3493008"/>
            <a:ext cx="228600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04672" y="349300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Puissance brûleur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017520" y="3493008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090672" y="349300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2 746 kW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577840" y="3493008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650992" y="349300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communiqué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138160" y="3493008"/>
            <a:ext cx="292608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211312" y="3493008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 manquante EGFI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31520" y="3877056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04672" y="387705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(EN 12953)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17520" y="3877056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090672" y="3877056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577840" y="3877056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650992" y="3877056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garanti par écrit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138160" y="3877056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211312" y="3877056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Avantage Bosch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731520" y="4261104"/>
            <a:ext cx="228600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04672" y="4261104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Combustible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3017520" y="4261104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090672" y="42611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 / Propane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577840" y="4261104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650992" y="42611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Propane (ECOFLAM)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8138160" y="4261104"/>
            <a:ext cx="292608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211312" y="426110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Identique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31520" y="4645152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04672" y="4645152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Consommation gaz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017520" y="4645152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090672" y="464515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 m³/h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5577840" y="4645152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650992" y="464515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communiqué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8138160" y="4645152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211312" y="4645152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 manquante EGFI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731520" y="5029200"/>
            <a:ext cx="228600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04672" y="50292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Temp. eau alimentation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3017520" y="5029200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090672" y="502920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103°C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5577840" y="5029200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5650992" y="5029200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précisé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8138160" y="5029200"/>
            <a:ext cx="292608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8211312" y="502920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Bosch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731520" y="5413248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04672" y="541324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Temp. fumées (avec ECO)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017520" y="541324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3090672" y="541324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132°C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5577840" y="541324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650992" y="5413248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précisé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8138160" y="5413248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11312" y="5413248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documenté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31520" y="5797296"/>
            <a:ext cx="228600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04672" y="5797296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Poids en service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3017520" y="5797296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090672" y="5797296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12 139 kg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5577840" y="5797296"/>
            <a:ext cx="256032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5650992" y="5797296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communiqué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138160" y="5797296"/>
            <a:ext cx="2926080" cy="384048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211312" y="5797296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 manquante EGFI</a:t>
            </a:r>
            <a:endParaRPr lang="en-US" sz="850" dirty="0"/>
          </a:p>
        </p:txBody>
      </p:sp>
      <p:sp>
        <p:nvSpPr>
          <p:cNvPr id="108" name="Text 10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ÉQUIPEMENTS AUXILIAIRES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011680" cy="59436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18872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68880" y="1188720"/>
            <a:ext cx="2743200" cy="59436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2032" y="118872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212080" y="1188720"/>
            <a:ext cx="2560320" cy="59436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85232" y="118872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0" y="1188720"/>
            <a:ext cx="2926080" cy="59436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45552" y="1188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783080"/>
            <a:ext cx="2011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178308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Économiseur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68880" y="178308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42032" y="178308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ECO1 intégré, 166 kW, ~5%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 eau + fumées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212080" y="17830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85232" y="178308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Économiseur inclus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4-5%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772400" y="1783080"/>
            <a:ext cx="2926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45552" y="178308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: puissance chiffrée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377440"/>
            <a:ext cx="20116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237744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Barillet vapeur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68880" y="2377440"/>
            <a:ext cx="274320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42032" y="237744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 — 6 000 kg/h, DN273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Longueur 3 010 mm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212080" y="2377440"/>
            <a:ext cx="256032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85232" y="237744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détaillé dans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l'email de clarification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772400" y="2377440"/>
            <a:ext cx="29260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45552" y="237744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 EGFI manquante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7200" y="2971800"/>
            <a:ext cx="2011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29718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Pompe alimentaire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468880" y="297180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42032" y="297180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PM — variateur vitesse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pompe (2ème en option)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212080" y="297180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85232" y="297180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pompes par chaudière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service + 1 secours)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772400" y="2971800"/>
            <a:ext cx="2926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845552" y="297180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inclut 2 pompes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base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3566160"/>
            <a:ext cx="20116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0352" y="356616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Débitmètre vapeur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468880" y="3566160"/>
            <a:ext cx="274320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542032" y="356616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option (54 242 MAD)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212080" y="3566160"/>
            <a:ext cx="256032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285232" y="356616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 dans l'offre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772400" y="3566160"/>
            <a:ext cx="29260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845552" y="356616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: inclus de base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4160520"/>
            <a:ext cx="2011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30352" y="416052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Débitmètre eau alim.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468880" y="416052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42032" y="416052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option (40 501 MAD)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212080" y="416052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285232" y="416052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détaillé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772400" y="4160520"/>
            <a:ext cx="2926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45552" y="41605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en option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57200" y="4754880"/>
            <a:ext cx="20116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30352" y="475488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Clapet anti-retour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4754880"/>
            <a:ext cx="274320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542032" y="475488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mentionné dans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l'offre standard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212080" y="4754880"/>
            <a:ext cx="256032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285232" y="475488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Chiffré séparément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(hors standard)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772400" y="4754880"/>
            <a:ext cx="29260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845552" y="475488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chiffrer dans 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57200" y="5349240"/>
            <a:ext cx="2011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30352" y="534924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gaz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468880" y="534924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542032" y="534924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option (51 552 MAD)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212080" y="534924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285232" y="534924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mentionné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772400" y="5349240"/>
            <a:ext cx="2926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45552" y="534924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: option chiffrée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20116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30352" y="59436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Régulation gaz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468880" y="5943600"/>
            <a:ext cx="274320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542032" y="5943600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GRM en option (17 469 MAD)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212080" y="5943600"/>
            <a:ext cx="256032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285232" y="5943600"/>
            <a:ext cx="24140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détaillé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772400" y="5943600"/>
            <a:ext cx="2926080" cy="59436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45552" y="594360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: option chiffrée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77" name="Text 7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TRAITEMENT D'EAU &amp; BÂCHE ALIMENTAIRE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303520" cy="411480"/>
          </a:xfrm>
          <a:prstGeom prst="rect">
            <a:avLst/>
          </a:prstGeom>
          <a:solidFill>
            <a:srgbClr val="2B5F9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188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Adoucisseur WTM-DQ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agrégat — échange ionique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951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Capacité : 6 m³/h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5328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Dureté eau brute : 10°d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7706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: 309 074 MAD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455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Bâche alimentaire WSM-V 5.0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4655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: 3 000 litres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03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Dégazeur à pulvérisation — 103°C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9410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Puissance dégazage : 5 548 kg/h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78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Dimensionnée pour 6 000 kg/h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165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: 468 976 MAD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914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Osmose inverse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1114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incluse dans l'offre Bosch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3492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exige fonctionnement low-salt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5869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 à installer en aval de l'adoucisseur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8247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chiffrer séparément par le client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118872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4F6F8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188720"/>
            <a:ext cx="530352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1188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Adoucisseur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2057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détaillé dans clarifications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22951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Probablement inclus dans l'offre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25328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Spécifications non fournies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29077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Bâche alimentaire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32278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Capacité : 8 000 litres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34655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(erreur de frappe corrigée : c'est bien 8 000 L)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675120" y="3703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Spécifications techniques non détaillées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40782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Osmose inverse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75120" y="43982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INCLUSE dans l'offre EGFI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46360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Capacité : 6 m³/h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48737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unité pour les 2 configurations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6675120" y="51114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Dimensionnement basé sur hypothèses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675120" y="53492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demande données réelles client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675120" y="55869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dimensionnement définitif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00400" y="576072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E8913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00400" y="57607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inclut l'osmose inverse — Bosch l'exige mais ne la fournit pas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CONTRÔLE, SUPERVISION &amp; BRÛLEUR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286000" cy="41148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188720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Paramètre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0" y="1188720"/>
            <a:ext cx="4114800" cy="41148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16352" y="11887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0" y="1188720"/>
            <a:ext cx="4114800" cy="411480"/>
          </a:xfrm>
          <a:prstGeom prst="rect">
            <a:avLst/>
          </a:prstGeom>
          <a:solidFill>
            <a:srgbClr val="1B2A4A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31152" y="11887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64208"/>
            <a:ext cx="2286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" y="1664208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Brûleur marque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0" y="1664208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6352" y="1664208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(intégré)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0" y="1664208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31152" y="1664208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ECOFLAM BLU 4000.1 PR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139696"/>
            <a:ext cx="22860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2139696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Régulation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0" y="2139696"/>
            <a:ext cx="41148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16352" y="2139696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Modulante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0" y="2139696"/>
            <a:ext cx="41148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31152" y="2139696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Modulante (présumé)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2615184"/>
            <a:ext cx="2286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0352" y="2615184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combustion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0" y="2615184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816352" y="2615184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BCO intégré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858000" y="2615184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31152" y="2615184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précisé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3090672"/>
            <a:ext cx="22860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3090672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0" y="3090672"/>
            <a:ext cx="41148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816352" y="3090672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Siemens PLC 1500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858000" y="3090672"/>
            <a:ext cx="41148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31152" y="3090672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par chaudière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3566160"/>
            <a:ext cx="2286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" y="3566160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Écran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0" y="3566160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816352" y="3566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Tactile 9"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858000" y="3566160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31152" y="3566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précisé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4041648"/>
            <a:ext cx="2286000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0352" y="4041648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0" y="4041648"/>
            <a:ext cx="4114800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816352" y="4041648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Monitoring Basic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Connexion réseau client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Ethernet S7 TCP/IP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858000" y="4041648"/>
            <a:ext cx="4114800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31152" y="4041648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+ logiciel commun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aux 2 chaudières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(mutualisé)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4818888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0352" y="4818888"/>
            <a:ext cx="2139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Enregistrement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0" y="4818888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16352" y="4818888"/>
            <a:ext cx="396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 d'erreur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Courbes production/conso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858000" y="4818888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31152" y="4818888"/>
            <a:ext cx="3968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détaillé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57200" y="5413248"/>
            <a:ext cx="22860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30352" y="5413248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0" y="5413248"/>
            <a:ext cx="41148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816352" y="5413248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Ethernet S7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858000" y="5413248"/>
            <a:ext cx="4114800" cy="411480"/>
          </a:xfrm>
          <a:prstGeom prst="rect">
            <a:avLst/>
          </a:prstGeom>
          <a:solidFill>
            <a:srgbClr val="F4F6F8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931152" y="5413248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détaillé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57200" y="5888736"/>
            <a:ext cx="2286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30352" y="5888736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Armoire commande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743200" y="5888736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816352" y="5888736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92 350 MAD (incluse)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858000" y="5888736"/>
            <a:ext cx="4114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931152" y="5888736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Incluse (prix N/C)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COMPARATIF FINANCIER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6858000" cy="5303520"/>
          </a:xfrm>
          <a:prstGeom prst="roundRect">
            <a:avLst>
              <a:gd name="adj" fmla="val 1379"/>
            </a:avLst>
          </a:prstGeom>
          <a:solidFill>
            <a:srgbClr val="F4F6F8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6858000" cy="411480"/>
          </a:xfrm>
          <a:prstGeom prst="rect">
            <a:avLst/>
          </a:prstGeom>
          <a:solidFill>
            <a:srgbClr val="2B5F9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18872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— Décomposition de Prix (MAD HT)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64922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3736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Chaudière + équipements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37360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905 443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075688"/>
            <a:ext cx="6492240" cy="338328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07568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Armoire de commande (Siemens PLC)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756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92 350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414016"/>
            <a:ext cx="64922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41401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Brûleur gaz + manager combustion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414016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269 323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2752344"/>
            <a:ext cx="6492240" cy="338328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75234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Économiseur ECO1 (bypass eau+fumées)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752344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191 079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3090672"/>
            <a:ext cx="64922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09067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pompe alimentaire (variateur)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090672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75 185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6492240" cy="338328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342900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Bâche alimentaire WSM-V (dégazage)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3429000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468 976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3767328"/>
            <a:ext cx="64922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376732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Adoucisseur WTM-DQ (6 m³/h)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767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309 074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" y="4105656"/>
            <a:ext cx="6492240" cy="338328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10565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Barillet vapeur SD (6 000 kg/h)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4105656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138 570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4443984"/>
            <a:ext cx="64922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0" y="444398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rendu usine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443984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250 000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0080" y="4782312"/>
            <a:ext cx="6492240" cy="338328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478231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 (supervision installation + MES)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303520" y="4782312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70 918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40080" y="5120640"/>
            <a:ext cx="64922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31520" y="512064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(hors grue/GC)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303520" y="5120640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630 000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0080" y="5550408"/>
            <a:ext cx="649224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31520" y="5550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SANS OPTIONS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937760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3 400 918 MAD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731520" y="60076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(régulation gaz, compteur, 2ème pompe,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débitmètres vapeur + eau)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937760" y="6007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+ 245 010 MAD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080" y="6464808"/>
            <a:ext cx="6492240" cy="3657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31520" y="6464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TOUTES OPTIONS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937760" y="6464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3 645 927 MAD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72400" y="1188720"/>
            <a:ext cx="3931920" cy="5303520"/>
          </a:xfrm>
          <a:prstGeom prst="roundRect">
            <a:avLst>
              <a:gd name="adj" fmla="val 186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772400" y="1188720"/>
            <a:ext cx="393192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95528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— Tarification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046720" y="20116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dash"/>
          </a:ln>
        </p:spPr>
      </p:sp>
      <p:sp>
        <p:nvSpPr>
          <p:cNvPr id="52" name="Text 50"/>
          <p:cNvSpPr txBox="1"/>
          <p:nvPr/>
        </p:nvSpPr>
        <p:spPr>
          <a:xfrm>
            <a:off x="8046720" y="20116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NON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COMMUNIQUÉ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4672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offres EGFI N°315/26 et N°336/26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figurent pas dans le dossier.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Seules les clarifications techniques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sont disponibles.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046720" y="3840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comparer les prix,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nécessaire d'obtenir :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Bordereau de prix détaillé EGFI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229600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Offre N°336/26 (4 t/h) complète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8229600" y="4937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Offre N°315/26 (6 t/h) complète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8229600" y="5212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Conditions de paiement EGFI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229600" y="5486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Délai de livraison EGFI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8046720" y="5943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5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Bosch : 17 semaines ex-works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62" name="Text 60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D'ATTENTION &amp; ÉCARTS CLÉS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64008" cy="777240"/>
          </a:xfrm>
          <a:prstGeom prst="roundRect">
            <a:avLst>
              <a:gd name="adj" fmla="val 42857"/>
            </a:avLst>
          </a:prstGeom>
          <a:solidFill>
            <a:srgbClr val="C039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2344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Osmose Inverse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4813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exige un fonctionnement low-salt mais NE FOURNIT PAS l'unité d'osmose inverse. Le client doit la sourcer et l'installer séparément. EGFI inclut une unité de 6 m³/h dans son offre. Écart potentiel significatif à chiffrer.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057400"/>
            <a:ext cx="64008" cy="777240"/>
          </a:xfrm>
          <a:prstGeom prst="roundRect">
            <a:avLst>
              <a:gd name="adj" fmla="val 42857"/>
            </a:avLst>
          </a:prstGeom>
          <a:solidFill>
            <a:srgbClr val="E891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&amp; Efficacité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35000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garantit 95% (EN 12953, méthode indirecte) avec économiseur ECO1 intégré (166 kW). EGFI annonce un gain de 4-5% via économiseur mais ne chiffre pas le rendement global ni la puissance récupérée.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926080"/>
            <a:ext cx="64008" cy="777240"/>
          </a:xfrm>
          <a:prstGeom prst="roundRect">
            <a:avLst>
              <a:gd name="adj" fmla="val 42857"/>
            </a:avLst>
          </a:prstGeom>
          <a:solidFill>
            <a:srgbClr val="E891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29718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Brûleur : Intégré vs Tiers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2186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utilise son propre brûleur avec manager de combustion BCO intégré. EGFI propose un brûleur ECOFLAM BLU 4000.1 PR (tiers). Implications SAV : un seul interlocuteur chez Bosch vs deux fournisseurs chez EGFI.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94760"/>
            <a:ext cx="64008" cy="777240"/>
          </a:xfrm>
          <a:prstGeom prst="roundRect">
            <a:avLst>
              <a:gd name="adj" fmla="val 42857"/>
            </a:avLst>
          </a:prstGeom>
          <a:solidFill>
            <a:srgbClr val="E891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38404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Pompe alimentaire : 1 vs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0873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EGFI inclut 2 pompes (service + secours) de base. Bosch n'en inclut qu'une — la 2ème est en option à 81 244 MAD. Pour une comparaison équitable, ajouter cette option au prix Bosch.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" y="466344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663440"/>
            <a:ext cx="64008" cy="777240"/>
          </a:xfrm>
          <a:prstGeom prst="roundRect">
            <a:avLst>
              <a:gd name="adj" fmla="val 42857"/>
            </a:avLst>
          </a:prstGeom>
          <a:solidFill>
            <a:srgbClr val="E8913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7091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Timbre : 13 bars vs 12 bars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56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timbre à 13 bars (service 10 bars) — marge de sécurité plus importante. EGFI timbre à 12 bars. Pas bloquant pour le process PET Factory mais Bosch offre plus de flexibilité.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1520" y="553212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31520" y="5532120"/>
            <a:ext cx="64008" cy="777240"/>
          </a:xfrm>
          <a:prstGeom prst="roundRect">
            <a:avLst>
              <a:gd name="adj" fmla="val 42857"/>
            </a:avLst>
          </a:prstGeom>
          <a:solidFill>
            <a:srgbClr val="E891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5840" y="55778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5577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Incohérences EGFI à résoudre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5824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Plusieurs erreurs de rédaction identifiées dans les offres EGFI (désignation FO2 vs propane, quantités Q=2 vs Q=1, unité eau alimentation). EGFI s'engage à fournir des versions corrigées. Documents révisés attendus.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 &amp; RECOMMANDATION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24355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AVANTAGES BOSCH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37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Offre complète et détaillée (41 pages)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933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Rendement 95% garanti (EN 12953)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494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Brûleur intégré — interlocuteur unique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054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Siemens PLC + écran tactile 9"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614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Condition Monitoring + Ethernet S7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175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Présence locale Casablanca (SAV)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2735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Certification CE européenne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5295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Timbre 13 bars (marge +1 bar)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24355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0" y="1280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AVANTAGES EGFI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737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Osmose inverse incluse (6 m³/h)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9933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2 pompes alimentaires de base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2494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Débitmètre vapeur inclus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5054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Potentiellement moins cher (à confirmer)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7614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Brûleur ECOFLAM — pièces disponibles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0175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Offre 6 t/h alternative (N°315/26)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11155680" cy="2011680"/>
          </a:xfrm>
          <a:prstGeom prst="roundRect">
            <a:avLst>
              <a:gd name="adj" fmla="val 4545"/>
            </a:avLst>
          </a:prstGeom>
          <a:solidFill>
            <a:srgbClr val="1E3350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RECOMMANDATION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comparaison financière est incomplète : les offres EGFI N°315/26 et N°336/26 avec leurs bordereaux de prix ne figurent pas dans le dossier. Seules les clarifications techniques sont disponibles.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requises avant décision 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Obtenir les offres EGFI complètes avec prix détaillés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Chiffrer l'osmose inverse à ajouter côté Bosch (le prix Bosch ne sera comparable qu'avec ce poste ajouté)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Comparer à périmètre identique : Bosch + 2ème pompe + RO  vs  EGFI tout inclus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Vérifier les garanties de rendement EGFI, la certification CE et les délais de livraison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FACTORY MAROC  ·  COMPARATIF BOSCH vs EGFI  ·  CONFIDENTIEL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Comparatif Bosch vs EGFI — Chaudière 4 t/h</dc:title>
  <dc:subject>PptxGenJS Presentation</dc:subject>
  <dc:creator>PET Factory Maroc</dc:creator>
  <cp:lastModifiedBy>PET Factory Maroc</cp:lastModifiedBy>
  <cp:revision>1</cp:revision>
  <dcterms:created xsi:type="dcterms:W3CDTF">2026-09-30T17:37:59Z</dcterms:created>
  <dcterms:modified xsi:type="dcterms:W3CDTF">2026-09-30T17:37:59Z</dcterms:modified>
</cp:coreProperties>
</file>