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titre Rev. 2. Cette version corrige les distances réglementaires selon l'Article 97 du Règlement Général GPL. La Rev. 1 utilisait des distances génériques non classées par capacité.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de consommation inchangés par rapport à la Rev. 1. L'autonomie recommandée reste 14-21 jours.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Proposition initiale rejetée (inchangé). Note ajoutée en Rev. 2 sur l'invalidation des options aériennes &gt;24 000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clé de la Rev. 2. L'Article 97 classe les distances par capacité. Seule la tranche 12 000-24 000 L (7,5 m) est compatible avec le lot de 101 × 108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Comparaison des trois propositions fournisseurs. Seule AFRIQUIAGAZ 22 m³ est conforme à l'Article 97.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Analyse article par article. L'AFRIQUIAGAZ 22 m³ est la seule option qui passe tous les articles.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Réévaluation des options aériennes. Toutes les options &gt;24 000 L sont NON CONFORMES sur ce lot. Le compromis d'autonomie est atténué par des livraisons fréquentes.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Recommandation révisée : AFRIQUIAGAZ 22 m³. Seule option conforme aux articles 97-103 sur ce 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Comparaison financière révisée. L'AFRIQUIAGAZ 22 m³ est encore moins cher que l'Option G grâce à une seule citerne.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Détails fournisseur AFRIQUIAGAZ. Trois documents reçus dont le plan CONFORME et la réglementation.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actions concrètes. Priorité : confirmer commande AFRIQUIAGAZ et clarifier la possibilité d'une 2e citerne.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Rev. 2. Quatre messages clés : invalidation Art. 97, AFRIQUIAGAZ seule conforme, mitigation autonomie, économie 655 000 MAD.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Options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Stockage GPL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Rev. 2 — Corrigée selon Règlement Général GPL (Art. 97–103)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Sidi Bouathmane, Benguerir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97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— Confidentiel — Direction Générale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réglementaire : AFRIQUIAGAZ Réf. 02 — Extrait du Règlement Général sur les GPL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GPL Calculée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vapeur 2,45 t/h — Chaudière gaz à condensation (rendement 93%)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kg/h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060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pointe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20440" y="14630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20440" y="1600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1 710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2402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kg/jour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6060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4630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09360" y="1600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2402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tonnes/mois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6060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Approvisionnement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14630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098280" y="1600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098280" y="22402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tonnes/an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26060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annuelle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566160"/>
            <a:ext cx="10698480" cy="502920"/>
          </a:xfrm>
          <a:prstGeom prst="roundRect">
            <a:avLst>
              <a:gd name="adj" fmla="val 14545"/>
            </a:avLst>
          </a:prstGeom>
          <a:solidFill>
            <a:srgbClr val="D6EA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61188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annuel estimé : ~3 850 000 MAD/an (prix vrac ~7,5 MAD/kg) — Densité propane : 0,51 kg/L — Remplissage max. 85%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297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 de Stockage Recommandée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31520" y="47548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4754880"/>
            <a:ext cx="251460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892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349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d'urgence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7607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11 835 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520440" y="47548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520440" y="4754880"/>
            <a:ext cx="2514600" cy="54864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20440" y="4892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j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5349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recommandé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57607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27 612 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7548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09360" y="4754880"/>
            <a:ext cx="2514600" cy="5486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9360" y="4892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j</a:t>
            </a:r>
            <a:endParaRPr lang="en-US" sz="28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5349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Confortable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57607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55 224 L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098280" y="475488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098280" y="4754880"/>
            <a:ext cx="2514600" cy="5486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98280" y="4892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j</a:t>
            </a:r>
            <a:endParaRPr lang="en-US" sz="2800" dirty="0"/>
          </a:p>
        </p:txBody>
      </p:sp>
      <p:sp>
        <p:nvSpPr>
          <p:cNvPr id="41" name="Text 39"/>
          <p:cNvSpPr txBox="1"/>
          <p:nvPr/>
        </p:nvSpPr>
        <p:spPr>
          <a:xfrm>
            <a:off x="9098280" y="5349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098280" y="57607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82 835 L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du Fournisseur Initial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citernes enterrées de 5 000 L = 30 000 L bruts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FADBD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7,6 jours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d'autonomie seulement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(14 jours minimum recommandés)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~1 005 000 MAD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sur 5 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03520" y="1554480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77840" y="1508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excavations + 6 radiers béton = coût maximum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03520" y="1920240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77840" y="1874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systèmes de protection cathodique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03520" y="2286000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77840" y="2240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Collecteur 6 branches = complexité maximum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03520" y="2651760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77840" y="2606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inspections périodiques à gérer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303520" y="3017520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2971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Remplissage séquentiel lent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03520" y="3383280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577840" y="3337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inspection visuelle possible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02336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06908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: NON RECOMMANDÉ — Coût le plus élevé, complexité maximale, autonomie insuffisante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1520" y="4846320"/>
            <a:ext cx="106984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" y="49377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Rev. 2 : Les options aériennes alternatives (Options E, F, G)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25780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Rev. 1 recommandait l'Option G (2 × 30 000 L aériennes). L'analyse du Règlement Général GPL (Art. 97) révèle que les distances de sécurité sont classées par capacité. Toute installation &gt;24 000 L (&gt;10 tonnes) requiert des distances de 10 m+ qui ne sont pas compatibles avec ce lot (101 × 108 m). Seule une citerne ≤24 000 L respecte les distances de 7,5 m. Voir slides suivantes.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320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ERRATUM Rev. 2 : Distances Réglementaires Corrigées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AFRIQUIAGAZ Réf. 02 — Extrait du Règlement Général sur les GPL — Article 97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97 — Les distances de sécurité dépendent de la CAPACITÉ de stockage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965960"/>
            <a:ext cx="228600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965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totale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017520" y="1965960"/>
            <a:ext cx="201168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1752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≤3 200 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(&lt;1,4 t)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0" y="1965960"/>
            <a:ext cx="201168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3 200–12 000 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(1,4–5,2 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40880" y="1965960"/>
            <a:ext cx="201168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4088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12 000–24 000 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(5,2–10,4 t)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52560" y="1965960"/>
            <a:ext cx="237744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52560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&gt;24 000 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(&gt;10,4 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2441448"/>
            <a:ext cx="2286000" cy="457200"/>
          </a:xfrm>
          <a:prstGeom prst="rect">
            <a:avLst/>
          </a:prstGeom>
          <a:solidFill>
            <a:srgbClr val="E9ECE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4414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bâtiments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17520" y="2441448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17520" y="24414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2441448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0" y="24414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40880" y="2441448"/>
            <a:ext cx="201168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40880" y="24414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052560" y="2441448"/>
            <a:ext cx="237744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0" y="24414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" y="2916936"/>
            <a:ext cx="2286000" cy="457200"/>
          </a:xfrm>
          <a:prstGeom prst="rect">
            <a:avLst/>
          </a:prstGeom>
          <a:solidFill>
            <a:srgbClr val="E9ECE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29169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limite propriété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7520" y="2916936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29169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0" y="2916936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0" y="29169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040880" y="2916936"/>
            <a:ext cx="201168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0" y="29169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52560" y="2916936"/>
            <a:ext cx="237744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525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31520" y="3392424"/>
            <a:ext cx="2286000" cy="457200"/>
          </a:xfrm>
          <a:prstGeom prst="rect">
            <a:avLst/>
          </a:prstGeom>
          <a:solidFill>
            <a:srgbClr val="E9ECE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33924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matières inflam.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17520" y="3392424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017520" y="3392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029200" y="3392424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0" y="3392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040880" y="3392424"/>
            <a:ext cx="201168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040880" y="3392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052560" y="3392424"/>
            <a:ext cx="237744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052560" y="33924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1520" y="3867912"/>
            <a:ext cx="2286000" cy="457200"/>
          </a:xfrm>
          <a:prstGeom prst="rect">
            <a:avLst/>
          </a:prstGeom>
          <a:solidFill>
            <a:srgbClr val="E9ECE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" y="38679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camion livraison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017520" y="3867912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017520" y="38679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029200" y="3867912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029200" y="38679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040880" y="3867912"/>
            <a:ext cx="201168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040880" y="38679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9052560" y="3867912"/>
            <a:ext cx="237744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052560" y="38679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m+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31520" y="4343400"/>
            <a:ext cx="2286000" cy="457200"/>
          </a:xfrm>
          <a:prstGeom prst="rect">
            <a:avLst/>
          </a:prstGeom>
          <a:solidFill>
            <a:srgbClr val="E9ECE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1520" y="4343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établ. publics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017520" y="434340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017520" y="4343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5029200" y="434340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029200" y="4343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7040880" y="4343400"/>
            <a:ext cx="201168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040880" y="4343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9052560" y="4343400"/>
            <a:ext cx="237744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052560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m+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31520" y="493776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D5F5E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9144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AFRIQUIAGAZ 22 m³ = 22 000 L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914400" y="5349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~9,5 tonnes → catégorie 5–10 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: 7,5 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disponible : &gt;15 m dans toutes directions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023360" y="5029200"/>
            <a:ext cx="1645920" cy="320040"/>
          </a:xfrm>
          <a:prstGeom prst="roundRect">
            <a:avLst>
              <a:gd name="adj" fmla="val 11429"/>
            </a:avLst>
          </a:prstGeom>
          <a:solidFill>
            <a:srgbClr val="1E844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126480" y="493776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FADBD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309360" y="5029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Vetogas 50 m³ / Option G (60 000 L)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6309360" y="53492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 tonnes → catégorie &gt;10 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: 10 m+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insuffisant : 10 m empiète sur limites B39-B40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9418320" y="5029200"/>
            <a:ext cx="1828800" cy="320040"/>
          </a:xfrm>
          <a:prstGeom prst="roundRect">
            <a:avLst>
              <a:gd name="adj" fmla="val 11429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CONFORME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Propositions Comparées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selon le Règlement Général GPL — Articles 97 à 103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566160" cy="640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554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Vetogas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50 m³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23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50 000 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34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(85%)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834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~21,7 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 régl.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 tonnes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57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requise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3657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69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4069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12,7 jours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CONFORME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0292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10 m empiètent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limites de propriété.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Extincteur 9 kg &lt; 10 kg min.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97680" y="137160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97680" y="1371600"/>
            <a:ext cx="3566160" cy="6400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97680" y="1554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AFRIQUIAGAZ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29768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22 m³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80560" y="2423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22 000 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480560" y="2834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(85%)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2834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~9,5 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80560" y="3246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 régl.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tonnes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3657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requise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0" y="3657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480560" y="4069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0" y="4069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 jours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0" y="45262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1E844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0" y="50292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7,5 m respectées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&gt;15 m disponibles.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103 : extincteur 10 kg.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138160" y="137160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138160" y="1371600"/>
            <a:ext cx="3566160" cy="640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138160" y="1554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G (Rev. 1)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1381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30 000 L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8321040" y="2423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60 000 L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2834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(85%)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784080" y="2834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~26 t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8321040" y="3246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 régl.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78408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 tonnes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321040" y="3657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requise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784080" y="3657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321040" y="4069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9784080" y="4069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15,2 jours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412480" y="45262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41248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CONFORME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12480" y="50292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problème que Vetogas 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10 m+ ne rentrent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dans le lot.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Article par Article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 Général sur les GPL — Articles 97 à 103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37160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28800" y="1371600"/>
            <a:ext cx="347472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28800" y="1371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371600"/>
            <a:ext cx="201168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Vetogas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m³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0" y="1371600"/>
            <a:ext cx="201168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AFRIQUIAGAZ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m³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326880" y="1371600"/>
            <a:ext cx="182880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0" y="13716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2×30k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874520"/>
            <a:ext cx="1371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18745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97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28800" y="1874520"/>
            <a:ext cx="34747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1874520"/>
            <a:ext cx="347472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bâtiments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3520" y="1874520"/>
            <a:ext cx="20116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18745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 — serré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0" y="1874520"/>
            <a:ext cx="2011680" cy="530352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18745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 — OK (&gt;15 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326880" y="1874520"/>
            <a:ext cx="1828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0" y="1874520"/>
            <a:ext cx="18288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 — serré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423160"/>
            <a:ext cx="1371600" cy="530352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423160"/>
            <a:ext cx="13716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97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828800" y="2423160"/>
            <a:ext cx="3474720" cy="530352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828800" y="2423160"/>
            <a:ext cx="347472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limite propriété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03520" y="2423160"/>
            <a:ext cx="2011680" cy="530352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03520" y="24231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 — empiète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0" y="2423160"/>
            <a:ext cx="2011680" cy="530352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0" y="24231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 — OK (&gt;15 m)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326880" y="2423160"/>
            <a:ext cx="1828800" cy="530352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326880" y="2423160"/>
            <a:ext cx="18288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 — empiète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2971800"/>
            <a:ext cx="1371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971800"/>
            <a:ext cx="13716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97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828800" y="2971800"/>
            <a:ext cx="34747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828800" y="2971800"/>
            <a:ext cx="347472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matières inflam.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03520" y="2971800"/>
            <a:ext cx="20116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29718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 — marginal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315200" y="2971800"/>
            <a:ext cx="2011680" cy="530352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315200" y="29718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 — OK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326880" y="2971800"/>
            <a:ext cx="1828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326880" y="2971800"/>
            <a:ext cx="18288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 — marginal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3520440"/>
            <a:ext cx="1371600" cy="530352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7200" y="3520440"/>
            <a:ext cx="13716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99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828800" y="3520440"/>
            <a:ext cx="3474720" cy="530352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828800" y="3520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camion (marche avant)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303520" y="3520440"/>
            <a:ext cx="2011680" cy="530352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303520" y="35204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315200" y="3520440"/>
            <a:ext cx="2011680" cy="530352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315200" y="35204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ample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326880" y="3520440"/>
            <a:ext cx="1828800" cy="530352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326880" y="3520440"/>
            <a:ext cx="18288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7200" y="4069080"/>
            <a:ext cx="1371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57200" y="40690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101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828800" y="4069080"/>
            <a:ext cx="34747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828800" y="4069080"/>
            <a:ext cx="347472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Électrique &lt;7,5 m de sûreté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303520" y="4069080"/>
            <a:ext cx="2011680" cy="530352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303520" y="406908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transfo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zone 10 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315200" y="4069080"/>
            <a:ext cx="2011680" cy="530352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15200" y="406908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transfo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zone 7,5 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9326880" y="4069080"/>
            <a:ext cx="1828800" cy="530352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326880" y="40690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transfo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zone 10 m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57200" y="4617720"/>
            <a:ext cx="1371600" cy="530352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57200" y="46177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102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1828800" y="4617720"/>
            <a:ext cx="3474720" cy="530352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828800" y="4617720"/>
            <a:ext cx="347472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Plein air, accessible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303520" y="4617720"/>
            <a:ext cx="2011680" cy="530352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303520" y="46177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315200" y="4617720"/>
            <a:ext cx="2011680" cy="530352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15200" y="46177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9326880" y="4617720"/>
            <a:ext cx="1828800" cy="530352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9326880" y="4617720"/>
            <a:ext cx="18288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57200" y="5166360"/>
            <a:ext cx="1371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457200" y="5166360"/>
            <a:ext cx="13716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103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1828800" y="5166360"/>
            <a:ext cx="34747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828800" y="5166360"/>
            <a:ext cx="347472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Extincteur ≥10 kg + RIA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303520" y="5166360"/>
            <a:ext cx="2011680" cy="530352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303520" y="5166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kg = NON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315200" y="5166360"/>
            <a:ext cx="2011680" cy="530352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315200" y="5166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kg + RIA = OK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9326880" y="5166360"/>
            <a:ext cx="1828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326880" y="5166360"/>
            <a:ext cx="182880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spécifié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57200" y="5806440"/>
            <a:ext cx="10698480" cy="502920"/>
          </a:xfrm>
          <a:prstGeom prst="roundRect">
            <a:avLst>
              <a:gd name="adj" fmla="val 10909"/>
            </a:avLst>
          </a:prstGeom>
          <a:solidFill>
            <a:srgbClr val="1E8449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40080" y="58064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 la citerne AFRIQUIAGAZ 22 m³ respecte TOUS les articles du Règlement Général GPL sur ce lot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Aériennes Réévaluées (Rev. 2)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des distances réglementaires par capacité (Art. 97) au lot PNV de 101 × 108 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274320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188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74720" y="1188720"/>
            <a:ext cx="146304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188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0" y="1188720"/>
            <a:ext cx="128016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188720"/>
            <a:ext cx="137160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188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89520" y="1188720"/>
            <a:ext cx="155448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Tient dans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lot 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0" y="1188720"/>
            <a:ext cx="1280160" cy="45720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0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Rev. 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1645920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2 × 25 000 L aériennes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74720" y="1645920"/>
            <a:ext cx="1463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50 000 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1645920"/>
            <a:ext cx="1280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16459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12,7 j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64592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589520" y="1645920"/>
            <a:ext cx="155448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0" y="1645920"/>
            <a:ext cx="128016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0" y="16459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2121408"/>
            <a:ext cx="2743200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21214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 Hybride (30k AG + 20k UG)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0" y="2121408"/>
            <a:ext cx="1463040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474720" y="21214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50 000 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37760" y="2121408"/>
            <a:ext cx="1280160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37760" y="21214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12,7 j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2121408"/>
            <a:ext cx="1371600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0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589520" y="2121408"/>
            <a:ext cx="155448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589520" y="212140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144000" y="2121408"/>
            <a:ext cx="128016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0" y="21214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1520" y="2596896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31520" y="25968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 2 × 30 000 L aériennes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4720" y="2596896"/>
            <a:ext cx="1463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474720" y="25968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60 000 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937760" y="2596896"/>
            <a:ext cx="1280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7760" y="259689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15,2 j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17920" y="2596896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0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m+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589520" y="2596896"/>
            <a:ext cx="155448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0" y="259689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144000" y="2596896"/>
            <a:ext cx="128016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144000" y="259689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31520" y="3072384"/>
            <a:ext cx="2743200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3152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Vetogas 1 × 50 000 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474720" y="3072384"/>
            <a:ext cx="1463040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474720" y="30723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50 000 L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937760" y="3072384"/>
            <a:ext cx="1280160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937760" y="307238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12,7 j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17920" y="3072384"/>
            <a:ext cx="1371600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217920" y="30723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589520" y="3072384"/>
            <a:ext cx="155448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58952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144000" y="3072384"/>
            <a:ext cx="1280160" cy="457200"/>
          </a:xfrm>
          <a:prstGeom prst="rect">
            <a:avLst/>
          </a:prstGeom>
          <a:solidFill>
            <a:srgbClr val="FADBD8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144000" y="307238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31520" y="3547872"/>
            <a:ext cx="274320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35478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AFRIQUIAGAZ 1 × 22 000 L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474720" y="3547872"/>
            <a:ext cx="146304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474720" y="35478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22 000 L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937760" y="3547872"/>
            <a:ext cx="128016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937760" y="35478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 j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217920" y="3547872"/>
            <a:ext cx="137160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35478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589520" y="3547872"/>
            <a:ext cx="155448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589520" y="35478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9144000" y="3547872"/>
            <a:ext cx="1280160" cy="457200"/>
          </a:xfrm>
          <a:prstGeom prst="rect">
            <a:avLst/>
          </a:prstGeom>
          <a:solidFill>
            <a:srgbClr val="D5F5E3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144000" y="35478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9/10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31520" y="4114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enterrées (A–D) : non affectées par cette correction — rejetées pour coût et complexité (voir Rev. 1)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1520" y="4572000"/>
            <a:ext cx="105156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6000"/>
              </a:srgbClr>
            </a:outerShdw>
          </a:effectLst>
        </p:spPr>
      </p:sp>
      <p:sp>
        <p:nvSpPr>
          <p:cNvPr id="78" name="Text 76"/>
          <p:cNvSpPr txBox="1"/>
          <p:nvPr/>
        </p:nvSpPr>
        <p:spPr>
          <a:xfrm>
            <a:off x="100584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compromis : autonomie réduite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1005840" y="5029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L'AFRIQUIAGAZ 22 m³ offre 5,6 jours d'autonomie au lieu de 15,2 jours (ancien Option G). C'est en dessous du minimum recommandé de 7 jours pour un site industriel. Mitigation :</a:t>
            </a:r>
            <a:endParaRPr lang="en-US" sz="1150" dirty="0"/>
          </a:p>
        </p:txBody>
      </p:sp>
      <p:sp>
        <p:nvSpPr>
          <p:cNvPr id="80" name="Text 78"/>
          <p:cNvSpPr txBox="1"/>
          <p:nvPr/>
        </p:nvSpPr>
        <p:spPr>
          <a:xfrm>
            <a:off x="1188720" y="548640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Livraisons régulières tous les 4 jours (AFRIQUIAGAZ basé à Casablanca, ~250 km)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1188720" y="576072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Seuil de commande automatique à 40% (8 800 L) = 2,6 jours de marge avant rupture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1188720" y="603504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Consulter AFRIQUIAGAZ sur l'ajout futur d'une 2e citerne 22 m³ (clarification réglementaire nécessaire)</a:t>
            </a:r>
            <a:endParaRPr lang="en-US" sz="1050" dirty="0"/>
          </a:p>
        </p:txBody>
      </p:sp>
      <p:sp>
        <p:nvSpPr>
          <p:cNvPr id="83" name="Text 81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Révisée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AFRIQUIAGAZ — 1 × 22 m³ (22 000 L) Aérienne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E2D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22 000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14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brute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E2D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89120" y="1645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514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5544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E2D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0" y="1645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m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2194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514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97 respecté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20040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2D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246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 option conforme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5478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97 : 12 000–24 000 L = 7,5 m de distances — le lot offre &gt;15 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411480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2D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160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validé AFRIQUIAGAZ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4622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01 : plan d'implantation certifié CONFORME, daté du 05-02-2026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502920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2D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074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complète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376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103 : extincteur 10 kg poudre + RIA + clôture grillagée Ø6mm H 2m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320040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2D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3246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rapide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5478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d'excavation, 1 dalle béton, 1 bac de rétention — mise en service 2-3 semaines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09360" y="411480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2D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4160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 local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4622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AFRIQUIAGAZ (Groupe AKWA) — 139 Bd Moulay Ismail, Casablanca — livraison Benguerir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09360" y="502920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2D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92240" y="5074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(à valider)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376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Possibilité d'ajouter une 2e citerne 22 m³ — clarification réglementaire nécessaire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Résumé Financier Révisé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320040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de Coût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931920" y="1097280"/>
            <a:ext cx="246888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31920" y="1097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(6×5k enterrées)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0" y="1097280"/>
            <a:ext cx="246888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097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AFRIQUIAGAZ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m³ (Révisée)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869680" y="1097280"/>
            <a:ext cx="2468880" cy="5029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0" y="1097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600200"/>
            <a:ext cx="3200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1600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Fourniture citerne(s)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31920" y="1600200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31920" y="16002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180 000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1600200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6002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~120 000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69680" y="1600200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0" y="16002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60 000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20" y="2002536"/>
            <a:ext cx="320040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2002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Excavation &amp; génie civil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931920" y="2002536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00253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200 000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2002536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00253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40 000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869680" y="2002536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69680" y="200253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160 000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" y="2404872"/>
            <a:ext cx="3200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24048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cathodique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931920" y="2404872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31920" y="2404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90 000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0" y="2404872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0" y="2404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869680" y="2404872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69680" y="2404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90 000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31520" y="2807208"/>
            <a:ext cx="320040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28072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Tuyauterie &amp; collecteur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931920" y="2807208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31920" y="28072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80 000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0" y="2807208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0800" y="28072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869680" y="2807208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869680" y="28072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55 000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31520" y="3209544"/>
            <a:ext cx="3200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31520" y="3209544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Équipements de sécurité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931920" y="3209544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31920" y="32095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50 000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00800" y="3209544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00800" y="32095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35 000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869680" y="3209544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869680" y="32095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15 000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31520" y="3611880"/>
            <a:ext cx="320040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31520" y="36118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 &amp; bac de rétention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931920" y="3611880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31920" y="36118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400800" y="3611880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400800" y="36118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8869680" y="3611880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869680" y="36118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(20 000)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31520" y="4014216"/>
            <a:ext cx="320040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31520" y="40142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INSTALLATION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931920" y="4014216"/>
            <a:ext cx="246888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31920" y="40142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600 000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6400800" y="4014216"/>
            <a:ext cx="246888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400800" y="40142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240 000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4014216"/>
            <a:ext cx="246888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869680" y="40142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360 000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31520" y="4416552"/>
            <a:ext cx="320040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31520" y="4416552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(5 ans)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3931920" y="4416552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31920" y="4416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225 000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400800" y="4416552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400800" y="4416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60 000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869680" y="4416552"/>
            <a:ext cx="2468880" cy="384048"/>
          </a:xfrm>
          <a:prstGeom prst="rect">
            <a:avLst/>
          </a:prstGeom>
          <a:solidFill>
            <a:srgbClr val="F8F9FA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869680" y="4416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165 000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731520" y="4818888"/>
            <a:ext cx="3200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31520" y="48188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Inspections (5 ans)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3931920" y="4818888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31920" y="48188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180 000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6400800" y="4818888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400800" y="48188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50 000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8869680" y="4818888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869680" y="48188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130 000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731520" y="5221224"/>
            <a:ext cx="320040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31520" y="52212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5 ANS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3931920" y="5221224"/>
            <a:ext cx="246888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31920" y="5221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1 005 000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6400800" y="5221224"/>
            <a:ext cx="246888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400800" y="5221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350 000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869680" y="5221224"/>
            <a:ext cx="2468880" cy="384048"/>
          </a:xfrm>
          <a:prstGeom prst="rect">
            <a:avLst/>
          </a:prstGeom>
          <a:solidFill>
            <a:srgbClr val="1E3A5F"/>
          </a:solidFill>
          <a:ln w="6350">
            <a:solidFill>
              <a:srgbClr val="DEE2E6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8869680" y="5221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655 000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3200400" y="5577840"/>
            <a:ext cx="5760720" cy="640080"/>
          </a:xfrm>
          <a:prstGeom prst="roundRect">
            <a:avLst>
              <a:gd name="adj" fmla="val 11429"/>
            </a:avLst>
          </a:prstGeom>
          <a:solidFill>
            <a:srgbClr val="1E8449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200400" y="557784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totale sur 5 ans : 655 000 MAD</a:t>
            </a:r>
            <a:endParaRPr lang="en-US" sz="2000" dirty="0"/>
          </a:p>
        </p:txBody>
      </p:sp>
      <p:sp>
        <p:nvSpPr>
          <p:cNvPr id="93" name="Text 91"/>
          <p:cNvSpPr txBox="1"/>
          <p:nvPr/>
        </p:nvSpPr>
        <p:spPr>
          <a:xfrm>
            <a:off x="731520" y="6263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en MAD. Estimations pour comparaison. Coûts de livraison plus fréquente (~5×/mois vs 2×/mois) compensés par économie d'installation.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 Retenu : AFRIQUIAGAZ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AKWA — Plus grand distributeur GPL marocain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1206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fournis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2011680"/>
            <a:ext cx="1097280" cy="822960"/>
          </a:xfrm>
          <a:prstGeom prst="roundRect">
            <a:avLst>
              <a:gd name="adj" fmla="val 6667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0116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0116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d'implantation citerne 22 000 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: 05-02-2026 — Dessiné par A. SALAMAT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: CONFORME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3017520"/>
            <a:ext cx="1097280" cy="822960"/>
          </a:xfrm>
          <a:prstGeom prst="roundRect">
            <a:avLst>
              <a:gd name="adj" fmla="val 6667"/>
            </a:avLst>
          </a:prstGeom>
          <a:solidFill>
            <a:srgbClr val="D6EA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0175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0175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Extrait du Règlement Général sur les GPL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97, 99, 101, 102, 103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réglementaire de l'analyse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05840" y="4023360"/>
            <a:ext cx="1097280" cy="822960"/>
          </a:xfrm>
          <a:prstGeom prst="roundRect">
            <a:avLst>
              <a:gd name="adj" fmla="val 6667"/>
            </a:avLst>
          </a:prstGeom>
          <a:solidFill>
            <a:srgbClr val="FADB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4023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NON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4023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d'implantation citerne 50 m³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(= Proposition Vetogas)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: NON CONFORME — rejeté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52120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08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922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Équipements de sécurité inclus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0" y="2057400"/>
            <a:ext cx="146304" cy="146304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0" y="2011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Citerne horizontale 22 000 L avec accessoires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83680" y="2423160"/>
            <a:ext cx="146304" cy="146304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0" y="23774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 grillagée Ø6 mm, hauteur 2 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83680" y="2788920"/>
            <a:ext cx="146304" cy="146304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0" y="2743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Robinet d'Incendie Armé (RIA)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0" y="3154680"/>
            <a:ext cx="146304" cy="146304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3108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Extincteur à poudre 10 kg (Art. 103)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83680" y="3520440"/>
            <a:ext cx="146304" cy="146304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5800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Alimentation en eau 1"½ - 2 bars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3886200"/>
            <a:ext cx="146304" cy="146304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0" y="38404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Vanne d'arrêt d'urgence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83680" y="4251960"/>
            <a:ext cx="146304" cy="146304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0" y="42062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Jauge de niveau avec alarme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0" y="4617720"/>
            <a:ext cx="146304" cy="146304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858000" y="45720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Soupape de sécurité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539496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400" y="544068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AFRIQUIAGAZ — 139, Bd Moulay Ismail, Roches Noires, Casablanca — Groupe AKWA — Demander programme location citerne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05840" y="1325880"/>
            <a:ext cx="457200" cy="457200"/>
          </a:xfrm>
          <a:prstGeom prst="ellipse">
            <a:avLst/>
          </a:prstGeom>
          <a:solidFill>
            <a:srgbClr val="2471A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1704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commande AFRIQUIAGAZ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0" y="1170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Octobre 2026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1508760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Commander 1 × 22 m³ aérienne. Négocier programme de location (citerne gratuite vs contrat d'approvisionnement pluriannuel).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31520" y="2176272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2404872"/>
            <a:ext cx="457200" cy="457200"/>
          </a:xfrm>
          <a:prstGeom prst="ellipse">
            <a:avLst/>
          </a:prstGeom>
          <a:solidFill>
            <a:srgbClr val="247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24942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Clarification réglementaire : 2e citerne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22494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Octobre 2026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2587752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à AFRIQUIAGAZ si 2 × 22 m³ (installations séparées) restent dans la catégorie 5-10 t chacune, ou si le total 44 000 L est classé &gt;10 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3255264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05840" y="3483864"/>
            <a:ext cx="457200" cy="457200"/>
          </a:xfrm>
          <a:prstGeom prst="ellipse">
            <a:avLst/>
          </a:prstGeom>
          <a:solidFill>
            <a:srgbClr val="2471A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32841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Établir contrat d'approvisionnement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33284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Octobre 2026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3666744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de livraison GPL vrac avec fréquence tous les 4 jours. Seuil de commande automatique à 40% (8 800 L).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20" y="4334256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5840" y="4562856"/>
            <a:ext cx="457200" cy="457200"/>
          </a:xfrm>
          <a:prstGeom prst="ellipse">
            <a:avLst/>
          </a:prstGeom>
          <a:solidFill>
            <a:srgbClr val="247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4562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440740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à jour l'étude incendie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44074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Novembre 2026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645920" y="4745736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Réviser l'étude NSI ERT (Soufiane Incendie) pour intégrer le stockage GPL 22 m³ et les équipements Art. 103.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" y="5413248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0800000">
              <a:srgbClr val="000000">
                <a:alpha val="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05840" y="5641848"/>
            <a:ext cx="457200" cy="457200"/>
          </a:xfrm>
          <a:prstGeom prst="ellipse">
            <a:avLst/>
          </a:prstGeom>
          <a:solidFill>
            <a:srgbClr val="2471A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5641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645920" y="54864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Déposer dossier d'autorisation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5486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Décembre 2026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5824728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Soumettre à la Préfecture de Benguerir : plan AFRIQUIAGAZ Réf. 01, étude de sécurité, capacités de stockage.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5080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Analyse GPL Rev.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E2D44"/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60020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L'analyse réglementaire (Art. 97) invalide l'Option G de la Rev. 1 et la proposition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Vetogas. Les distances de 10 m+ ne sont pas compatibles avec le lot PNV.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E2D44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926080"/>
            <a:ext cx="457200" cy="45720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278892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citerne AFRIQUIAGAZ 22 m³ est la seule option conforme sur ce lot.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de 7,5 m respectées avec plus de 15 m disponibles dans toutes les directions.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E2D4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9776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L'autonomie réduite (5,6 j vs 15,2 j) est compensée par des livraisons régulières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(tous les 4 jours) et un seuil de commande automatique à 40%.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29200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E2D44"/>
          </a:solidFill>
          <a:ln/>
        </p:spPr>
      </p:sp>
      <p:sp>
        <p:nvSpPr>
          <p:cNvPr id="16" name="Shape 14"/>
          <p:cNvSpPr/>
          <p:nvPr/>
        </p:nvSpPr>
        <p:spPr>
          <a:xfrm>
            <a:off x="1005840" y="5303520"/>
            <a:ext cx="457200" cy="457200"/>
          </a:xfrm>
          <a:prstGeom prst="ellipse">
            <a:avLst/>
          </a:prstGeom>
          <a:solidFill>
            <a:srgbClr val="2471A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51663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sur 5 ans : 655 000 MAD vs la proposition initiale.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programme de location citerne peut éliminer le coût d'investissement.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6309360"/>
            <a:ext cx="5760720" cy="0"/>
          </a:xfrm>
          <a:prstGeom prst="roundRect">
            <a:avLst/>
          </a:prstGeom>
          <a:solidFill>
            <a:srgbClr val="1E84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6400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 Maroc — Benguerir — Confidentiel — Rev. 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Analyse Options GPL PetFactory</dc:title>
  <dc:subject>Analyse Options GPL — Rev. 2 Corrigée</dc:subject>
  <dc:creator>PetFactory Maroc</dc:creator>
  <cp:lastModifiedBy>PetFactory Maroc</cp:lastModifiedBy>
  <cp:revision>1</cp:revision>
  <dcterms:created xsi:type="dcterms:W3CDTF">2026-09-23T19:05:43Z</dcterms:created>
  <dcterms:modified xsi:type="dcterms:W3CDTF">2026-09-23T19:05:43Z</dcterms:modified>
</cp:coreProperties>
</file>