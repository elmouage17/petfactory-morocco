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titre. Présentation confidentielle pour la Direction Générale. Analyse complète des options de stockage GPL pour l'usine de Benguerir.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présente le système vapeur FAMSUN et les paramètres de calcul de la consommation de propane.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clés de consommation. Le coût annuel de ~3,85 MMAD est le principal coût opérationnel récurrent. L'autonomie recommandée est de 14 à 21 jours.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démonte la proposition du fournisseur. Les 6 citernes enterrées sont la pire option en termes de coût, complexité et autonomie.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comparatif des 7 options. L'option G (2 x 30 000 L aériennes) obtient le meilleur score global de 9/10.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Comparaison côte à côte entre la proposition du fournisseur et notre recommandation. L'économie sur 5 ans est de 510 000 MAD.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recommandation principale. 6 avantages clés de l'Option G présentés sous forme de cartes visuelles.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Cadre réglementaire marocain. Les distances de sécurité conditionnent l'emplacement du stockage GPL sur le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fournisseurs recommandés. Le programme de location de citernes est un levier clé pour réduire l'investissement initial.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financier détaillé. L'option G économise 510 000 MAD sur 5 ans, principalement grâce à l'absence d'excavation et de protection cathodique.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actions concrètes avec calendrier. Les consultations fournisseurs doivent démarrer immédiatement.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conclusion. Trois messages clés pour le CEO. L'économie de 510 000 MAD est le chiffre à retenir.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Options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Stockage GPL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3520440"/>
            <a:ext cx="1645920" cy="54864"/>
          </a:xfrm>
          <a:prstGeom prst="rect">
            <a:avLst/>
          </a:prstGeom>
          <a:solidFill>
            <a:srgbClr val="D492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PetFactory Maroc — Sidi Bouathmane, Benguerir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Septembre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97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Direction Générale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Besoins Énergétiques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— Analyse GPL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 de production FAMSUN 5 T/H — Système vapeur 0,8–1 MPa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Sécheur (Belt Dryer)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719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 t/h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21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Échangeur indirect (shell &amp; tube)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121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807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Préconditionneur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770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0,75 t/h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172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injection directe + 70% chemise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172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Cuves de graisse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822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0,30 t/h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224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Serpentin indirect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42245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0B3D5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92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VAPEUR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892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2,45 t/h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Clés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retour condensats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2468880"/>
            <a:ext cx="5029200" cy="0"/>
          </a:xfrm>
          <a:prstGeom prst="line">
            <a:avLst/>
          </a:prstGeom>
          <a:noFill/>
          <a:ln w="6350">
            <a:solidFill>
              <a:srgbClr val="D6DF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chaudière (Fang Kuai)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2880360"/>
            <a:ext cx="5029200" cy="0"/>
          </a:xfrm>
          <a:prstGeom prst="line">
            <a:avLst/>
          </a:prstGeom>
          <a:noFill/>
          <a:ln w="6350">
            <a:solidFill>
              <a:srgbClr val="D6DF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propane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46,35 MJ/kg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3291840"/>
            <a:ext cx="5029200" cy="0"/>
          </a:xfrm>
          <a:prstGeom prst="line">
            <a:avLst/>
          </a:prstGeom>
          <a:noFill/>
          <a:ln w="6350">
            <a:solidFill>
              <a:srgbClr val="D6DF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Énergie thermique requise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6 135 MJ/h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83680" y="3703320"/>
            <a:ext cx="5029200" cy="0"/>
          </a:xfrm>
          <a:prstGeom prst="line">
            <a:avLst/>
          </a:prstGeom>
          <a:noFill/>
          <a:ln w="6350">
            <a:solidFill>
              <a:srgbClr val="D6DF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Heures d'exploitation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0" y="3794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h/jour (2 postes)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0" y="4114800"/>
            <a:ext cx="5029200" cy="0"/>
          </a:xfrm>
          <a:prstGeom prst="line">
            <a:avLst/>
          </a:prstGeom>
          <a:noFill/>
          <a:ln w="6350">
            <a:solidFill>
              <a:srgbClr val="D6DF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Jours d'exploitation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jours/an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83680" y="4526280"/>
            <a:ext cx="5029200" cy="0"/>
          </a:xfrm>
          <a:prstGeom prst="line">
            <a:avLst/>
          </a:prstGeom>
          <a:noFill/>
          <a:ln w="6350">
            <a:solidFill>
              <a:srgbClr val="D6DF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83680" y="4617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Facteur de charge moyen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0" y="4617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83680" y="4937760"/>
            <a:ext cx="5029200" cy="0"/>
          </a:xfrm>
          <a:prstGeom prst="line">
            <a:avLst/>
          </a:prstGeom>
          <a:noFill/>
          <a:ln w="6350">
            <a:solidFill>
              <a:srgbClr val="D6DFE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GPL Calculée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— Analyse GPL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Basée sur le système vapeur 2,45 t/h à 0,8–1 MPa — Chaudière gaz à condensation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B0C4D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2606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42616"/>
            <a:ext cx="24231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kg/h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pointe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0604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B0C4D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828800"/>
            <a:ext cx="2606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1 710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642616"/>
            <a:ext cx="24231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kg/jour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260604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B0C4D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09360" y="1828800"/>
            <a:ext cx="2606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42616"/>
            <a:ext cx="24231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tonnes/mois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Approvisionnement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9720" y="1691640"/>
            <a:ext cx="260604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B0C4D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89720" y="1828800"/>
            <a:ext cx="2606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642616"/>
            <a:ext cx="24231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tonnes/an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annuelle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annuel estimé du GPL (prix vrac ~7,5 MAD/kg)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794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~3 850 000 MAD/an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Densité propane liquide : 0,51 kg/L — Remplissage max. 85% de la capacité brute (norme marocaine)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74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de Stockage Recommandée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B832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59612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596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d'urgence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870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11 835 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55778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D492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74720" y="559612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5596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recommandé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5870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27 612 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55778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A7A7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559612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596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Confortable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870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55 224 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52560" y="55778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E8C5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0" y="559612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5596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784080" y="5870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82 835 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du Fournisseur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— Analyse GPL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citernes enterrées de 5 000 L = 30 000 L bruts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FDE8E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74520"/>
            <a:ext cx="384048" cy="384048"/>
          </a:xfrm>
          <a:prstGeom prst="ellipse">
            <a:avLst/>
          </a:prstGeom>
          <a:solidFill>
            <a:srgbClr val="B832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745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insuffisante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 jours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lieu de 14 jours minimum recommandés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un site industriel au Maroc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identifiés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37960" y="2258568"/>
            <a:ext cx="146304" cy="146304"/>
          </a:xfrm>
          <a:prstGeom prst="ellipse">
            <a:avLst/>
          </a:prstGeom>
          <a:solidFill>
            <a:srgbClr val="B832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2194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excavations + 6 radiers béton = coût max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2551176"/>
            <a:ext cx="146304" cy="146304"/>
          </a:xfrm>
          <a:prstGeom prst="ellipse">
            <a:avLst/>
          </a:prstGeom>
          <a:solidFill>
            <a:srgbClr val="B832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0" y="24871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systèmes de protection cathodique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843784"/>
            <a:ext cx="146304" cy="146304"/>
          </a:xfrm>
          <a:prstGeom prst="ellipse">
            <a:avLst/>
          </a:prstGeom>
          <a:solidFill>
            <a:srgbClr val="B832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27797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Collecteur 6 branches = complexité max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3136392"/>
            <a:ext cx="146304" cy="146304"/>
          </a:xfrm>
          <a:prstGeom prst="ellipse">
            <a:avLst/>
          </a:prstGeom>
          <a:solidFill>
            <a:srgbClr val="B832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30723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inspections périodiques à gérer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429000"/>
            <a:ext cx="146304" cy="146304"/>
          </a:xfrm>
          <a:prstGeom prst="ellipse">
            <a:avLst/>
          </a:prstGeom>
          <a:solidFill>
            <a:srgbClr val="B832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3649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Remplissage séquentiel lent (6 citernes)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3721608"/>
            <a:ext cx="146304" cy="146304"/>
          </a:xfrm>
          <a:prstGeom prst="ellipse">
            <a:avLst/>
          </a:prstGeom>
          <a:solidFill>
            <a:srgbClr val="B8323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3657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inspection visuelle possible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4014216"/>
            <a:ext cx="146304" cy="146304"/>
          </a:xfrm>
          <a:prstGeom prst="ellipse">
            <a:avLst/>
          </a:prstGeom>
          <a:solidFill>
            <a:srgbClr val="B8323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0" y="39502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Emprise au sol : 120 m²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3891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sur 5 ans (installation + maintenance + inspections)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~1 005 000 MAD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937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cette proposition ?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fournisseur propose probablement des citernes de 5 000 L en stock, avec des marges plus élevées sur l'installation enterrée. Cette configuration convient à un client commercial, pas industriel.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7607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B8323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NON RECOMMANDÉ — Coût le plus élevé, complexité maximale, autonomie insuffisante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: 7 Options Évaluées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— Analyse GPL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0789920" cy="365760"/>
          </a:xfrm>
          <a:prstGeom prst="rect">
            <a:avLst/>
          </a:prstGeom>
          <a:solidFill>
            <a:srgbClr val="0B3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install.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Redondance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1188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600200"/>
            <a:ext cx="10789920" cy="502920"/>
          </a:xfrm>
          <a:prstGeom prst="rect">
            <a:avLst/>
          </a:prstGeom>
          <a:solidFill>
            <a:srgbClr val="FDED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1600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6 x 5 000 L enterrées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30 000 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1600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 j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450–600k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1600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1600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Élevée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1600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Difficile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1600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130552"/>
            <a:ext cx="10789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21305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3 x 10 000 L enterrées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21305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30 000 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931920" y="2130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 j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21305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350–480k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2130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130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2130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21305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660904"/>
            <a:ext cx="10789920" cy="502920"/>
          </a:xfrm>
          <a:prstGeom prst="rect">
            <a:avLst/>
          </a:prstGeom>
          <a:solidFill>
            <a:srgbClr val="EFF4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7200" y="2660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2 x 20 000 L enterrées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560320" y="26609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40 000 L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931920" y="26609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 j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120640" y="26609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380–500k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26609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680960" y="26609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26609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Difficile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0" y="266090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191256"/>
            <a:ext cx="10789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7200" y="31912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1 x 50 000 L enterrée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2560320" y="31912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 L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3931920" y="31912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 j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120640" y="31912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400–550k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492240" y="31912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680960" y="31912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869680" y="31912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058400" y="31912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3721608"/>
            <a:ext cx="10789920" cy="502920"/>
          </a:xfrm>
          <a:prstGeom prst="rect">
            <a:avLst/>
          </a:prstGeom>
          <a:solidFill>
            <a:srgbClr val="EFF4F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57200" y="37216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2 x 25 000 L aériennes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2560320" y="37216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 L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3931920" y="3721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 j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120640" y="37216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280–380k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6492240" y="3721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7680960" y="3721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869680" y="3721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Facile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0058400" y="37216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251960"/>
            <a:ext cx="10789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57200" y="4251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 Hybride (AG + UG)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256032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 L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3931920" y="4251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 j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512064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350–480k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492240" y="4251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7680960" y="4251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8869680" y="4251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0058400" y="42519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782312"/>
            <a:ext cx="1078992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57200" y="47823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 2 x 30 000 L aériennes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2560320" y="4782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60 000 L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3931920" y="47823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15,2 j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5120640" y="4782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320–420k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6492240" y="47823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7680960" y="47823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8869680" y="47823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Facile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10058400" y="47823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548640" y="54498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 = Underground (enterrée)  |  AG = Above Ground (aérienne)  |  Coûts en MAD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: Fournisseur vs Recommandation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— Analyse GPL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4846320"/>
          </a:xfrm>
          <a:prstGeom prst="roundRect">
            <a:avLst>
              <a:gd name="adj" fmla="val 2830"/>
            </a:avLst>
          </a:prstGeom>
          <a:solidFill>
            <a:srgbClr val="FDE8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394960" cy="594360"/>
          </a:xfrm>
          <a:prstGeom prst="roundRect">
            <a:avLst>
              <a:gd name="adj" fmla="val 23077"/>
            </a:avLst>
          </a:prstGeom>
          <a:solidFill>
            <a:srgbClr val="B832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Proposition Fournisseur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x 5 000 L enterrées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brute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331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 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609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6609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 jours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9900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990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450 000–600 000 MAD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3192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Génie civil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319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excavations + radiers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648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cathodique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648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systèmes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77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Tuyauterie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Collecteur 6 branches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3068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annuelle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43068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45 000 MAD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636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Inspections annuelles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4636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36 000 MAD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965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sur 5 ans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4965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~1 005 000 MAD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294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visuelle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291840" y="5294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623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future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291840" y="5623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1188720"/>
            <a:ext cx="5394960" cy="4846320"/>
          </a:xfrm>
          <a:prstGeom prst="roundRect">
            <a:avLst>
              <a:gd name="adj" fmla="val 2830"/>
            </a:avLst>
          </a:prstGeom>
          <a:solidFill>
            <a:srgbClr val="E8F5E9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1188720"/>
            <a:ext cx="5394960" cy="594360"/>
          </a:xfrm>
          <a:prstGeom prst="roundRect">
            <a:avLst>
              <a:gd name="adj" fmla="val 23077"/>
            </a:avLst>
          </a:prstGeom>
          <a:solidFill>
            <a:srgbClr val="1E8C5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1188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G — Recommandation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x 30 000 L aériennes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2331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brute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2331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 L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26609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0" y="26609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 jours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29900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0" y="2990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320 000–420 000 MAD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537960" y="33192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Génie civil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144000" y="3319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dalles béton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537960" y="3648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cathodique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9144000" y="3648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537960" y="3977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Tuyauterie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alimentation simple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537960" y="43068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annuelle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144000" y="43068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MAD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537960" y="4636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Inspections annuelles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144000" y="4636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 MAD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537960" y="4965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sur 5 ans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144000" y="4965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~495 000 MAD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537960" y="5294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visuelle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9144000" y="5294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6537960" y="5623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future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9144000" y="5623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(3e citerne)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617220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0B3D5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31520" y="6172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SUR 5 ANS :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6400800" y="6172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510 000 MAD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D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— Analyse GPL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Recommandation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G : 2 x 30 000 L Aériennes + Extension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0F4A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d'autonomie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Dépasse les 14 jours recommandés.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assurée pendant 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vacances et perturbations.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0F4A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834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Opération principal/réserve.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possible sans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arrêt de production.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0F4A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d'installation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834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d'excavation nécessaire.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service rapide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6-8 sem. enterrée.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0F4A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cathodique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système anticorrosion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enterré. Inspection visuelle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et simple.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40233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0F4A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8056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Citerne extensible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Emplacement 3e citerne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pré-prévu. Croissance sans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 travaux.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402336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0F4A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495k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sur 5 ans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5029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total le plus bas.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510 000 MAD d'économie vs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proposition fournisseur.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 Marocaine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— Analyse GPL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Distances de sécurité et exigences réglementaires pour le stockage GPL industriel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de Sécurité (Citernes Aériennes &gt; 3 200 L)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48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bâtiments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limite de propriété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337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citernes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931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toute source de flamme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Applicables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Dahir 25 août 1914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de base — établissements classés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Décret n° 2-09-286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installations dangereuses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 03.4.072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Installations de stockage GPL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 03.4.073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GPL enterré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2011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parasismique (Zone II)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d'Autorisation (Stockage &gt; 6 000 L)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5349240"/>
            <a:ext cx="384048" cy="384048"/>
          </a:xfrm>
          <a:prstGeom prst="ellipse">
            <a:avLst/>
          </a:prstGeom>
          <a:solidFill>
            <a:srgbClr val="1A7A7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53035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d'autorisation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(Préfecture)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108960" y="5440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429000" y="52578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20440" y="5349240"/>
            <a:ext cx="384048" cy="384048"/>
          </a:xfrm>
          <a:prstGeom prst="ellipse">
            <a:avLst/>
          </a:prstGeom>
          <a:solidFill>
            <a:srgbClr val="1A7A7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5204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3977640" y="53035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de sécurité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incendie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989320" y="5440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309360" y="52578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0" y="5349240"/>
            <a:ext cx="384048" cy="384048"/>
          </a:xfrm>
          <a:prstGeom prst="ellipse">
            <a:avLst/>
          </a:prstGeom>
          <a:solidFill>
            <a:srgbClr val="1A7A7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0" y="53035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Civile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869680" y="5440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189720" y="52578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281160" y="5349240"/>
            <a:ext cx="384048" cy="384048"/>
          </a:xfrm>
          <a:prstGeom prst="ellipse">
            <a:avLst/>
          </a:prstGeom>
          <a:solidFill>
            <a:srgbClr val="1A7A7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28116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9738360" y="53035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Autorisation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d'exploiter (Gouverneur)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GPL au Maroc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— Analyse GPL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fournisseurs recommandés pour consultation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B0C4D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0B3D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Afriquia Gaz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 AKWA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688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grand distributeur GPL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marocain. Forte présence dans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région Marrakech-Safi.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B0C4D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691640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1A7A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Energy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 Shell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4688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internationaux.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Logistique fiable.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national complet.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B0C4D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691640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Gaz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nationale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4688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compétitifs pour 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vrac industriel. Flexibilité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contractuelle.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164592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617720"/>
            <a:ext cx="384048" cy="384048"/>
          </a:xfrm>
          <a:prstGeom prst="ellipse">
            <a:avLst/>
          </a:prstGeom>
          <a:solidFill>
            <a:srgbClr val="D492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Location de Citernes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029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nombreux fournisseurs GPL marocains proposent des programmes de location de citernes : les citernes sont fournies gratuitement (ou à faible loyer) en échange d'un contrat d'approvisionnement pluriannuel.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pourrait éliminer entièrement le coût d'investissement en citernes (~200 000 MAD)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dans chaque consultation : fourniture + installation citernes | contrat GPL vrac | maintenance | programme de location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Financier sur 5 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— Analyse GPL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0789920" cy="411480"/>
          </a:xfrm>
          <a:prstGeom prst="rect">
            <a:avLst/>
          </a:prstGeom>
          <a:solidFill>
            <a:srgbClr val="0B3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 de Coût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(Fournisseur)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G (Recommandée)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Économie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0789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1691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Fourniture citernes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1691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180 000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91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(20 000)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93976"/>
            <a:ext cx="10789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20939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Excavation &amp; génie civil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093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93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0939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140 000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96312"/>
            <a:ext cx="10789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24963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cathodique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2496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496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2496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98648"/>
            <a:ext cx="10789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28986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Tuyauterie &amp; collecteur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2898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80 000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2898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35 000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2898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300984"/>
            <a:ext cx="10789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2920" y="33009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Équipements de sécurité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3300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300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40 000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33009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703320"/>
            <a:ext cx="10789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2920" y="3703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Clôture &amp; bac de rétention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0" y="3703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3703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(25 000)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105656"/>
            <a:ext cx="10789920" cy="384048"/>
          </a:xfrm>
          <a:prstGeom prst="rect">
            <a:avLst/>
          </a:prstGeom>
          <a:solidFill>
            <a:srgbClr val="EFF4F7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" y="4105656"/>
            <a:ext cx="10789920" cy="0"/>
          </a:xfrm>
          <a:prstGeom prst="line">
            <a:avLst/>
          </a:prstGeom>
          <a:noFill/>
          <a:ln w="12700">
            <a:solidFill>
              <a:srgbClr val="0B3D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2920" y="41056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INSTALLATION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0" y="41056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600 000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41056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360 000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778240" y="41056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4507992"/>
            <a:ext cx="10789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02920" y="4507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(5 ans)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657600" y="4507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225 000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217920" y="4507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75 000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778240" y="45079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150 000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4910328"/>
            <a:ext cx="10789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02920" y="49103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Inspections (5 ans)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3657600" y="4910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180 000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6217920" y="4910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8778240" y="4910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120 000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5312664"/>
            <a:ext cx="10789920" cy="384048"/>
          </a:xfrm>
          <a:prstGeom prst="rect">
            <a:avLst/>
          </a:prstGeom>
          <a:solidFill>
            <a:srgbClr val="EFF4F7"/>
          </a:solidFill>
          <a:ln/>
        </p:spPr>
      </p:sp>
      <p:sp>
        <p:nvSpPr>
          <p:cNvPr id="56" name="Shape 54"/>
          <p:cNvSpPr/>
          <p:nvPr/>
        </p:nvSpPr>
        <p:spPr>
          <a:xfrm>
            <a:off x="365760" y="5312664"/>
            <a:ext cx="10789920" cy="0"/>
          </a:xfrm>
          <a:prstGeom prst="line">
            <a:avLst/>
          </a:prstGeom>
          <a:noFill/>
          <a:ln w="12700">
            <a:solidFill>
              <a:srgbClr val="0B3D5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02920" y="5312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5 ANS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3657600" y="5312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1 005 000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217920" y="53126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495 000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8778240" y="53126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8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510 000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en MAD. Estimations pour comparaison — les coûts réels dépendront des devis fournisseurs et des conditions du site.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0" y="5669280"/>
            <a:ext cx="5760720" cy="822960"/>
          </a:xfrm>
          <a:prstGeom prst="roundRect">
            <a:avLst>
              <a:gd name="adj" fmla="val 13333"/>
            </a:avLst>
          </a:prstGeom>
          <a:solidFill>
            <a:srgbClr val="0B3D5B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383280" y="56875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totale sur 5 ans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6217920" y="56875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510 000 MAD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— Analyse GPL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90472"/>
            <a:ext cx="384048" cy="384048"/>
          </a:xfrm>
          <a:prstGeom prst="ellipse">
            <a:avLst/>
          </a:prstGeom>
          <a:solidFill>
            <a:srgbClr val="0B3D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307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3 fournisseurs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45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des devis à Afriquia Gaz, Vivo Energy et National Gaz pour 2 x 30 000 L aériennes avec contrat d'approvisionnement GPL vrac.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1307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96312"/>
            <a:ext cx="384048" cy="384048"/>
          </a:xfrm>
          <a:prstGeom prst="ellipse">
            <a:avLst/>
          </a:prstGeom>
          <a:solidFill>
            <a:srgbClr val="1A7A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313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Négocier la location de citernes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651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les programmes de location : citernes gratuites en échange d'un contrat pluriannuel. Peut éliminer ~200 000 MAD d'investissement.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2313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502152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319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l'implantation sur site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657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une zone de ~300 m² près de la chaufferie respectant les distances de sécurité (7,5 m bâtiments, 15 m limites). Accès camion 25 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3192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507992"/>
            <a:ext cx="384048" cy="384048"/>
          </a:xfrm>
          <a:prstGeom prst="ellipse">
            <a:avLst/>
          </a:prstGeom>
          <a:solidFill>
            <a:srgbClr val="D492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325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l'étude incendie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663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L'étude NSI ERT existante (Soufiane Incendie) doit intégrer le stockage GPL. Révision du plan PCI.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4325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2026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C0D0DC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513832"/>
            <a:ext cx="384048" cy="384048"/>
          </a:xfrm>
          <a:prstGeom prst="ellipse">
            <a:avLst/>
          </a:prstGeom>
          <a:solidFill>
            <a:srgbClr val="B832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513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5330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 le dossier d'autorisation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669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Soumettre le dossier complet à la Préfecture de Benguerir : plan d'implantation GPL, étude de sécurité, capacités de stockage.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5330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0F4A6B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47672"/>
            <a:ext cx="384048" cy="384048"/>
          </a:xfrm>
          <a:prstGeom prst="ellipse">
            <a:avLst/>
          </a:prstGeom>
          <a:solidFill>
            <a:srgbClr val="D492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proposition du fournisseur (6 citernes enterrées) est la plus coûteuse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offre l'autonomie la plus faible — à rejeter.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0F4A6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3136392"/>
            <a:ext cx="384048" cy="384048"/>
          </a:xfrm>
          <a:prstGeom prst="ellipse">
            <a:avLst/>
          </a:prstGeom>
          <a:solidFill>
            <a:srgbClr val="D492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926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L'option recommandée (2 x 30 000 L aériennes) offre 15 jours d'autonomie,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coût le plus bas et une maintenance simple.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0F4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4325112"/>
            <a:ext cx="384048" cy="384048"/>
          </a:xfrm>
          <a:prstGeom prst="ellipse">
            <a:avLst/>
          </a:prstGeom>
          <a:solidFill>
            <a:srgbClr val="D492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programme de location de citernes peut réduire l'investissement initial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quasi-zéro en échange d'un contrat d'approvisionnement.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5212080"/>
            <a:ext cx="7589520" cy="1097280"/>
          </a:xfrm>
          <a:prstGeom prst="roundRect">
            <a:avLst>
              <a:gd name="adj" fmla="val 10000"/>
            </a:avLst>
          </a:prstGeom>
          <a:solidFill>
            <a:srgbClr val="D492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60320" y="5257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sur 5 ans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52120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510 000 MAD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PetFactory Maroc — Benguerir — Confidentiel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Options de Stockage GPL</dc:title>
  <dc:subject>PptxGenJS Presentation</dc:subject>
  <dc:creator>PetFactory Maroc</dc:creator>
  <cp:lastModifiedBy>PetFactory Maroc</cp:lastModifiedBy>
  <cp:revision>1</cp:revision>
  <dcterms:created xsi:type="dcterms:W3CDTF">2026-09-21T15:05:55Z</dcterms:created>
  <dcterms:modified xsi:type="dcterms:W3CDTF">2026-09-21T15:05:55Z</dcterms:modified>
</cp:coreProperties>
</file>