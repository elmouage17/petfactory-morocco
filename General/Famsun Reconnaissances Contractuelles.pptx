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p:spPr>
      </p:sp>
      <p:sp>
        <p:nvSpPr>
          <p:cNvPr id="3" name="Shape 1"/>
          <p:cNvSpPr/>
          <p:nvPr/>
        </p:nvSpPr>
        <p:spPr>
          <a:xfrm>
            <a:off x="164592" y="4023360"/>
            <a:ext cx="8979408" cy="54864"/>
          </a:xfrm>
          <a:prstGeom prst="rect">
            <a:avLst/>
          </a:prstGeom>
          <a:solidFill>
            <a:srgbClr val="D4A017"/>
          </a:solidFill>
          <a:ln/>
        </p:spPr>
      </p:sp>
      <p:sp>
        <p:nvSpPr>
          <p:cNvPr id="4" name="Text 2"/>
          <p:cNvSpPr/>
          <p:nvPr/>
        </p:nvSpPr>
        <p:spPr>
          <a:xfrm>
            <a:off x="457200" y="320040"/>
            <a:ext cx="8229600" cy="274320"/>
          </a:xfrm>
          <a:prstGeom prst="rect">
            <a:avLst/>
          </a:prstGeom>
          <a:noFill/>
          <a:ln/>
        </p:spPr>
        <p:txBody>
          <a:bodyPr wrap="square" lIns="0" tIns="0" rIns="0" bIns="0" rtlCol="0" anchor="ctr"/>
          <a:lstStyle/>
          <a:p>
            <a:pPr indent="0" marL="0">
              <a:buNone/>
            </a:pPr>
            <a:r>
              <a:rPr lang="en-US" sz="900" b="1" spc="300" kern="0" dirty="0">
                <a:solidFill>
                  <a:srgbClr val="D4A017"/>
                </a:solidFill>
                <a:latin typeface="Calibri" pitchFamily="34" charset="0"/>
                <a:ea typeface="Calibri" pitchFamily="34" charset="-122"/>
                <a:cs typeface="Calibri" pitchFamily="34" charset="-120"/>
              </a:rPr>
              <a:t>CONFIDENTIEL — USAGE INTERNE</a:t>
            </a:r>
            <a:endParaRPr lang="en-US" sz="900" dirty="0"/>
          </a:p>
        </p:txBody>
      </p:sp>
      <p:sp>
        <p:nvSpPr>
          <p:cNvPr id="5" name="Text 3"/>
          <p:cNvSpPr/>
          <p:nvPr/>
        </p:nvSpPr>
        <p:spPr>
          <a:xfrm>
            <a:off x="457200" y="960120"/>
            <a:ext cx="8229600" cy="100584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Réunion Famsun × Maroc</a:t>
            </a:r>
            <a:endParaRPr lang="en-US" sz="4200" dirty="0"/>
          </a:p>
        </p:txBody>
      </p:sp>
      <p:sp>
        <p:nvSpPr>
          <p:cNvPr id="6" name="Text 4"/>
          <p:cNvSpPr/>
          <p:nvPr/>
        </p:nvSpPr>
        <p:spPr>
          <a:xfrm>
            <a:off x="457200" y="2011680"/>
            <a:ext cx="8229600" cy="594360"/>
          </a:xfrm>
          <a:prstGeom prst="rect">
            <a:avLst/>
          </a:prstGeom>
          <a:noFill/>
          <a:ln/>
        </p:spPr>
        <p:txBody>
          <a:bodyPr wrap="square" lIns="0" tIns="0" rIns="0" bIns="0" rtlCol="0" anchor="ctr"/>
          <a:lstStyle/>
          <a:p>
            <a:pPr indent="0" marL="0">
              <a:buNone/>
            </a:pPr>
            <a:r>
              <a:rPr lang="en-US" sz="2000" dirty="0">
                <a:solidFill>
                  <a:srgbClr val="CADCFC"/>
                </a:solidFill>
                <a:latin typeface="Calibri Light" pitchFamily="34" charset="0"/>
                <a:ea typeface="Calibri Light" pitchFamily="34" charset="-122"/>
                <a:cs typeface="Calibri Light" pitchFamily="34" charset="-120"/>
              </a:rPr>
              <a:t>Analyse des Reconnaissances &amp; Implications Contractuelles</a:t>
            </a:r>
            <a:endParaRPr lang="en-US" sz="2000" dirty="0"/>
          </a:p>
        </p:txBody>
      </p:sp>
      <p:sp>
        <p:nvSpPr>
          <p:cNvPr id="7" name="Shape 5"/>
          <p:cNvSpPr/>
          <p:nvPr/>
        </p:nvSpPr>
        <p:spPr>
          <a:xfrm>
            <a:off x="457200" y="2724912"/>
            <a:ext cx="2286000" cy="45720"/>
          </a:xfrm>
          <a:prstGeom prst="rect">
            <a:avLst/>
          </a:prstGeom>
          <a:solidFill>
            <a:srgbClr val="C0392B"/>
          </a:solidFill>
          <a:ln/>
        </p:spPr>
      </p:sp>
      <p:sp>
        <p:nvSpPr>
          <p:cNvPr id="8" name="Text 6"/>
          <p:cNvSpPr/>
          <p:nvPr/>
        </p:nvSpPr>
        <p:spPr>
          <a:xfrm>
            <a:off x="457200" y="2971800"/>
            <a:ext cx="8412480" cy="365760"/>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Participants : </a:t>
            </a:r>
            <a:pPr indent="0" marL="0">
              <a:buNone/>
            </a:pPr>
            <a:r>
              <a:rPr lang="en-US" sz="1300" dirty="0">
                <a:solidFill>
                  <a:srgbClr val="CADCFC"/>
                </a:solidFill>
                <a:latin typeface="Calibri" pitchFamily="34" charset="0"/>
                <a:ea typeface="Calibri" pitchFamily="34" charset="-122"/>
                <a:cs typeface="Calibri" pitchFamily="34" charset="-120"/>
              </a:rPr>
              <a:t>Dr. RAHALI (client) · Sam (consultant) · Mike (Famsun) · Zhou, Sun, Du (ingénieurs CN)</a:t>
            </a:r>
            <a:endParaRPr lang="en-US" sz="1300" dirty="0"/>
          </a:p>
        </p:txBody>
      </p:sp>
      <p:sp>
        <p:nvSpPr>
          <p:cNvPr id="9" name="Text 7"/>
          <p:cNvSpPr/>
          <p:nvPr/>
        </p:nvSpPr>
        <p:spPr>
          <a:xfrm>
            <a:off x="457200" y="3383280"/>
            <a:ext cx="8412480" cy="320040"/>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Date : </a:t>
            </a:r>
            <a:pPr indent="0" marL="0">
              <a:buNone/>
            </a:pPr>
            <a:r>
              <a:rPr lang="en-US" sz="1300" dirty="0">
                <a:solidFill>
                  <a:srgbClr val="CADCFC"/>
                </a:solidFill>
                <a:latin typeface="Calibri" pitchFamily="34" charset="0"/>
                <a:ea typeface="Calibri" pitchFamily="34" charset="-122"/>
                <a:cs typeface="Calibri" pitchFamily="34" charset="-120"/>
              </a:rPr>
              <a:t>14 avril 2026  ·  </a:t>
            </a:r>
            <a:pPr indent="0" marL="0">
              <a:buNone/>
            </a:pPr>
            <a:r>
              <a:rPr lang="en-US" sz="1300" b="1" dirty="0">
                <a:solidFill>
                  <a:srgbClr val="D4A017"/>
                </a:solidFill>
                <a:latin typeface="Calibri" pitchFamily="34" charset="0"/>
                <a:ea typeface="Calibri" pitchFamily="34" charset="-122"/>
                <a:cs typeface="Calibri" pitchFamily="34" charset="-120"/>
              </a:rPr>
              <a:t>Durée : </a:t>
            </a:r>
            <a:pPr indent="0" marL="0">
              <a:buNone/>
            </a:pPr>
            <a:r>
              <a:rPr lang="en-US" sz="1300" dirty="0">
                <a:solidFill>
                  <a:srgbClr val="CADCFC"/>
                </a:solidFill>
                <a:latin typeface="Calibri" pitchFamily="34" charset="0"/>
                <a:ea typeface="Calibri" pitchFamily="34" charset="-122"/>
                <a:cs typeface="Calibri" pitchFamily="34" charset="-120"/>
              </a:rPr>
              <a:t>~1h35  ·  </a:t>
            </a:r>
            <a:pPr indent="0" marL="0">
              <a:buNone/>
            </a:pPr>
            <a:r>
              <a:rPr lang="en-US" sz="1300" b="1" dirty="0">
                <a:solidFill>
                  <a:srgbClr val="D4A017"/>
                </a:solidFill>
                <a:latin typeface="Calibri" pitchFamily="34" charset="0"/>
                <a:ea typeface="Calibri" pitchFamily="34" charset="-122"/>
                <a:cs typeface="Calibri" pitchFamily="34" charset="-120"/>
              </a:rPr>
              <a:t>Langue : </a:t>
            </a:r>
            <a:pPr indent="0" marL="0">
              <a:buNone/>
            </a:pPr>
            <a:r>
              <a:rPr lang="en-US" sz="1300" dirty="0">
                <a:solidFill>
                  <a:srgbClr val="CADCFC"/>
                </a:solidFill>
                <a:latin typeface="Calibri" pitchFamily="34" charset="0"/>
                <a:ea typeface="Calibri" pitchFamily="34" charset="-122"/>
                <a:cs typeface="Calibri" pitchFamily="34" charset="-120"/>
              </a:rPr>
              <a:t>Français / Anglais / Chinois (traduit)</a:t>
            </a:r>
            <a:endParaRPr lang="en-US" sz="1300" dirty="0"/>
          </a:p>
        </p:txBody>
      </p:sp>
      <p:sp>
        <p:nvSpPr>
          <p:cNvPr id="10" name="Text 8"/>
          <p:cNvSpPr/>
          <p:nvPr/>
        </p:nvSpPr>
        <p:spPr>
          <a:xfrm>
            <a:off x="457200" y="4206240"/>
            <a:ext cx="8229600" cy="320040"/>
          </a:xfrm>
          <a:prstGeom prst="rect">
            <a:avLst/>
          </a:prstGeom>
          <a:noFill/>
          <a:ln/>
        </p:spPr>
        <p:txBody>
          <a:bodyPr wrap="square" lIns="0" tIns="0" rIns="0" bIns="0" rtlCol="0" anchor="ctr"/>
          <a:lstStyle/>
          <a:p>
            <a:pPr indent="0" marL="0">
              <a:buNone/>
            </a:pPr>
            <a:r>
              <a:rPr lang="en-US" sz="1100" i="1" dirty="0">
                <a:solidFill>
                  <a:srgbClr val="7F8C9A"/>
                </a:solidFill>
                <a:latin typeface="Calibri" pitchFamily="34" charset="0"/>
                <a:ea typeface="Calibri" pitchFamily="34" charset="-122"/>
                <a:cs typeface="Calibri" pitchFamily="34" charset="-120"/>
              </a:rPr>
              <a:t>Pet Factory Maroc — FAMSUN Contract No. GMG240106ASP01F</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Shape 1"/>
          <p:cNvSpPr/>
          <p:nvPr/>
        </p:nvSpPr>
        <p:spPr>
          <a:xfrm>
            <a:off x="0" y="960120"/>
            <a:ext cx="9144000" cy="64008"/>
          </a:xfrm>
          <a:prstGeom prst="rect">
            <a:avLst/>
          </a:prstGeom>
          <a:solidFill>
            <a:srgbClr val="C0392B"/>
          </a:solidFill>
          <a:ln/>
        </p:spPr>
      </p:sp>
      <p:sp>
        <p:nvSpPr>
          <p:cNvPr id="4" name="Text 2"/>
          <p:cNvSpPr/>
          <p:nvPr/>
        </p:nvSpPr>
        <p:spPr>
          <a:xfrm>
            <a:off x="365760" y="137160"/>
            <a:ext cx="8229600" cy="6858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CONTEXTE DE LA RÉUNION</a:t>
            </a:r>
            <a:endParaRPr lang="en-US" sz="2600" dirty="0"/>
          </a:p>
        </p:txBody>
      </p:sp>
      <p:sp>
        <p:nvSpPr>
          <p:cNvPr id="5" name="Shape 3"/>
          <p:cNvSpPr/>
          <p:nvPr/>
        </p:nvSpPr>
        <p:spPr>
          <a:xfrm>
            <a:off x="320040" y="1188720"/>
            <a:ext cx="2834640" cy="356616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6" name="Shape 4"/>
          <p:cNvSpPr/>
          <p:nvPr/>
        </p:nvSpPr>
        <p:spPr>
          <a:xfrm>
            <a:off x="320040" y="1188720"/>
            <a:ext cx="2834640" cy="64008"/>
          </a:xfrm>
          <a:prstGeom prst="rect">
            <a:avLst/>
          </a:prstGeom>
          <a:solidFill>
            <a:srgbClr val="2E5FA3"/>
          </a:solidFill>
          <a:ln/>
        </p:spPr>
      </p:sp>
      <p:sp>
        <p:nvSpPr>
          <p:cNvPr id="7" name="Text 5"/>
          <p:cNvSpPr/>
          <p:nvPr/>
        </p:nvSpPr>
        <p:spPr>
          <a:xfrm>
            <a:off x="457200" y="1325880"/>
            <a:ext cx="2560320" cy="5029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  Le Projet</a:t>
            </a:r>
            <a:endParaRPr lang="en-US" sz="1400" dirty="0"/>
          </a:p>
        </p:txBody>
      </p:sp>
      <p:sp>
        <p:nvSpPr>
          <p:cNvPr id="8" name="Text 6"/>
          <p:cNvSpPr/>
          <p:nvPr/>
        </p:nvSpPr>
        <p:spPr>
          <a:xfrm>
            <a:off x="457200" y="1920240"/>
            <a:ext cx="2578608"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Usine de croquettes sèches 5 t/h</a:t>
            </a:r>
            <a:endParaRPr lang="en-US" sz="1300" dirty="0"/>
          </a:p>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Marrakech, Maroc — Équipements FAMSUN</a:t>
            </a:r>
            <a:endParaRPr lang="en-US" sz="1300" dirty="0"/>
          </a:p>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JV Petland × Normandie Pet Food</a:t>
            </a:r>
            <a:endParaRPr lang="en-US" sz="1300" dirty="0"/>
          </a:p>
        </p:txBody>
      </p:sp>
      <p:sp>
        <p:nvSpPr>
          <p:cNvPr id="9" name="Shape 7"/>
          <p:cNvSpPr/>
          <p:nvPr/>
        </p:nvSpPr>
        <p:spPr>
          <a:xfrm>
            <a:off x="3337560" y="1188720"/>
            <a:ext cx="2834640" cy="356616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0" name="Shape 8"/>
          <p:cNvSpPr/>
          <p:nvPr/>
        </p:nvSpPr>
        <p:spPr>
          <a:xfrm>
            <a:off x="3337560" y="1188720"/>
            <a:ext cx="2834640" cy="64008"/>
          </a:xfrm>
          <a:prstGeom prst="rect">
            <a:avLst/>
          </a:prstGeom>
          <a:solidFill>
            <a:srgbClr val="2E5FA3"/>
          </a:solidFill>
          <a:ln/>
        </p:spPr>
      </p:sp>
      <p:sp>
        <p:nvSpPr>
          <p:cNvPr id="11" name="Text 9"/>
          <p:cNvSpPr/>
          <p:nvPr/>
        </p:nvSpPr>
        <p:spPr>
          <a:xfrm>
            <a:off x="3474720" y="1325880"/>
            <a:ext cx="2560320" cy="5029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  L'Objet</a:t>
            </a:r>
            <a:endParaRPr lang="en-US" sz="1400" dirty="0"/>
          </a:p>
        </p:txBody>
      </p:sp>
      <p:sp>
        <p:nvSpPr>
          <p:cNvPr id="12" name="Text 10"/>
          <p:cNvSpPr/>
          <p:nvPr/>
        </p:nvSpPr>
        <p:spPr>
          <a:xfrm>
            <a:off x="3474720" y="1920240"/>
            <a:ext cx="2578608"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Audit de la solution HVAC proposée</a:t>
            </a:r>
            <a:endParaRPr lang="en-US" sz="1300" dirty="0"/>
          </a:p>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Conditions environnementales par zone</a:t>
            </a:r>
            <a:endParaRPr lang="en-US" sz="1300" dirty="0"/>
          </a:p>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Qualité produit &amp; durée de conservation</a:t>
            </a:r>
            <a:endParaRPr lang="en-US" sz="1300" dirty="0"/>
          </a:p>
        </p:txBody>
      </p:sp>
      <p:sp>
        <p:nvSpPr>
          <p:cNvPr id="13" name="Shape 11"/>
          <p:cNvSpPr/>
          <p:nvPr/>
        </p:nvSpPr>
        <p:spPr>
          <a:xfrm>
            <a:off x="6355080" y="1188720"/>
            <a:ext cx="2834640" cy="356616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4" name="Shape 12"/>
          <p:cNvSpPr/>
          <p:nvPr/>
        </p:nvSpPr>
        <p:spPr>
          <a:xfrm>
            <a:off x="6355080" y="1188720"/>
            <a:ext cx="2834640" cy="64008"/>
          </a:xfrm>
          <a:prstGeom prst="rect">
            <a:avLst/>
          </a:prstGeom>
          <a:solidFill>
            <a:srgbClr val="2E5FA3"/>
          </a:solidFill>
          <a:ln/>
        </p:spPr>
      </p:sp>
      <p:sp>
        <p:nvSpPr>
          <p:cNvPr id="15" name="Text 13"/>
          <p:cNvSpPr/>
          <p:nvPr/>
        </p:nvSpPr>
        <p:spPr>
          <a:xfrm>
            <a:off x="6492240" y="1325880"/>
            <a:ext cx="2560320" cy="50292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  L'Enjeu</a:t>
            </a:r>
            <a:endParaRPr lang="en-US" sz="1400" dirty="0"/>
          </a:p>
        </p:txBody>
      </p:sp>
      <p:sp>
        <p:nvSpPr>
          <p:cNvPr id="16" name="Text 14"/>
          <p:cNvSpPr/>
          <p:nvPr/>
        </p:nvSpPr>
        <p:spPr>
          <a:xfrm>
            <a:off x="6492240" y="1920240"/>
            <a:ext cx="2578608"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HVAC non prévu dans le contrat initial</a:t>
            </a:r>
            <a:endParaRPr lang="en-US" sz="1300" dirty="0"/>
          </a:p>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Températures extrêmes à Marrakech (&gt;45°C)</a:t>
            </a:r>
            <a:endParaRPr lang="en-US" sz="1300" dirty="0"/>
          </a:p>
          <a:p>
            <a:pPr marL="342900" indent="-342900">
              <a:spcAft>
                <a:spcPts val="600"/>
              </a:spcAft>
              <a:buSzPct val="100000"/>
              <a:buChar char="•"/>
            </a:pPr>
            <a:r>
              <a:rPr lang="en-US" sz="1300" dirty="0">
                <a:solidFill>
                  <a:srgbClr val="1C2B3A"/>
                </a:solidFill>
                <a:latin typeface="Calibri" pitchFamily="34" charset="0"/>
                <a:ea typeface="Calibri" pitchFamily="34" charset="-122"/>
                <a:cs typeface="Calibri" pitchFamily="34" charset="-120"/>
              </a:rPr>
              <a:t>Risque qualité &amp; responsabilité contractuelle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Shape 1"/>
          <p:cNvSpPr/>
          <p:nvPr/>
        </p:nvSpPr>
        <p:spPr>
          <a:xfrm>
            <a:off x="0" y="960120"/>
            <a:ext cx="9144000" cy="64008"/>
          </a:xfrm>
          <a:prstGeom prst="rect">
            <a:avLst/>
          </a:prstGeom>
          <a:solidFill>
            <a:srgbClr val="C0392B"/>
          </a:solidFill>
          <a:ln/>
        </p:spPr>
      </p:sp>
      <p:sp>
        <p:nvSpPr>
          <p:cNvPr id="4" name="Text 2"/>
          <p:cNvSpPr/>
          <p:nvPr/>
        </p:nvSpPr>
        <p:spPr>
          <a:xfrm>
            <a:off x="365760" y="137160"/>
            <a:ext cx="8412480" cy="68580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CE QUE FAMSUN A RECONNU PUBLIQUEMENT</a:t>
            </a:r>
            <a:endParaRPr lang="en-US" sz="2400" dirty="0"/>
          </a:p>
        </p:txBody>
      </p:sp>
      <p:sp>
        <p:nvSpPr>
          <p:cNvPr id="5" name="Shape 3"/>
          <p:cNvSpPr/>
          <p:nvPr/>
        </p:nvSpPr>
        <p:spPr>
          <a:xfrm>
            <a:off x="274320" y="1170432"/>
            <a:ext cx="8595360" cy="82296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6" name="Shape 4"/>
          <p:cNvSpPr/>
          <p:nvPr/>
        </p:nvSpPr>
        <p:spPr>
          <a:xfrm>
            <a:off x="274320" y="1170432"/>
            <a:ext cx="502920" cy="822960"/>
          </a:xfrm>
          <a:prstGeom prst="rect">
            <a:avLst/>
          </a:prstGeom>
          <a:solidFill>
            <a:srgbClr val="2E5FA3"/>
          </a:solidFill>
          <a:ln/>
        </p:spPr>
      </p:sp>
      <p:sp>
        <p:nvSpPr>
          <p:cNvPr id="7" name="Text 5"/>
          <p:cNvSpPr/>
          <p:nvPr/>
        </p:nvSpPr>
        <p:spPr>
          <a:xfrm>
            <a:off x="274320" y="1170432"/>
            <a:ext cx="502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914400" y="1243584"/>
            <a:ext cx="22860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Responsabilité HVAC</a:t>
            </a:r>
            <a:endParaRPr lang="en-US" sz="1300" dirty="0"/>
          </a:p>
        </p:txBody>
      </p:sp>
      <p:sp>
        <p:nvSpPr>
          <p:cNvPr id="9" name="Text 7"/>
          <p:cNvSpPr/>
          <p:nvPr/>
        </p:nvSpPr>
        <p:spPr>
          <a:xfrm>
            <a:off x="914400" y="1554480"/>
            <a:ext cx="7772400" cy="384048"/>
          </a:xfrm>
          <a:prstGeom prst="rect">
            <a:avLst/>
          </a:prstGeom>
          <a:noFill/>
          <a:ln/>
        </p:spPr>
        <p:txBody>
          <a:bodyPr wrap="square" lIns="0" tIns="0" rIns="0" bIns="0" rtlCol="0" anchor="ctr"/>
          <a:lstStyle/>
          <a:p>
            <a:pPr indent="0" marL="0">
              <a:buNone/>
            </a:pPr>
            <a:r>
              <a:rPr lang="en-US" sz="1150" dirty="0">
                <a:solidFill>
                  <a:srgbClr val="1C2B3A"/>
                </a:solidFill>
                <a:latin typeface="Calibri" pitchFamily="34" charset="0"/>
                <a:ea typeface="Calibri" pitchFamily="34" charset="-122"/>
                <a:cs typeface="Calibri" pitchFamily="34" charset="-120"/>
              </a:rPr>
              <a:t>Mike a confirmé que le système de climatisation / ventilation est la responsabilité du client. Cependant, Famsun s'est engagé à fournir un blueprint annoté par zone avec les températures cibles.</a:t>
            </a:r>
            <a:endParaRPr lang="en-US" sz="1150" dirty="0"/>
          </a:p>
        </p:txBody>
      </p:sp>
      <p:sp>
        <p:nvSpPr>
          <p:cNvPr id="10" name="Shape 8"/>
          <p:cNvSpPr/>
          <p:nvPr/>
        </p:nvSpPr>
        <p:spPr>
          <a:xfrm>
            <a:off x="274320" y="2103120"/>
            <a:ext cx="8595360" cy="82296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1" name="Shape 9"/>
          <p:cNvSpPr/>
          <p:nvPr/>
        </p:nvSpPr>
        <p:spPr>
          <a:xfrm>
            <a:off x="274320" y="2103120"/>
            <a:ext cx="502920" cy="822960"/>
          </a:xfrm>
          <a:prstGeom prst="rect">
            <a:avLst/>
          </a:prstGeom>
          <a:solidFill>
            <a:srgbClr val="2E5FA3"/>
          </a:solidFill>
          <a:ln/>
        </p:spPr>
      </p:sp>
      <p:sp>
        <p:nvSpPr>
          <p:cNvPr id="12" name="Text 10"/>
          <p:cNvSpPr/>
          <p:nvPr/>
        </p:nvSpPr>
        <p:spPr>
          <a:xfrm>
            <a:off x="274320" y="2103120"/>
            <a:ext cx="502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914400" y="2176272"/>
            <a:ext cx="22860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Standard de refroidissement insuffisant</a:t>
            </a:r>
            <a:endParaRPr lang="en-US" sz="1300" dirty="0"/>
          </a:p>
        </p:txBody>
      </p:sp>
      <p:sp>
        <p:nvSpPr>
          <p:cNvPr id="14" name="Text 12"/>
          <p:cNvSpPr/>
          <p:nvPr/>
        </p:nvSpPr>
        <p:spPr>
          <a:xfrm>
            <a:off x="914400" y="2487168"/>
            <a:ext cx="7772400" cy="384048"/>
          </a:xfrm>
          <a:prstGeom prst="rect">
            <a:avLst/>
          </a:prstGeom>
          <a:noFill/>
          <a:ln/>
        </p:spPr>
        <p:txBody>
          <a:bodyPr wrap="square" lIns="0" tIns="0" rIns="0" bIns="0" rtlCol="0" anchor="ctr"/>
          <a:lstStyle/>
          <a:p>
            <a:pPr indent="0" marL="0">
              <a:buNone/>
            </a:pPr>
            <a:r>
              <a:rPr lang="en-US" sz="1150" dirty="0">
                <a:solidFill>
                  <a:srgbClr val="1C2B3A"/>
                </a:solidFill>
                <a:latin typeface="Calibri" pitchFamily="34" charset="0"/>
                <a:ea typeface="Calibri" pitchFamily="34" charset="-122"/>
                <a:cs typeface="Calibri" pitchFamily="34" charset="-120"/>
              </a:rPr>
              <a:t>La norme Famsun est produit sortant à température ambiante +3 °C. Mike a reconnu que dans les zones chaudes du Maroc, cela exige d'injecter de l'air frais plutôt que l'air ambiant.</a:t>
            </a:r>
            <a:endParaRPr lang="en-US" sz="1150" dirty="0"/>
          </a:p>
        </p:txBody>
      </p:sp>
      <p:sp>
        <p:nvSpPr>
          <p:cNvPr id="15" name="Shape 13"/>
          <p:cNvSpPr/>
          <p:nvPr/>
        </p:nvSpPr>
        <p:spPr>
          <a:xfrm>
            <a:off x="274320" y="3035808"/>
            <a:ext cx="8595360" cy="82296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6" name="Shape 14"/>
          <p:cNvSpPr/>
          <p:nvPr/>
        </p:nvSpPr>
        <p:spPr>
          <a:xfrm>
            <a:off x="274320" y="3035808"/>
            <a:ext cx="502920" cy="822960"/>
          </a:xfrm>
          <a:prstGeom prst="rect">
            <a:avLst/>
          </a:prstGeom>
          <a:solidFill>
            <a:srgbClr val="2E5FA3"/>
          </a:solidFill>
          <a:ln/>
        </p:spPr>
      </p:sp>
      <p:sp>
        <p:nvSpPr>
          <p:cNvPr id="17" name="Text 15"/>
          <p:cNvSpPr/>
          <p:nvPr/>
        </p:nvSpPr>
        <p:spPr>
          <a:xfrm>
            <a:off x="274320" y="3035808"/>
            <a:ext cx="502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8" name="Text 16"/>
          <p:cNvSpPr/>
          <p:nvPr/>
        </p:nvSpPr>
        <p:spPr>
          <a:xfrm>
            <a:off x="914400" y="3108960"/>
            <a:ext cx="22860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Isolation des conduites nécessaire</a:t>
            </a:r>
            <a:endParaRPr lang="en-US" sz="1300" dirty="0"/>
          </a:p>
        </p:txBody>
      </p:sp>
      <p:sp>
        <p:nvSpPr>
          <p:cNvPr id="19" name="Text 17"/>
          <p:cNvSpPr/>
          <p:nvPr/>
        </p:nvSpPr>
        <p:spPr>
          <a:xfrm>
            <a:off x="914400" y="3419856"/>
            <a:ext cx="7772400" cy="384048"/>
          </a:xfrm>
          <a:prstGeom prst="rect">
            <a:avLst/>
          </a:prstGeom>
          <a:noFill/>
          <a:ln/>
        </p:spPr>
        <p:txBody>
          <a:bodyPr wrap="square" lIns="0" tIns="0" rIns="0" bIns="0" rtlCol="0" anchor="ctr"/>
          <a:lstStyle/>
          <a:p>
            <a:pPr indent="0" marL="0">
              <a:buNone/>
            </a:pPr>
            <a:r>
              <a:rPr lang="en-US" sz="1150" dirty="0">
                <a:solidFill>
                  <a:srgbClr val="1C2B3A"/>
                </a:solidFill>
                <a:latin typeface="Calibri" pitchFamily="34" charset="0"/>
                <a:ea typeface="Calibri" pitchFamily="34" charset="-122"/>
                <a:cs typeface="Calibri" pitchFamily="34" charset="-120"/>
              </a:rPr>
              <a:t>Mike a recommandé d'isoler les conduites vapeur et les conduites du refroidisseur pour maintenir la qualité de la vapeur et éviter les variations thermiques.</a:t>
            </a:r>
            <a:endParaRPr lang="en-US" sz="1150" dirty="0"/>
          </a:p>
        </p:txBody>
      </p:sp>
      <p:sp>
        <p:nvSpPr>
          <p:cNvPr id="20" name="Shape 18"/>
          <p:cNvSpPr/>
          <p:nvPr/>
        </p:nvSpPr>
        <p:spPr>
          <a:xfrm>
            <a:off x="274320" y="3968496"/>
            <a:ext cx="8595360" cy="82296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21" name="Shape 19"/>
          <p:cNvSpPr/>
          <p:nvPr/>
        </p:nvSpPr>
        <p:spPr>
          <a:xfrm>
            <a:off x="274320" y="3968496"/>
            <a:ext cx="502920" cy="822960"/>
          </a:xfrm>
          <a:prstGeom prst="rect">
            <a:avLst/>
          </a:prstGeom>
          <a:solidFill>
            <a:srgbClr val="2E5FA3"/>
          </a:solidFill>
          <a:ln/>
        </p:spPr>
      </p:sp>
      <p:sp>
        <p:nvSpPr>
          <p:cNvPr id="22" name="Text 20"/>
          <p:cNvSpPr/>
          <p:nvPr/>
        </p:nvSpPr>
        <p:spPr>
          <a:xfrm>
            <a:off x="274320" y="3968496"/>
            <a:ext cx="502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3" name="Text 21"/>
          <p:cNvSpPr/>
          <p:nvPr/>
        </p:nvSpPr>
        <p:spPr>
          <a:xfrm>
            <a:off x="914400" y="4041648"/>
            <a:ext cx="22860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HVAC actuel inadapté</a:t>
            </a:r>
            <a:endParaRPr lang="en-US" sz="1300" dirty="0"/>
          </a:p>
        </p:txBody>
      </p:sp>
      <p:sp>
        <p:nvSpPr>
          <p:cNvPr id="24" name="Text 22"/>
          <p:cNvSpPr/>
          <p:nvPr/>
        </p:nvSpPr>
        <p:spPr>
          <a:xfrm>
            <a:off x="914400" y="4352544"/>
            <a:ext cx="7772400" cy="384048"/>
          </a:xfrm>
          <a:prstGeom prst="rect">
            <a:avLst/>
          </a:prstGeom>
          <a:noFill/>
          <a:ln/>
        </p:spPr>
        <p:txBody>
          <a:bodyPr wrap="square" lIns="0" tIns="0" rIns="0" bIns="0" rtlCol="0" anchor="ctr"/>
          <a:lstStyle/>
          <a:p>
            <a:pPr indent="0" marL="0">
              <a:buNone/>
            </a:pPr>
            <a:r>
              <a:rPr lang="en-US" sz="1150" dirty="0">
                <a:solidFill>
                  <a:srgbClr val="1C2B3A"/>
                </a:solidFill>
                <a:latin typeface="Calibri" pitchFamily="34" charset="0"/>
                <a:ea typeface="Calibri" pitchFamily="34" charset="-122"/>
                <a:cs typeface="Calibri" pitchFamily="34" charset="-120"/>
              </a:rPr>
              <a:t>Sam a révélé que le bureau d'études (INGénios) a conçu le système HVAC pour un entrepôt vide, pas pour une usine en production. Mike en a pris acte.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0392B"/>
          </a:solidFill>
          <a:ln/>
        </p:spPr>
      </p:sp>
      <p:sp>
        <p:nvSpPr>
          <p:cNvPr id="3" name="Shape 1"/>
          <p:cNvSpPr/>
          <p:nvPr/>
        </p:nvSpPr>
        <p:spPr>
          <a:xfrm>
            <a:off x="0" y="960120"/>
            <a:ext cx="9144000" cy="64008"/>
          </a:xfrm>
          <a:prstGeom prst="rect">
            <a:avLst/>
          </a:prstGeom>
          <a:solidFill>
            <a:srgbClr val="D4A017"/>
          </a:solidFill>
          <a:ln/>
        </p:spPr>
      </p:sp>
      <p:sp>
        <p:nvSpPr>
          <p:cNvPr id="4" name="Text 2"/>
          <p:cNvSpPr/>
          <p:nvPr/>
        </p:nvSpPr>
        <p:spPr>
          <a:xfrm>
            <a:off x="365760" y="137160"/>
            <a:ext cx="8412480" cy="6858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CE QUI A ÉTÉ DIT EN PRIVÉ — CONVERSATIONS CHINOISES</a:t>
            </a:r>
            <a:endParaRPr lang="en-US" sz="2200" dirty="0"/>
          </a:p>
        </p:txBody>
      </p:sp>
      <p:sp>
        <p:nvSpPr>
          <p:cNvPr id="5" name="Text 3"/>
          <p:cNvSpPr/>
          <p:nvPr/>
        </p:nvSpPr>
        <p:spPr>
          <a:xfrm>
            <a:off x="274320" y="1097280"/>
            <a:ext cx="8595360" cy="320040"/>
          </a:xfrm>
          <a:prstGeom prst="rect">
            <a:avLst/>
          </a:prstGeom>
          <a:noFill/>
          <a:ln/>
        </p:spPr>
        <p:txBody>
          <a:bodyPr wrap="square" lIns="0" tIns="0" rIns="0" bIns="0" rtlCol="0" anchor="ctr"/>
          <a:lstStyle/>
          <a:p>
            <a:pPr indent="0" marL="0">
              <a:buNone/>
            </a:pPr>
            <a:r>
              <a:rPr lang="en-US" sz="1150" b="1" i="1" dirty="0">
                <a:solidFill>
                  <a:srgbClr val="C0392B"/>
                </a:solidFill>
                <a:latin typeface="Calibri" pitchFamily="34" charset="0"/>
                <a:ea typeface="Calibri" pitchFamily="34" charset="-122"/>
                <a:cs typeface="Calibri" pitchFamily="34" charset="-120"/>
              </a:rPr>
              <a:t>⚠️  Ces échanges n'étaient pas destinés au client — traduits intégralement dans la transcription</a:t>
            </a:r>
            <a:endParaRPr lang="en-US" sz="1150" dirty="0"/>
          </a:p>
        </p:txBody>
      </p:sp>
      <p:sp>
        <p:nvSpPr>
          <p:cNvPr id="6" name="Shape 4"/>
          <p:cNvSpPr/>
          <p:nvPr/>
        </p:nvSpPr>
        <p:spPr>
          <a:xfrm>
            <a:off x="274320" y="1508760"/>
            <a:ext cx="8595360" cy="786384"/>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7" name="Shape 5"/>
          <p:cNvSpPr/>
          <p:nvPr/>
        </p:nvSpPr>
        <p:spPr>
          <a:xfrm>
            <a:off x="274320" y="1508760"/>
            <a:ext cx="73152" cy="786384"/>
          </a:xfrm>
          <a:prstGeom prst="rect">
            <a:avLst/>
          </a:prstGeom>
          <a:solidFill>
            <a:srgbClr val="C0392B"/>
          </a:solidFill>
          <a:ln/>
        </p:spPr>
      </p:sp>
      <p:sp>
        <p:nvSpPr>
          <p:cNvPr id="8" name="Text 6"/>
          <p:cNvSpPr/>
          <p:nvPr/>
        </p:nvSpPr>
        <p:spPr>
          <a:xfrm>
            <a:off x="457200" y="1554480"/>
            <a:ext cx="83210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Mike (Famsun) &amp; Sun (ingénieur CN) — seg. 57–65</a:t>
            </a:r>
            <a:endParaRPr lang="en-US" sz="1000" dirty="0"/>
          </a:p>
        </p:txBody>
      </p:sp>
      <p:sp>
        <p:nvSpPr>
          <p:cNvPr id="9" name="Text 7"/>
          <p:cNvSpPr/>
          <p:nvPr/>
        </p:nvSpPr>
        <p:spPr>
          <a:xfrm>
            <a:off x="457200" y="1746504"/>
            <a:ext cx="5029200" cy="320040"/>
          </a:xfrm>
          <a:prstGeom prst="rect">
            <a:avLst/>
          </a:prstGeom>
          <a:noFill/>
          <a:ln/>
        </p:spPr>
        <p:txBody>
          <a:bodyPr wrap="square" lIns="0" tIns="0" rIns="0" bIns="0" rtlCol="0" anchor="ctr"/>
          <a:lstStyle/>
          <a:p>
            <a:pPr indent="0" marL="0">
              <a:buNone/>
            </a:pPr>
            <a:r>
              <a:rPr lang="en-US" sz="1150" i="1" dirty="0">
                <a:solidFill>
                  <a:srgbClr val="1B2A4A"/>
                </a:solidFill>
                <a:latin typeface="Calibri" pitchFamily="34" charset="0"/>
                <a:ea typeface="Calibri" pitchFamily="34" charset="-122"/>
                <a:cs typeface="Calibri" pitchFamily="34" charset="-120"/>
              </a:rPr>
              <a:t>""La température ambiante, on n'y avait pas vraiment réfléchi." — Sun confirme : "Effectivement, on n'y avait pas pensé.""</a:t>
            </a:r>
            <a:endParaRPr lang="en-US" sz="1150" dirty="0"/>
          </a:p>
        </p:txBody>
      </p:sp>
      <p:sp>
        <p:nvSpPr>
          <p:cNvPr id="10" name="Shape 8"/>
          <p:cNvSpPr/>
          <p:nvPr/>
        </p:nvSpPr>
        <p:spPr>
          <a:xfrm>
            <a:off x="5623560" y="1618488"/>
            <a:ext cx="36576" cy="594360"/>
          </a:xfrm>
          <a:prstGeom prst="rect">
            <a:avLst/>
          </a:prstGeom>
          <a:solidFill>
            <a:srgbClr val="D0D8E4"/>
          </a:solidFill>
          <a:ln/>
        </p:spPr>
      </p:sp>
      <p:sp>
        <p:nvSpPr>
          <p:cNvPr id="11" name="Text 9"/>
          <p:cNvSpPr/>
          <p:nvPr/>
        </p:nvSpPr>
        <p:spPr>
          <a:xfrm>
            <a:off x="5715000" y="1554480"/>
            <a:ext cx="3108960" cy="201168"/>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 Implication</a:t>
            </a:r>
            <a:endParaRPr lang="en-US" sz="1000" dirty="0"/>
          </a:p>
        </p:txBody>
      </p:sp>
      <p:sp>
        <p:nvSpPr>
          <p:cNvPr id="12" name="Text 10"/>
          <p:cNvSpPr/>
          <p:nvPr/>
        </p:nvSpPr>
        <p:spPr>
          <a:xfrm>
            <a:off x="5715000" y="1755648"/>
            <a:ext cx="3063240" cy="457200"/>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Omission initiale reconnue en interne. Non évoquée lors de la phase contractuelle.</a:t>
            </a:r>
            <a:endParaRPr lang="en-US" sz="1050" dirty="0"/>
          </a:p>
        </p:txBody>
      </p:sp>
      <p:sp>
        <p:nvSpPr>
          <p:cNvPr id="13" name="Shape 11"/>
          <p:cNvSpPr/>
          <p:nvPr/>
        </p:nvSpPr>
        <p:spPr>
          <a:xfrm>
            <a:off x="274320" y="2386584"/>
            <a:ext cx="8595360" cy="786384"/>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4" name="Shape 12"/>
          <p:cNvSpPr/>
          <p:nvPr/>
        </p:nvSpPr>
        <p:spPr>
          <a:xfrm>
            <a:off x="274320" y="2386584"/>
            <a:ext cx="73152" cy="786384"/>
          </a:xfrm>
          <a:prstGeom prst="rect">
            <a:avLst/>
          </a:prstGeom>
          <a:solidFill>
            <a:srgbClr val="C0392B"/>
          </a:solidFill>
          <a:ln/>
        </p:spPr>
      </p:sp>
      <p:sp>
        <p:nvSpPr>
          <p:cNvPr id="15" name="Text 13"/>
          <p:cNvSpPr/>
          <p:nvPr/>
        </p:nvSpPr>
        <p:spPr>
          <a:xfrm>
            <a:off x="457200" y="2432304"/>
            <a:ext cx="83210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Mike (Famsun) — seg. 65</a:t>
            </a:r>
            <a:endParaRPr lang="en-US" sz="1000" dirty="0"/>
          </a:p>
        </p:txBody>
      </p:sp>
      <p:sp>
        <p:nvSpPr>
          <p:cNvPr id="16" name="Text 14"/>
          <p:cNvSpPr/>
          <p:nvPr/>
        </p:nvSpPr>
        <p:spPr>
          <a:xfrm>
            <a:off x="457200" y="2624328"/>
            <a:ext cx="5029200" cy="320040"/>
          </a:xfrm>
          <a:prstGeom prst="rect">
            <a:avLst/>
          </a:prstGeom>
          <a:noFill/>
          <a:ln/>
        </p:spPr>
        <p:txBody>
          <a:bodyPr wrap="square" lIns="0" tIns="0" rIns="0" bIns="0" rtlCol="0" anchor="ctr"/>
          <a:lstStyle/>
          <a:p>
            <a:pPr indent="0" marL="0">
              <a:buNone/>
            </a:pPr>
            <a:r>
              <a:rPr lang="en-US" sz="1150" i="1" dirty="0">
                <a:solidFill>
                  <a:srgbClr val="1B2A4A"/>
                </a:solidFill>
                <a:latin typeface="Calibri" pitchFamily="34" charset="0"/>
                <a:ea typeface="Calibri" pitchFamily="34" charset="-122"/>
                <a:cs typeface="Calibri" pitchFamily="34" charset="-120"/>
              </a:rPr>
              <a:t>""Si on y avait pensé dès le début, on aurait parlé au client. Le vrai problème c'est qu'on n'en a pas parlé du tout.""</a:t>
            </a:r>
            <a:endParaRPr lang="en-US" sz="1150" dirty="0"/>
          </a:p>
        </p:txBody>
      </p:sp>
      <p:sp>
        <p:nvSpPr>
          <p:cNvPr id="17" name="Shape 15"/>
          <p:cNvSpPr/>
          <p:nvPr/>
        </p:nvSpPr>
        <p:spPr>
          <a:xfrm>
            <a:off x="5623560" y="2496312"/>
            <a:ext cx="36576" cy="594360"/>
          </a:xfrm>
          <a:prstGeom prst="rect">
            <a:avLst/>
          </a:prstGeom>
          <a:solidFill>
            <a:srgbClr val="D0D8E4"/>
          </a:solidFill>
          <a:ln/>
        </p:spPr>
      </p:sp>
      <p:sp>
        <p:nvSpPr>
          <p:cNvPr id="18" name="Text 16"/>
          <p:cNvSpPr/>
          <p:nvPr/>
        </p:nvSpPr>
        <p:spPr>
          <a:xfrm>
            <a:off x="5715000" y="2432304"/>
            <a:ext cx="3108960" cy="201168"/>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 Implication</a:t>
            </a:r>
            <a:endParaRPr lang="en-US" sz="1000" dirty="0"/>
          </a:p>
        </p:txBody>
      </p:sp>
      <p:sp>
        <p:nvSpPr>
          <p:cNvPr id="19" name="Text 17"/>
          <p:cNvSpPr/>
          <p:nvPr/>
        </p:nvSpPr>
        <p:spPr>
          <a:xfrm>
            <a:off x="5715000" y="2633472"/>
            <a:ext cx="3063240" cy="457200"/>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Mike admet que la communication initiale était incomplète sur ce point critique.</a:t>
            </a:r>
            <a:endParaRPr lang="en-US" sz="1050" dirty="0"/>
          </a:p>
        </p:txBody>
      </p:sp>
      <p:sp>
        <p:nvSpPr>
          <p:cNvPr id="20" name="Shape 18"/>
          <p:cNvSpPr/>
          <p:nvPr/>
        </p:nvSpPr>
        <p:spPr>
          <a:xfrm>
            <a:off x="274320" y="3264408"/>
            <a:ext cx="8595360" cy="786384"/>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21" name="Shape 19"/>
          <p:cNvSpPr/>
          <p:nvPr/>
        </p:nvSpPr>
        <p:spPr>
          <a:xfrm>
            <a:off x="274320" y="3264408"/>
            <a:ext cx="73152" cy="786384"/>
          </a:xfrm>
          <a:prstGeom prst="rect">
            <a:avLst/>
          </a:prstGeom>
          <a:solidFill>
            <a:srgbClr val="C0392B"/>
          </a:solidFill>
          <a:ln/>
        </p:spPr>
      </p:sp>
      <p:sp>
        <p:nvSpPr>
          <p:cNvPr id="22" name="Text 20"/>
          <p:cNvSpPr/>
          <p:nvPr/>
        </p:nvSpPr>
        <p:spPr>
          <a:xfrm>
            <a:off x="457200" y="3310128"/>
            <a:ext cx="83210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Zhou (ingénieur CN) — seg. 67</a:t>
            </a:r>
            <a:endParaRPr lang="en-US" sz="1000" dirty="0"/>
          </a:p>
        </p:txBody>
      </p:sp>
      <p:sp>
        <p:nvSpPr>
          <p:cNvPr id="23" name="Text 21"/>
          <p:cNvSpPr/>
          <p:nvPr/>
        </p:nvSpPr>
        <p:spPr>
          <a:xfrm>
            <a:off x="457200" y="3502152"/>
            <a:ext cx="5029200" cy="320040"/>
          </a:xfrm>
          <a:prstGeom prst="rect">
            <a:avLst/>
          </a:prstGeom>
          <a:noFill/>
          <a:ln/>
        </p:spPr>
        <p:txBody>
          <a:bodyPr wrap="square" lIns="0" tIns="0" rIns="0" bIns="0" rtlCol="0" anchor="ctr"/>
          <a:lstStyle/>
          <a:p>
            <a:pPr indent="0" marL="0">
              <a:buNone/>
            </a:pPr>
            <a:r>
              <a:rPr lang="en-US" sz="1150" i="1" dirty="0">
                <a:solidFill>
                  <a:srgbClr val="1B2A4A"/>
                </a:solidFill>
                <a:latin typeface="Calibri" pitchFamily="34" charset="0"/>
                <a:ea typeface="Calibri" pitchFamily="34" charset="-122"/>
                <a:cs typeface="Calibri" pitchFamily="34" charset="-120"/>
              </a:rPr>
              <a:t>""Il est impossible que je lui fasse ça gratuitement.""</a:t>
            </a:r>
            <a:endParaRPr lang="en-US" sz="1150" dirty="0"/>
          </a:p>
        </p:txBody>
      </p:sp>
      <p:sp>
        <p:nvSpPr>
          <p:cNvPr id="24" name="Shape 22"/>
          <p:cNvSpPr/>
          <p:nvPr/>
        </p:nvSpPr>
        <p:spPr>
          <a:xfrm>
            <a:off x="5623560" y="3374136"/>
            <a:ext cx="36576" cy="594360"/>
          </a:xfrm>
          <a:prstGeom prst="rect">
            <a:avLst/>
          </a:prstGeom>
          <a:solidFill>
            <a:srgbClr val="D0D8E4"/>
          </a:solidFill>
          <a:ln/>
        </p:spPr>
      </p:sp>
      <p:sp>
        <p:nvSpPr>
          <p:cNvPr id="25" name="Text 23"/>
          <p:cNvSpPr/>
          <p:nvPr/>
        </p:nvSpPr>
        <p:spPr>
          <a:xfrm>
            <a:off x="5715000" y="3310128"/>
            <a:ext cx="3108960" cy="201168"/>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 Implication</a:t>
            </a:r>
            <a:endParaRPr lang="en-US" sz="1000" dirty="0"/>
          </a:p>
        </p:txBody>
      </p:sp>
      <p:sp>
        <p:nvSpPr>
          <p:cNvPr id="26" name="Text 24"/>
          <p:cNvSpPr/>
          <p:nvPr/>
        </p:nvSpPr>
        <p:spPr>
          <a:xfrm>
            <a:off x="5715000" y="3511296"/>
            <a:ext cx="3063240" cy="457200"/>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Famsun envisage de facturer la solution thermique séparément — hors contrat initial.</a:t>
            </a:r>
            <a:endParaRPr lang="en-US" sz="1050" dirty="0"/>
          </a:p>
        </p:txBody>
      </p:sp>
      <p:sp>
        <p:nvSpPr>
          <p:cNvPr id="27" name="Shape 25"/>
          <p:cNvSpPr/>
          <p:nvPr/>
        </p:nvSpPr>
        <p:spPr>
          <a:xfrm>
            <a:off x="274320" y="4142232"/>
            <a:ext cx="8595360" cy="786384"/>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28" name="Shape 26"/>
          <p:cNvSpPr/>
          <p:nvPr/>
        </p:nvSpPr>
        <p:spPr>
          <a:xfrm>
            <a:off x="274320" y="4142232"/>
            <a:ext cx="73152" cy="786384"/>
          </a:xfrm>
          <a:prstGeom prst="rect">
            <a:avLst/>
          </a:prstGeom>
          <a:solidFill>
            <a:srgbClr val="C0392B"/>
          </a:solidFill>
          <a:ln/>
        </p:spPr>
      </p:sp>
      <p:sp>
        <p:nvSpPr>
          <p:cNvPr id="29" name="Text 27"/>
          <p:cNvSpPr/>
          <p:nvPr/>
        </p:nvSpPr>
        <p:spPr>
          <a:xfrm>
            <a:off x="457200" y="4187952"/>
            <a:ext cx="83210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Zhou (ingénieur CN) — seg. 44</a:t>
            </a:r>
            <a:endParaRPr lang="en-US" sz="1000" dirty="0"/>
          </a:p>
        </p:txBody>
      </p:sp>
      <p:sp>
        <p:nvSpPr>
          <p:cNvPr id="30" name="Text 28"/>
          <p:cNvSpPr/>
          <p:nvPr/>
        </p:nvSpPr>
        <p:spPr>
          <a:xfrm>
            <a:off x="457200" y="4379976"/>
            <a:ext cx="5029200" cy="320040"/>
          </a:xfrm>
          <a:prstGeom prst="rect">
            <a:avLst/>
          </a:prstGeom>
          <a:noFill/>
          <a:ln/>
        </p:spPr>
        <p:txBody>
          <a:bodyPr wrap="square" lIns="0" tIns="0" rIns="0" bIns="0" rtlCol="0" anchor="ctr"/>
          <a:lstStyle/>
          <a:p>
            <a:pPr indent="0" marL="0">
              <a:buNone/>
            </a:pPr>
            <a:r>
              <a:rPr lang="en-US" sz="1150" i="1" dirty="0">
                <a:solidFill>
                  <a:srgbClr val="1B2A4A"/>
                </a:solidFill>
                <a:latin typeface="Calibri" pitchFamily="34" charset="0"/>
                <a:ea typeface="Calibri" pitchFamily="34" charset="-122"/>
                <a:cs typeface="Calibri" pitchFamily="34" charset="-120"/>
              </a:rPr>
              <a:t>""Quant à la température interne, on n'a pas besoin d'être trop précis. On ne peut pas l'être.""</a:t>
            </a:r>
            <a:endParaRPr lang="en-US" sz="1150" dirty="0"/>
          </a:p>
        </p:txBody>
      </p:sp>
      <p:sp>
        <p:nvSpPr>
          <p:cNvPr id="31" name="Shape 29"/>
          <p:cNvSpPr/>
          <p:nvPr/>
        </p:nvSpPr>
        <p:spPr>
          <a:xfrm>
            <a:off x="5623560" y="4251960"/>
            <a:ext cx="36576" cy="594360"/>
          </a:xfrm>
          <a:prstGeom prst="rect">
            <a:avLst/>
          </a:prstGeom>
          <a:solidFill>
            <a:srgbClr val="D0D8E4"/>
          </a:solidFill>
          <a:ln/>
        </p:spPr>
      </p:sp>
      <p:sp>
        <p:nvSpPr>
          <p:cNvPr id="32" name="Text 30"/>
          <p:cNvSpPr/>
          <p:nvPr/>
        </p:nvSpPr>
        <p:spPr>
          <a:xfrm>
            <a:off x="5715000" y="4187952"/>
            <a:ext cx="3108960" cy="201168"/>
          </a:xfrm>
          <a:prstGeom prst="rect">
            <a:avLst/>
          </a:prstGeom>
          <a:noFill/>
          <a:ln/>
        </p:spPr>
        <p:txBody>
          <a:bodyPr wrap="square" lIns="0" tIns="0" rIns="0" bIns="0" rtlCol="0" anchor="ctr"/>
          <a:lstStyle/>
          <a:p>
            <a:pPr indent="0" marL="0">
              <a:buNone/>
            </a:pPr>
            <a:r>
              <a:rPr lang="en-US" sz="1000" b="1" dirty="0">
                <a:solidFill>
                  <a:srgbClr val="D4A017"/>
                </a:solidFill>
                <a:latin typeface="Calibri" pitchFamily="34" charset="0"/>
                <a:ea typeface="Calibri" pitchFamily="34" charset="-122"/>
                <a:cs typeface="Calibri" pitchFamily="34" charset="-120"/>
              </a:rPr>
              <a:t>→ Implication</a:t>
            </a:r>
            <a:endParaRPr lang="en-US" sz="1000" dirty="0"/>
          </a:p>
        </p:txBody>
      </p:sp>
      <p:sp>
        <p:nvSpPr>
          <p:cNvPr id="33" name="Text 31"/>
          <p:cNvSpPr/>
          <p:nvPr/>
        </p:nvSpPr>
        <p:spPr>
          <a:xfrm>
            <a:off x="5715000" y="4389120"/>
            <a:ext cx="3063240" cy="457200"/>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Volonté délibérée de ne pas s'engager précisément par écrit sur les températures internes.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Shape 1"/>
          <p:cNvSpPr/>
          <p:nvPr/>
        </p:nvSpPr>
        <p:spPr>
          <a:xfrm>
            <a:off x="0" y="960120"/>
            <a:ext cx="9144000" cy="64008"/>
          </a:xfrm>
          <a:prstGeom prst="rect">
            <a:avLst/>
          </a:prstGeom>
          <a:solidFill>
            <a:srgbClr val="D4A017"/>
          </a:solidFill>
          <a:ln/>
        </p:spPr>
      </p:sp>
      <p:sp>
        <p:nvSpPr>
          <p:cNvPr id="4" name="Text 2"/>
          <p:cNvSpPr/>
          <p:nvPr/>
        </p:nvSpPr>
        <p:spPr>
          <a:xfrm>
            <a:off x="365760" y="137160"/>
            <a:ext cx="8229600" cy="6858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POINTS TECHNIQUES DISCUTÉS</a:t>
            </a:r>
            <a:endParaRPr lang="en-US" sz="2600" dirty="0"/>
          </a:p>
        </p:txBody>
      </p:sp>
      <p:sp>
        <p:nvSpPr>
          <p:cNvPr id="5" name="Shape 3"/>
          <p:cNvSpPr/>
          <p:nvPr/>
        </p:nvSpPr>
        <p:spPr>
          <a:xfrm>
            <a:off x="274320" y="1143000"/>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6" name="Shape 4"/>
          <p:cNvSpPr/>
          <p:nvPr/>
        </p:nvSpPr>
        <p:spPr>
          <a:xfrm>
            <a:off x="274320" y="1143000"/>
            <a:ext cx="4160520" cy="54864"/>
          </a:xfrm>
          <a:prstGeom prst="rect">
            <a:avLst/>
          </a:prstGeom>
          <a:solidFill>
            <a:srgbClr val="2E5FA3"/>
          </a:solidFill>
          <a:ln/>
        </p:spPr>
      </p:sp>
      <p:sp>
        <p:nvSpPr>
          <p:cNvPr id="7" name="Text 5"/>
          <p:cNvSpPr/>
          <p:nvPr/>
        </p:nvSpPr>
        <p:spPr>
          <a:xfrm>
            <a:off x="411480" y="1234440"/>
            <a:ext cx="3886200" cy="34747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Température de sortie du refroidisseur</a:t>
            </a:r>
            <a:endParaRPr lang="en-US" sz="1250" dirty="0"/>
          </a:p>
        </p:txBody>
      </p:sp>
      <p:sp>
        <p:nvSpPr>
          <p:cNvPr id="8" name="Text 6"/>
          <p:cNvSpPr/>
          <p:nvPr/>
        </p:nvSpPr>
        <p:spPr>
          <a:xfrm>
            <a:off x="411480" y="1600200"/>
            <a:ext cx="3886200" cy="658368"/>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Norme Famsun : ambiant +3 °C. Pour Marrakech (&gt;45°C été), injection d'air frais nécessaire sur la zone cooler.</a:t>
            </a:r>
            <a:endParaRPr lang="en-US" sz="1100" dirty="0"/>
          </a:p>
        </p:txBody>
      </p:sp>
      <p:sp>
        <p:nvSpPr>
          <p:cNvPr id="9" name="Shape 7"/>
          <p:cNvSpPr/>
          <p:nvPr/>
        </p:nvSpPr>
        <p:spPr>
          <a:xfrm>
            <a:off x="274320" y="2441448"/>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0" name="Shape 8"/>
          <p:cNvSpPr/>
          <p:nvPr/>
        </p:nvSpPr>
        <p:spPr>
          <a:xfrm>
            <a:off x="274320" y="2441448"/>
            <a:ext cx="4160520" cy="54864"/>
          </a:xfrm>
          <a:prstGeom prst="rect">
            <a:avLst/>
          </a:prstGeom>
          <a:solidFill>
            <a:srgbClr val="2E5FA3"/>
          </a:solidFill>
          <a:ln/>
        </p:spPr>
      </p:sp>
      <p:sp>
        <p:nvSpPr>
          <p:cNvPr id="11" name="Text 9"/>
          <p:cNvSpPr/>
          <p:nvPr/>
        </p:nvSpPr>
        <p:spPr>
          <a:xfrm>
            <a:off x="411480" y="2532888"/>
            <a:ext cx="3886200" cy="34747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Humidité des croquettes</a:t>
            </a:r>
            <a:endParaRPr lang="en-US" sz="1250" dirty="0"/>
          </a:p>
        </p:txBody>
      </p:sp>
      <p:sp>
        <p:nvSpPr>
          <p:cNvPr id="12" name="Text 10"/>
          <p:cNvSpPr/>
          <p:nvPr/>
        </p:nvSpPr>
        <p:spPr>
          <a:xfrm>
            <a:off x="411480" y="2898648"/>
            <a:ext cx="3886200" cy="658368"/>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Le capteur du séchoir ne mesure QUE l'humidité de l'air, pas celle du produit. M. Du (ingénieur) confirme : mesure produit impossible par capteur — laboratoire obligatoire.</a:t>
            </a:r>
            <a:endParaRPr lang="en-US" sz="1100" dirty="0"/>
          </a:p>
        </p:txBody>
      </p:sp>
      <p:sp>
        <p:nvSpPr>
          <p:cNvPr id="13" name="Shape 11"/>
          <p:cNvSpPr/>
          <p:nvPr/>
        </p:nvSpPr>
        <p:spPr>
          <a:xfrm>
            <a:off x="274320" y="3739896"/>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4" name="Shape 12"/>
          <p:cNvSpPr/>
          <p:nvPr/>
        </p:nvSpPr>
        <p:spPr>
          <a:xfrm>
            <a:off x="274320" y="3739896"/>
            <a:ext cx="4160520" cy="54864"/>
          </a:xfrm>
          <a:prstGeom prst="rect">
            <a:avLst/>
          </a:prstGeom>
          <a:solidFill>
            <a:srgbClr val="2E5FA3"/>
          </a:solidFill>
          <a:ln/>
        </p:spPr>
      </p:sp>
      <p:sp>
        <p:nvSpPr>
          <p:cNvPr id="15" name="Text 13"/>
          <p:cNvSpPr/>
          <p:nvPr/>
        </p:nvSpPr>
        <p:spPr>
          <a:xfrm>
            <a:off x="411480" y="3831336"/>
            <a:ext cx="3886200" cy="34747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Compartimentage par zones</a:t>
            </a:r>
            <a:endParaRPr lang="en-US" sz="1250" dirty="0"/>
          </a:p>
        </p:txBody>
      </p:sp>
      <p:sp>
        <p:nvSpPr>
          <p:cNvPr id="16" name="Text 14"/>
          <p:cNvSpPr/>
          <p:nvPr/>
        </p:nvSpPr>
        <p:spPr>
          <a:xfrm>
            <a:off x="411480" y="4197096"/>
            <a:ext cx="3886200" cy="658368"/>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Solution recommandée : cloisonner la zone cooler, installer des climatiseurs à eau localisés. Pratique courante en Chine selon Zhou.</a:t>
            </a:r>
            <a:endParaRPr lang="en-US" sz="1100" dirty="0"/>
          </a:p>
        </p:txBody>
      </p:sp>
      <p:sp>
        <p:nvSpPr>
          <p:cNvPr id="17" name="Shape 15"/>
          <p:cNvSpPr/>
          <p:nvPr/>
        </p:nvSpPr>
        <p:spPr>
          <a:xfrm>
            <a:off x="4709160" y="1143000"/>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8" name="Shape 16"/>
          <p:cNvSpPr/>
          <p:nvPr/>
        </p:nvSpPr>
        <p:spPr>
          <a:xfrm>
            <a:off x="4709160" y="1143000"/>
            <a:ext cx="4160520" cy="54864"/>
          </a:xfrm>
          <a:prstGeom prst="rect">
            <a:avLst/>
          </a:prstGeom>
          <a:solidFill>
            <a:srgbClr val="2E5FA3"/>
          </a:solidFill>
          <a:ln/>
        </p:spPr>
      </p:sp>
      <p:sp>
        <p:nvSpPr>
          <p:cNvPr id="19" name="Text 17"/>
          <p:cNvSpPr/>
          <p:nvPr/>
        </p:nvSpPr>
        <p:spPr>
          <a:xfrm>
            <a:off x="4846320" y="1234440"/>
            <a:ext cx="3886200" cy="34747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Digital Twin / Simulation</a:t>
            </a:r>
            <a:endParaRPr lang="en-US" sz="1250" dirty="0"/>
          </a:p>
        </p:txBody>
      </p:sp>
      <p:sp>
        <p:nvSpPr>
          <p:cNvPr id="20" name="Text 18"/>
          <p:cNvSpPr/>
          <p:nvPr/>
        </p:nvSpPr>
        <p:spPr>
          <a:xfrm>
            <a:off x="4846320" y="1600200"/>
            <a:ext cx="3886200" cy="658368"/>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Système annoncé récemment par Famsun. Intégration tardive : 2–3 mois de travaux supplémentaires + refonte matérielle. Non économique pour la ligne 1.</a:t>
            </a:r>
            <a:endParaRPr lang="en-US" sz="1100" dirty="0"/>
          </a:p>
        </p:txBody>
      </p:sp>
      <p:sp>
        <p:nvSpPr>
          <p:cNvPr id="21" name="Shape 19"/>
          <p:cNvSpPr/>
          <p:nvPr/>
        </p:nvSpPr>
        <p:spPr>
          <a:xfrm>
            <a:off x="4709160" y="2441448"/>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22" name="Shape 20"/>
          <p:cNvSpPr/>
          <p:nvPr/>
        </p:nvSpPr>
        <p:spPr>
          <a:xfrm>
            <a:off x="4709160" y="2441448"/>
            <a:ext cx="4160520" cy="54864"/>
          </a:xfrm>
          <a:prstGeom prst="rect">
            <a:avLst/>
          </a:prstGeom>
          <a:solidFill>
            <a:srgbClr val="2E5FA3"/>
          </a:solidFill>
          <a:ln/>
        </p:spPr>
      </p:sp>
      <p:sp>
        <p:nvSpPr>
          <p:cNvPr id="23" name="Text 21"/>
          <p:cNvSpPr/>
          <p:nvPr/>
        </p:nvSpPr>
        <p:spPr>
          <a:xfrm>
            <a:off x="4846320" y="2532888"/>
            <a:ext cx="3886200" cy="34747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Stockage des huiles (extérieur)</a:t>
            </a:r>
            <a:endParaRPr lang="en-US" sz="1250" dirty="0"/>
          </a:p>
        </p:txBody>
      </p:sp>
      <p:sp>
        <p:nvSpPr>
          <p:cNvPr id="24" name="Text 22"/>
          <p:cNvSpPr/>
          <p:nvPr/>
        </p:nvSpPr>
        <p:spPr>
          <a:xfrm>
            <a:off x="4846320" y="2898648"/>
            <a:ext cx="3886200" cy="658368"/>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Mike confirme : huiles stockables dehors avec isolation thermique (ex. Arabie Saoudite). Documentation technique à fournir.</a:t>
            </a:r>
            <a:endParaRPr lang="en-US" sz="1100" dirty="0"/>
          </a:p>
        </p:txBody>
      </p:sp>
      <p:sp>
        <p:nvSpPr>
          <p:cNvPr id="25" name="Shape 23"/>
          <p:cNvSpPr/>
          <p:nvPr/>
        </p:nvSpPr>
        <p:spPr>
          <a:xfrm>
            <a:off x="4709160" y="3739896"/>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26" name="Shape 24"/>
          <p:cNvSpPr/>
          <p:nvPr/>
        </p:nvSpPr>
        <p:spPr>
          <a:xfrm>
            <a:off x="4709160" y="3739896"/>
            <a:ext cx="4160520" cy="54864"/>
          </a:xfrm>
          <a:prstGeom prst="rect">
            <a:avLst/>
          </a:prstGeom>
          <a:solidFill>
            <a:srgbClr val="2E5FA3"/>
          </a:solidFill>
          <a:ln/>
        </p:spPr>
      </p:sp>
      <p:sp>
        <p:nvSpPr>
          <p:cNvPr id="27" name="Text 25"/>
          <p:cNvSpPr/>
          <p:nvPr/>
        </p:nvSpPr>
        <p:spPr>
          <a:xfrm>
            <a:off x="4846320" y="3831336"/>
            <a:ext cx="3886200" cy="34747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Capteur d'humidité séchoir manquant</a:t>
            </a:r>
            <a:endParaRPr lang="en-US" sz="1250" dirty="0"/>
          </a:p>
        </p:txBody>
      </p:sp>
      <p:sp>
        <p:nvSpPr>
          <p:cNvPr id="28" name="Text 26"/>
          <p:cNvSpPr/>
          <p:nvPr/>
        </p:nvSpPr>
        <p:spPr>
          <a:xfrm>
            <a:off x="4846320" y="4197096"/>
            <a:ext cx="3886200" cy="658368"/>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Du Laoshi (ingénieur) : il faut effectivement ajouter un capteur d'humidité air au séchoir — non présent actuellement.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Shape 1"/>
          <p:cNvSpPr/>
          <p:nvPr/>
        </p:nvSpPr>
        <p:spPr>
          <a:xfrm>
            <a:off x="0" y="960120"/>
            <a:ext cx="9144000" cy="64008"/>
          </a:xfrm>
          <a:prstGeom prst="rect">
            <a:avLst/>
          </a:prstGeom>
          <a:solidFill>
            <a:srgbClr val="C0392B"/>
          </a:solidFill>
          <a:ln/>
        </p:spPr>
      </p:sp>
      <p:sp>
        <p:nvSpPr>
          <p:cNvPr id="4" name="Text 2"/>
          <p:cNvSpPr/>
          <p:nvPr/>
        </p:nvSpPr>
        <p:spPr>
          <a:xfrm>
            <a:off x="365760" y="137160"/>
            <a:ext cx="8412480" cy="685800"/>
          </a:xfrm>
          <a:prstGeom prst="rect">
            <a:avLst/>
          </a:prstGeom>
          <a:noFill/>
          <a:ln/>
        </p:spPr>
        <p:txBody>
          <a:bodyPr wrap="square" lIns="0" tIns="0" rIns="0" bIns="0" rtlCol="0" anchor="ctr"/>
          <a:lstStyle/>
          <a:p>
            <a:pPr indent="0" marL="0">
              <a:buNone/>
            </a:pPr>
            <a:r>
              <a:rPr lang="en-US" sz="2300" b="1" dirty="0">
                <a:solidFill>
                  <a:srgbClr val="FFFFFF"/>
                </a:solidFill>
                <a:latin typeface="Georgia" pitchFamily="34" charset="0"/>
                <a:ea typeface="Georgia" pitchFamily="34" charset="-122"/>
                <a:cs typeface="Georgia" pitchFamily="34" charset="-120"/>
              </a:rPr>
              <a:t>ENGAGEMENTS PRIS PAR FAMSUN LORS DE LA RÉUNION</a:t>
            </a:r>
            <a:endParaRPr lang="en-US" sz="2300" dirty="0"/>
          </a:p>
        </p:txBody>
      </p:sp>
      <p:sp>
        <p:nvSpPr>
          <p:cNvPr id="5" name="Shape 3"/>
          <p:cNvSpPr/>
          <p:nvPr/>
        </p:nvSpPr>
        <p:spPr>
          <a:xfrm>
            <a:off x="274320" y="1143000"/>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6" name="Shape 4"/>
          <p:cNvSpPr/>
          <p:nvPr/>
        </p:nvSpPr>
        <p:spPr>
          <a:xfrm>
            <a:off x="274320" y="1143000"/>
            <a:ext cx="502920" cy="1170432"/>
          </a:xfrm>
          <a:prstGeom prst="rect">
            <a:avLst/>
          </a:prstGeom>
          <a:solidFill>
            <a:srgbClr val="D4A017"/>
          </a:solidFill>
          <a:ln/>
        </p:spPr>
      </p:sp>
      <p:sp>
        <p:nvSpPr>
          <p:cNvPr id="7" name="Text 5"/>
          <p:cNvSpPr/>
          <p:nvPr/>
        </p:nvSpPr>
        <p:spPr>
          <a:xfrm>
            <a:off x="274320" y="1143000"/>
            <a:ext cx="5029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8" name="Text 6"/>
          <p:cNvSpPr/>
          <p:nvPr/>
        </p:nvSpPr>
        <p:spPr>
          <a:xfrm>
            <a:off x="274320" y="1709928"/>
            <a:ext cx="50292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À RECEVOIR</a:t>
            </a:r>
            <a:endParaRPr lang="en-US" sz="750" dirty="0"/>
          </a:p>
        </p:txBody>
      </p:sp>
      <p:sp>
        <p:nvSpPr>
          <p:cNvPr id="9" name="Text 7"/>
          <p:cNvSpPr/>
          <p:nvPr/>
        </p:nvSpPr>
        <p:spPr>
          <a:xfrm>
            <a:off x="868680" y="1207008"/>
            <a:ext cx="3456432" cy="34747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Blueprint annoté par zones</a:t>
            </a:r>
            <a:endParaRPr lang="en-US" sz="1200" dirty="0"/>
          </a:p>
        </p:txBody>
      </p:sp>
      <p:sp>
        <p:nvSpPr>
          <p:cNvPr id="10" name="Text 8"/>
          <p:cNvSpPr/>
          <p:nvPr/>
        </p:nvSpPr>
        <p:spPr>
          <a:xfrm>
            <a:off x="868680" y="1572768"/>
            <a:ext cx="3456432" cy="658368"/>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Plan de l'usine avec températures et conditions recommandées pour chaque zone (matières premières → conditionnement). Responsable : Zhou (ingénieur CN).</a:t>
            </a:r>
            <a:endParaRPr lang="en-US" sz="1050" dirty="0"/>
          </a:p>
        </p:txBody>
      </p:sp>
      <p:sp>
        <p:nvSpPr>
          <p:cNvPr id="11" name="Shape 9"/>
          <p:cNvSpPr/>
          <p:nvPr/>
        </p:nvSpPr>
        <p:spPr>
          <a:xfrm>
            <a:off x="4709160" y="1143000"/>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2" name="Shape 10"/>
          <p:cNvSpPr/>
          <p:nvPr/>
        </p:nvSpPr>
        <p:spPr>
          <a:xfrm>
            <a:off x="4709160" y="1143000"/>
            <a:ext cx="502920" cy="1170432"/>
          </a:xfrm>
          <a:prstGeom prst="rect">
            <a:avLst/>
          </a:prstGeom>
          <a:solidFill>
            <a:srgbClr val="D4A017"/>
          </a:solidFill>
          <a:ln/>
        </p:spPr>
      </p:sp>
      <p:sp>
        <p:nvSpPr>
          <p:cNvPr id="13" name="Text 11"/>
          <p:cNvSpPr/>
          <p:nvPr/>
        </p:nvSpPr>
        <p:spPr>
          <a:xfrm>
            <a:off x="4709160" y="1143000"/>
            <a:ext cx="5029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4" name="Text 12"/>
          <p:cNvSpPr/>
          <p:nvPr/>
        </p:nvSpPr>
        <p:spPr>
          <a:xfrm>
            <a:off x="4709160" y="1709928"/>
            <a:ext cx="50292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À RECEVOIR</a:t>
            </a:r>
            <a:endParaRPr lang="en-US" sz="750" dirty="0"/>
          </a:p>
        </p:txBody>
      </p:sp>
      <p:sp>
        <p:nvSpPr>
          <p:cNvPr id="15" name="Text 13"/>
          <p:cNvSpPr/>
          <p:nvPr/>
        </p:nvSpPr>
        <p:spPr>
          <a:xfrm>
            <a:off x="5303520" y="1207008"/>
            <a:ext cx="3456432" cy="34747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Liste complète des capteurs &amp; instruments</a:t>
            </a:r>
            <a:endParaRPr lang="en-US" sz="1200" dirty="0"/>
          </a:p>
        </p:txBody>
      </p:sp>
      <p:sp>
        <p:nvSpPr>
          <p:cNvPr id="16" name="Text 14"/>
          <p:cNvSpPr/>
          <p:nvPr/>
        </p:nvSpPr>
        <p:spPr>
          <a:xfrm>
            <a:off x="5303520" y="1572768"/>
            <a:ext cx="3456432" cy="658368"/>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Document PDF des instruments avec description fonctionnelle. En cours de préparation par l'équipe IND de Famsun. Délai : J+1 ou J+2.</a:t>
            </a:r>
            <a:endParaRPr lang="en-US" sz="1050" dirty="0"/>
          </a:p>
        </p:txBody>
      </p:sp>
      <p:sp>
        <p:nvSpPr>
          <p:cNvPr id="17" name="Shape 15"/>
          <p:cNvSpPr/>
          <p:nvPr/>
        </p:nvSpPr>
        <p:spPr>
          <a:xfrm>
            <a:off x="274320" y="2441448"/>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8" name="Shape 16"/>
          <p:cNvSpPr/>
          <p:nvPr/>
        </p:nvSpPr>
        <p:spPr>
          <a:xfrm>
            <a:off x="274320" y="2441448"/>
            <a:ext cx="502920" cy="1170432"/>
          </a:xfrm>
          <a:prstGeom prst="rect">
            <a:avLst/>
          </a:prstGeom>
          <a:solidFill>
            <a:srgbClr val="D4A017"/>
          </a:solidFill>
          <a:ln/>
        </p:spPr>
      </p:sp>
      <p:sp>
        <p:nvSpPr>
          <p:cNvPr id="19" name="Text 17"/>
          <p:cNvSpPr/>
          <p:nvPr/>
        </p:nvSpPr>
        <p:spPr>
          <a:xfrm>
            <a:off x="274320" y="2441448"/>
            <a:ext cx="5029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20" name="Text 18"/>
          <p:cNvSpPr/>
          <p:nvPr/>
        </p:nvSpPr>
        <p:spPr>
          <a:xfrm>
            <a:off x="274320" y="3008376"/>
            <a:ext cx="50292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À RECEVOIR</a:t>
            </a:r>
            <a:endParaRPr lang="en-US" sz="750" dirty="0"/>
          </a:p>
        </p:txBody>
      </p:sp>
      <p:sp>
        <p:nvSpPr>
          <p:cNvPr id="21" name="Text 19"/>
          <p:cNvSpPr/>
          <p:nvPr/>
        </p:nvSpPr>
        <p:spPr>
          <a:xfrm>
            <a:off x="868680" y="2505456"/>
            <a:ext cx="3456432" cy="34747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Spécification isolation conduites</a:t>
            </a:r>
            <a:endParaRPr lang="en-US" sz="1200" dirty="0"/>
          </a:p>
        </p:txBody>
      </p:sp>
      <p:sp>
        <p:nvSpPr>
          <p:cNvPr id="22" name="Text 20"/>
          <p:cNvSpPr/>
          <p:nvPr/>
        </p:nvSpPr>
        <p:spPr>
          <a:xfrm>
            <a:off x="868680" y="2871216"/>
            <a:ext cx="3456432" cy="658368"/>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Documentation technique sur le type d'isolation recommandé pour les conduites vapeur et les conduites du refroidisseur.</a:t>
            </a:r>
            <a:endParaRPr lang="en-US" sz="1050" dirty="0"/>
          </a:p>
        </p:txBody>
      </p:sp>
      <p:sp>
        <p:nvSpPr>
          <p:cNvPr id="23" name="Shape 21"/>
          <p:cNvSpPr/>
          <p:nvPr/>
        </p:nvSpPr>
        <p:spPr>
          <a:xfrm>
            <a:off x="4709160" y="2441448"/>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24" name="Shape 22"/>
          <p:cNvSpPr/>
          <p:nvPr/>
        </p:nvSpPr>
        <p:spPr>
          <a:xfrm>
            <a:off x="4709160" y="2441448"/>
            <a:ext cx="502920" cy="1170432"/>
          </a:xfrm>
          <a:prstGeom prst="rect">
            <a:avLst/>
          </a:prstGeom>
          <a:solidFill>
            <a:srgbClr val="D4A017"/>
          </a:solidFill>
          <a:ln/>
        </p:spPr>
      </p:sp>
      <p:sp>
        <p:nvSpPr>
          <p:cNvPr id="25" name="Text 23"/>
          <p:cNvSpPr/>
          <p:nvPr/>
        </p:nvSpPr>
        <p:spPr>
          <a:xfrm>
            <a:off x="4709160" y="2441448"/>
            <a:ext cx="5029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04</a:t>
            </a:r>
            <a:endParaRPr lang="en-US" sz="1600" dirty="0"/>
          </a:p>
        </p:txBody>
      </p:sp>
      <p:sp>
        <p:nvSpPr>
          <p:cNvPr id="26" name="Text 24"/>
          <p:cNvSpPr/>
          <p:nvPr/>
        </p:nvSpPr>
        <p:spPr>
          <a:xfrm>
            <a:off x="4709160" y="3008376"/>
            <a:ext cx="50292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À RECEVOIR</a:t>
            </a:r>
            <a:endParaRPr lang="en-US" sz="750" dirty="0"/>
          </a:p>
        </p:txBody>
      </p:sp>
      <p:sp>
        <p:nvSpPr>
          <p:cNvPr id="27" name="Text 25"/>
          <p:cNvSpPr/>
          <p:nvPr/>
        </p:nvSpPr>
        <p:spPr>
          <a:xfrm>
            <a:off x="5303520" y="2505456"/>
            <a:ext cx="3456432" cy="34747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Documentation stockage huiles extérieur</a:t>
            </a:r>
            <a:endParaRPr lang="en-US" sz="1200" dirty="0"/>
          </a:p>
        </p:txBody>
      </p:sp>
      <p:sp>
        <p:nvSpPr>
          <p:cNvPr id="28" name="Text 26"/>
          <p:cNvSpPr/>
          <p:nvPr/>
        </p:nvSpPr>
        <p:spPr>
          <a:xfrm>
            <a:off x="5303520" y="2871216"/>
            <a:ext cx="3456432" cy="658368"/>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Exemples, photos et spécifications techniques du type de conteneur isolé pour stockage d'huiles en environnement chaud.</a:t>
            </a:r>
            <a:endParaRPr lang="en-US" sz="1050" dirty="0"/>
          </a:p>
        </p:txBody>
      </p:sp>
      <p:sp>
        <p:nvSpPr>
          <p:cNvPr id="29" name="Shape 27"/>
          <p:cNvSpPr/>
          <p:nvPr/>
        </p:nvSpPr>
        <p:spPr>
          <a:xfrm>
            <a:off x="274320" y="3739896"/>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30" name="Shape 28"/>
          <p:cNvSpPr/>
          <p:nvPr/>
        </p:nvSpPr>
        <p:spPr>
          <a:xfrm>
            <a:off x="274320" y="3739896"/>
            <a:ext cx="502920" cy="1170432"/>
          </a:xfrm>
          <a:prstGeom prst="rect">
            <a:avLst/>
          </a:prstGeom>
          <a:solidFill>
            <a:srgbClr val="2E5FA3"/>
          </a:solidFill>
          <a:ln/>
        </p:spPr>
      </p:sp>
      <p:sp>
        <p:nvSpPr>
          <p:cNvPr id="31" name="Text 29"/>
          <p:cNvSpPr/>
          <p:nvPr/>
        </p:nvSpPr>
        <p:spPr>
          <a:xfrm>
            <a:off x="274320" y="3739896"/>
            <a:ext cx="5029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05</a:t>
            </a:r>
            <a:endParaRPr lang="en-US" sz="1600" dirty="0"/>
          </a:p>
        </p:txBody>
      </p:sp>
      <p:sp>
        <p:nvSpPr>
          <p:cNvPr id="32" name="Text 30"/>
          <p:cNvSpPr/>
          <p:nvPr/>
        </p:nvSpPr>
        <p:spPr>
          <a:xfrm>
            <a:off x="274320" y="4306824"/>
            <a:ext cx="50292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EN COURS</a:t>
            </a:r>
            <a:endParaRPr lang="en-US" sz="750" dirty="0"/>
          </a:p>
        </p:txBody>
      </p:sp>
      <p:sp>
        <p:nvSpPr>
          <p:cNvPr id="33" name="Text 31"/>
          <p:cNvSpPr/>
          <p:nvPr/>
        </p:nvSpPr>
        <p:spPr>
          <a:xfrm>
            <a:off x="868680" y="3803904"/>
            <a:ext cx="3456432" cy="34747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Faisabilité optimisation énergie</a:t>
            </a:r>
            <a:endParaRPr lang="en-US" sz="1200" dirty="0"/>
          </a:p>
        </p:txBody>
      </p:sp>
      <p:sp>
        <p:nvSpPr>
          <p:cNvPr id="34" name="Text 32"/>
          <p:cNvSpPr/>
          <p:nvPr/>
        </p:nvSpPr>
        <p:spPr>
          <a:xfrm>
            <a:off x="868680" y="4169664"/>
            <a:ext cx="3456432" cy="658368"/>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Réponse attendue J+1 ou J+2. Question : est-il possible d'opérer la ligne au point optimal de consommation énergétique ?</a:t>
            </a:r>
            <a:endParaRPr lang="en-US" sz="1050" dirty="0"/>
          </a:p>
        </p:txBody>
      </p:sp>
      <p:sp>
        <p:nvSpPr>
          <p:cNvPr id="35" name="Shape 33"/>
          <p:cNvSpPr/>
          <p:nvPr/>
        </p:nvSpPr>
        <p:spPr>
          <a:xfrm>
            <a:off x="4709160" y="3739896"/>
            <a:ext cx="4160520" cy="1170432"/>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36" name="Shape 34"/>
          <p:cNvSpPr/>
          <p:nvPr/>
        </p:nvSpPr>
        <p:spPr>
          <a:xfrm>
            <a:off x="4709160" y="3739896"/>
            <a:ext cx="502920" cy="1170432"/>
          </a:xfrm>
          <a:prstGeom prst="rect">
            <a:avLst/>
          </a:prstGeom>
          <a:solidFill>
            <a:srgbClr val="2E5FA3"/>
          </a:solidFill>
          <a:ln/>
        </p:spPr>
      </p:sp>
      <p:sp>
        <p:nvSpPr>
          <p:cNvPr id="37" name="Text 35"/>
          <p:cNvSpPr/>
          <p:nvPr/>
        </p:nvSpPr>
        <p:spPr>
          <a:xfrm>
            <a:off x="4709160" y="3739896"/>
            <a:ext cx="5029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06</a:t>
            </a:r>
            <a:endParaRPr lang="en-US" sz="1600" dirty="0"/>
          </a:p>
        </p:txBody>
      </p:sp>
      <p:sp>
        <p:nvSpPr>
          <p:cNvPr id="38" name="Text 36"/>
          <p:cNvSpPr/>
          <p:nvPr/>
        </p:nvSpPr>
        <p:spPr>
          <a:xfrm>
            <a:off x="4709160" y="4306824"/>
            <a:ext cx="50292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EN COURS</a:t>
            </a:r>
            <a:endParaRPr lang="en-US" sz="750" dirty="0"/>
          </a:p>
        </p:txBody>
      </p:sp>
      <p:sp>
        <p:nvSpPr>
          <p:cNvPr id="39" name="Text 37"/>
          <p:cNvSpPr/>
          <p:nvPr/>
        </p:nvSpPr>
        <p:spPr>
          <a:xfrm>
            <a:off x="5303520" y="3803904"/>
            <a:ext cx="3456432" cy="34747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Simulation de formules (Digital Twin)</a:t>
            </a:r>
            <a:endParaRPr lang="en-US" sz="1200" dirty="0"/>
          </a:p>
        </p:txBody>
      </p:sp>
      <p:sp>
        <p:nvSpPr>
          <p:cNvPr id="40" name="Text 38"/>
          <p:cNvSpPr/>
          <p:nvPr/>
        </p:nvSpPr>
        <p:spPr>
          <a:xfrm>
            <a:off x="5303520" y="4169664"/>
            <a:ext cx="3456432" cy="658368"/>
          </a:xfrm>
          <a:prstGeom prst="rect">
            <a:avLst/>
          </a:prstGeom>
          <a:noFill/>
          <a:ln/>
        </p:spPr>
        <p:txBody>
          <a:bodyPr wrap="square" lIns="0" tIns="0" rIns="0" bIns="0" rtlCol="0" anchor="ctr"/>
          <a:lstStyle/>
          <a:p>
            <a:pPr indent="0" marL="0">
              <a:buNone/>
            </a:pPr>
            <a:r>
              <a:rPr lang="en-US" sz="1050" dirty="0">
                <a:solidFill>
                  <a:srgbClr val="1C2B3A"/>
                </a:solidFill>
                <a:latin typeface="Calibri" pitchFamily="34" charset="0"/>
                <a:ea typeface="Calibri" pitchFamily="34" charset="-122"/>
                <a:cs typeface="Calibri" pitchFamily="34" charset="-120"/>
              </a:rPr>
              <a:t>Mike n'a jamais entendu parler de cette demande. Escalade vers l'équipe technique pour évaluation de faisabilité.</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p:spPr>
      </p:sp>
      <p:sp>
        <p:nvSpPr>
          <p:cNvPr id="3" name="Shape 1"/>
          <p:cNvSpPr/>
          <p:nvPr/>
        </p:nvSpPr>
        <p:spPr>
          <a:xfrm>
            <a:off x="164592" y="932688"/>
            <a:ext cx="8979408" cy="64008"/>
          </a:xfrm>
          <a:prstGeom prst="rect">
            <a:avLst/>
          </a:prstGeom>
          <a:solidFill>
            <a:srgbClr val="D4A017"/>
          </a:solidFill>
          <a:ln/>
        </p:spPr>
      </p:sp>
      <p:sp>
        <p:nvSpPr>
          <p:cNvPr id="4" name="Text 2"/>
          <p:cNvSpPr/>
          <p:nvPr/>
        </p:nvSpPr>
        <p:spPr>
          <a:xfrm>
            <a:off x="457200" y="182880"/>
            <a:ext cx="8229600" cy="68580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IMPLICATIONS CONTRACTUELLES</a:t>
            </a:r>
            <a:endParaRPr lang="en-US" sz="2800" dirty="0"/>
          </a:p>
        </p:txBody>
      </p:sp>
      <p:sp>
        <p:nvSpPr>
          <p:cNvPr id="5" name="Shape 3"/>
          <p:cNvSpPr/>
          <p:nvPr/>
        </p:nvSpPr>
        <p:spPr>
          <a:xfrm>
            <a:off x="274320" y="1143000"/>
            <a:ext cx="4160520" cy="1170432"/>
          </a:xfrm>
          <a:prstGeom prst="rect">
            <a:avLst/>
          </a:prstGeom>
          <a:solidFill>
            <a:srgbClr val="243656"/>
          </a:solidFill>
          <a:ln/>
          <a:effectLst>
            <a:outerShdw sx="100000" sy="100000" kx="0" ky="0" algn="bl" rotWithShape="0" blurRad="101600" dist="38100" dir="8100000">
              <a:srgbClr val="000000">
                <a:alpha val="15000"/>
              </a:srgbClr>
            </a:outerShdw>
          </a:effectLst>
        </p:spPr>
      </p:sp>
      <p:sp>
        <p:nvSpPr>
          <p:cNvPr id="6" name="Text 4"/>
          <p:cNvSpPr/>
          <p:nvPr/>
        </p:nvSpPr>
        <p:spPr>
          <a:xfrm>
            <a:off x="411480" y="1234440"/>
            <a:ext cx="3886200" cy="347472"/>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  Omission documentée</a:t>
            </a:r>
            <a:endParaRPr lang="en-US" sz="1300" dirty="0"/>
          </a:p>
        </p:txBody>
      </p:sp>
      <p:sp>
        <p:nvSpPr>
          <p:cNvPr id="7" name="Text 5"/>
          <p:cNvSpPr/>
          <p:nvPr/>
        </p:nvSpPr>
        <p:spPr>
          <a:xfrm>
            <a:off x="411480" y="1600200"/>
            <a:ext cx="3886200" cy="65836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Les ingénieurs Famsun ont confirmé en privé que la question de la température ambiante n'a pas été discutée lors de la phase contractuelle. Cette reconnaissance constitue un aveu d'omission.</a:t>
            </a:r>
            <a:endParaRPr lang="en-US" sz="1050" dirty="0"/>
          </a:p>
        </p:txBody>
      </p:sp>
      <p:sp>
        <p:nvSpPr>
          <p:cNvPr id="8" name="Shape 6"/>
          <p:cNvSpPr/>
          <p:nvPr/>
        </p:nvSpPr>
        <p:spPr>
          <a:xfrm>
            <a:off x="274320" y="2441448"/>
            <a:ext cx="4160520" cy="1170432"/>
          </a:xfrm>
          <a:prstGeom prst="rect">
            <a:avLst/>
          </a:prstGeom>
          <a:solidFill>
            <a:srgbClr val="243656"/>
          </a:solidFill>
          <a:ln/>
          <a:effectLst>
            <a:outerShdw sx="100000" sy="100000" kx="0" ky="0" algn="bl" rotWithShape="0" blurRad="101600" dist="38100" dir="8100000">
              <a:srgbClr val="000000">
                <a:alpha val="15000"/>
              </a:srgbClr>
            </a:outerShdw>
          </a:effectLst>
        </p:spPr>
      </p:sp>
      <p:sp>
        <p:nvSpPr>
          <p:cNvPr id="9" name="Text 7"/>
          <p:cNvSpPr/>
          <p:nvPr/>
        </p:nvSpPr>
        <p:spPr>
          <a:xfrm>
            <a:off x="411480" y="2532888"/>
            <a:ext cx="3886200" cy="347472"/>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  Hors-scope non défini</a:t>
            </a:r>
            <a:endParaRPr lang="en-US" sz="1300" dirty="0"/>
          </a:p>
        </p:txBody>
      </p:sp>
      <p:sp>
        <p:nvSpPr>
          <p:cNvPr id="10" name="Text 8"/>
          <p:cNvSpPr/>
          <p:nvPr/>
        </p:nvSpPr>
        <p:spPr>
          <a:xfrm>
            <a:off x="411480" y="2898648"/>
            <a:ext cx="3886200" cy="65836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L'HVAC n'est pas explicitement exclu du contrat. L'argument de Zhou ("même l'éclairage n'est pas notre problème") a été contredit par Mike lui-même.</a:t>
            </a:r>
            <a:endParaRPr lang="en-US" sz="1050" dirty="0"/>
          </a:p>
        </p:txBody>
      </p:sp>
      <p:sp>
        <p:nvSpPr>
          <p:cNvPr id="11" name="Shape 9"/>
          <p:cNvSpPr/>
          <p:nvPr/>
        </p:nvSpPr>
        <p:spPr>
          <a:xfrm>
            <a:off x="274320" y="3739896"/>
            <a:ext cx="4160520" cy="1170432"/>
          </a:xfrm>
          <a:prstGeom prst="rect">
            <a:avLst/>
          </a:prstGeom>
          <a:solidFill>
            <a:srgbClr val="243656"/>
          </a:solidFill>
          <a:ln/>
          <a:effectLst>
            <a:outerShdw sx="100000" sy="100000" kx="0" ky="0" algn="bl" rotWithShape="0" blurRad="101600" dist="38100" dir="8100000">
              <a:srgbClr val="000000">
                <a:alpha val="15000"/>
              </a:srgbClr>
            </a:outerShdw>
          </a:effectLst>
        </p:spPr>
      </p:sp>
      <p:sp>
        <p:nvSpPr>
          <p:cNvPr id="12" name="Text 10"/>
          <p:cNvSpPr/>
          <p:nvPr/>
        </p:nvSpPr>
        <p:spPr>
          <a:xfrm>
            <a:off x="411480" y="3831336"/>
            <a:ext cx="3886200" cy="347472"/>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  Devoir de conseil</a:t>
            </a:r>
            <a:endParaRPr lang="en-US" sz="1300" dirty="0"/>
          </a:p>
        </p:txBody>
      </p:sp>
      <p:sp>
        <p:nvSpPr>
          <p:cNvPr id="13" name="Text 11"/>
          <p:cNvSpPr/>
          <p:nvPr/>
        </p:nvSpPr>
        <p:spPr>
          <a:xfrm>
            <a:off x="411480" y="4197096"/>
            <a:ext cx="3886200" cy="65836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En tant que fournisseur clé-en-main, Famsun avait une obligation d'alerter sur les conditions environnementales critiques pour la qualité du produit.</a:t>
            </a:r>
            <a:endParaRPr lang="en-US" sz="1050" dirty="0"/>
          </a:p>
        </p:txBody>
      </p:sp>
      <p:sp>
        <p:nvSpPr>
          <p:cNvPr id="14" name="Shape 12"/>
          <p:cNvSpPr/>
          <p:nvPr/>
        </p:nvSpPr>
        <p:spPr>
          <a:xfrm>
            <a:off x="4709160" y="1143000"/>
            <a:ext cx="4160520" cy="1170432"/>
          </a:xfrm>
          <a:prstGeom prst="rect">
            <a:avLst/>
          </a:prstGeom>
          <a:solidFill>
            <a:srgbClr val="243656"/>
          </a:solidFill>
          <a:ln/>
          <a:effectLst>
            <a:outerShdw sx="100000" sy="100000" kx="0" ky="0" algn="bl" rotWithShape="0" blurRad="101600" dist="38100" dir="8100000">
              <a:srgbClr val="000000">
                <a:alpha val="15000"/>
              </a:srgbClr>
            </a:outerShdw>
          </a:effectLst>
        </p:spPr>
      </p:sp>
      <p:sp>
        <p:nvSpPr>
          <p:cNvPr id="15" name="Text 13"/>
          <p:cNvSpPr/>
          <p:nvPr/>
        </p:nvSpPr>
        <p:spPr>
          <a:xfrm>
            <a:off x="4846320" y="1234440"/>
            <a:ext cx="3886200" cy="347472"/>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  Position de négociation renforcée</a:t>
            </a:r>
            <a:endParaRPr lang="en-US" sz="1300" dirty="0"/>
          </a:p>
        </p:txBody>
      </p:sp>
      <p:sp>
        <p:nvSpPr>
          <p:cNvPr id="16" name="Text 14"/>
          <p:cNvSpPr/>
          <p:nvPr/>
        </p:nvSpPr>
        <p:spPr>
          <a:xfrm>
            <a:off x="4846320" y="1600200"/>
            <a:ext cx="3886200" cy="65836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Le client dispose de preuves internes (conversations chinoises traduites) montrant que Famsun reconnaît l'omission et envisage une facturation supplémentaire.</a:t>
            </a:r>
            <a:endParaRPr lang="en-US" sz="1050" dirty="0"/>
          </a:p>
        </p:txBody>
      </p:sp>
      <p:sp>
        <p:nvSpPr>
          <p:cNvPr id="17" name="Shape 15"/>
          <p:cNvSpPr/>
          <p:nvPr/>
        </p:nvSpPr>
        <p:spPr>
          <a:xfrm>
            <a:off x="4709160" y="2441448"/>
            <a:ext cx="4160520" cy="1170432"/>
          </a:xfrm>
          <a:prstGeom prst="rect">
            <a:avLst/>
          </a:prstGeom>
          <a:solidFill>
            <a:srgbClr val="243656"/>
          </a:solidFill>
          <a:ln/>
          <a:effectLst>
            <a:outerShdw sx="100000" sy="100000" kx="0" ky="0" algn="bl" rotWithShape="0" blurRad="101600" dist="38100" dir="8100000">
              <a:srgbClr val="000000">
                <a:alpha val="15000"/>
              </a:srgbClr>
            </a:outerShdw>
          </a:effectLst>
        </p:spPr>
      </p:sp>
      <p:sp>
        <p:nvSpPr>
          <p:cNvPr id="18" name="Text 16"/>
          <p:cNvSpPr/>
          <p:nvPr/>
        </p:nvSpPr>
        <p:spPr>
          <a:xfrm>
            <a:off x="4846320" y="2532888"/>
            <a:ext cx="3886200" cy="347472"/>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  Exiger les livrables par email</a:t>
            </a:r>
            <a:endParaRPr lang="en-US" sz="1300" dirty="0"/>
          </a:p>
        </p:txBody>
      </p:sp>
      <p:sp>
        <p:nvSpPr>
          <p:cNvPr id="19" name="Text 17"/>
          <p:cNvSpPr/>
          <p:nvPr/>
        </p:nvSpPr>
        <p:spPr>
          <a:xfrm>
            <a:off x="4846320" y="2898648"/>
            <a:ext cx="3886200" cy="65836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Tous les engagements pris verbalement doivent être confirmés par email (Mike : mike@hotmail.com). Ces documents deviennent des pièces contractuelles.</a:t>
            </a:r>
            <a:endParaRPr lang="en-US" sz="1050" dirty="0"/>
          </a:p>
        </p:txBody>
      </p:sp>
      <p:sp>
        <p:nvSpPr>
          <p:cNvPr id="20" name="Shape 18"/>
          <p:cNvSpPr/>
          <p:nvPr/>
        </p:nvSpPr>
        <p:spPr>
          <a:xfrm>
            <a:off x="4709160" y="3739896"/>
            <a:ext cx="4160520" cy="1170432"/>
          </a:xfrm>
          <a:prstGeom prst="rect">
            <a:avLst/>
          </a:prstGeom>
          <a:solidFill>
            <a:srgbClr val="243656"/>
          </a:solidFill>
          <a:ln/>
          <a:effectLst>
            <a:outerShdw sx="100000" sy="100000" kx="0" ky="0" algn="bl" rotWithShape="0" blurRad="101600" dist="38100" dir="8100000">
              <a:srgbClr val="000000">
                <a:alpha val="15000"/>
              </a:srgbClr>
            </a:outerShdw>
          </a:effectLst>
        </p:spPr>
      </p:sp>
      <p:sp>
        <p:nvSpPr>
          <p:cNvPr id="21" name="Text 19"/>
          <p:cNvSpPr/>
          <p:nvPr/>
        </p:nvSpPr>
        <p:spPr>
          <a:xfrm>
            <a:off x="4846320" y="3831336"/>
            <a:ext cx="3886200" cy="347472"/>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  Risque statut ROUGE maintenu</a:t>
            </a:r>
            <a:endParaRPr lang="en-US" sz="1300" dirty="0"/>
          </a:p>
        </p:txBody>
      </p:sp>
      <p:sp>
        <p:nvSpPr>
          <p:cNvPr id="22" name="Text 20"/>
          <p:cNvSpPr/>
          <p:nvPr/>
        </p:nvSpPr>
        <p:spPr>
          <a:xfrm>
            <a:off x="4846320" y="4197096"/>
            <a:ext cx="3886200" cy="65836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Jusqu'à réception du blueprint HVAC annoté et de la liste capteurs complète, le statut technique de la zone conditionnement reste ROUGE.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p:spPr>
      </p:sp>
      <p:sp>
        <p:nvSpPr>
          <p:cNvPr id="3" name="Shape 1"/>
          <p:cNvSpPr/>
          <p:nvPr/>
        </p:nvSpPr>
        <p:spPr>
          <a:xfrm>
            <a:off x="0" y="960120"/>
            <a:ext cx="9144000" cy="64008"/>
          </a:xfrm>
          <a:prstGeom prst="rect">
            <a:avLst/>
          </a:prstGeom>
          <a:solidFill>
            <a:srgbClr val="D4A017"/>
          </a:solidFill>
          <a:ln/>
        </p:spPr>
      </p:sp>
      <p:sp>
        <p:nvSpPr>
          <p:cNvPr id="4" name="Text 2"/>
          <p:cNvSpPr/>
          <p:nvPr/>
        </p:nvSpPr>
        <p:spPr>
          <a:xfrm>
            <a:off x="365760" y="137160"/>
            <a:ext cx="8229600" cy="6858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CONCLUSION &amp; PROCHAINES ÉTAPES</a:t>
            </a:r>
            <a:endParaRPr lang="en-US" sz="2600" dirty="0"/>
          </a:p>
        </p:txBody>
      </p:sp>
      <p:sp>
        <p:nvSpPr>
          <p:cNvPr id="5" name="Shape 3"/>
          <p:cNvSpPr/>
          <p:nvPr/>
        </p:nvSpPr>
        <p:spPr>
          <a:xfrm>
            <a:off x="274320" y="1097280"/>
            <a:ext cx="8595360" cy="777240"/>
          </a:xfrm>
          <a:prstGeom prst="rect">
            <a:avLst/>
          </a:prstGeom>
          <a:solidFill>
            <a:srgbClr val="FFF3CD"/>
          </a:solidFill>
          <a:ln/>
          <a:effectLst>
            <a:outerShdw sx="100000" sy="100000" kx="0" ky="0" algn="bl" rotWithShape="0" blurRad="101600" dist="38100" dir="8100000">
              <a:srgbClr val="000000">
                <a:alpha val="15000"/>
              </a:srgbClr>
            </a:outerShdw>
          </a:effectLst>
        </p:spPr>
      </p:sp>
      <p:sp>
        <p:nvSpPr>
          <p:cNvPr id="6" name="Shape 4"/>
          <p:cNvSpPr/>
          <p:nvPr/>
        </p:nvSpPr>
        <p:spPr>
          <a:xfrm>
            <a:off x="274320" y="1097280"/>
            <a:ext cx="73152" cy="777240"/>
          </a:xfrm>
          <a:prstGeom prst="rect">
            <a:avLst/>
          </a:prstGeom>
          <a:solidFill>
            <a:srgbClr val="D4A017"/>
          </a:solidFill>
          <a:ln/>
        </p:spPr>
      </p:sp>
      <p:sp>
        <p:nvSpPr>
          <p:cNvPr id="7" name="Text 5"/>
          <p:cNvSpPr/>
          <p:nvPr/>
        </p:nvSpPr>
        <p:spPr>
          <a:xfrm>
            <a:off x="457200" y="1143000"/>
            <a:ext cx="8321040" cy="667512"/>
          </a:xfrm>
          <a:prstGeom prst="rect">
            <a:avLst/>
          </a:prstGeom>
          <a:noFill/>
          <a:ln/>
        </p:spPr>
        <p:txBody>
          <a:bodyPr wrap="square" lIns="0" tIns="0" rIns="0" bIns="0" rtlCol="0" anchor="ctr"/>
          <a:lstStyle/>
          <a:p>
            <a:pPr indent="0" marL="0">
              <a:buNone/>
            </a:pPr>
            <a:r>
              <a:rPr lang="en-US" sz="1200" dirty="0">
                <a:solidFill>
                  <a:srgbClr val="5D4037"/>
                </a:solidFill>
                <a:latin typeface="Calibri" pitchFamily="34" charset="0"/>
                <a:ea typeface="Calibri" pitchFamily="34" charset="-122"/>
                <a:cs typeface="Calibri" pitchFamily="34" charset="-120"/>
              </a:rPr>
              <a:t>Synthèse : Famsun reconnaît implicitement l'omission HVAC. Les conversations privées en chinois constituent des preuves internes de cette reconnaissance. Le client est en position de force pour négocier la prise en charge partielle ou totale des solutions thermiques.</a:t>
            </a:r>
            <a:endParaRPr lang="en-US" sz="1200" dirty="0"/>
          </a:p>
        </p:txBody>
      </p:sp>
      <p:sp>
        <p:nvSpPr>
          <p:cNvPr id="8" name="Shape 6"/>
          <p:cNvSpPr/>
          <p:nvPr/>
        </p:nvSpPr>
        <p:spPr>
          <a:xfrm>
            <a:off x="274320" y="2011680"/>
            <a:ext cx="8595360" cy="54864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9" name="Shape 7"/>
          <p:cNvSpPr/>
          <p:nvPr/>
        </p:nvSpPr>
        <p:spPr>
          <a:xfrm>
            <a:off x="274320" y="2011680"/>
            <a:ext cx="502920" cy="548640"/>
          </a:xfrm>
          <a:prstGeom prst="rect">
            <a:avLst/>
          </a:prstGeom>
          <a:solidFill>
            <a:srgbClr val="2E5FA3"/>
          </a:solidFill>
          <a:ln/>
        </p:spPr>
      </p:sp>
      <p:sp>
        <p:nvSpPr>
          <p:cNvPr id="10" name="Text 8"/>
          <p:cNvSpPr/>
          <p:nvPr/>
        </p:nvSpPr>
        <p:spPr>
          <a:xfrm>
            <a:off x="274320" y="2011680"/>
            <a:ext cx="5029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11" name="Text 9"/>
          <p:cNvSpPr/>
          <p:nvPr/>
        </p:nvSpPr>
        <p:spPr>
          <a:xfrm>
            <a:off x="868680" y="2057400"/>
            <a:ext cx="10058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Immédiat</a:t>
            </a:r>
            <a:endParaRPr lang="en-US" sz="1000" dirty="0"/>
          </a:p>
        </p:txBody>
      </p:sp>
      <p:sp>
        <p:nvSpPr>
          <p:cNvPr id="12" name="Text 10"/>
          <p:cNvSpPr/>
          <p:nvPr/>
        </p:nvSpPr>
        <p:spPr>
          <a:xfrm>
            <a:off x="868680" y="2267712"/>
            <a:ext cx="32004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Envoyer email à Mike (mike@hotmail.com)</a:t>
            </a:r>
            <a:endParaRPr lang="en-US" sz="1200" dirty="0"/>
          </a:p>
        </p:txBody>
      </p:sp>
      <p:sp>
        <p:nvSpPr>
          <p:cNvPr id="13" name="Shape 11"/>
          <p:cNvSpPr/>
          <p:nvPr/>
        </p:nvSpPr>
        <p:spPr>
          <a:xfrm>
            <a:off x="4160520" y="2103120"/>
            <a:ext cx="36576" cy="384048"/>
          </a:xfrm>
          <a:prstGeom prst="rect">
            <a:avLst/>
          </a:prstGeom>
          <a:solidFill>
            <a:srgbClr val="D0D8E4"/>
          </a:solidFill>
          <a:ln/>
        </p:spPr>
      </p:sp>
      <p:sp>
        <p:nvSpPr>
          <p:cNvPr id="14" name="Text 12"/>
          <p:cNvSpPr/>
          <p:nvPr/>
        </p:nvSpPr>
        <p:spPr>
          <a:xfrm>
            <a:off x="4297680" y="2084832"/>
            <a:ext cx="4526280" cy="420624"/>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Récapituler tous les engagements de la réunion. CC Sam. Demander confirmation écrite.</a:t>
            </a:r>
            <a:endParaRPr lang="en-US" sz="1100" dirty="0"/>
          </a:p>
        </p:txBody>
      </p:sp>
      <p:sp>
        <p:nvSpPr>
          <p:cNvPr id="15" name="Shape 13"/>
          <p:cNvSpPr/>
          <p:nvPr/>
        </p:nvSpPr>
        <p:spPr>
          <a:xfrm>
            <a:off x="274320" y="2633472"/>
            <a:ext cx="8595360" cy="54864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16" name="Shape 14"/>
          <p:cNvSpPr/>
          <p:nvPr/>
        </p:nvSpPr>
        <p:spPr>
          <a:xfrm>
            <a:off x="274320" y="2633472"/>
            <a:ext cx="502920" cy="548640"/>
          </a:xfrm>
          <a:prstGeom prst="rect">
            <a:avLst/>
          </a:prstGeom>
          <a:solidFill>
            <a:srgbClr val="2E5FA3"/>
          </a:solidFill>
          <a:ln/>
        </p:spPr>
      </p:sp>
      <p:sp>
        <p:nvSpPr>
          <p:cNvPr id="17" name="Text 15"/>
          <p:cNvSpPr/>
          <p:nvPr/>
        </p:nvSpPr>
        <p:spPr>
          <a:xfrm>
            <a:off x="274320" y="2633472"/>
            <a:ext cx="5029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8" name="Text 16"/>
          <p:cNvSpPr/>
          <p:nvPr/>
        </p:nvSpPr>
        <p:spPr>
          <a:xfrm>
            <a:off x="868680" y="2679192"/>
            <a:ext cx="10058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J+2</a:t>
            </a:r>
            <a:endParaRPr lang="en-US" sz="1000" dirty="0"/>
          </a:p>
        </p:txBody>
      </p:sp>
      <p:sp>
        <p:nvSpPr>
          <p:cNvPr id="19" name="Text 17"/>
          <p:cNvSpPr/>
          <p:nvPr/>
        </p:nvSpPr>
        <p:spPr>
          <a:xfrm>
            <a:off x="868680" y="2889504"/>
            <a:ext cx="32004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Recevoir blueprint HVAC annoté par zones</a:t>
            </a:r>
            <a:endParaRPr lang="en-US" sz="1200" dirty="0"/>
          </a:p>
        </p:txBody>
      </p:sp>
      <p:sp>
        <p:nvSpPr>
          <p:cNvPr id="20" name="Shape 18"/>
          <p:cNvSpPr/>
          <p:nvPr/>
        </p:nvSpPr>
        <p:spPr>
          <a:xfrm>
            <a:off x="4160520" y="2724912"/>
            <a:ext cx="36576" cy="384048"/>
          </a:xfrm>
          <a:prstGeom prst="rect">
            <a:avLst/>
          </a:prstGeom>
          <a:solidFill>
            <a:srgbClr val="D0D8E4"/>
          </a:solidFill>
          <a:ln/>
        </p:spPr>
      </p:sp>
      <p:sp>
        <p:nvSpPr>
          <p:cNvPr id="21" name="Text 19"/>
          <p:cNvSpPr/>
          <p:nvPr/>
        </p:nvSpPr>
        <p:spPr>
          <a:xfrm>
            <a:off x="4297680" y="2706624"/>
            <a:ext cx="4526280" cy="420624"/>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Transmettre à INGénios pour révision du dimensionnement. Comparer avec l'existant VRV.</a:t>
            </a:r>
            <a:endParaRPr lang="en-US" sz="1100" dirty="0"/>
          </a:p>
        </p:txBody>
      </p:sp>
      <p:sp>
        <p:nvSpPr>
          <p:cNvPr id="22" name="Shape 20"/>
          <p:cNvSpPr/>
          <p:nvPr/>
        </p:nvSpPr>
        <p:spPr>
          <a:xfrm>
            <a:off x="274320" y="3255264"/>
            <a:ext cx="8595360" cy="54864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23" name="Shape 21"/>
          <p:cNvSpPr/>
          <p:nvPr/>
        </p:nvSpPr>
        <p:spPr>
          <a:xfrm>
            <a:off x="274320" y="3255264"/>
            <a:ext cx="502920" cy="548640"/>
          </a:xfrm>
          <a:prstGeom prst="rect">
            <a:avLst/>
          </a:prstGeom>
          <a:solidFill>
            <a:srgbClr val="2E5FA3"/>
          </a:solidFill>
          <a:ln/>
        </p:spPr>
      </p:sp>
      <p:sp>
        <p:nvSpPr>
          <p:cNvPr id="24" name="Text 22"/>
          <p:cNvSpPr/>
          <p:nvPr/>
        </p:nvSpPr>
        <p:spPr>
          <a:xfrm>
            <a:off x="274320" y="3255264"/>
            <a:ext cx="5029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5" name="Text 23"/>
          <p:cNvSpPr/>
          <p:nvPr/>
        </p:nvSpPr>
        <p:spPr>
          <a:xfrm>
            <a:off x="868680" y="3300984"/>
            <a:ext cx="10058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J+2</a:t>
            </a:r>
            <a:endParaRPr lang="en-US" sz="1000" dirty="0"/>
          </a:p>
        </p:txBody>
      </p:sp>
      <p:sp>
        <p:nvSpPr>
          <p:cNvPr id="26" name="Text 24"/>
          <p:cNvSpPr/>
          <p:nvPr/>
        </p:nvSpPr>
        <p:spPr>
          <a:xfrm>
            <a:off x="868680" y="3511296"/>
            <a:ext cx="32004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Recevoir liste complète des capteurs</a:t>
            </a:r>
            <a:endParaRPr lang="en-US" sz="1200" dirty="0"/>
          </a:p>
        </p:txBody>
      </p:sp>
      <p:sp>
        <p:nvSpPr>
          <p:cNvPr id="27" name="Shape 25"/>
          <p:cNvSpPr/>
          <p:nvPr/>
        </p:nvSpPr>
        <p:spPr>
          <a:xfrm>
            <a:off x="4160520" y="3346704"/>
            <a:ext cx="36576" cy="384048"/>
          </a:xfrm>
          <a:prstGeom prst="rect">
            <a:avLst/>
          </a:prstGeom>
          <a:solidFill>
            <a:srgbClr val="D0D8E4"/>
          </a:solidFill>
          <a:ln/>
        </p:spPr>
      </p:sp>
      <p:sp>
        <p:nvSpPr>
          <p:cNvPr id="28" name="Text 26"/>
          <p:cNvSpPr/>
          <p:nvPr/>
        </p:nvSpPr>
        <p:spPr>
          <a:xfrm>
            <a:off x="4297680" y="3328416"/>
            <a:ext cx="4526280" cy="420624"/>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Intégrer dans l'audit technique capteurs v3.0. Identifier les lacunes vs. contrat.</a:t>
            </a:r>
            <a:endParaRPr lang="en-US" sz="1100" dirty="0"/>
          </a:p>
        </p:txBody>
      </p:sp>
      <p:sp>
        <p:nvSpPr>
          <p:cNvPr id="29" name="Shape 27"/>
          <p:cNvSpPr/>
          <p:nvPr/>
        </p:nvSpPr>
        <p:spPr>
          <a:xfrm>
            <a:off x="274320" y="3877056"/>
            <a:ext cx="8595360" cy="54864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30" name="Shape 28"/>
          <p:cNvSpPr/>
          <p:nvPr/>
        </p:nvSpPr>
        <p:spPr>
          <a:xfrm>
            <a:off x="274320" y="3877056"/>
            <a:ext cx="502920" cy="548640"/>
          </a:xfrm>
          <a:prstGeom prst="rect">
            <a:avLst/>
          </a:prstGeom>
          <a:solidFill>
            <a:srgbClr val="C0392B"/>
          </a:solidFill>
          <a:ln/>
        </p:spPr>
      </p:sp>
      <p:sp>
        <p:nvSpPr>
          <p:cNvPr id="31" name="Text 29"/>
          <p:cNvSpPr/>
          <p:nvPr/>
        </p:nvSpPr>
        <p:spPr>
          <a:xfrm>
            <a:off x="274320" y="3877056"/>
            <a:ext cx="5029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32" name="Text 30"/>
          <p:cNvSpPr/>
          <p:nvPr/>
        </p:nvSpPr>
        <p:spPr>
          <a:xfrm>
            <a:off x="868680" y="3922776"/>
            <a:ext cx="10058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J+7</a:t>
            </a:r>
            <a:endParaRPr lang="en-US" sz="1000" dirty="0"/>
          </a:p>
        </p:txBody>
      </p:sp>
      <p:sp>
        <p:nvSpPr>
          <p:cNvPr id="33" name="Text 31"/>
          <p:cNvSpPr/>
          <p:nvPr/>
        </p:nvSpPr>
        <p:spPr>
          <a:xfrm>
            <a:off x="868680" y="4133088"/>
            <a:ext cx="32004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Escalade formelle si livrables non reçus</a:t>
            </a:r>
            <a:endParaRPr lang="en-US" sz="1200" dirty="0"/>
          </a:p>
        </p:txBody>
      </p:sp>
      <p:sp>
        <p:nvSpPr>
          <p:cNvPr id="34" name="Shape 32"/>
          <p:cNvSpPr/>
          <p:nvPr/>
        </p:nvSpPr>
        <p:spPr>
          <a:xfrm>
            <a:off x="4160520" y="3968496"/>
            <a:ext cx="36576" cy="384048"/>
          </a:xfrm>
          <a:prstGeom prst="rect">
            <a:avLst/>
          </a:prstGeom>
          <a:solidFill>
            <a:srgbClr val="D0D8E4"/>
          </a:solidFill>
          <a:ln/>
        </p:spPr>
      </p:sp>
      <p:sp>
        <p:nvSpPr>
          <p:cNvPr id="35" name="Text 33"/>
          <p:cNvSpPr/>
          <p:nvPr/>
        </p:nvSpPr>
        <p:spPr>
          <a:xfrm>
            <a:off x="4297680" y="3950208"/>
            <a:ext cx="4526280" cy="420624"/>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Envoyer RFI formelle selon procédure contractuelle (Contrat ICC arbitrage Paris, droit UK).</a:t>
            </a:r>
            <a:endParaRPr lang="en-US" sz="1100" dirty="0"/>
          </a:p>
        </p:txBody>
      </p:sp>
      <p:sp>
        <p:nvSpPr>
          <p:cNvPr id="36" name="Shape 34"/>
          <p:cNvSpPr/>
          <p:nvPr/>
        </p:nvSpPr>
        <p:spPr>
          <a:xfrm>
            <a:off x="274320" y="4498848"/>
            <a:ext cx="8595360" cy="548640"/>
          </a:xfrm>
          <a:prstGeom prst="rect">
            <a:avLst/>
          </a:prstGeom>
          <a:solidFill>
            <a:srgbClr val="FFFFFF"/>
          </a:solidFill>
          <a:ln/>
          <a:effectLst>
            <a:outerShdw sx="100000" sy="100000" kx="0" ky="0" algn="bl" rotWithShape="0" blurRad="101600" dist="38100" dir="8100000">
              <a:srgbClr val="000000">
                <a:alpha val="15000"/>
              </a:srgbClr>
            </a:outerShdw>
          </a:effectLst>
        </p:spPr>
      </p:sp>
      <p:sp>
        <p:nvSpPr>
          <p:cNvPr id="37" name="Shape 35"/>
          <p:cNvSpPr/>
          <p:nvPr/>
        </p:nvSpPr>
        <p:spPr>
          <a:xfrm>
            <a:off x="274320" y="4498848"/>
            <a:ext cx="502920" cy="548640"/>
          </a:xfrm>
          <a:prstGeom prst="rect">
            <a:avLst/>
          </a:prstGeom>
          <a:solidFill>
            <a:srgbClr val="2E5FA3"/>
          </a:solidFill>
          <a:ln/>
        </p:spPr>
      </p:sp>
      <p:sp>
        <p:nvSpPr>
          <p:cNvPr id="38" name="Text 36"/>
          <p:cNvSpPr/>
          <p:nvPr/>
        </p:nvSpPr>
        <p:spPr>
          <a:xfrm>
            <a:off x="274320" y="4498848"/>
            <a:ext cx="5029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9" name="Text 37"/>
          <p:cNvSpPr/>
          <p:nvPr/>
        </p:nvSpPr>
        <p:spPr>
          <a:xfrm>
            <a:off x="868680" y="4544568"/>
            <a:ext cx="1005840" cy="228600"/>
          </a:xfrm>
          <a:prstGeom prst="rect">
            <a:avLst/>
          </a:prstGeom>
          <a:noFill/>
          <a:ln/>
        </p:spPr>
        <p:txBody>
          <a:bodyPr wrap="square" lIns="0" tIns="0" rIns="0" bIns="0" rtlCol="0" anchor="ctr"/>
          <a:lstStyle/>
          <a:p>
            <a:pPr indent="0" marL="0">
              <a:buNone/>
            </a:pPr>
            <a:r>
              <a:rPr lang="en-US" sz="1000" b="1" i="1" dirty="0">
                <a:solidFill>
                  <a:srgbClr val="7F8C9A"/>
                </a:solidFill>
                <a:latin typeface="Calibri" pitchFamily="34" charset="0"/>
                <a:ea typeface="Calibri" pitchFamily="34" charset="-122"/>
                <a:cs typeface="Calibri" pitchFamily="34" charset="-120"/>
              </a:rPr>
              <a:t>J+14</a:t>
            </a:r>
            <a:endParaRPr lang="en-US" sz="1000" dirty="0"/>
          </a:p>
        </p:txBody>
      </p:sp>
      <p:sp>
        <p:nvSpPr>
          <p:cNvPr id="40" name="Text 38"/>
          <p:cNvSpPr/>
          <p:nvPr/>
        </p:nvSpPr>
        <p:spPr>
          <a:xfrm>
            <a:off x="868680" y="4754880"/>
            <a:ext cx="320040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Évaluer intégration Digital Twin ligne 2</a:t>
            </a:r>
            <a:endParaRPr lang="en-US" sz="1200" dirty="0"/>
          </a:p>
        </p:txBody>
      </p:sp>
      <p:sp>
        <p:nvSpPr>
          <p:cNvPr id="41" name="Shape 39"/>
          <p:cNvSpPr/>
          <p:nvPr/>
        </p:nvSpPr>
        <p:spPr>
          <a:xfrm>
            <a:off x="4160520" y="4590288"/>
            <a:ext cx="36576" cy="384048"/>
          </a:xfrm>
          <a:prstGeom prst="rect">
            <a:avLst/>
          </a:prstGeom>
          <a:solidFill>
            <a:srgbClr val="D0D8E4"/>
          </a:solidFill>
          <a:ln/>
        </p:spPr>
      </p:sp>
      <p:sp>
        <p:nvSpPr>
          <p:cNvPr id="42" name="Text 40"/>
          <p:cNvSpPr/>
          <p:nvPr/>
        </p:nvSpPr>
        <p:spPr>
          <a:xfrm>
            <a:off x="4297680" y="4572000"/>
            <a:ext cx="4526280" cy="420624"/>
          </a:xfrm>
          <a:prstGeom prst="rect">
            <a:avLst/>
          </a:prstGeom>
          <a:noFill/>
          <a:ln/>
        </p:spPr>
        <p:txBody>
          <a:bodyPr wrap="square" lIns="0" tIns="0" rIns="0" bIns="0" rtlCol="0" anchor="ctr"/>
          <a:lstStyle/>
          <a:p>
            <a:pPr indent="0" marL="0">
              <a:buNone/>
            </a:pPr>
            <a:r>
              <a:rPr lang="en-US" sz="1100" dirty="0">
                <a:solidFill>
                  <a:srgbClr val="1C2B3A"/>
                </a:solidFill>
                <a:latin typeface="Calibri" pitchFamily="34" charset="0"/>
                <a:ea typeface="Calibri" pitchFamily="34" charset="-122"/>
                <a:cs typeface="Calibri" pitchFamily="34" charset="-120"/>
              </a:rPr>
              <a:t>Demander devis modulaire Famsun. Intégrer dans la planification ligne 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Réunion Famsun × Maroc — Reconnaissances Clés</dc:title>
  <dc:subject>PptxGenJS Presentation</dc:subject>
  <dc:creator>PptxGenJS</dc:creator>
  <cp:lastModifiedBy>PptxGenJS</cp:lastModifiedBy>
  <cp:revision>1</cp:revision>
  <dcterms:created xsi:type="dcterms:W3CDTF">2026-04-14T17:36:11Z</dcterms:created>
  <dcterms:modified xsi:type="dcterms:W3CDTF">2026-04-14T17:36:11Z</dcterms:modified>
</cp:coreProperties>
</file>