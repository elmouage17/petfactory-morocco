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COMPARATIF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lignes, deux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philosophies de production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Petfood Wet Line (barquettes)  vs  Pet Republic (alucups)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des deux lignes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documents, deux objectifs : ingenierie vs. maitrise des risques HACCP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2E7D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4173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7D6A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Petfood — Wet 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Pates humides en barquettes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514600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+ Waldner + Steriflow + Langguth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898648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962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2962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Octobre 2025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82696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totale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1 850 kVA (TGBT 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66744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Capacite broyage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T/h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50792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Delai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mois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2344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14173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B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 — Alucups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Pates viande hachee en alucups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2514600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3776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Multi-fournisseurs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2898648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37760" y="2962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2962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juin 2026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3282696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37760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totale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specifiee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0" y="3666744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3776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de controle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CP + 1 CCP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4050792"/>
            <a:ext cx="356616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3776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valide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globale des processus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conditionnement, matiere premiere, sterilisation et controle qualite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 Wet 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Republic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Philosophie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verticale de 4 fournisseurs dans un flux continu automatise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Processus sequentiel avec controles qualite granulaires a chaque etape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Conditionnement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Barquettes plastiques (sertissage hermetique Waldner)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Coupelles aluminium (alucups) avec couvercle alu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Matiere premiere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Blocs congeles -18°C (600x400x250 mm)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Viande/poisson congeles + matieres seches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Sterilisation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2x autoclaves Steriflow, ruissellement d'eau, Echangeur Platulaire®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Sterilisation CCP1 (methode non detaillee)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contaminants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detaillee dans le blueprint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Detecteur metaux (2x) + Rayons X + Balance dynamique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Approche qualite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Normes FDA, zero contamination (Platulaire®)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HACCP : 13 CP + 1 CCP, categories sous-produits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: Preparation et broyage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de la matiere premiere congelee en emulsion/pate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6F2EF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— Karl Schnell (KS)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Affineur KS FD 225 DK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Capacite nominale : 8 tonnes/heure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motrice : 200 kW (direct)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Intrants : blocs -18°C (600x400x250 mm)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Cuisson vapeur directe (18 kg/min), regulation PID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tampon : silo KS 300L + pesons HBM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 sous vide vers sertisseuse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Alimentation pneumatique Festo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3EDE7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 — Multi-etapes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sequentiel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separee viande/poisson et matieres seches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metaux sur blocs (Fe 2,5 / NFe 3,0 / SS 4,0 mm)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Pesee separee selon recette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Pre-broyage puis melange avec eau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 detection metaux post-melange (seuils plus fins)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Equipement et capacite non specifies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: Conditionnement et scellage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de l'emulsion au produit scelle dans son contenant final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6F2EF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— Waldner (Sertissage)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kVA dedies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Dosage de precision automatise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Scellage hermetique des barquettes plastiques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 auto depuis silos 300L KS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Remplissage sans oxydation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U1000R2V Cu — continuite de service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interruption dosage-scellage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3EDE7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 — Formage alu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CP6 a CP9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Formage du corps barquette aluminium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Decoupe (CP6)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Remplissage barquette alu (CP7)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couvercle alu + scellage (CP8)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Marquage immediat (CP9)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controle rayons X (CP10) + balance (CP11)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: Sterilisation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coeur securitaire de la ligne — la divergence technique la plus marquee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6F2EF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— Steriflow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kVA — poste le plus gourmand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autoclaves (Ø1300 mm, 6 paniers, 1 porte)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 : ruissellement d'eau (statique)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Echangeur Platulaire® : circuit ferme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contamination eau/barquettes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Recuperation 100% condensats vapeur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thermique homogene (FDA)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Contre-pression air comprime anti-deformation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3EDE7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 — CCP1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Critique de Controle unique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Identifiee comme CCP1 (seul point critique HACCP)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Prelevement systematique pour controle qualite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 non detaillee dans le diagramme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Parametres (T°, pression, duree) non specifies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Equipement non identifie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9E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Mars : Echangeur Platulaire® — zero contamination croisee + recuperation energetique complete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: Emballage et expedition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Etiquetage, mise en carton, palettisation et stockage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E6F2EF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— Langguth (selfLAN 510)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Etiquettes adhesives (H max 186 mm, mandrin 76 mm)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IHM : ecran 12 pouces sur bras pivotant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centralisee des recettes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bourrage + arret automatique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 lumineuse 3 couleurs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Chassis 100% mecanosoudee inox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3EDE7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 — CP12 a palettisation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Etiquetage (CP12) + gestion dechets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cartons (CP13) + gestion dechets papier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Palettisation avec etiquette ID palette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Expedition (vente)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qualite et securite alimentaire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d'ingenierie vs. diagramme HACCP : deux visions complementaires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de controle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 Wet 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Republic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Detect. metaux (pre)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A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detaillee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 2,5 / NFe 3,0 / SS 4,0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Detect. metaux (post)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A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detaillee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CP5 : Fe 2,0 / NFe 2,5 / SS 3,0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Rayons 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A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mentionne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CP10 post-conditionnement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ponderal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A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mentionne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CP11 balance dynamique + rejet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critique (CCP)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Sterilisation (normes FDA)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CCP1 sterilisation + prelevement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Sous-produits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A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classifies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 2 et 3 (PUPZ)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Conformite FDA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HACCP valide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0416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9E6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0416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L'absence de details sur la detection dans le blueprint Mars ne signifie pas leur absence. Les deux documents repondent a des objectifs complementaires.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et utilites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electrique et raccordements aux reseaux de fluides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1 850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totale Mars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(TGBT N Zone Humide)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Repartition electrique Mars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Steriflow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kVA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Waldner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kVA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2240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Karl Schnell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kW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240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Laveuse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560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kVA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560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Auxiliaires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2880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~955 kVA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880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Specifications Mars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Vapeur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8-10 bars reseau. KS : injection 2-3,5 bars (18 kg/min). Steriflow : echangeur Platulaire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Reseau PPR. Eau traitee (process) + eau reseau (refroid.). Eau froide 2-3 bars + chaude 90°C pour NEP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comprime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bars. KS : pneumatique Festo. Steriflow : regulation contre-pression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U1000R2V Cuivre 90°C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 : aucune specification d'infrastructure dans le diagramme technologique.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Deploiement et planification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blueprint Mars inclut un chronogramme de ~15 mois ; Pet Republic ne couvre pas cet aspect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Septembre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Karl Schnell (Preparation)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943600" cy="320040"/>
          </a:xfrm>
          <a:prstGeom prst="roundRect">
            <a:avLst>
              <a:gd name="adj" fmla="val 11429"/>
            </a:avLst>
          </a:prstGeom>
          <a:solidFill>
            <a:srgbClr val="2E7D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91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mois de fabrication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Steriflow (Sterilisation)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514600"/>
            <a:ext cx="3383280" cy="320040"/>
          </a:xfrm>
          <a:prstGeom prst="roundRect">
            <a:avLst>
              <a:gd name="adj" fmla="val 11429"/>
            </a:avLst>
          </a:prstGeom>
          <a:solidFill>
            <a:srgbClr val="4A90A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mois depart usine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914400" cy="1143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1691640"/>
            <a:ext cx="1188720" cy="1143000"/>
          </a:xfrm>
          <a:prstGeom prst="roundRect">
            <a:avLst>
              <a:gd name="adj" fmla="val 3200"/>
            </a:avLst>
          </a:prstGeom>
          <a:solidFill>
            <a:srgbClr val="2E7D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M13-15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M14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6F2EF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456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Perimetre Client (Mars PETFOOD)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 civil et supports verticaux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Amenee fluides (air, eau, vapeur) + tuyauteries inox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Materiel de levage (chariot 6T, nacelles)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3EDE7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3456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Republic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93776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diagramme technologique ne couvre pas la planification projet, les delais fournisseurs ni la repartition des responsabilites.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et recommandations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A3A30"/>
          </a:solidFill>
          <a:ln w="12700">
            <a:solidFill>
              <a:srgbClr val="2E7D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44752"/>
            <a:ext cx="128016" cy="128016"/>
          </a:xfrm>
          <a:prstGeom prst="ellipse">
            <a:avLst/>
          </a:prstGeom>
          <a:solidFill>
            <a:srgbClr val="2E7D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technique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blueprint Mars est un document d'ingenierie complet : specifications, puissance, utilites, planning 15 mois. Architecture en flux continu de 4 fournisseurs integres.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2A231A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44752"/>
            <a:ext cx="128016" cy="128016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Tracabilite HACCP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diagramme Pet Republic excelle dans la maitrise des risques : 13 CP + 1 CCP, double detection metaux, rayons X, balance dynamique, gestion sous-produits animaux.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2A251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44952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technologique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375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se distingue par l'Echangeur Platulaire® (zero contamination, recuperation 100% condensats) et le transfert sous vide KS. Investissement superieur, securite renforcee.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2A151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044952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3375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non directement comparables : blueprint d'ingenierie vs. diagramme HACCP. Pour une analyse complete, il faudrait le HACCP Mars et le blueprint Pet Republic.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Morocco  |  Rapport Comparatif  |  Septembre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Mars Petfood Wet Line Engineering Blueprint (Oct. 2025) &amp; Pet Republic Technological Diagram DO-04.05 (Juin 2026)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Comparatif Lignes de Production</dc:title>
  <dc:subject>PptxGenJS Presentation</dc:subject>
  <dc:creator>Pet Factory Morocco</dc:creator>
  <cp:lastModifiedBy>Pet Factory Morocco</cp:lastModifiedBy>
  <cp:revision>1</cp:revision>
  <dcterms:created xsi:type="dcterms:W3CDTF">2026-09-14T12:54:31Z</dcterms:created>
  <dcterms:modified xsi:type="dcterms:W3CDTF">2026-09-14T12:54:31Z</dcterms:modified>
</cp:coreProperties>
</file>